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61" r:id="rId5"/>
    <p:sldId id="318" r:id="rId6"/>
    <p:sldId id="319" r:id="rId7"/>
    <p:sldId id="320" r:id="rId8"/>
    <p:sldId id="258" r:id="rId9"/>
    <p:sldId id="259" r:id="rId10"/>
    <p:sldId id="260" r:id="rId11"/>
    <p:sldId id="262" r:id="rId12"/>
    <p:sldId id="266" r:id="rId13"/>
    <p:sldId id="265" r:id="rId14"/>
    <p:sldId id="267" r:id="rId15"/>
    <p:sldId id="268" r:id="rId16"/>
    <p:sldId id="269" r:id="rId17"/>
    <p:sldId id="321" r:id="rId18"/>
    <p:sldId id="284" r:id="rId19"/>
    <p:sldId id="263" r:id="rId20"/>
    <p:sldId id="273" r:id="rId21"/>
    <p:sldId id="274" r:id="rId22"/>
    <p:sldId id="272" r:id="rId23"/>
    <p:sldId id="264" r:id="rId24"/>
    <p:sldId id="283" r:id="rId25"/>
    <p:sldId id="270" r:id="rId26"/>
    <p:sldId id="275" r:id="rId27"/>
    <p:sldId id="276" r:id="rId28"/>
    <p:sldId id="278" r:id="rId29"/>
    <p:sldId id="281" r:id="rId30"/>
    <p:sldId id="280" r:id="rId31"/>
    <p:sldId id="285" r:id="rId32"/>
    <p:sldId id="271" r:id="rId33"/>
    <p:sldId id="279" r:id="rId34"/>
    <p:sldId id="287" r:id="rId35"/>
    <p:sldId id="289" r:id="rId36"/>
    <p:sldId id="288" r:id="rId37"/>
    <p:sldId id="290" r:id="rId38"/>
    <p:sldId id="292" r:id="rId39"/>
    <p:sldId id="295" r:id="rId40"/>
    <p:sldId id="294" r:id="rId41"/>
    <p:sldId id="308" r:id="rId42"/>
    <p:sldId id="309" r:id="rId43"/>
    <p:sldId id="310" r:id="rId44"/>
    <p:sldId id="311" r:id="rId45"/>
    <p:sldId id="312" r:id="rId46"/>
    <p:sldId id="313" r:id="rId47"/>
    <p:sldId id="314" r:id="rId48"/>
    <p:sldId id="317" r:id="rId49"/>
    <p:sldId id="323" r:id="rId50"/>
    <p:sldId id="296" r:id="rId51"/>
    <p:sldId id="297" r:id="rId52"/>
    <p:sldId id="298" r:id="rId53"/>
    <p:sldId id="306" r:id="rId54"/>
    <p:sldId id="300" r:id="rId55"/>
    <p:sldId id="302" r:id="rId56"/>
    <p:sldId id="303" r:id="rId57"/>
    <p:sldId id="304" r:id="rId58"/>
    <p:sldId id="305" r:id="rId59"/>
    <p:sldId id="299" r:id="rId60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05F2C04-C923-438B-8C0F-E0CD2BADF298}">
      <wppc:fontMiss xmlns:wppc="http://www.wps.cn/officeDocument/PresentationCustomData" type="true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852" autoAdjust="0"/>
  </p:normalViewPr>
  <p:slideViewPr>
    <p:cSldViewPr>
      <p:cViewPr>
        <p:scale>
          <a:sx n="100" d="100"/>
          <a:sy n="100" d="100"/>
        </p:scale>
        <p:origin x="-931" y="-259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3" Type="http://schemas.openxmlformats.org/officeDocument/2006/relationships/tableStyles" Target="tableStyles.xml"/><Relationship Id="rId62" Type="http://schemas.openxmlformats.org/officeDocument/2006/relationships/viewProps" Target="viewProps.xml"/><Relationship Id="rId61" Type="http://schemas.openxmlformats.org/officeDocument/2006/relationships/presProps" Target="presProps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777240" y="0"/>
            <a:ext cx="7543800" cy="228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2400300"/>
            <a:ext cx="7543800" cy="1143000"/>
          </a:xfrm>
        </p:spPr>
        <p:txBody>
          <a:bodyPr>
            <a:noAutofit/>
          </a:bodyPr>
          <a:lstStyle>
            <a:lvl1pPr>
              <a:defRPr sz="8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3543300"/>
            <a:ext cx="6858000" cy="742950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8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7" name="Rectangle 6"/>
          <p:cNvSpPr/>
          <p:nvPr/>
        </p:nvSpPr>
        <p:spPr>
          <a:xfrm>
            <a:off x="777240" y="4629150"/>
            <a:ext cx="7543800" cy="2057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777240" y="0"/>
            <a:ext cx="7543800" cy="228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2457450"/>
            <a:ext cx="7543800" cy="1257300"/>
          </a:xfrm>
        </p:spPr>
        <p:txBody>
          <a:bodyPr anchor="b" anchorCtr="0"/>
          <a:lstStyle>
            <a:lvl1pPr algn="l">
              <a:defRPr sz="5400" b="0" cap="all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3714750"/>
            <a:ext cx="6858000" cy="685800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8" name="Rectangle 7"/>
          <p:cNvSpPr/>
          <p:nvPr/>
        </p:nvSpPr>
        <p:spPr>
          <a:xfrm>
            <a:off x="777240" y="4629150"/>
            <a:ext cx="7543800" cy="2057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457201"/>
            <a:ext cx="3657600" cy="282549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457201"/>
            <a:ext cx="3657600" cy="282549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457200"/>
            <a:ext cx="3657600" cy="47982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8952" y="996948"/>
            <a:ext cx="3657600" cy="2286000"/>
          </a:xfrm>
        </p:spPr>
        <p:txBody>
          <a:bodyPr anchor="t" anchorCtr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152" y="457200"/>
            <a:ext cx="3657600" cy="47982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996948"/>
            <a:ext cx="3657600" cy="2286000"/>
          </a:xfrm>
        </p:spPr>
        <p:txBody>
          <a:bodyPr anchor="t" anchorCtr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758952" y="937022"/>
            <a:ext cx="3657600" cy="11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645152" y="937022"/>
            <a:ext cx="3657600" cy="11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429000"/>
            <a:ext cx="6784848" cy="1200150"/>
          </a:xfrm>
        </p:spPr>
        <p:txBody>
          <a:bodyPr anchor="b">
            <a:normAutofit/>
          </a:bodyPr>
          <a:lstStyle>
            <a:lvl1pPr algn="l">
              <a:defRPr sz="5400" b="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0866" y="342900"/>
            <a:ext cx="4594934" cy="3086099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2002" y="342900"/>
            <a:ext cx="2673657" cy="3086100"/>
          </a:xfrm>
        </p:spPr>
        <p:txBody>
          <a:bodyPr>
            <a:normAutofit/>
          </a:bodyPr>
          <a:lstStyle>
            <a:lvl1pPr marL="0" indent="0">
              <a:buNone/>
              <a:defRPr sz="21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cxnSp>
        <p:nvCxnSpPr>
          <p:cNvPr id="10" name="Straight Connector 9"/>
          <p:cNvCxnSpPr/>
          <p:nvPr/>
        </p:nvCxnSpPr>
        <p:spPr>
          <a:xfrm rot="5400000">
            <a:off x="2153444" y="1885752"/>
            <a:ext cx="2857500" cy="1588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8952" y="3429000"/>
            <a:ext cx="6784848" cy="1200150"/>
          </a:xfrm>
        </p:spPr>
        <p:txBody>
          <a:bodyPr anchor="b">
            <a:normAutofit/>
          </a:bodyPr>
          <a:lstStyle>
            <a:lvl1pPr algn="l">
              <a:defRPr sz="54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77240" y="342900"/>
            <a:ext cx="7543800" cy="2171700"/>
          </a:xfrm>
          <a:ln w="6350">
            <a:solidFill>
              <a:schemeClr val="tx2"/>
            </a:solidFill>
          </a:ln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0392" y="2628900"/>
            <a:ext cx="7391400" cy="603647"/>
          </a:xfrm>
        </p:spPr>
        <p:txBody>
          <a:bodyPr anchor="t" anchorCtr="0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514350"/>
            <a:ext cx="7239000" cy="2914650"/>
          </a:xfrm>
        </p:spPr>
        <p:txBody>
          <a:bodyPr vert="eaVert" anchor="t" anchorCtr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2000" y="514351"/>
            <a:ext cx="1828800" cy="4057649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90800" y="514351"/>
            <a:ext cx="5715000" cy="3657600"/>
          </a:xfrm>
        </p:spPr>
        <p:txBody>
          <a:bodyPr vert="eaVert" anchor="t" anchorCtr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9" y="160735"/>
            <a:ext cx="7793037" cy="109656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1182688" y="1513285"/>
            <a:ext cx="7772400" cy="3086100"/>
          </a:xfrm>
        </p:spPr>
        <p:txBody>
          <a:bodyPr/>
          <a:lstStyle/>
          <a:p>
            <a:pPr lvl="0"/>
            <a:endParaRPr lang="zh-CN" altLang="en-US" noProof="0" smtClean="0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BA0F44-9707-42B8-8A69-1EAFE848A3F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random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0" y="3429000"/>
            <a:ext cx="6781800" cy="120015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514350"/>
            <a:ext cx="7543800" cy="291465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48400" y="4656582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62000" y="4656582"/>
            <a:ext cx="487386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4265676"/>
            <a:ext cx="7620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8" name="Rectangle 7"/>
          <p:cNvSpPr/>
          <p:nvPr/>
        </p:nvSpPr>
        <p:spPr>
          <a:xfrm>
            <a:off x="777240" y="0"/>
            <a:ext cx="7543800" cy="285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7240" y="4629150"/>
            <a:ext cx="7543800" cy="2057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spcBef>
          <a:spcPct val="0"/>
        </a:spcBef>
        <a:buNone/>
        <a:defRPr sz="54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94360" indent="-27432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6868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64592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1901825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219456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8pPr>
      <a:lvl9pPr marL="246888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15616" y="2787774"/>
            <a:ext cx="7406640" cy="1104138"/>
          </a:xfrm>
        </p:spPr>
        <p:txBody>
          <a:bodyPr/>
          <a:lstStyle/>
          <a:p>
            <a:r>
              <a:rPr lang="en-US" altLang="zh-CN" sz="6000" dirty="0" smtClean="0"/>
              <a:t>Linux</a:t>
            </a:r>
            <a:r>
              <a:rPr lang="zh-CN" altLang="en-US" sz="6000" dirty="0" smtClean="0"/>
              <a:t>操作系统基础</a:t>
            </a:r>
            <a:endParaRPr lang="zh-CN" altLang="en-US" sz="6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63688" y="789552"/>
            <a:ext cx="655272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lain"/>
            </a:pPr>
            <a:r>
              <a:rPr lang="en-US" altLang="zh-CN" sz="2800" dirty="0" smtClean="0"/>
              <a:t>Linux</a:t>
            </a:r>
            <a:r>
              <a:rPr lang="zh-CN" altLang="en-US" sz="2800" dirty="0" smtClean="0"/>
              <a:t>操作系统简介</a:t>
            </a:r>
            <a:endParaRPr lang="en-US" altLang="zh-CN" sz="2800" dirty="0" smtClean="0"/>
          </a:p>
          <a:p>
            <a:pPr marL="342900" indent="-342900">
              <a:lnSpc>
                <a:spcPct val="150000"/>
              </a:lnSpc>
              <a:buAutoNum type="arabicPlain"/>
            </a:pPr>
            <a:r>
              <a:rPr lang="zh-CN" altLang="en-US" sz="2800" dirty="0" smtClean="0"/>
              <a:t>文件系统及基本命令</a:t>
            </a:r>
            <a:endParaRPr lang="en-US" altLang="zh-CN" sz="2800" dirty="0" smtClean="0"/>
          </a:p>
          <a:p>
            <a:pPr marL="342900" indent="-342900">
              <a:lnSpc>
                <a:spcPct val="150000"/>
              </a:lnSpc>
              <a:buAutoNum type="arabicPlain"/>
            </a:pPr>
            <a:r>
              <a:rPr lang="en-US" altLang="zh-CN" sz="2800" dirty="0" smtClean="0"/>
              <a:t>Vi</a:t>
            </a:r>
            <a:r>
              <a:rPr lang="zh-CN" altLang="en-US" sz="2800" dirty="0" smtClean="0"/>
              <a:t>编辑器</a:t>
            </a:r>
            <a:endParaRPr lang="zh-CN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15616" y="396300"/>
            <a:ext cx="655272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lain"/>
            </a:pPr>
            <a:r>
              <a:rPr lang="en-US" altLang="zh-CN" sz="2400" dirty="0" smtClean="0">
                <a:latin typeface="+mj-ea"/>
                <a:ea typeface="+mj-ea"/>
              </a:rPr>
              <a:t>Linux</a:t>
            </a:r>
            <a:r>
              <a:rPr lang="zh-CN" altLang="en-US" sz="2400" dirty="0" smtClean="0">
                <a:latin typeface="+mj-ea"/>
                <a:ea typeface="+mj-ea"/>
              </a:rPr>
              <a:t>操作系统简介</a:t>
            </a:r>
            <a:endParaRPr lang="en-US" altLang="zh-CN" sz="2400" dirty="0" smtClean="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endParaRPr lang="en-US" altLang="zh-CN" sz="2400" dirty="0" smtClean="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+mj-ea"/>
                <a:ea typeface="+mj-ea"/>
              </a:rPr>
              <a:t>1.1 </a:t>
            </a:r>
            <a:r>
              <a:rPr lang="zh-CN" altLang="en-US" sz="2400" dirty="0" smtClean="0">
                <a:latin typeface="+mj-ea"/>
                <a:ea typeface="+mj-ea"/>
              </a:rPr>
              <a:t>初识</a:t>
            </a:r>
            <a:r>
              <a:rPr lang="en-US" altLang="zh-CN" sz="2400" dirty="0" smtClean="0">
                <a:latin typeface="+mj-ea"/>
                <a:ea typeface="+mj-ea"/>
              </a:rPr>
              <a:t>Linux</a:t>
            </a:r>
            <a:endParaRPr lang="en-US" altLang="zh-CN" sz="2400" dirty="0" smtClean="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 smtClean="0">
                <a:latin typeface="+mj-ea"/>
                <a:ea typeface="+mj-ea"/>
              </a:rPr>
              <a:t>1.2 Linux</a:t>
            </a:r>
            <a:r>
              <a:rPr lang="zh-CN" altLang="en-US" sz="2400" dirty="0" smtClean="0">
                <a:latin typeface="+mj-ea"/>
                <a:ea typeface="+mj-ea"/>
              </a:rPr>
              <a:t>简介</a:t>
            </a:r>
            <a:endParaRPr lang="en-US" altLang="zh-CN" sz="2400" dirty="0" smtClean="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 smtClean="0">
                <a:latin typeface="+mj-ea"/>
                <a:ea typeface="+mj-ea"/>
              </a:rPr>
              <a:t>1.3 Linux</a:t>
            </a:r>
            <a:r>
              <a:rPr lang="zh-CN" altLang="en-US" sz="2400" dirty="0" smtClean="0">
                <a:latin typeface="+mj-ea"/>
                <a:ea typeface="+mj-ea"/>
              </a:rPr>
              <a:t>特点</a:t>
            </a:r>
            <a:endParaRPr lang="en-US" altLang="zh-CN" sz="2400" dirty="0" smtClean="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 smtClean="0">
                <a:latin typeface="+mj-ea"/>
                <a:ea typeface="+mj-ea"/>
              </a:rPr>
              <a:t>1.4 Linux</a:t>
            </a:r>
            <a:r>
              <a:rPr lang="zh-CN" altLang="en-US" sz="2400" dirty="0" smtClean="0">
                <a:latin typeface="+mj-ea"/>
                <a:ea typeface="+mj-ea"/>
              </a:rPr>
              <a:t>版本</a:t>
            </a:r>
            <a:endParaRPr lang="en-US" altLang="zh-CN" sz="2400" dirty="0" smtClean="0">
              <a:latin typeface="+mj-ea"/>
              <a:ea typeface="+mj-ea"/>
            </a:endParaRPr>
          </a:p>
          <a:p>
            <a:pPr marL="342900" indent="-342900">
              <a:lnSpc>
                <a:spcPct val="150000"/>
              </a:lnSpc>
              <a:buAutoNum type="arabicPlain"/>
            </a:pPr>
            <a:endParaRPr lang="zh-CN" altLang="en-US" sz="2400" dirty="0">
              <a:latin typeface="+mj-ea"/>
              <a:ea typeface="+mj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3568" y="411510"/>
            <a:ext cx="7543800" cy="5760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6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1.1 </a:t>
            </a:r>
            <a:r>
              <a:rPr lang="zh-CN" altLang="en-US" sz="2600" dirty="0">
                <a:latin typeface="黑体" panose="02010609060101010101" pitchFamily="49" charset="-122"/>
                <a:ea typeface="黑体" panose="02010609060101010101" pitchFamily="49" charset="-122"/>
              </a:rPr>
              <a:t>初识</a:t>
            </a:r>
            <a:r>
              <a:rPr lang="en-US" altLang="zh-CN" sz="26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Linux</a:t>
            </a:r>
            <a:endParaRPr lang="zh-CN" altLang="zh-CN" sz="2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0" name="Rectangle 3"/>
          <p:cNvSpPr txBox="1">
            <a:spLocks noChangeArrowheads="1"/>
          </p:cNvSpPr>
          <p:nvPr/>
        </p:nvSpPr>
        <p:spPr>
          <a:xfrm>
            <a:off x="179512" y="3291829"/>
            <a:ext cx="4191000" cy="1313681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marL="27432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9436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6868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716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64592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901825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19456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46888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zh-CN" altLang="en-US" b="1" dirty="0" smtClean="0">
                <a:ea typeface="宋体" panose="02010600030101010101" pitchFamily="2" charset="-122"/>
              </a:rPr>
              <a:t>　</a:t>
            </a:r>
            <a:r>
              <a:rPr lang="zh-CN" altLang="en-US" sz="1800" b="1" dirty="0">
                <a:solidFill>
                  <a:srgbClr val="FF99FF"/>
                </a:solidFill>
                <a:ea typeface="宋体" panose="02010600030101010101" pitchFamily="2" charset="-122"/>
              </a:rPr>
              <a:t> </a:t>
            </a:r>
            <a:r>
              <a:rPr lang="zh-CN" altLang="en-US" sz="1800" b="1" dirty="0" smtClean="0">
                <a:solidFill>
                  <a:srgbClr val="FF99FF"/>
                </a:solidFill>
                <a:ea typeface="宋体" panose="02010600030101010101" pitchFamily="2" charset="-122"/>
              </a:rPr>
              <a:t> </a:t>
            </a:r>
            <a:r>
              <a:rPr lang="en-US" altLang="zh-CN" sz="1800" b="1" dirty="0" smtClean="0">
                <a:ea typeface="宋体" panose="02010600030101010101" pitchFamily="2" charset="-122"/>
              </a:rPr>
              <a:t>1969</a:t>
            </a:r>
            <a:r>
              <a:rPr lang="zh-CN" altLang="en-US" sz="1800" b="1" dirty="0" smtClean="0">
                <a:ea typeface="宋体" panose="02010600030101010101" pitchFamily="2" charset="-122"/>
              </a:rPr>
              <a:t>年，</a:t>
            </a:r>
            <a:r>
              <a:rPr lang="en-US" altLang="zh-CN" sz="1800" b="1" dirty="0" smtClean="0">
                <a:ea typeface="宋体" panose="02010600030101010101" pitchFamily="2" charset="-122"/>
              </a:rPr>
              <a:t>AT&amp;T/Bell</a:t>
            </a:r>
            <a:r>
              <a:rPr lang="zh-CN" altLang="en-US" sz="1800" b="1" dirty="0" smtClean="0">
                <a:ea typeface="宋体" panose="02010600030101010101" pitchFamily="2" charset="-122"/>
              </a:rPr>
              <a:t>实验室的</a:t>
            </a:r>
            <a:r>
              <a:rPr lang="en-US" altLang="zh-CN" sz="1800" b="1" dirty="0" err="1" smtClean="0">
                <a:ea typeface="宋体" panose="02010600030101010101" pitchFamily="2" charset="-122"/>
              </a:rPr>
              <a:t>Ken.Thompson</a:t>
            </a:r>
            <a:r>
              <a:rPr lang="zh-CN" altLang="en-US" sz="1800" b="1" dirty="0" smtClean="0">
                <a:ea typeface="宋体" panose="02010600030101010101" pitchFamily="2" charset="-122"/>
              </a:rPr>
              <a:t>（肯</a:t>
            </a:r>
            <a:r>
              <a:rPr lang="en-US" altLang="zh-CN" sz="1800" b="1" dirty="0" smtClean="0">
                <a:ea typeface="宋体" panose="02010600030101010101" pitchFamily="2" charset="-122"/>
              </a:rPr>
              <a:t>• </a:t>
            </a:r>
            <a:r>
              <a:rPr lang="zh-CN" altLang="en-US" sz="1800" b="1" dirty="0" smtClean="0">
                <a:ea typeface="宋体" panose="02010600030101010101" pitchFamily="2" charset="-122"/>
              </a:rPr>
              <a:t>汤普逊）在</a:t>
            </a:r>
            <a:r>
              <a:rPr lang="en-US" altLang="zh-CN" sz="1800" b="1" dirty="0" smtClean="0">
                <a:ea typeface="宋体" panose="02010600030101010101" pitchFamily="2" charset="-122"/>
              </a:rPr>
              <a:t>DEC PDP 7</a:t>
            </a:r>
            <a:r>
              <a:rPr lang="zh-CN" altLang="en-US" sz="1800" b="1" dirty="0" smtClean="0">
                <a:ea typeface="宋体" panose="02010600030101010101" pitchFamily="2" charset="-122"/>
              </a:rPr>
              <a:t>小型机上用汇编语言开发出了</a:t>
            </a:r>
            <a:r>
              <a:rPr lang="en-US" altLang="zh-CN" sz="1800" b="1" dirty="0" smtClean="0">
                <a:ea typeface="宋体" panose="02010600030101010101" pitchFamily="2" charset="-122"/>
              </a:rPr>
              <a:t>UNIX</a:t>
            </a:r>
            <a:r>
              <a:rPr lang="zh-CN" altLang="en-US" sz="1800" b="1" dirty="0" smtClean="0">
                <a:ea typeface="宋体" panose="02010600030101010101" pitchFamily="2" charset="-122"/>
              </a:rPr>
              <a:t>分时操作系统。</a:t>
            </a:r>
            <a:endParaRPr lang="zh-CN" altLang="en-US" b="1" dirty="0" smtClean="0">
              <a:ea typeface="宋体" panose="02010600030101010101" pitchFamily="2" charset="-122"/>
            </a:endParaRPr>
          </a:p>
        </p:txBody>
      </p:sp>
      <p:pic>
        <p:nvPicPr>
          <p:cNvPr id="31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70" t="4752" r="64215" b="6627"/>
          <a:stretch>
            <a:fillRect/>
          </a:stretch>
        </p:blipFill>
        <p:spPr bwMode="auto">
          <a:xfrm>
            <a:off x="1187624" y="1203598"/>
            <a:ext cx="1742147" cy="19983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641" t="4115" r="6960" b="7182"/>
          <a:stretch>
            <a:fillRect/>
          </a:stretch>
        </p:blipFill>
        <p:spPr bwMode="auto">
          <a:xfrm>
            <a:off x="5724128" y="1177691"/>
            <a:ext cx="1728192" cy="1982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" name="矩形 9"/>
          <p:cNvSpPr>
            <a:spLocks noChangeArrowheads="1"/>
          </p:cNvSpPr>
          <p:nvPr/>
        </p:nvSpPr>
        <p:spPr bwMode="auto">
          <a:xfrm>
            <a:off x="4531960" y="3435846"/>
            <a:ext cx="4191000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b="1" dirty="0" smtClean="0">
                <a:ea typeface="宋体" panose="02010600030101010101" pitchFamily="2" charset="-122"/>
              </a:rPr>
              <a:t>1973</a:t>
            </a:r>
            <a:r>
              <a:rPr lang="zh-CN" altLang="en-US" b="1" dirty="0">
                <a:ea typeface="宋体" panose="02010600030101010101" pitchFamily="2" charset="-122"/>
              </a:rPr>
              <a:t>年，肯</a:t>
            </a:r>
            <a:r>
              <a:rPr lang="en-US" altLang="zh-CN" b="1" dirty="0">
                <a:ea typeface="宋体" panose="02010600030101010101" pitchFamily="2" charset="-122"/>
              </a:rPr>
              <a:t>• </a:t>
            </a:r>
            <a:r>
              <a:rPr lang="zh-CN" altLang="en-US" b="1" dirty="0">
                <a:ea typeface="宋体" panose="02010600030101010101" pitchFamily="2" charset="-122"/>
              </a:rPr>
              <a:t>汤普逊和丹尼斯</a:t>
            </a:r>
            <a:r>
              <a:rPr lang="en-US" altLang="zh-CN" b="1" dirty="0">
                <a:ea typeface="宋体" panose="02010600030101010101" pitchFamily="2" charset="-122"/>
              </a:rPr>
              <a:t>•</a:t>
            </a:r>
            <a:r>
              <a:rPr lang="zh-CN" altLang="en-US" b="1" dirty="0">
                <a:ea typeface="宋体" panose="02010600030101010101" pitchFamily="2" charset="-122"/>
              </a:rPr>
              <a:t>里奇合作用</a:t>
            </a:r>
            <a:r>
              <a:rPr lang="en-US" altLang="zh-CN" b="1" dirty="0">
                <a:ea typeface="宋体" panose="02010600030101010101" pitchFamily="2" charset="-122"/>
              </a:rPr>
              <a:t>C</a:t>
            </a:r>
            <a:r>
              <a:rPr lang="zh-CN" altLang="en-US" b="1" dirty="0">
                <a:ea typeface="宋体" panose="02010600030101010101" pitchFamily="2" charset="-122"/>
              </a:rPr>
              <a:t>语言重写了</a:t>
            </a:r>
            <a:r>
              <a:rPr lang="en-US" altLang="zh-CN" b="1" dirty="0">
                <a:ea typeface="宋体" panose="02010600030101010101" pitchFamily="2" charset="-122"/>
              </a:rPr>
              <a:t>UNIX</a:t>
            </a:r>
            <a:r>
              <a:rPr lang="zh-CN" altLang="en-US" b="1" dirty="0">
                <a:ea typeface="宋体" panose="02010600030101010101" pitchFamily="2" charset="-122"/>
              </a:rPr>
              <a:t>，开创了用高级语言写操作系统的先河。</a:t>
            </a:r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94048" y="483518"/>
            <a:ext cx="7543800" cy="164933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zh-CN" sz="2000" b="1" dirty="0">
                <a:ea typeface="宋体" panose="02010600030101010101" pitchFamily="2" charset="-122"/>
              </a:rPr>
              <a:t>UNIX</a:t>
            </a:r>
            <a:r>
              <a:rPr lang="zh-CN" altLang="en-US" sz="2000" b="1" dirty="0">
                <a:ea typeface="宋体" panose="02010600030101010101" pitchFamily="2" charset="-122"/>
              </a:rPr>
              <a:t>此后逐渐演变成两大分支</a:t>
            </a:r>
            <a:r>
              <a:rPr lang="zh-CN" altLang="en-US" sz="2000" b="1" dirty="0" smtClean="0">
                <a:ea typeface="宋体" panose="02010600030101010101" pitchFamily="2" charset="-122"/>
              </a:rPr>
              <a:t>：</a:t>
            </a:r>
            <a:endParaRPr lang="en-US" altLang="zh-CN" sz="2000" b="1" dirty="0" smtClean="0">
              <a:ea typeface="宋体" panose="02010600030101010101" pitchFamily="2" charset="-122"/>
            </a:endParaRPr>
          </a:p>
          <a:p>
            <a:pPr>
              <a:buNone/>
            </a:pPr>
            <a:r>
              <a:rPr lang="en-US" altLang="zh-CN" sz="2000" b="1" dirty="0" smtClean="0">
                <a:solidFill>
                  <a:srgbClr val="FF3300"/>
                </a:solidFill>
                <a:ea typeface="宋体" panose="02010600030101010101" pitchFamily="2" charset="-122"/>
              </a:rPr>
              <a:t>System </a:t>
            </a:r>
            <a:r>
              <a:rPr lang="en-US" altLang="zh-CN" sz="2000" b="1" dirty="0">
                <a:solidFill>
                  <a:srgbClr val="FF3300"/>
                </a:solidFill>
                <a:ea typeface="宋体" panose="02010600030101010101" pitchFamily="2" charset="-122"/>
              </a:rPr>
              <a:t>V</a:t>
            </a:r>
            <a:r>
              <a:rPr lang="en-US" altLang="zh-CN" sz="2000" b="1" dirty="0">
                <a:ea typeface="宋体" panose="02010600030101010101" pitchFamily="2" charset="-122"/>
              </a:rPr>
              <a:t>——AT&amp;T/</a:t>
            </a:r>
            <a:r>
              <a:rPr lang="en-US" altLang="zh-CN" sz="2000" b="1" dirty="0" err="1">
                <a:ea typeface="宋体" panose="02010600030101010101" pitchFamily="2" charset="-122"/>
              </a:rPr>
              <a:t>BellL</a:t>
            </a:r>
            <a:r>
              <a:rPr lang="zh-CN" altLang="en-US" sz="2000" b="1" dirty="0">
                <a:ea typeface="宋体" panose="02010600030101010101" pitchFamily="2" charset="-122"/>
              </a:rPr>
              <a:t>开发（官方版本）</a:t>
            </a:r>
            <a:endParaRPr lang="zh-CN" altLang="en-US" sz="2000" b="1" dirty="0">
              <a:ea typeface="宋体" panose="02010600030101010101" pitchFamily="2" charset="-122"/>
            </a:endParaRPr>
          </a:p>
          <a:p>
            <a:pPr>
              <a:buNone/>
            </a:pPr>
            <a:r>
              <a:rPr lang="en-US" altLang="zh-CN" sz="2000" b="1" dirty="0" smtClean="0">
                <a:solidFill>
                  <a:srgbClr val="FF3300"/>
                </a:solidFill>
                <a:ea typeface="宋体" panose="02010600030101010101" pitchFamily="2" charset="-122"/>
              </a:rPr>
              <a:t>BSD </a:t>
            </a:r>
            <a:r>
              <a:rPr lang="en-US" altLang="zh-CN" sz="2000" b="1" dirty="0">
                <a:solidFill>
                  <a:srgbClr val="FF3300"/>
                </a:solidFill>
                <a:ea typeface="宋体" panose="02010600030101010101" pitchFamily="2" charset="-122"/>
              </a:rPr>
              <a:t>UNIX</a:t>
            </a:r>
            <a:r>
              <a:rPr lang="en-US" altLang="zh-CN" sz="2000" b="1" dirty="0">
                <a:ea typeface="宋体" panose="02010600030101010101" pitchFamily="2" charset="-122"/>
              </a:rPr>
              <a:t>——</a:t>
            </a:r>
            <a:r>
              <a:rPr lang="zh-CN" altLang="en-US" sz="2000" b="1" dirty="0">
                <a:ea typeface="宋体" panose="02010600030101010101" pitchFamily="2" charset="-122"/>
              </a:rPr>
              <a:t>加州大学伯克利分校开发（学院版</a:t>
            </a:r>
            <a:r>
              <a:rPr lang="zh-CN" altLang="en-US" sz="2000" b="1" dirty="0" smtClean="0">
                <a:ea typeface="宋体" panose="02010600030101010101" pitchFamily="2" charset="-122"/>
              </a:rPr>
              <a:t>）</a:t>
            </a:r>
            <a:endParaRPr lang="zh-CN" altLang="en-US" sz="2000" b="1" dirty="0">
              <a:ea typeface="宋体" panose="02010600030101010101" pitchFamily="2" charset="-122"/>
            </a:endParaRPr>
          </a:p>
        </p:txBody>
      </p:sp>
      <p:sp>
        <p:nvSpPr>
          <p:cNvPr id="4" name="爆炸形 1 3"/>
          <p:cNvSpPr/>
          <p:nvPr/>
        </p:nvSpPr>
        <p:spPr>
          <a:xfrm>
            <a:off x="6300192" y="555526"/>
            <a:ext cx="2392774" cy="1119520"/>
          </a:xfrm>
          <a:prstGeom prst="irregularSeal1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b="1" dirty="0" smtClean="0">
                <a:solidFill>
                  <a:srgbClr val="FF0000"/>
                </a:solidFill>
                <a:latin typeface="+mj-ea"/>
                <a:ea typeface="+mj-ea"/>
              </a:rPr>
              <a:t>收费了！</a:t>
            </a:r>
            <a:endParaRPr lang="zh-CN" altLang="en-US" b="1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251520" y="2067694"/>
            <a:ext cx="8712968" cy="1656184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marL="27432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9436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6868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716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64592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901825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19456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46888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b="1" dirty="0" smtClean="0">
                <a:ea typeface="宋体" panose="02010600030101010101" pitchFamily="2" charset="-122"/>
              </a:rPr>
              <a:t>           </a:t>
            </a:r>
            <a:r>
              <a:rPr lang="zh-CN" altLang="en-US" sz="2000" b="1" dirty="0" smtClean="0">
                <a:ea typeface="宋体" panose="02010600030101010101" pitchFamily="2" charset="-122"/>
              </a:rPr>
              <a:t>上世纪</a:t>
            </a:r>
            <a:r>
              <a:rPr lang="en-US" altLang="zh-CN" sz="2000" b="1" dirty="0" smtClean="0">
                <a:ea typeface="宋体" panose="02010600030101010101" pitchFamily="2" charset="-122"/>
              </a:rPr>
              <a:t>80</a:t>
            </a:r>
            <a:r>
              <a:rPr lang="zh-CN" altLang="en-US" sz="2000" b="1" dirty="0" smtClean="0">
                <a:ea typeface="宋体" panose="02010600030101010101" pitchFamily="2" charset="-122"/>
              </a:rPr>
              <a:t>年代</a:t>
            </a:r>
            <a:r>
              <a:rPr lang="en-US" altLang="zh-CN" sz="2000" b="1" dirty="0" smtClean="0">
                <a:ea typeface="宋体" panose="02010600030101010101" pitchFamily="2" charset="-122"/>
              </a:rPr>
              <a:t>,</a:t>
            </a:r>
            <a:r>
              <a:rPr lang="zh-CN" altLang="en-US" sz="2000" b="1" dirty="0" smtClean="0">
                <a:ea typeface="宋体" panose="02010600030101010101" pitchFamily="2" charset="-122"/>
              </a:rPr>
              <a:t>一些</a:t>
            </a:r>
            <a:r>
              <a:rPr lang="zh-CN" altLang="en-US" sz="2000" b="1" dirty="0">
                <a:ea typeface="宋体" panose="02010600030101010101" pitchFamily="2" charset="-122"/>
              </a:rPr>
              <a:t>软件研究与开发</a:t>
            </a:r>
            <a:r>
              <a:rPr lang="zh-CN" altLang="en-US" sz="2000" b="1" dirty="0" smtClean="0">
                <a:ea typeface="宋体" panose="02010600030101010101" pitchFamily="2" charset="-122"/>
              </a:rPr>
              <a:t>方面的年轻人兴起了自由软件的思潮</a:t>
            </a:r>
            <a:r>
              <a:rPr lang="en-US" altLang="zh-CN" sz="2000" b="1" dirty="0" smtClean="0">
                <a:ea typeface="宋体" panose="02010600030101010101" pitchFamily="2" charset="-122"/>
              </a:rPr>
              <a:t>,</a:t>
            </a:r>
            <a:r>
              <a:rPr lang="zh-CN" altLang="en-US" sz="2000" b="1" dirty="0" smtClean="0">
                <a:ea typeface="宋体" panose="02010600030101010101" pitchFamily="2" charset="-122"/>
              </a:rPr>
              <a:t>并启动了</a:t>
            </a:r>
            <a:r>
              <a:rPr lang="en-US" altLang="zh-CN" sz="2000" b="1" dirty="0" smtClean="0">
                <a:solidFill>
                  <a:srgbClr val="FF0000"/>
                </a:solidFill>
                <a:ea typeface="宋体" panose="02010600030101010101" pitchFamily="2" charset="-122"/>
              </a:rPr>
              <a:t>GNU</a:t>
            </a:r>
            <a:r>
              <a:rPr lang="zh-CN" altLang="en-US" sz="2000" b="1" dirty="0" smtClean="0">
                <a:solidFill>
                  <a:srgbClr val="FF0000"/>
                </a:solidFill>
                <a:ea typeface="宋体" panose="02010600030101010101" pitchFamily="2" charset="-122"/>
              </a:rPr>
              <a:t>（</a:t>
            </a:r>
            <a:r>
              <a:rPr lang="en-US" altLang="zh-CN" sz="2000" b="1" dirty="0" smtClean="0">
                <a:solidFill>
                  <a:srgbClr val="FF0000"/>
                </a:solidFill>
                <a:ea typeface="宋体" panose="02010600030101010101" pitchFamily="2" charset="-122"/>
              </a:rPr>
              <a:t>Gnu is Not Unix </a:t>
            </a:r>
            <a:r>
              <a:rPr lang="zh-CN" altLang="en-US" sz="2000" b="1" dirty="0" smtClean="0">
                <a:solidFill>
                  <a:srgbClr val="FF0000"/>
                </a:solidFill>
                <a:ea typeface="宋体" panose="02010600030101010101" pitchFamily="2" charset="-122"/>
              </a:rPr>
              <a:t>）计划</a:t>
            </a:r>
            <a:r>
              <a:rPr lang="en-US" altLang="zh-CN" sz="2000" b="1" dirty="0">
                <a:solidFill>
                  <a:srgbClr val="FF0000"/>
                </a:solidFill>
                <a:ea typeface="宋体" panose="02010600030101010101" pitchFamily="2" charset="-122"/>
              </a:rPr>
              <a:t>.</a:t>
            </a:r>
            <a:r>
              <a:rPr lang="zh-CN" altLang="en-US" sz="2000" b="1" dirty="0" smtClean="0">
                <a:ea typeface="宋体" panose="02010600030101010101" pitchFamily="2" charset="-122"/>
              </a:rPr>
              <a:t>目标是开发一个兼容</a:t>
            </a:r>
            <a:r>
              <a:rPr lang="en-US" altLang="zh-CN" sz="2000" b="1" dirty="0" smtClean="0">
                <a:ea typeface="宋体" panose="02010600030101010101" pitchFamily="2" charset="-122"/>
              </a:rPr>
              <a:t>UNIX</a:t>
            </a:r>
            <a:r>
              <a:rPr lang="zh-CN" altLang="en-US" sz="2000" b="1" dirty="0" smtClean="0">
                <a:ea typeface="宋体" panose="02010600030101010101" pitchFamily="2" charset="-122"/>
              </a:rPr>
              <a:t>的完整的操作系统开发平台，包括操作系统及该操作系统支持的各种软件开发工具和应用程序</a:t>
            </a:r>
            <a:r>
              <a:rPr lang="en-US" altLang="zh-CN" sz="2000" b="1" dirty="0" smtClean="0">
                <a:ea typeface="宋体" panose="02010600030101010101" pitchFamily="2" charset="-122"/>
              </a:rPr>
              <a:t>.</a:t>
            </a:r>
            <a:endParaRPr lang="zh-CN" altLang="en-US" sz="2000" b="1" dirty="0" smtClean="0"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691680" y="3709382"/>
            <a:ext cx="4824536" cy="461665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zh-CN" altLang="en-US" sz="2000" b="1" dirty="0">
                <a:ea typeface="宋体" panose="02010600030101010101" pitchFamily="2" charset="-122"/>
              </a:rPr>
              <a:t>“</a:t>
            </a:r>
            <a:r>
              <a:rPr lang="zh-CN" altLang="en-US" sz="2400" b="1" dirty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资源免费，服务收费</a:t>
            </a:r>
            <a:r>
              <a:rPr lang="zh-CN" altLang="en-US" sz="2400" b="1" dirty="0">
                <a:ea typeface="宋体" panose="02010600030101010101" pitchFamily="2" charset="-122"/>
              </a:rPr>
              <a:t>”</a:t>
            </a:r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11560" y="3507854"/>
            <a:ext cx="7848872" cy="7418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000" b="1" dirty="0">
                <a:ea typeface="宋体" panose="02010600030101010101" pitchFamily="2" charset="-122"/>
              </a:rPr>
              <a:t>1991</a:t>
            </a:r>
            <a:r>
              <a:rPr lang="zh-CN" altLang="en-US" sz="2000" b="1" dirty="0">
                <a:ea typeface="宋体" panose="02010600030101010101" pitchFamily="2" charset="-122"/>
              </a:rPr>
              <a:t>年，芬兰大学生</a:t>
            </a:r>
            <a:r>
              <a:rPr lang="en-US" altLang="zh-CN" sz="2000" b="1" dirty="0">
                <a:ea typeface="宋体" panose="02010600030101010101" pitchFamily="2" charset="-122"/>
              </a:rPr>
              <a:t>Linus Torvalds</a:t>
            </a:r>
            <a:r>
              <a:rPr lang="zh-CN" altLang="en-US" sz="2000" b="1" dirty="0">
                <a:ea typeface="宋体" panose="02010600030101010101" pitchFamily="2" charset="-122"/>
              </a:rPr>
              <a:t>编写出了与</a:t>
            </a:r>
            <a:r>
              <a:rPr lang="en-US" altLang="zh-CN" sz="2000" b="1" dirty="0">
                <a:ea typeface="宋体" panose="02010600030101010101" pitchFamily="2" charset="-122"/>
              </a:rPr>
              <a:t>UNIX</a:t>
            </a:r>
            <a:r>
              <a:rPr lang="zh-CN" altLang="en-US" sz="2000" b="1" dirty="0">
                <a:ea typeface="宋体" panose="02010600030101010101" pitchFamily="2" charset="-122"/>
              </a:rPr>
              <a:t>兼容的操作系统</a:t>
            </a:r>
            <a:r>
              <a:rPr lang="zh-CN" altLang="en-US" sz="2000" b="1" dirty="0">
                <a:solidFill>
                  <a:srgbClr val="FF0000"/>
                </a:solidFill>
                <a:ea typeface="宋体" panose="02010600030101010101" pitchFamily="2" charset="-122"/>
              </a:rPr>
              <a:t>内核</a:t>
            </a:r>
            <a:r>
              <a:rPr lang="en-US" altLang="zh-CN" sz="2000" b="1" dirty="0">
                <a:solidFill>
                  <a:srgbClr val="FF0000"/>
                </a:solidFill>
                <a:ea typeface="宋体" panose="02010600030101010101" pitchFamily="2" charset="-122"/>
              </a:rPr>
              <a:t>Linux</a:t>
            </a:r>
            <a:r>
              <a:rPr lang="zh-CN" altLang="en-US" sz="2000" b="1" dirty="0">
                <a:ea typeface="宋体" panose="02010600030101010101" pitchFamily="2" charset="-122"/>
              </a:rPr>
              <a:t>，並按</a:t>
            </a:r>
            <a:r>
              <a:rPr lang="en-US" altLang="zh-CN" sz="2000" b="1" dirty="0">
                <a:ea typeface="宋体" panose="02010600030101010101" pitchFamily="2" charset="-122"/>
              </a:rPr>
              <a:t>GPL</a:t>
            </a:r>
            <a:r>
              <a:rPr lang="zh-CN" altLang="en-US" sz="2000" b="1" dirty="0">
                <a:ea typeface="宋体" panose="02010600030101010101" pitchFamily="2" charset="-122"/>
              </a:rPr>
              <a:t>协议在</a:t>
            </a:r>
            <a:r>
              <a:rPr lang="en-US" altLang="zh-CN" sz="2000" b="1" dirty="0">
                <a:ea typeface="宋体" panose="02010600030101010101" pitchFamily="2" charset="-122"/>
              </a:rPr>
              <a:t>Usenet</a:t>
            </a:r>
            <a:r>
              <a:rPr lang="zh-CN" altLang="en-US" sz="2000" b="1" dirty="0">
                <a:ea typeface="宋体" panose="02010600030101010101" pitchFamily="2" charset="-122"/>
              </a:rPr>
              <a:t>（新闻讨论组）上发布。</a:t>
            </a:r>
            <a:endParaRPr lang="zh-CN" altLang="en-US" sz="2000" b="1" dirty="0">
              <a:ea typeface="宋体" panose="02010600030101010101" pitchFamily="2" charset="-122"/>
            </a:endParaRPr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828" t="34134" r="28391" b="46330"/>
          <a:stretch>
            <a:fillRect/>
          </a:stretch>
        </p:blipFill>
        <p:spPr>
          <a:xfrm>
            <a:off x="2118916" y="411510"/>
            <a:ext cx="2417080" cy="2503291"/>
          </a:xfrm>
          <a:prstGeom prst="rect">
            <a:avLst/>
          </a:prstGeom>
          <a:noFill/>
        </p:spPr>
      </p:pic>
      <p:pic>
        <p:nvPicPr>
          <p:cNvPr id="6" name="Picture 5" descr="Tux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2120" y="915566"/>
            <a:ext cx="1790886" cy="17424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1187624" y="3003798"/>
            <a:ext cx="504056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ea typeface="宋体" panose="02010600030101010101" pitchFamily="2" charset="-122"/>
              </a:rPr>
              <a:t>Linus </a:t>
            </a:r>
            <a:r>
              <a:rPr lang="en-US" altLang="zh-CN" b="1" dirty="0" err="1" smtClean="0">
                <a:ea typeface="宋体" panose="02010600030101010101" pitchFamily="2" charset="-122"/>
              </a:rPr>
              <a:t>Torvald</a:t>
            </a:r>
            <a:r>
              <a:rPr lang="zh-CN" altLang="en-US" b="1" dirty="0" smtClean="0">
                <a:ea typeface="宋体" panose="02010600030101010101" pitchFamily="2" charset="-122"/>
              </a:rPr>
              <a:t>李</a:t>
            </a:r>
            <a:r>
              <a:rPr lang="zh-CN" altLang="en-US" b="1" dirty="0">
                <a:ea typeface="宋体" panose="02010600030101010101" pitchFamily="2" charset="-122"/>
              </a:rPr>
              <a:t>纳斯 </a:t>
            </a:r>
            <a:r>
              <a:rPr lang="en-US" altLang="zh-CN" b="1" dirty="0">
                <a:ea typeface="宋体" panose="02010600030101010101" pitchFamily="2" charset="-122"/>
              </a:rPr>
              <a:t>• </a:t>
            </a:r>
            <a:r>
              <a:rPr lang="zh-CN" altLang="en-US" b="1" dirty="0">
                <a:ea typeface="宋体" panose="02010600030101010101" pitchFamily="2" charset="-122"/>
              </a:rPr>
              <a:t>托瓦兹</a:t>
            </a:r>
            <a:endParaRPr lang="zh-CN" altLang="en-US" b="1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25916" y="195486"/>
            <a:ext cx="7543800" cy="5760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6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1.2 Linux</a:t>
            </a:r>
            <a:r>
              <a:rPr lang="zh-CN" altLang="en-US" sz="26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简介</a:t>
            </a:r>
            <a:endParaRPr lang="zh-CN" altLang="zh-CN" sz="2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内容占位符 2"/>
          <p:cNvSpPr txBox="1"/>
          <p:nvPr/>
        </p:nvSpPr>
        <p:spPr>
          <a:xfrm>
            <a:off x="683568" y="681540"/>
            <a:ext cx="8208912" cy="1193304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marL="27432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9436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6868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716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64592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901825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19456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46888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altLang="zh-CN" sz="1800" b="1" dirty="0" smtClean="0"/>
              <a:t>      Linux</a:t>
            </a:r>
            <a:r>
              <a:rPr lang="zh-CN" altLang="zh-CN" sz="1800" b="1" dirty="0" smtClean="0"/>
              <a:t>继承了</a:t>
            </a:r>
            <a:r>
              <a:rPr lang="en-US" altLang="zh-CN" sz="1800" b="1" dirty="0" smtClean="0"/>
              <a:t>Unix</a:t>
            </a:r>
            <a:r>
              <a:rPr lang="zh-CN" altLang="zh-CN" sz="1800" b="1" dirty="0" smtClean="0"/>
              <a:t>以</a:t>
            </a:r>
            <a:r>
              <a:rPr lang="zh-CN" altLang="en-US" sz="1800" b="1" dirty="0"/>
              <a:t>网络</a:t>
            </a:r>
            <a:r>
              <a:rPr lang="zh-CN" altLang="zh-CN" sz="1800" b="1" dirty="0" smtClean="0"/>
              <a:t>为核心的设计思想，是一个性能稳定的多用户网络操作系统。</a:t>
            </a:r>
            <a:endParaRPr lang="zh-CN" altLang="zh-CN" sz="1800" b="1" dirty="0" smtClean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1800" b="1" dirty="0" smtClean="0"/>
              <a:t>      Linux</a:t>
            </a:r>
            <a:r>
              <a:rPr lang="zh-CN" altLang="zh-CN" sz="1800" b="1" dirty="0" smtClean="0"/>
              <a:t>操作系统存在着许多不同的</a:t>
            </a:r>
            <a:r>
              <a:rPr lang="en-US" altLang="zh-CN" sz="1800" b="1" dirty="0" smtClean="0"/>
              <a:t>Linux</a:t>
            </a:r>
            <a:r>
              <a:rPr lang="zh-CN" altLang="zh-CN" sz="1800" b="1" dirty="0" smtClean="0"/>
              <a:t>版本，但它们都使用了</a:t>
            </a:r>
            <a:r>
              <a:rPr lang="en-US" altLang="zh-CN" sz="1800" b="1" dirty="0" smtClean="0"/>
              <a:t>Linux</a:t>
            </a:r>
            <a:r>
              <a:rPr lang="zh-CN" altLang="en-US" sz="1800" b="1" dirty="0" smtClean="0"/>
              <a:t>内核</a:t>
            </a:r>
            <a:r>
              <a:rPr lang="zh-CN" altLang="zh-CN" sz="1800" b="1" dirty="0" smtClean="0"/>
              <a:t>。</a:t>
            </a:r>
            <a:endParaRPr lang="zh-CN" altLang="zh-CN" sz="1800" b="1" dirty="0"/>
          </a:p>
        </p:txBody>
      </p:sp>
      <p:grpSp>
        <p:nvGrpSpPr>
          <p:cNvPr id="17" name="组合 16"/>
          <p:cNvGrpSpPr/>
          <p:nvPr/>
        </p:nvGrpSpPr>
        <p:grpSpPr>
          <a:xfrm>
            <a:off x="1203544" y="1973933"/>
            <a:ext cx="6752833" cy="2801119"/>
            <a:chOff x="376238" y="1447800"/>
            <a:chExt cx="8976326" cy="4429125"/>
          </a:xfrm>
        </p:grpSpPr>
        <p:sp>
          <p:nvSpPr>
            <p:cNvPr id="18" name="圆角矩形 17"/>
            <p:cNvSpPr/>
            <p:nvPr/>
          </p:nvSpPr>
          <p:spPr>
            <a:xfrm>
              <a:off x="3824288" y="2925762"/>
              <a:ext cx="1447800" cy="1431372"/>
            </a:xfrm>
            <a:prstGeom prst="roundRect">
              <a:avLst/>
            </a:prstGeom>
            <a:solidFill>
              <a:srgbClr val="FAA90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b="1" dirty="0">
                  <a:solidFill>
                    <a:srgbClr val="FFFFFF"/>
                  </a:solidFill>
                  <a:ea typeface="宋体" panose="02010600030101010101" pitchFamily="2" charset="-122"/>
                </a:rPr>
                <a:t>Linux</a:t>
              </a:r>
              <a:r>
                <a:rPr lang="zh-CN" altLang="en-US" b="1" dirty="0">
                  <a:solidFill>
                    <a:srgbClr val="FFFFFF"/>
                  </a:solidFill>
                  <a:ea typeface="宋体" panose="02010600030101010101" pitchFamily="2" charset="-122"/>
                </a:rPr>
                <a:t>操作系统</a:t>
              </a:r>
              <a:endParaRPr lang="zh-CN" altLang="en-US" b="1" dirty="0">
                <a:solidFill>
                  <a:srgbClr val="FFFF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9" name="圆角矩形 18"/>
            <p:cNvSpPr/>
            <p:nvPr/>
          </p:nvSpPr>
          <p:spPr>
            <a:xfrm>
              <a:off x="6092824" y="1590675"/>
              <a:ext cx="3259739" cy="609599"/>
            </a:xfrm>
            <a:prstGeom prst="roundRect">
              <a:avLst/>
            </a:prstGeom>
            <a:solidFill>
              <a:srgbClr val="CC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b="1" dirty="0">
                  <a:solidFill>
                    <a:srgbClr val="FFFFFF"/>
                  </a:solidFill>
                  <a:ea typeface="宋体" panose="02010600030101010101" pitchFamily="2" charset="-122"/>
                </a:rPr>
                <a:t>Linux</a:t>
              </a:r>
              <a:r>
                <a:rPr lang="zh-CN" altLang="en-US" b="1" dirty="0">
                  <a:solidFill>
                    <a:srgbClr val="FFFFFF"/>
                  </a:solidFill>
                  <a:ea typeface="宋体" panose="02010600030101010101" pitchFamily="2" charset="-122"/>
                </a:rPr>
                <a:t>内核</a:t>
              </a:r>
              <a:r>
                <a:rPr lang="en-US" altLang="zh-CN" b="1" dirty="0">
                  <a:solidFill>
                    <a:srgbClr val="FFFFFF"/>
                  </a:solidFill>
                  <a:ea typeface="宋体" panose="02010600030101010101" pitchFamily="2" charset="-122"/>
                </a:rPr>
                <a:t>Kernel</a:t>
              </a:r>
              <a:endParaRPr lang="zh-CN" altLang="en-US" b="1" dirty="0">
                <a:solidFill>
                  <a:srgbClr val="FFFF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0" name="圆角矩形 19"/>
            <p:cNvSpPr/>
            <p:nvPr/>
          </p:nvSpPr>
          <p:spPr>
            <a:xfrm>
              <a:off x="6107113" y="2390775"/>
              <a:ext cx="3245451" cy="609599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b="1" dirty="0">
                  <a:solidFill>
                    <a:srgbClr val="FFFFFF"/>
                  </a:solidFill>
                  <a:ea typeface="宋体" panose="02010600030101010101" pitchFamily="2" charset="-122"/>
                </a:rPr>
                <a:t>系统引导程序</a:t>
              </a:r>
              <a:endParaRPr lang="zh-CN" altLang="en-US" b="1" dirty="0">
                <a:solidFill>
                  <a:srgbClr val="FFFF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1" name="圆角矩形 20"/>
            <p:cNvSpPr/>
            <p:nvPr/>
          </p:nvSpPr>
          <p:spPr>
            <a:xfrm>
              <a:off x="6107112" y="3190875"/>
              <a:ext cx="3245449" cy="609599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b="1">
                  <a:solidFill>
                    <a:srgbClr val="FFFFFF"/>
                  </a:solidFill>
                  <a:ea typeface="宋体" panose="02010600030101010101" pitchFamily="2" charset="-122"/>
                </a:rPr>
                <a:t>Shell</a:t>
              </a:r>
              <a:endParaRPr lang="zh-CN" altLang="en-US" b="1">
                <a:solidFill>
                  <a:srgbClr val="FFFF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2" name="圆角矩形 21"/>
            <p:cNvSpPr/>
            <p:nvPr/>
          </p:nvSpPr>
          <p:spPr>
            <a:xfrm>
              <a:off x="6107113" y="3949700"/>
              <a:ext cx="3149733" cy="609599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b="1">
                  <a:solidFill>
                    <a:srgbClr val="FFFFFF"/>
                  </a:solidFill>
                  <a:ea typeface="宋体" panose="02010600030101010101" pitchFamily="2" charset="-122"/>
                </a:rPr>
                <a:t>GUI</a:t>
              </a:r>
              <a:endParaRPr lang="zh-CN" altLang="en-US" b="1">
                <a:solidFill>
                  <a:srgbClr val="FFFF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3" name="圆角矩形 22"/>
            <p:cNvSpPr/>
            <p:nvPr/>
          </p:nvSpPr>
          <p:spPr>
            <a:xfrm>
              <a:off x="6129339" y="4713288"/>
              <a:ext cx="3127507" cy="609599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b="1" dirty="0">
                  <a:solidFill>
                    <a:srgbClr val="FFFFFF"/>
                  </a:solidFill>
                  <a:ea typeface="宋体" panose="02010600030101010101" pitchFamily="2" charset="-122"/>
                </a:rPr>
                <a:t>设备驱动程序</a:t>
              </a:r>
              <a:endParaRPr lang="zh-CN" altLang="en-US" b="1" dirty="0">
                <a:solidFill>
                  <a:srgbClr val="FFFF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4" name="左大括号 23"/>
            <p:cNvSpPr/>
            <p:nvPr/>
          </p:nvSpPr>
          <p:spPr>
            <a:xfrm>
              <a:off x="5407025" y="1933575"/>
              <a:ext cx="508000" cy="3124200"/>
            </a:xfrm>
            <a:prstGeom prst="leftBrace">
              <a:avLst/>
            </a:prstGeom>
            <a:ln w="28575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b="1">
                <a:ea typeface="宋体" panose="02010600030101010101" pitchFamily="2" charset="-122"/>
              </a:endParaRPr>
            </a:p>
          </p:txBody>
        </p:sp>
        <p:sp>
          <p:nvSpPr>
            <p:cNvPr id="25" name="圆角矩形 24"/>
            <p:cNvSpPr/>
            <p:nvPr/>
          </p:nvSpPr>
          <p:spPr>
            <a:xfrm>
              <a:off x="3835401" y="4495006"/>
              <a:ext cx="1447800" cy="1381919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b="1" dirty="0">
                  <a:solidFill>
                    <a:srgbClr val="FFFFFF"/>
                  </a:solidFill>
                  <a:ea typeface="宋体" panose="02010600030101010101" pitchFamily="2" charset="-122"/>
                </a:rPr>
                <a:t>应用程序组件</a:t>
              </a:r>
              <a:endParaRPr lang="zh-CN" altLang="en-US" b="1" dirty="0">
                <a:solidFill>
                  <a:srgbClr val="FFFF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6" name="圆角矩形 25"/>
            <p:cNvSpPr/>
            <p:nvPr/>
          </p:nvSpPr>
          <p:spPr>
            <a:xfrm>
              <a:off x="737949" y="3878263"/>
              <a:ext cx="2381489" cy="1233487"/>
            </a:xfrm>
            <a:prstGeom prst="round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b="1" dirty="0">
                  <a:solidFill>
                    <a:srgbClr val="FFFFFF"/>
                  </a:solidFill>
                  <a:ea typeface="宋体" panose="02010600030101010101" pitchFamily="2" charset="-122"/>
                </a:rPr>
                <a:t>Linux</a:t>
              </a:r>
              <a:r>
                <a:rPr lang="zh-CN" altLang="en-US" b="1" dirty="0">
                  <a:solidFill>
                    <a:srgbClr val="FFFFFF"/>
                  </a:solidFill>
                  <a:ea typeface="宋体" panose="02010600030101010101" pitchFamily="2" charset="-122"/>
                </a:rPr>
                <a:t>操作系统开发平台</a:t>
              </a:r>
              <a:endParaRPr lang="zh-CN" altLang="en-US" b="1" dirty="0">
                <a:solidFill>
                  <a:srgbClr val="FFFF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7" name="圆角矩形标注 26"/>
            <p:cNvSpPr/>
            <p:nvPr/>
          </p:nvSpPr>
          <p:spPr>
            <a:xfrm>
              <a:off x="3276600" y="1447800"/>
              <a:ext cx="1497013" cy="633413"/>
            </a:xfrm>
            <a:prstGeom prst="wedgeRoundRectCallout">
              <a:avLst>
                <a:gd name="adj1" fmla="val 45267"/>
                <a:gd name="adj2" fmla="val 164269"/>
                <a:gd name="adj3" fmla="val 16667"/>
              </a:avLst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b="1">
                  <a:solidFill>
                    <a:schemeClr val="tx1"/>
                  </a:solidFill>
                  <a:ea typeface="宋体" panose="02010600030101010101" pitchFamily="2" charset="-122"/>
                </a:rPr>
                <a:t>Linux</a:t>
              </a:r>
              <a:endParaRPr lang="zh-CN" altLang="en-US" b="1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8" name="圆角矩形标注 27"/>
            <p:cNvSpPr/>
            <p:nvPr/>
          </p:nvSpPr>
          <p:spPr>
            <a:xfrm>
              <a:off x="376238" y="2359025"/>
              <a:ext cx="2057400" cy="633413"/>
            </a:xfrm>
            <a:prstGeom prst="wedgeRoundRectCallout">
              <a:avLst>
                <a:gd name="adj1" fmla="val 45267"/>
                <a:gd name="adj2" fmla="val 164269"/>
                <a:gd name="adj3" fmla="val 16667"/>
              </a:avLst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Linux</a:t>
              </a:r>
              <a:r>
                <a:rPr lang="zh-CN" altLang="en-US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系统</a:t>
              </a:r>
              <a:endParaRPr lang="zh-CN" altLang="en-US" b="1" dirty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9" name="左大括号 28"/>
            <p:cNvSpPr/>
            <p:nvPr/>
          </p:nvSpPr>
          <p:spPr>
            <a:xfrm>
              <a:off x="3254375" y="3470275"/>
              <a:ext cx="484188" cy="2049463"/>
            </a:xfrm>
            <a:prstGeom prst="leftBrace">
              <a:avLst>
                <a:gd name="adj1" fmla="val 8333"/>
                <a:gd name="adj2" fmla="val 49089"/>
              </a:avLst>
            </a:prstGeom>
            <a:ln w="28575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b="1"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2"/>
          <p:cNvSpPr txBox="1"/>
          <p:nvPr/>
        </p:nvSpPr>
        <p:spPr>
          <a:xfrm>
            <a:off x="827584" y="627534"/>
            <a:ext cx="7543800" cy="3618402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 fontScale="92500" lnSpcReduction="10000"/>
          </a:bodyPr>
          <a:lstStyle>
            <a:lvl1pPr marL="27432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9436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6868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716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64592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901825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19456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46888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zh-CN" altLang="en-US" b="1" dirty="0" smtClean="0">
                <a:ea typeface="宋体" panose="02010600030101010101" pitchFamily="2" charset="-122"/>
              </a:rPr>
              <a:t>内核</a:t>
            </a:r>
            <a:r>
              <a:rPr lang="en-US" altLang="zh-CN" b="1" dirty="0" smtClean="0">
                <a:ea typeface="宋体" panose="02010600030101010101" pitchFamily="2" charset="-122"/>
              </a:rPr>
              <a:t>----</a:t>
            </a:r>
            <a:r>
              <a:rPr lang="zh-CN" altLang="en-US" b="1" dirty="0" smtClean="0">
                <a:ea typeface="宋体" panose="02010600030101010101" pitchFamily="2" charset="-122"/>
              </a:rPr>
              <a:t>是</a:t>
            </a:r>
            <a:r>
              <a:rPr lang="en-US" altLang="zh-CN" b="1" dirty="0">
                <a:ea typeface="宋体" panose="02010600030101010101" pitchFamily="2" charset="-122"/>
              </a:rPr>
              <a:t>Linux</a:t>
            </a:r>
            <a:r>
              <a:rPr lang="zh-CN" altLang="en-US" b="1" dirty="0">
                <a:ea typeface="宋体" panose="02010600030101010101" pitchFamily="2" charset="-122"/>
              </a:rPr>
              <a:t>操作系统的核心，它负责所有的资源管理工作和程序运行控制工作</a:t>
            </a:r>
            <a:r>
              <a:rPr lang="zh-CN" altLang="en-US" b="1" dirty="0" smtClean="0">
                <a:ea typeface="宋体" panose="02010600030101010101" pitchFamily="2" charset="-122"/>
              </a:rPr>
              <a:t>。</a:t>
            </a:r>
            <a:endParaRPr lang="en-US" altLang="zh-CN" b="1" dirty="0" smtClean="0"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b="1" dirty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Char char="l"/>
            </a:pPr>
            <a:r>
              <a:rPr lang="en-US" altLang="zh-CN" b="1" dirty="0" smtClean="0">
                <a:ea typeface="宋体" panose="02010600030101010101" pitchFamily="2" charset="-122"/>
              </a:rPr>
              <a:t>Shell----</a:t>
            </a:r>
            <a:r>
              <a:rPr lang="zh-CN" altLang="en-US" b="1" dirty="0" smtClean="0">
                <a:ea typeface="宋体" panose="02010600030101010101" pitchFamily="2" charset="-122"/>
              </a:rPr>
              <a:t>是</a:t>
            </a:r>
            <a:r>
              <a:rPr lang="en-US" altLang="zh-CN" b="1" dirty="0" smtClean="0">
                <a:ea typeface="宋体" panose="02010600030101010101" pitchFamily="2" charset="-122"/>
              </a:rPr>
              <a:t>Linux</a:t>
            </a:r>
            <a:r>
              <a:rPr lang="zh-CN" altLang="en-US" b="1" dirty="0">
                <a:ea typeface="宋体" panose="02010600030101010101" pitchFamily="2" charset="-122"/>
              </a:rPr>
              <a:t>操作系统的文本用户界面，提供了用户与内核进行交互操作的一种接口。</a:t>
            </a:r>
            <a:endParaRPr lang="zh-CN" altLang="en-US" b="1" dirty="0"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b="1" dirty="0" smtClean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Char char="l"/>
            </a:pPr>
            <a:r>
              <a:rPr lang="zh-CN" altLang="en-US" b="1" dirty="0" smtClean="0">
                <a:ea typeface="宋体" panose="02010600030101010101" pitchFamily="2" charset="-122"/>
              </a:rPr>
              <a:t>应用程序</a:t>
            </a:r>
            <a:r>
              <a:rPr lang="en-US" altLang="zh-CN" b="1" dirty="0" smtClean="0">
                <a:ea typeface="宋体" panose="02010600030101010101" pitchFamily="2" charset="-122"/>
              </a:rPr>
              <a:t>----</a:t>
            </a:r>
            <a:r>
              <a:rPr lang="zh-CN" altLang="en-US" b="1" dirty="0" smtClean="0">
                <a:ea typeface="宋体" panose="02010600030101010101" pitchFamily="2" charset="-122"/>
              </a:rPr>
              <a:t>是</a:t>
            </a:r>
            <a:r>
              <a:rPr lang="zh-CN" altLang="en-US" b="1" dirty="0">
                <a:ea typeface="宋体" panose="02010600030101010101" pitchFamily="2" charset="-122"/>
              </a:rPr>
              <a:t>相对</a:t>
            </a:r>
            <a:r>
              <a:rPr lang="en-US" altLang="zh-CN" b="1" dirty="0">
                <a:ea typeface="宋体" panose="02010600030101010101" pitchFamily="2" charset="-122"/>
              </a:rPr>
              <a:t>Linux</a:t>
            </a:r>
            <a:r>
              <a:rPr lang="zh-CN" altLang="en-US" b="1" dirty="0">
                <a:ea typeface="宋体" panose="02010600030101010101" pitchFamily="2" charset="-122"/>
              </a:rPr>
              <a:t>操作系统而言的，是泛指的。实际上，它们都是</a:t>
            </a:r>
            <a:r>
              <a:rPr lang="en-US" altLang="zh-CN" b="1" dirty="0">
                <a:ea typeface="宋体" panose="02010600030101010101" pitchFamily="2" charset="-122"/>
              </a:rPr>
              <a:t>Linux</a:t>
            </a:r>
            <a:r>
              <a:rPr lang="zh-CN" altLang="en-US" b="1" dirty="0">
                <a:ea typeface="宋体" panose="02010600030101010101" pitchFamily="2" charset="-122"/>
              </a:rPr>
              <a:t>操作系统支持的用户可使用的实用程序或用户应用程序的开发工具，甚至还包括了</a:t>
            </a:r>
            <a:r>
              <a:rPr lang="en-US" altLang="zh-CN" b="1" dirty="0">
                <a:ea typeface="宋体" panose="02010600030101010101" pitchFamily="2" charset="-122"/>
              </a:rPr>
              <a:t>Linux</a:t>
            </a:r>
            <a:r>
              <a:rPr lang="zh-CN" altLang="en-US" b="1" dirty="0">
                <a:ea typeface="宋体" panose="02010600030101010101" pitchFamily="2" charset="-122"/>
              </a:rPr>
              <a:t> 操作系统的图形用户界面。应用程序通过系统调用访问内核。</a:t>
            </a:r>
            <a:r>
              <a:rPr lang="en-US" altLang="zh-CN" b="1" dirty="0">
                <a:ea typeface="宋体" panose="02010600030101010101" pitchFamily="2" charset="-122"/>
              </a:rPr>
              <a:t> </a:t>
            </a:r>
            <a:endParaRPr lang="zh-CN" altLang="en-US" dirty="0"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zh-CN" altLang="en-US" b="1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2"/>
          <p:cNvSpPr txBox="1"/>
          <p:nvPr/>
        </p:nvSpPr>
        <p:spPr>
          <a:xfrm>
            <a:off x="1187624" y="681540"/>
            <a:ext cx="7543800" cy="3618402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marL="27432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9436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6868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716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64592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901825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19456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46888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b="1" dirty="0">
              <a:ea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87624" y="249492"/>
            <a:ext cx="7543800" cy="5760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6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1.3 Linux</a:t>
            </a:r>
            <a:r>
              <a:rPr lang="zh-CN" altLang="en-US" sz="26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特点</a:t>
            </a:r>
            <a:endParaRPr lang="zh-CN" altLang="zh-CN" sz="2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1331640" y="897564"/>
            <a:ext cx="7086600" cy="3486150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365760" indent="-28321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/>
              <a:buChar char="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37490" algn="l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 panose="020B0604030504040204"/>
              <a:buChar char="◦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87095" indent="-22860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 panose="05020102010507070707"/>
              <a:buChar char="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17399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575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0876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8945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425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smtClean="0">
                <a:latin typeface="华文隶书" panose="02010800040101010101" pitchFamily="2" charset="-122"/>
                <a:ea typeface="华文隶书" panose="02010800040101010101" pitchFamily="2" charset="-122"/>
              </a:rPr>
              <a:t>分时、</a:t>
            </a:r>
            <a:r>
              <a:rPr lang="zh-CN" altLang="en-US" b="1" smtClean="0">
                <a:solidFill>
                  <a:srgbClr val="FF0000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多用户、多任务</a:t>
            </a:r>
            <a:endParaRPr lang="zh-CN" altLang="en-US" b="1" smtClean="0">
              <a:solidFill>
                <a:srgbClr val="FF0000"/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  <a:p>
            <a:r>
              <a:rPr lang="zh-CN" altLang="en-US" b="1" smtClean="0">
                <a:latin typeface="华文隶书" panose="02010800040101010101" pitchFamily="2" charset="-122"/>
                <a:ea typeface="华文隶书" panose="02010800040101010101" pitchFamily="2" charset="-122"/>
              </a:rPr>
              <a:t>多数网络协议支持，方便的远程管理</a:t>
            </a:r>
            <a:endParaRPr lang="zh-CN" altLang="en-US" b="1" smtClean="0">
              <a:latin typeface="华文隶书" panose="02010800040101010101" pitchFamily="2" charset="-122"/>
              <a:ea typeface="华文隶书" panose="02010800040101010101" pitchFamily="2" charset="-122"/>
            </a:endParaRPr>
          </a:p>
          <a:p>
            <a:r>
              <a:rPr lang="zh-CN" altLang="en-US" b="1" smtClean="0">
                <a:latin typeface="华文隶书" panose="02010800040101010101" pitchFamily="2" charset="-122"/>
                <a:ea typeface="华文隶书" panose="02010800040101010101" pitchFamily="2" charset="-122"/>
              </a:rPr>
              <a:t>强大的内存管理和文件系统</a:t>
            </a:r>
            <a:endParaRPr lang="zh-CN" altLang="en-US" b="1" smtClean="0">
              <a:latin typeface="华文隶书" panose="02010800040101010101" pitchFamily="2" charset="-122"/>
              <a:ea typeface="华文隶书" panose="02010800040101010101" pitchFamily="2" charset="-122"/>
            </a:endParaRPr>
          </a:p>
          <a:p>
            <a:r>
              <a:rPr lang="zh-CN" altLang="en-US" b="1" smtClean="0">
                <a:latin typeface="华文隶书" panose="02010800040101010101" pitchFamily="2" charset="-122"/>
                <a:ea typeface="华文隶书" panose="02010800040101010101" pitchFamily="2" charset="-122"/>
              </a:rPr>
              <a:t>大量的可用软件和自由软件</a:t>
            </a:r>
            <a:endParaRPr lang="zh-CN" altLang="en-US" b="1" smtClean="0">
              <a:latin typeface="华文隶书" panose="02010800040101010101" pitchFamily="2" charset="-122"/>
              <a:ea typeface="华文隶书" panose="02010800040101010101" pitchFamily="2" charset="-122"/>
            </a:endParaRPr>
          </a:p>
          <a:p>
            <a:r>
              <a:rPr lang="zh-CN" altLang="en-US" b="1" smtClean="0">
                <a:latin typeface="华文隶书" panose="02010800040101010101" pitchFamily="2" charset="-122"/>
                <a:ea typeface="华文隶书" panose="02010800040101010101" pitchFamily="2" charset="-122"/>
              </a:rPr>
              <a:t>优良的稳定性和安全性</a:t>
            </a:r>
            <a:endParaRPr lang="zh-CN" altLang="en-US" b="1" smtClean="0">
              <a:latin typeface="华文隶书" panose="02010800040101010101" pitchFamily="2" charset="-122"/>
              <a:ea typeface="华文隶书" panose="02010800040101010101" pitchFamily="2" charset="-122"/>
            </a:endParaRPr>
          </a:p>
          <a:p>
            <a:r>
              <a:rPr lang="zh-CN" altLang="en-US" b="1" smtClean="0">
                <a:latin typeface="华文隶书" panose="02010800040101010101" pitchFamily="2" charset="-122"/>
                <a:ea typeface="华文隶书" panose="02010800040101010101" pitchFamily="2" charset="-122"/>
              </a:rPr>
              <a:t>良好的可移植性和灵活性</a:t>
            </a:r>
            <a:endParaRPr lang="zh-CN" altLang="en-US" b="1" smtClean="0">
              <a:latin typeface="华文隶书" panose="02010800040101010101" pitchFamily="2" charset="-122"/>
              <a:ea typeface="华文隶书" panose="02010800040101010101" pitchFamily="2" charset="-122"/>
            </a:endParaRPr>
          </a:p>
          <a:p>
            <a:r>
              <a:rPr lang="zh-CN" altLang="en-US" b="1" smtClean="0">
                <a:latin typeface="华文隶书" panose="02010800040101010101" pitchFamily="2" charset="-122"/>
                <a:ea typeface="华文隶书" panose="02010800040101010101" pitchFamily="2" charset="-122"/>
              </a:rPr>
              <a:t>可供选择的发行商／版本多</a:t>
            </a:r>
            <a:endParaRPr lang="zh-CN" altLang="en-US" b="1" smtClean="0">
              <a:latin typeface="华文隶书" panose="02010800040101010101" pitchFamily="2" charset="-122"/>
              <a:ea typeface="华文隶书" panose="02010800040101010101" pitchFamily="2" charset="-122"/>
            </a:endParaRPr>
          </a:p>
          <a:p>
            <a:r>
              <a:rPr lang="zh-CN" altLang="en-US" b="1" smtClean="0">
                <a:latin typeface="华文隶书" panose="02010800040101010101" pitchFamily="2" charset="-122"/>
                <a:ea typeface="华文隶书" panose="02010800040101010101" pitchFamily="2" charset="-122"/>
              </a:rPr>
              <a:t>可编程</a:t>
            </a:r>
            <a:r>
              <a:rPr lang="en-US" altLang="zh-CN" b="1" smtClean="0">
                <a:latin typeface="华文隶书" panose="02010800040101010101" pitchFamily="2" charset="-122"/>
                <a:ea typeface="华文隶书" panose="02010800040101010101" pitchFamily="2" charset="-122"/>
              </a:rPr>
              <a:t>shell</a:t>
            </a:r>
            <a:endParaRPr lang="en-US" altLang="zh-CN" b="1" smtClean="0">
              <a:latin typeface="华文隶书" panose="02010800040101010101" pitchFamily="2" charset="-122"/>
              <a:ea typeface="华文隶书" panose="0201080004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b="1" smtClean="0">
                <a:latin typeface="华文隶书" panose="02010800040101010101" pitchFamily="2" charset="-122"/>
                <a:ea typeface="华文隶书" panose="02010800040101010101" pitchFamily="2" charset="-122"/>
              </a:rPr>
              <a:t>　</a:t>
            </a:r>
            <a:r>
              <a:rPr lang="en-US" altLang="zh-CN" sz="2400" b="1" smtClean="0">
                <a:ea typeface="华文隶书" panose="02010800040101010101" pitchFamily="2" charset="-122"/>
              </a:rPr>
              <a:t>………</a:t>
            </a:r>
            <a:endParaRPr lang="zh-CN" altLang="en-US" sz="2400" b="1" dirty="0" smtClean="0"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/>
          <p:cNvSpPr txBox="1"/>
          <p:nvPr/>
        </p:nvSpPr>
        <p:spPr>
          <a:xfrm>
            <a:off x="1187624" y="249492"/>
            <a:ext cx="7543800" cy="576064"/>
          </a:xfrm>
          <a:prstGeom prst="rect">
            <a:avLst/>
          </a:prstGeom>
        </p:spPr>
        <p:txBody>
          <a:bodyPr>
            <a:normAutofit/>
          </a:bodyPr>
          <a:lstStyle>
            <a:lvl1pPr marL="365760" indent="-28321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/>
              <a:buChar char="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37490" algn="l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 panose="020B0604030504040204"/>
              <a:buChar char="◦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87095" indent="-22860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 panose="05020102010507070707"/>
              <a:buChar char="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17399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575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0876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8945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425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/>
              <a:buNone/>
            </a:pPr>
            <a:r>
              <a:rPr lang="en-US" altLang="zh-CN" sz="26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1.4 Linux</a:t>
            </a:r>
            <a:r>
              <a:rPr lang="zh-CN" altLang="en-US" sz="2600" dirty="0">
                <a:latin typeface="黑体" panose="02010609060101010101" pitchFamily="49" charset="-122"/>
                <a:ea typeface="黑体" panose="02010609060101010101" pitchFamily="49" charset="-122"/>
              </a:rPr>
              <a:t>版本</a:t>
            </a:r>
            <a:endParaRPr lang="zh-CN" altLang="zh-CN" sz="2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>
          <a:xfrm>
            <a:off x="1233662" y="825556"/>
            <a:ext cx="7497762" cy="3600450"/>
          </a:xfrm>
        </p:spPr>
        <p:txBody>
          <a:bodyPr>
            <a:normAutofit fontScale="85000" lnSpcReduction="20000"/>
          </a:bodyPr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 b="1" dirty="0" smtClean="0">
                <a:ea typeface="宋体" panose="02010600030101010101" pitchFamily="2" charset="-122"/>
              </a:rPr>
              <a:t>　</a:t>
            </a:r>
            <a:r>
              <a:rPr lang="en-US" altLang="zh-CN" sz="2400" b="1" dirty="0" smtClean="0">
                <a:ea typeface="宋体" panose="02010600030101010101" pitchFamily="2" charset="-122"/>
              </a:rPr>
              <a:t>Linux</a:t>
            </a:r>
            <a:r>
              <a:rPr lang="zh-CN" altLang="en-US" sz="2400" b="1" dirty="0" smtClean="0">
                <a:ea typeface="宋体" panose="02010600030101010101" pitchFamily="2" charset="-122"/>
              </a:rPr>
              <a:t>内核版本有两种：</a:t>
            </a:r>
            <a:r>
              <a:rPr lang="zh-CN" altLang="en-US" sz="2400" b="1" dirty="0" smtClean="0">
                <a:solidFill>
                  <a:srgbClr val="0000FF"/>
                </a:solidFill>
                <a:ea typeface="宋体" panose="02010600030101010101" pitchFamily="2" charset="-122"/>
              </a:rPr>
              <a:t>稳定版</a:t>
            </a:r>
            <a:r>
              <a:rPr lang="zh-CN" altLang="en-US" sz="2400" b="1" dirty="0" smtClean="0">
                <a:ea typeface="宋体" panose="02010600030101010101" pitchFamily="2" charset="-122"/>
              </a:rPr>
              <a:t>和</a:t>
            </a:r>
            <a:r>
              <a:rPr lang="zh-CN" altLang="en-US" sz="2400" b="1" dirty="0" smtClean="0">
                <a:solidFill>
                  <a:srgbClr val="0000FF"/>
                </a:solidFill>
                <a:ea typeface="宋体" panose="02010600030101010101" pitchFamily="2" charset="-122"/>
              </a:rPr>
              <a:t>开发版</a:t>
            </a:r>
            <a:r>
              <a:rPr lang="zh-CN" altLang="en-US" sz="2400" b="1" dirty="0" smtClean="0">
                <a:ea typeface="宋体" panose="02010600030101010101" pitchFamily="2" charset="-122"/>
              </a:rPr>
              <a:t>。</a:t>
            </a:r>
            <a:endParaRPr lang="zh-CN" altLang="en-US" sz="2400" b="1" dirty="0" smtClean="0">
              <a:ea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 b="1" dirty="0" smtClean="0">
                <a:ea typeface="宋体" panose="02010600030101010101" pitchFamily="2" charset="-122"/>
              </a:rPr>
              <a:t>　　</a:t>
            </a:r>
            <a:endParaRPr lang="zh-CN" altLang="en-US" sz="2400" b="1" dirty="0" smtClean="0">
              <a:ea typeface="宋体" panose="02010600030101010101" pitchFamily="2" charset="-122"/>
            </a:endParaRPr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zh-CN" altLang="en-US" sz="2400" b="1" dirty="0" smtClean="0">
                <a:ea typeface="宋体" panose="02010600030101010101" pitchFamily="2" charset="-122"/>
              </a:rPr>
              <a:t>　命名格式：</a:t>
            </a:r>
            <a:br>
              <a:rPr lang="zh-CN" altLang="en-US" sz="2400" b="1" dirty="0" smtClean="0">
                <a:ea typeface="宋体" panose="02010600030101010101" pitchFamily="2" charset="-122"/>
              </a:rPr>
            </a:br>
            <a:r>
              <a:rPr lang="zh-CN" altLang="en-US" sz="2400" b="1" dirty="0" smtClean="0">
                <a:ea typeface="宋体" panose="02010600030101010101" pitchFamily="2" charset="-122"/>
              </a:rPr>
              <a:t>　　</a:t>
            </a:r>
            <a:r>
              <a:rPr lang="en-US" altLang="zh-CN" sz="2400" b="1" dirty="0" err="1" smtClean="0">
                <a:solidFill>
                  <a:srgbClr val="FF0000"/>
                </a:solidFill>
                <a:ea typeface="宋体" panose="02010600030101010101" pitchFamily="2" charset="-122"/>
              </a:rPr>
              <a:t>num.num.num</a:t>
            </a:r>
            <a:br>
              <a:rPr lang="en-US" altLang="zh-CN" sz="2400" b="1" dirty="0" smtClean="0">
                <a:ea typeface="宋体" panose="02010600030101010101" pitchFamily="2" charset="-122"/>
              </a:rPr>
            </a:br>
            <a:r>
              <a:rPr lang="zh-CN" altLang="en-US" sz="2400" b="1" dirty="0" smtClean="0">
                <a:ea typeface="宋体" panose="02010600030101010101" pitchFamily="2" charset="-122"/>
              </a:rPr>
              <a:t>第一个数字是主版本号</a:t>
            </a:r>
            <a:endParaRPr lang="en-US" altLang="zh-CN" sz="2400" b="1" dirty="0" smtClean="0">
              <a:ea typeface="宋体" panose="02010600030101010101" pitchFamily="2" charset="-122"/>
            </a:endParaRP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400" b="1" dirty="0" smtClean="0">
                <a:ea typeface="宋体" panose="02010600030101010101" pitchFamily="2" charset="-122"/>
              </a:rPr>
              <a:t>    </a:t>
            </a:r>
            <a:r>
              <a:rPr lang="zh-CN" altLang="en-US" sz="2400" b="1" dirty="0" smtClean="0">
                <a:ea typeface="宋体" panose="02010600030101010101" pitchFamily="2" charset="-122"/>
              </a:rPr>
              <a:t>第二个数字是次版本号</a:t>
            </a:r>
            <a:endParaRPr lang="en-US" altLang="zh-CN" sz="2400" b="1" dirty="0" smtClean="0">
              <a:ea typeface="宋体" panose="02010600030101010101" pitchFamily="2" charset="-122"/>
            </a:endParaRP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400" b="1" dirty="0" smtClean="0">
                <a:ea typeface="宋体" panose="02010600030101010101" pitchFamily="2" charset="-122"/>
              </a:rPr>
              <a:t>    </a:t>
            </a:r>
            <a:r>
              <a:rPr lang="zh-CN" altLang="en-US" sz="2400" b="1" dirty="0" smtClean="0">
                <a:ea typeface="宋体" panose="02010600030101010101" pitchFamily="2" charset="-122"/>
              </a:rPr>
              <a:t>第三个数字是修订版本号</a:t>
            </a:r>
            <a:endParaRPr lang="en-US" altLang="zh-CN" sz="2400" b="1" dirty="0" smtClean="0">
              <a:ea typeface="宋体" panose="02010600030101010101" pitchFamily="2" charset="-122"/>
            </a:endParaRP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2200" b="1" dirty="0" smtClean="0">
                <a:ea typeface="宋体" panose="02010600030101010101" pitchFamily="2" charset="-122"/>
              </a:rPr>
              <a:t>如果次版本号是</a:t>
            </a:r>
            <a:r>
              <a:rPr lang="zh-CN" altLang="en-US" sz="2200" b="1" dirty="0" smtClean="0">
                <a:solidFill>
                  <a:srgbClr val="FF0000"/>
                </a:solidFill>
                <a:ea typeface="宋体" panose="02010600030101010101" pitchFamily="2" charset="-122"/>
              </a:rPr>
              <a:t>偶数</a:t>
            </a:r>
            <a:r>
              <a:rPr lang="zh-CN" altLang="en-US" sz="2200" b="1" dirty="0" smtClean="0">
                <a:ea typeface="宋体" panose="02010600030101010101" pitchFamily="2" charset="-122"/>
              </a:rPr>
              <a:t>，那么该</a:t>
            </a:r>
            <a:r>
              <a:rPr lang="en-US" altLang="zh-CN" sz="2200" b="1" dirty="0" smtClean="0">
                <a:ea typeface="宋体" panose="02010600030101010101" pitchFamily="2" charset="-122"/>
              </a:rPr>
              <a:t>Linux</a:t>
            </a:r>
            <a:r>
              <a:rPr lang="zh-CN" altLang="en-US" sz="2200" b="1" dirty="0" smtClean="0">
                <a:ea typeface="宋体" panose="02010600030101010101" pitchFamily="2" charset="-122"/>
              </a:rPr>
              <a:t>就是</a:t>
            </a:r>
            <a:r>
              <a:rPr lang="zh-CN" altLang="en-US" sz="2200" b="1" dirty="0" smtClean="0">
                <a:solidFill>
                  <a:srgbClr val="FF0000"/>
                </a:solidFill>
                <a:ea typeface="宋体" panose="02010600030101010101" pitchFamily="2" charset="-122"/>
              </a:rPr>
              <a:t>稳定版</a:t>
            </a:r>
            <a:r>
              <a:rPr lang="zh-CN" altLang="en-US" sz="2200" b="1" dirty="0" smtClean="0">
                <a:ea typeface="宋体" panose="02010600030101010101" pitchFamily="2" charset="-122"/>
              </a:rPr>
              <a:t>的，如</a:t>
            </a:r>
            <a:r>
              <a:rPr lang="en-US" altLang="zh-CN" sz="2200" b="1" dirty="0" smtClean="0">
                <a:ea typeface="宋体" panose="02010600030101010101" pitchFamily="2" charset="-122"/>
              </a:rPr>
              <a:t>2.6.4;</a:t>
            </a:r>
            <a:endParaRPr lang="en-US" altLang="zh-CN" sz="2200" b="1" dirty="0" smtClean="0">
              <a:ea typeface="宋体" panose="02010600030101010101" pitchFamily="2" charset="-122"/>
            </a:endParaRP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2200" b="1" dirty="0" smtClean="0">
                <a:ea typeface="宋体" panose="02010600030101010101" pitchFamily="2" charset="-122"/>
              </a:rPr>
              <a:t>如果次版本号是</a:t>
            </a:r>
            <a:r>
              <a:rPr lang="zh-CN" altLang="en-US" sz="2200" b="1" dirty="0" smtClean="0">
                <a:solidFill>
                  <a:srgbClr val="FF0000"/>
                </a:solidFill>
                <a:ea typeface="宋体" panose="02010600030101010101" pitchFamily="2" charset="-122"/>
              </a:rPr>
              <a:t>奇数</a:t>
            </a:r>
            <a:r>
              <a:rPr lang="zh-CN" altLang="en-US" sz="2200" b="1" dirty="0" smtClean="0">
                <a:ea typeface="宋体" panose="02010600030101010101" pitchFamily="2" charset="-122"/>
              </a:rPr>
              <a:t>，则是</a:t>
            </a:r>
            <a:r>
              <a:rPr lang="zh-CN" altLang="en-US" sz="2200" b="1" dirty="0" smtClean="0">
                <a:solidFill>
                  <a:srgbClr val="FF0000"/>
                </a:solidFill>
                <a:ea typeface="宋体" panose="02010600030101010101" pitchFamily="2" charset="-122"/>
              </a:rPr>
              <a:t>开发版</a:t>
            </a:r>
            <a:r>
              <a:rPr lang="zh-CN" altLang="en-US" sz="2200" b="1" dirty="0" smtClean="0">
                <a:ea typeface="宋体" panose="02010600030101010101" pitchFamily="2" charset="-122"/>
              </a:rPr>
              <a:t>的，如</a:t>
            </a:r>
            <a:r>
              <a:rPr lang="en-US" altLang="zh-CN" sz="2200" b="1" dirty="0" smtClean="0">
                <a:ea typeface="宋体" panose="02010600030101010101" pitchFamily="2" charset="-122"/>
              </a:rPr>
              <a:t>2.5.1</a:t>
            </a:r>
            <a:r>
              <a:rPr lang="zh-CN" altLang="en-US" sz="2200" b="1" dirty="0" smtClean="0">
                <a:ea typeface="宋体" panose="02010600030101010101" pitchFamily="2" charset="-122"/>
              </a:rPr>
              <a:t>。</a:t>
            </a:r>
            <a:endParaRPr lang="zh-CN" altLang="en-US" sz="2200" b="1" dirty="0" smtClean="0">
              <a:ea typeface="宋体" panose="02010600030101010101" pitchFamily="2" charset="-122"/>
            </a:endParaRP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2400" b="1" dirty="0" smtClean="0">
                <a:ea typeface="宋体" panose="02010600030101010101" pitchFamily="2" charset="-122"/>
              </a:rPr>
              <a:t>　</a:t>
            </a:r>
            <a:endParaRPr lang="zh-CN" altLang="en-US" sz="2400" b="1" dirty="0" smtClean="0">
              <a:ea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 b="1" dirty="0" smtClean="0">
                <a:ea typeface="宋体" panose="02010600030101010101" pitchFamily="2" charset="-122"/>
              </a:rPr>
              <a:t>　</a:t>
            </a:r>
            <a:endParaRPr lang="zh-CN" altLang="en-US" sz="2400" b="1" dirty="0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59632" y="411511"/>
            <a:ext cx="655272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 smtClean="0">
                <a:latin typeface="+mj-ea"/>
                <a:ea typeface="+mj-ea"/>
              </a:rPr>
              <a:t>2</a:t>
            </a:r>
            <a:r>
              <a:rPr lang="zh-CN" altLang="en-US" sz="2400" dirty="0">
                <a:latin typeface="+mj-ea"/>
                <a:ea typeface="+mj-ea"/>
              </a:rPr>
              <a:t>文件系统及基本</a:t>
            </a:r>
            <a:r>
              <a:rPr lang="zh-CN" altLang="en-US" sz="2400" dirty="0" smtClean="0">
                <a:latin typeface="+mj-ea"/>
                <a:ea typeface="+mj-ea"/>
              </a:rPr>
              <a:t>命令</a:t>
            </a:r>
            <a:endParaRPr lang="en-US" altLang="zh-CN" sz="2400" dirty="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endParaRPr lang="en-US" altLang="zh-CN" sz="2400" dirty="0" smtClean="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 smtClean="0">
                <a:latin typeface="+mj-ea"/>
                <a:ea typeface="+mj-ea"/>
              </a:rPr>
              <a:t>2.1 </a:t>
            </a:r>
            <a:r>
              <a:rPr lang="zh-CN" altLang="en-US" sz="2400" dirty="0" smtClean="0">
                <a:latin typeface="+mj-ea"/>
                <a:ea typeface="+mj-ea"/>
              </a:rPr>
              <a:t>文件系统和目录结构</a:t>
            </a:r>
            <a:endParaRPr lang="en-US" altLang="zh-CN" sz="2400" dirty="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 smtClean="0">
                <a:latin typeface="+mj-ea"/>
                <a:ea typeface="+mj-ea"/>
              </a:rPr>
              <a:t>2.2. </a:t>
            </a:r>
            <a:r>
              <a:rPr lang="zh-CN" altLang="en-US" sz="2400" dirty="0" smtClean="0">
                <a:latin typeface="+mj-ea"/>
                <a:ea typeface="+mj-ea"/>
              </a:rPr>
              <a:t>文本基本操作</a:t>
            </a:r>
            <a:endParaRPr lang="en-US" altLang="zh-CN" sz="2400" dirty="0" smtClean="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 smtClean="0">
                <a:latin typeface="+mj-ea"/>
                <a:ea typeface="+mj-ea"/>
              </a:rPr>
              <a:t>2.3 </a:t>
            </a:r>
            <a:r>
              <a:rPr lang="zh-CN" altLang="en-US" sz="2400" dirty="0" smtClean="0">
                <a:latin typeface="+mj-ea"/>
                <a:ea typeface="+mj-ea"/>
              </a:rPr>
              <a:t>文件基本操作</a:t>
            </a:r>
            <a:endParaRPr lang="en-US" altLang="zh-CN" sz="2400" dirty="0" smtClean="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 smtClean="0">
                <a:latin typeface="+mj-ea"/>
                <a:ea typeface="+mj-ea"/>
              </a:rPr>
              <a:t>2.4 </a:t>
            </a:r>
            <a:r>
              <a:rPr lang="zh-CN" altLang="en-US" sz="2400" dirty="0" smtClean="0">
                <a:latin typeface="+mj-ea"/>
                <a:ea typeface="+mj-ea"/>
              </a:rPr>
              <a:t>打包压缩操作</a:t>
            </a:r>
            <a:endParaRPr lang="en-US" altLang="zh-CN" sz="2400" dirty="0" smtClean="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 smtClean="0">
                <a:latin typeface="+mj-ea"/>
                <a:ea typeface="+mj-ea"/>
              </a:rPr>
              <a:t>2.5 </a:t>
            </a:r>
            <a:r>
              <a:rPr lang="zh-CN" altLang="en-US" sz="2400" dirty="0" smtClean="0">
                <a:latin typeface="+mj-ea"/>
                <a:ea typeface="+mj-ea"/>
              </a:rPr>
              <a:t>权限管理操作</a:t>
            </a:r>
            <a:endParaRPr lang="en-US" altLang="zh-CN" sz="2400" dirty="0" smtClean="0">
              <a:latin typeface="+mj-ea"/>
              <a:ea typeface="+mj-ea"/>
            </a:endParaRPr>
          </a:p>
          <a:p>
            <a:pPr marL="342900" indent="-342900">
              <a:lnSpc>
                <a:spcPct val="150000"/>
              </a:lnSpc>
              <a:buAutoNum type="arabicPlain"/>
            </a:pPr>
            <a:endParaRPr lang="zh-CN" altLang="en-US" sz="2400" dirty="0">
              <a:latin typeface="+mj-ea"/>
              <a:ea typeface="+mj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/>
          <p:cNvSpPr txBox="1"/>
          <p:nvPr/>
        </p:nvSpPr>
        <p:spPr>
          <a:xfrm>
            <a:off x="1187624" y="249492"/>
            <a:ext cx="7543800" cy="576064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365760" indent="-28321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/>
              <a:buChar char="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37490" algn="l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 panose="020B0604030504040204"/>
              <a:buChar char="◦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87095" indent="-22860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 panose="05020102010507070707"/>
              <a:buChar char="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17399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575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0876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8945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425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2550" indent="0">
              <a:lnSpc>
                <a:spcPct val="150000"/>
              </a:lnSpc>
              <a:buNone/>
            </a:pPr>
            <a:r>
              <a:rPr lang="en-US" altLang="zh-CN" sz="26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2.1 </a:t>
            </a:r>
            <a:r>
              <a:rPr lang="zh-CN" altLang="en-US" sz="26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文件系统</a:t>
            </a:r>
            <a:r>
              <a:rPr lang="zh-CN" altLang="en-US" sz="2600" dirty="0">
                <a:latin typeface="黑体" panose="02010609060101010101" pitchFamily="49" charset="-122"/>
                <a:ea typeface="黑体" panose="02010609060101010101" pitchFamily="49" charset="-122"/>
              </a:rPr>
              <a:t>和目录结构</a:t>
            </a:r>
            <a:endParaRPr lang="en-US" altLang="zh-CN" sz="2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>
          <a:xfrm>
            <a:off x="611560" y="1059582"/>
            <a:ext cx="8208912" cy="2952328"/>
          </a:xfrm>
        </p:spPr>
        <p:txBody>
          <a:bodyPr>
            <a:normAutofit fontScale="85000" lnSpcReduction="10000"/>
          </a:bodyPr>
          <a:lstStyle/>
          <a:p>
            <a:pPr marL="82550" indent="0">
              <a:lnSpc>
                <a:spcPct val="120000"/>
              </a:lnSpc>
              <a:buNone/>
            </a:pPr>
            <a:r>
              <a:rPr lang="zh-CN" altLang="en-US" sz="2400" b="1" dirty="0" smtClean="0">
                <a:ea typeface="宋体" panose="02010600030101010101" pitchFamily="2" charset="-122"/>
              </a:rPr>
              <a:t>　</a:t>
            </a:r>
            <a:r>
              <a:rPr lang="zh-CN" altLang="en-US" sz="2400" b="1" dirty="0">
                <a:latin typeface="+mn-ea"/>
              </a:rPr>
              <a:t>在</a:t>
            </a:r>
            <a:r>
              <a:rPr lang="en-US" altLang="zh-CN" sz="2400" b="1" dirty="0">
                <a:latin typeface="+mn-ea"/>
              </a:rPr>
              <a:t>UNIX/Linux</a:t>
            </a:r>
            <a:r>
              <a:rPr lang="zh-CN" altLang="en-US" sz="2400" b="1" dirty="0">
                <a:latin typeface="+mn-ea"/>
              </a:rPr>
              <a:t>操作系统中的软件部分的所有信息（包括硬件信息）都组织成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文件</a:t>
            </a:r>
            <a:r>
              <a:rPr lang="zh-CN" altLang="en-US" sz="2400" b="1" dirty="0">
                <a:latin typeface="+mn-ea"/>
              </a:rPr>
              <a:t>，并以文件的形式进行组织和管理。</a:t>
            </a:r>
            <a:endParaRPr lang="en-US" altLang="zh-CN" sz="2400" b="1" dirty="0">
              <a:latin typeface="+mn-ea"/>
            </a:endParaRPr>
          </a:p>
          <a:p>
            <a:pPr marL="82550" indent="0">
              <a:lnSpc>
                <a:spcPct val="120000"/>
              </a:lnSpc>
              <a:buNone/>
            </a:pPr>
            <a:r>
              <a:rPr lang="en-US" altLang="zh-CN" sz="2400" b="1" dirty="0">
                <a:latin typeface="+mn-ea"/>
              </a:rPr>
              <a:t>            </a:t>
            </a:r>
            <a:endParaRPr lang="en-US" altLang="zh-CN" sz="2400" b="1" dirty="0" smtClean="0">
              <a:latin typeface="+mn-ea"/>
            </a:endParaRPr>
          </a:p>
          <a:p>
            <a:pPr marL="82550" indent="0">
              <a:lnSpc>
                <a:spcPct val="120000"/>
              </a:lnSpc>
              <a:buNone/>
            </a:pPr>
            <a:r>
              <a:rPr lang="en-US" altLang="zh-CN" b="1" dirty="0">
                <a:latin typeface="+mn-ea"/>
              </a:rPr>
              <a:t> </a:t>
            </a:r>
            <a:r>
              <a:rPr lang="en-US" altLang="zh-CN" b="1" dirty="0" smtClean="0">
                <a:latin typeface="+mn-ea"/>
              </a:rPr>
              <a:t>    </a:t>
            </a:r>
            <a:r>
              <a:rPr lang="zh-CN" altLang="en-US" sz="2400" b="1" dirty="0" smtClean="0">
                <a:latin typeface="+mn-ea"/>
              </a:rPr>
              <a:t>广义</a:t>
            </a:r>
            <a:r>
              <a:rPr lang="zh-CN" altLang="en-US" sz="2400" b="1" dirty="0">
                <a:latin typeface="+mn-ea"/>
              </a:rPr>
              <a:t>上，文件包括所有的外部设备如磁盘、打印机、网卡等；</a:t>
            </a:r>
            <a:endParaRPr lang="en-US" altLang="zh-CN" sz="2400" b="1" dirty="0">
              <a:latin typeface="+mn-ea"/>
            </a:endParaRPr>
          </a:p>
          <a:p>
            <a:pPr marL="82550" indent="0">
              <a:lnSpc>
                <a:spcPct val="120000"/>
              </a:lnSpc>
              <a:buNone/>
            </a:pPr>
            <a:r>
              <a:rPr lang="en-US" altLang="zh-CN" sz="2400" b="1">
                <a:latin typeface="+mn-ea"/>
              </a:rPr>
              <a:t>     </a:t>
            </a:r>
            <a:r>
              <a:rPr lang="zh-CN" altLang="en-US" sz="2400" b="1" smtClean="0">
                <a:latin typeface="+mn-ea"/>
              </a:rPr>
              <a:t>狭义</a:t>
            </a:r>
            <a:r>
              <a:rPr lang="zh-CN" altLang="en-US" sz="2400" b="1" dirty="0">
                <a:latin typeface="+mn-ea"/>
              </a:rPr>
              <a:t>上，文件指“磁盘文件”。</a:t>
            </a:r>
            <a:endParaRPr lang="en-US" altLang="zh-CN" sz="2400" b="1" dirty="0">
              <a:latin typeface="+mn-ea"/>
            </a:endParaRP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400" b="1" dirty="0" smtClean="0">
                <a:ea typeface="宋体" panose="02010600030101010101" pitchFamily="2" charset="-122"/>
              </a:rPr>
              <a:t>　</a:t>
            </a:r>
            <a:endParaRPr lang="zh-CN" altLang="en-US" sz="2400" b="1" dirty="0" smtClean="0"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buNone/>
            </a:pPr>
            <a:r>
              <a:rPr lang="zh-CN" altLang="en-US" sz="2400" b="1" dirty="0" smtClean="0">
                <a:ea typeface="宋体" panose="02010600030101010101" pitchFamily="2" charset="-122"/>
              </a:rPr>
              <a:t>　</a:t>
            </a:r>
            <a:endParaRPr lang="zh-CN" altLang="en-US" sz="2400" b="1" dirty="0" smtClean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810698"/>
            <a:ext cx="7078549" cy="26003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矩形 4"/>
          <p:cNvSpPr/>
          <p:nvPr/>
        </p:nvSpPr>
        <p:spPr>
          <a:xfrm>
            <a:off x="611560" y="3563682"/>
            <a:ext cx="824527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Linux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文件系统作为开端，只有一个单独的顶级目录结构。所有一切都从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‘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根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’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开始，用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‘/’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代表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并且延伸到子目录。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内容占位符 2"/>
          <p:cNvSpPr txBox="1"/>
          <p:nvPr/>
        </p:nvSpPr>
        <p:spPr>
          <a:xfrm>
            <a:off x="1187624" y="249492"/>
            <a:ext cx="7543800" cy="576064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365760" indent="-28321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/>
              <a:buChar char="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37490" algn="l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 panose="020B0604030504040204"/>
              <a:buChar char="◦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87095" indent="-22860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 panose="05020102010507070707"/>
              <a:buChar char="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17399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575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0876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8945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425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2550" indent="0">
              <a:lnSpc>
                <a:spcPct val="150000"/>
              </a:lnSpc>
              <a:buNone/>
            </a:pPr>
            <a:r>
              <a:rPr lang="en-US" altLang="zh-CN" sz="26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2.1 </a:t>
            </a:r>
            <a:r>
              <a:rPr lang="zh-CN" altLang="en-US" sz="26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文件系统</a:t>
            </a:r>
            <a:r>
              <a:rPr lang="zh-CN" altLang="en-US" sz="2600" dirty="0">
                <a:latin typeface="黑体" panose="02010609060101010101" pitchFamily="49" charset="-122"/>
                <a:ea typeface="黑体" panose="02010609060101010101" pitchFamily="49" charset="-122"/>
              </a:rPr>
              <a:t>和目录结构</a:t>
            </a:r>
            <a:endParaRPr lang="en-US" altLang="zh-CN" sz="2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60" y="303498"/>
            <a:ext cx="8218160" cy="4328796"/>
          </a:xfrm>
        </p:spPr>
        <p:txBody>
          <a:bodyPr>
            <a:normAutofit fontScale="32500" lnSpcReduction="20000"/>
          </a:bodyPr>
          <a:lstStyle/>
          <a:p>
            <a:pPr marL="82550" indent="0">
              <a:buNone/>
            </a:pPr>
            <a:r>
              <a:rPr lang="en-US" altLang="zh-CN" sz="5600" b="1" dirty="0"/>
              <a:t>/bin</a:t>
            </a:r>
            <a:br>
              <a:rPr lang="zh-CN" altLang="en-US" sz="5600" dirty="0"/>
            </a:br>
            <a:r>
              <a:rPr lang="en-US" altLang="zh-CN" sz="5600" dirty="0"/>
              <a:t>bin</a:t>
            </a:r>
            <a:r>
              <a:rPr lang="zh-CN" altLang="en-US" sz="5600" dirty="0"/>
              <a:t>是</a:t>
            </a:r>
            <a:r>
              <a:rPr lang="en-US" altLang="zh-CN" sz="5600" dirty="0"/>
              <a:t>binary</a:t>
            </a:r>
            <a:r>
              <a:rPr lang="zh-CN" altLang="en-US" sz="5600" dirty="0"/>
              <a:t>的缩写。这个目录沿袭了</a:t>
            </a:r>
            <a:r>
              <a:rPr lang="en-US" altLang="zh-CN" sz="5600" dirty="0"/>
              <a:t>UNIX</a:t>
            </a:r>
            <a:r>
              <a:rPr lang="zh-CN" altLang="en-US" sz="5600" dirty="0"/>
              <a:t>系统的结构，存放着使用者最经常使用的命令。例如</a:t>
            </a:r>
            <a:r>
              <a:rPr lang="en-US" altLang="zh-CN" sz="5600" dirty="0" err="1"/>
              <a:t>cp</a:t>
            </a:r>
            <a:r>
              <a:rPr lang="zh-CN" altLang="en-US" sz="5600" dirty="0"/>
              <a:t>、</a:t>
            </a:r>
            <a:r>
              <a:rPr lang="en-US" altLang="zh-CN" sz="5600" dirty="0" err="1"/>
              <a:t>ls</a:t>
            </a:r>
            <a:r>
              <a:rPr lang="zh-CN" altLang="en-US" sz="5600" dirty="0"/>
              <a:t>、</a:t>
            </a:r>
            <a:r>
              <a:rPr lang="en-US" altLang="zh-CN" sz="5600" dirty="0"/>
              <a:t>cat</a:t>
            </a:r>
            <a:r>
              <a:rPr lang="zh-CN" altLang="en-US" sz="5600" dirty="0"/>
              <a:t>，等等。</a:t>
            </a:r>
            <a:endParaRPr lang="zh-CN" altLang="en-US" sz="5600" dirty="0"/>
          </a:p>
          <a:p>
            <a:pPr marL="82550" indent="0">
              <a:buNone/>
            </a:pPr>
            <a:r>
              <a:rPr lang="en-US" altLang="zh-CN" sz="5600" b="1" dirty="0"/>
              <a:t>/boot</a:t>
            </a:r>
            <a:br>
              <a:rPr lang="zh-CN" altLang="en-US" sz="5600" dirty="0"/>
            </a:br>
            <a:r>
              <a:rPr lang="zh-CN" altLang="en-US" sz="5600" dirty="0"/>
              <a:t>这里存放的是启动</a:t>
            </a:r>
            <a:r>
              <a:rPr lang="en-US" altLang="zh-CN" sz="5600" dirty="0"/>
              <a:t>Linux</a:t>
            </a:r>
            <a:r>
              <a:rPr lang="zh-CN" altLang="en-US" sz="5600" dirty="0"/>
              <a:t>时使用的一些核心文件。</a:t>
            </a:r>
            <a:endParaRPr lang="zh-CN" altLang="en-US" sz="5600" dirty="0"/>
          </a:p>
          <a:p>
            <a:pPr marL="82550" indent="0">
              <a:buNone/>
            </a:pPr>
            <a:r>
              <a:rPr lang="en-US" altLang="zh-CN" sz="5600" b="1" dirty="0"/>
              <a:t>/</a:t>
            </a:r>
            <a:r>
              <a:rPr lang="en-US" altLang="zh-CN" sz="5600" b="1" dirty="0" err="1"/>
              <a:t>dev</a:t>
            </a:r>
            <a:br>
              <a:rPr lang="zh-CN" altLang="en-US" sz="5600" dirty="0"/>
            </a:br>
            <a:r>
              <a:rPr lang="en-US" altLang="zh-CN" sz="5600" dirty="0" err="1"/>
              <a:t>dev</a:t>
            </a:r>
            <a:r>
              <a:rPr lang="zh-CN" altLang="en-US" sz="5600" dirty="0"/>
              <a:t>是</a:t>
            </a:r>
            <a:r>
              <a:rPr lang="en-US" altLang="zh-CN" sz="5600" dirty="0"/>
              <a:t>device</a:t>
            </a:r>
            <a:r>
              <a:rPr lang="zh-CN" altLang="en-US" sz="5600" dirty="0"/>
              <a:t>（设备）的缩写。这个目录下是所有</a:t>
            </a:r>
            <a:r>
              <a:rPr lang="en-US" altLang="zh-CN" sz="5600" dirty="0"/>
              <a:t>Linux</a:t>
            </a:r>
            <a:r>
              <a:rPr lang="zh-CN" altLang="en-US" sz="5600" dirty="0"/>
              <a:t>的外部设备，其功能类似</a:t>
            </a:r>
            <a:r>
              <a:rPr lang="en-US" altLang="zh-CN" sz="5600" dirty="0"/>
              <a:t>DOS</a:t>
            </a:r>
            <a:r>
              <a:rPr lang="zh-CN" altLang="en-US" sz="5600" dirty="0"/>
              <a:t>下的</a:t>
            </a:r>
            <a:r>
              <a:rPr lang="en-US" altLang="zh-CN" sz="5600" dirty="0"/>
              <a:t>.sys</a:t>
            </a:r>
            <a:r>
              <a:rPr lang="zh-CN" altLang="en-US" sz="5600" dirty="0"/>
              <a:t>和</a:t>
            </a:r>
            <a:r>
              <a:rPr lang="en-US" altLang="zh-CN" sz="5600" dirty="0"/>
              <a:t>Win</a:t>
            </a:r>
            <a:r>
              <a:rPr lang="zh-CN" altLang="en-US" sz="5600" dirty="0"/>
              <a:t>下的</a:t>
            </a:r>
            <a:r>
              <a:rPr lang="en-US" altLang="zh-CN" sz="5600" dirty="0"/>
              <a:t>.vxd</a:t>
            </a:r>
            <a:r>
              <a:rPr lang="zh-CN" altLang="en-US" sz="5600" dirty="0"/>
              <a:t>。在</a:t>
            </a:r>
            <a:r>
              <a:rPr lang="en-US" altLang="zh-CN" sz="5600" dirty="0"/>
              <a:t>Linux</a:t>
            </a:r>
            <a:r>
              <a:rPr lang="zh-CN" altLang="en-US" sz="5600" dirty="0"/>
              <a:t>中设备和文件是用同种方法访问的。例如：</a:t>
            </a:r>
            <a:r>
              <a:rPr lang="en-US" altLang="zh-CN" sz="5600" dirty="0"/>
              <a:t>/</a:t>
            </a:r>
            <a:r>
              <a:rPr lang="en-US" altLang="zh-CN" sz="5600" dirty="0" err="1"/>
              <a:t>dev</a:t>
            </a:r>
            <a:r>
              <a:rPr lang="en-US" altLang="zh-CN" sz="5600" dirty="0"/>
              <a:t>/</a:t>
            </a:r>
            <a:r>
              <a:rPr lang="en-US" altLang="zh-CN" sz="5600" dirty="0" err="1"/>
              <a:t>hda</a:t>
            </a:r>
            <a:r>
              <a:rPr lang="zh-CN" altLang="en-US" sz="5600" dirty="0"/>
              <a:t>代表第一个物理</a:t>
            </a:r>
            <a:r>
              <a:rPr lang="en-US" altLang="zh-CN" sz="5600" dirty="0"/>
              <a:t>IDE</a:t>
            </a:r>
            <a:r>
              <a:rPr lang="zh-CN" altLang="en-US" sz="5600" dirty="0"/>
              <a:t>硬盘。</a:t>
            </a:r>
            <a:endParaRPr lang="zh-CN" altLang="en-US" sz="5600" dirty="0"/>
          </a:p>
          <a:p>
            <a:pPr marL="82550" indent="0">
              <a:lnSpc>
                <a:spcPct val="120000"/>
              </a:lnSpc>
              <a:buNone/>
            </a:pPr>
            <a:r>
              <a:rPr lang="en-US" altLang="zh-CN" sz="5600" b="1" dirty="0">
                <a:solidFill>
                  <a:srgbClr val="FF0000"/>
                </a:solidFill>
              </a:rPr>
              <a:t>/</a:t>
            </a:r>
            <a:r>
              <a:rPr lang="en-US" altLang="zh-CN" sz="5600" b="1" dirty="0" err="1">
                <a:solidFill>
                  <a:srgbClr val="FF0000"/>
                </a:solidFill>
              </a:rPr>
              <a:t>etc</a:t>
            </a:r>
            <a:br>
              <a:rPr lang="zh-CN" altLang="en-US" sz="5600" dirty="0"/>
            </a:br>
            <a:r>
              <a:rPr lang="zh-CN" altLang="en-US" sz="5600" dirty="0"/>
              <a:t>这个目录用来存放系统管理所需要的配置文件和子目录。</a:t>
            </a:r>
            <a:endParaRPr lang="zh-CN" altLang="en-US" sz="5600" dirty="0"/>
          </a:p>
          <a:p>
            <a:pPr marL="82550" indent="0">
              <a:buNone/>
            </a:pPr>
            <a:r>
              <a:rPr lang="en-US" altLang="zh-CN" sz="5600" b="1" dirty="0"/>
              <a:t>/home</a:t>
            </a:r>
            <a:br>
              <a:rPr lang="zh-CN" altLang="en-US" sz="5600" dirty="0"/>
            </a:br>
            <a:r>
              <a:rPr lang="zh-CN" altLang="en-US" sz="5600" dirty="0"/>
              <a:t>用户的主目录，比如说有个用户叫</a:t>
            </a:r>
            <a:r>
              <a:rPr lang="en-US" altLang="zh-CN" sz="5600" dirty="0" err="1"/>
              <a:t>wang</a:t>
            </a:r>
            <a:r>
              <a:rPr lang="zh-CN" altLang="en-US" sz="5600" dirty="0"/>
              <a:t>，那他的主目录就是</a:t>
            </a:r>
            <a:r>
              <a:rPr lang="en-US" altLang="zh-CN" sz="5600" dirty="0"/>
              <a:t>/home/</a:t>
            </a:r>
            <a:r>
              <a:rPr lang="en-US" altLang="zh-CN" sz="5600" dirty="0" err="1"/>
              <a:t>wang</a:t>
            </a:r>
            <a:r>
              <a:rPr lang="zh-CN" altLang="en-US" sz="5600" dirty="0"/>
              <a:t>也可以用</a:t>
            </a:r>
            <a:r>
              <a:rPr lang="en-US" altLang="zh-CN" sz="5600" dirty="0"/>
              <a:t>~</a:t>
            </a:r>
            <a:r>
              <a:rPr lang="en-US" altLang="zh-CN" sz="5600" dirty="0" err="1"/>
              <a:t>wang</a:t>
            </a:r>
            <a:r>
              <a:rPr lang="zh-CN" altLang="en-US" sz="5600" dirty="0"/>
              <a:t>表示。</a:t>
            </a:r>
            <a:endParaRPr lang="zh-CN" altLang="en-US" sz="5600" dirty="0"/>
          </a:p>
          <a:p>
            <a:pPr marL="82550" indent="0">
              <a:buNone/>
            </a:pPr>
            <a:r>
              <a:rPr lang="en-US" altLang="zh-CN" sz="5600" b="1" dirty="0"/>
              <a:t>/lib</a:t>
            </a:r>
            <a:br>
              <a:rPr lang="zh-CN" altLang="en-US" sz="5600" dirty="0"/>
            </a:br>
            <a:r>
              <a:rPr lang="zh-CN" altLang="en-US" sz="5600" dirty="0"/>
              <a:t>这个目录里存放着系统最基本的动态链接共享库，其作用类似于</a:t>
            </a:r>
            <a:r>
              <a:rPr lang="en-US" altLang="zh-CN" sz="5600" dirty="0"/>
              <a:t>Windows</a:t>
            </a:r>
            <a:r>
              <a:rPr lang="zh-CN" altLang="en-US" sz="5600" dirty="0"/>
              <a:t>里的</a:t>
            </a:r>
            <a:r>
              <a:rPr lang="en-US" altLang="zh-CN" sz="5600" dirty="0"/>
              <a:t>.</a:t>
            </a:r>
            <a:r>
              <a:rPr lang="en-US" altLang="zh-CN" sz="5600" dirty="0" err="1"/>
              <a:t>dll</a:t>
            </a:r>
            <a:r>
              <a:rPr lang="zh-CN" altLang="en-US" sz="5600" dirty="0"/>
              <a:t>文件。几乎所有的应用程序都须要用到这些共享库</a:t>
            </a:r>
            <a:r>
              <a:rPr lang="zh-CN" altLang="en-US" sz="5600" dirty="0" smtClean="0"/>
              <a:t>。</a:t>
            </a:r>
            <a:endParaRPr lang="zh-CN" altLang="en-US" sz="5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55576" y="699542"/>
            <a:ext cx="7704856" cy="3870430"/>
          </a:xfrm>
        </p:spPr>
        <p:txBody>
          <a:bodyPr>
            <a:noAutofit/>
          </a:bodyPr>
          <a:lstStyle/>
          <a:p>
            <a:pPr marL="82550" indent="0">
              <a:buNone/>
            </a:pPr>
            <a:r>
              <a:rPr lang="en-US" altLang="zh-CN" sz="1800" b="1" dirty="0" smtClean="0"/>
              <a:t>/</a:t>
            </a:r>
            <a:r>
              <a:rPr lang="en-US" altLang="zh-CN" sz="1800" b="1" dirty="0" err="1"/>
              <a:t>lost+found</a:t>
            </a:r>
            <a:br>
              <a:rPr lang="zh-CN" altLang="en-US" sz="1800" dirty="0"/>
            </a:br>
            <a:r>
              <a:rPr lang="zh-CN" altLang="en-US" sz="1800" dirty="0"/>
              <a:t>这个目录平时是空的，当系统不正常关机后，这里就成了一些无家可归的文件的避难所</a:t>
            </a:r>
            <a:r>
              <a:rPr lang="zh-CN" altLang="en-US" sz="1800" dirty="0" smtClean="0"/>
              <a:t>。</a:t>
            </a:r>
            <a:endParaRPr lang="en-US" altLang="zh-CN" sz="1800" dirty="0" smtClean="0"/>
          </a:p>
          <a:p>
            <a:pPr marL="82550" indent="0">
              <a:buNone/>
            </a:pPr>
            <a:r>
              <a:rPr lang="en-US" altLang="zh-CN" sz="1800" b="1" dirty="0" smtClean="0"/>
              <a:t>/</a:t>
            </a:r>
            <a:r>
              <a:rPr lang="en-US" altLang="zh-CN" sz="1800" b="1" dirty="0" err="1" smtClean="0"/>
              <a:t>mnt</a:t>
            </a:r>
            <a:br>
              <a:rPr lang="zh-CN" altLang="en-US" sz="1800" dirty="0" smtClean="0"/>
            </a:br>
            <a:r>
              <a:rPr lang="zh-CN" altLang="en-US" sz="1800" dirty="0" smtClean="0"/>
              <a:t>这个目录是空的，系统提供这个目录是让用户临时挂载别的文件系统。</a:t>
            </a:r>
            <a:endParaRPr lang="zh-CN" altLang="en-US" sz="1800" dirty="0" smtClean="0"/>
          </a:p>
          <a:p>
            <a:pPr marL="82550" indent="0">
              <a:buNone/>
            </a:pPr>
            <a:r>
              <a:rPr lang="en-US" altLang="zh-CN" sz="1800" b="1" dirty="0" smtClean="0">
                <a:solidFill>
                  <a:srgbClr val="FF0000"/>
                </a:solidFill>
              </a:rPr>
              <a:t>/</a:t>
            </a:r>
            <a:r>
              <a:rPr lang="en-US" altLang="zh-CN" sz="1800" b="1" dirty="0">
                <a:solidFill>
                  <a:srgbClr val="FF0000"/>
                </a:solidFill>
              </a:rPr>
              <a:t>root</a:t>
            </a:r>
            <a:br>
              <a:rPr lang="zh-CN" altLang="en-US" sz="1800" dirty="0"/>
            </a:br>
            <a:r>
              <a:rPr lang="zh-CN" altLang="en-US" sz="1800" dirty="0"/>
              <a:t>系统管理员（也叫超级用户）的主目录。作为系统的拥有者，总要有些特权啊！比如单独拥有一个目录。</a:t>
            </a:r>
            <a:endParaRPr lang="zh-CN" altLang="en-US" sz="1800" dirty="0"/>
          </a:p>
          <a:p>
            <a:endParaRPr lang="zh-CN" alt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3568" y="339502"/>
            <a:ext cx="7704856" cy="4158462"/>
          </a:xfrm>
        </p:spPr>
        <p:txBody>
          <a:bodyPr>
            <a:noAutofit/>
          </a:bodyPr>
          <a:lstStyle/>
          <a:p>
            <a:pPr marL="82550" indent="0">
              <a:buNone/>
            </a:pPr>
            <a:r>
              <a:rPr lang="en-US" altLang="zh-CN" sz="1800" b="1" dirty="0" smtClean="0"/>
              <a:t>/</a:t>
            </a:r>
            <a:r>
              <a:rPr lang="en-US" altLang="zh-CN" sz="1800" b="1" dirty="0" err="1"/>
              <a:t>sbin</a:t>
            </a:r>
            <a:br>
              <a:rPr lang="zh-CN" altLang="en-US" sz="1800" dirty="0"/>
            </a:br>
            <a:r>
              <a:rPr lang="en-US" altLang="zh-CN" sz="1800" dirty="0"/>
              <a:t>s</a:t>
            </a:r>
            <a:r>
              <a:rPr lang="zh-CN" altLang="en-US" sz="1800" dirty="0"/>
              <a:t>就是</a:t>
            </a:r>
            <a:r>
              <a:rPr lang="en-US" altLang="zh-CN" sz="1800" dirty="0"/>
              <a:t>Super User</a:t>
            </a:r>
            <a:r>
              <a:rPr lang="zh-CN" altLang="en-US" sz="1800" dirty="0"/>
              <a:t>的意思，也就是说这里存放的是系统管理员使用的管理程序。</a:t>
            </a:r>
            <a:endParaRPr lang="zh-CN" altLang="en-US" sz="1800" dirty="0"/>
          </a:p>
          <a:p>
            <a:pPr marL="82550" indent="0">
              <a:buNone/>
            </a:pPr>
            <a:r>
              <a:rPr lang="en-US" altLang="zh-CN" sz="1800" b="1" dirty="0"/>
              <a:t>/</a:t>
            </a:r>
            <a:r>
              <a:rPr lang="en-US" altLang="zh-CN" sz="1800" b="1" dirty="0" err="1"/>
              <a:t>tmp</a:t>
            </a:r>
            <a:br>
              <a:rPr lang="zh-CN" altLang="en-US" sz="1800" dirty="0"/>
            </a:br>
            <a:r>
              <a:rPr lang="zh-CN" altLang="en-US" sz="1800" dirty="0"/>
              <a:t>这个目录不用说，一定是用来存放一些临时文件的地方了。</a:t>
            </a:r>
            <a:endParaRPr lang="zh-CN" altLang="en-US" sz="1800" dirty="0"/>
          </a:p>
          <a:p>
            <a:pPr marL="82550" indent="0">
              <a:buNone/>
            </a:pPr>
            <a:r>
              <a:rPr lang="en-US" altLang="zh-CN" sz="1800" b="1" dirty="0">
                <a:solidFill>
                  <a:srgbClr val="FF0000"/>
                </a:solidFill>
              </a:rPr>
              <a:t>/</a:t>
            </a:r>
            <a:r>
              <a:rPr lang="en-US" altLang="zh-CN" sz="1800" b="1" dirty="0" err="1">
                <a:solidFill>
                  <a:srgbClr val="FF0000"/>
                </a:solidFill>
              </a:rPr>
              <a:t>var</a:t>
            </a:r>
            <a:br>
              <a:rPr lang="zh-CN" altLang="en-US" sz="1800" dirty="0"/>
            </a:br>
            <a:r>
              <a:rPr lang="zh-CN" altLang="en-US" sz="1800" dirty="0"/>
              <a:t>这个目录中存放着那些不断在扩充着的东西，为了保持</a:t>
            </a:r>
            <a:r>
              <a:rPr lang="en-US" altLang="zh-CN" sz="1800" dirty="0"/>
              <a:t>/</a:t>
            </a:r>
            <a:r>
              <a:rPr lang="en-US" altLang="zh-CN" sz="1800" dirty="0" err="1"/>
              <a:t>usr</a:t>
            </a:r>
            <a:r>
              <a:rPr lang="zh-CN" altLang="en-US" sz="1800" dirty="0"/>
              <a:t>的相对稳定，那些经常被修改的目录可以放在这个目录下，实际上许多系统管理员都是这样干的。顺带说一下系统的日志文件就在</a:t>
            </a:r>
            <a:r>
              <a:rPr lang="en-US" altLang="zh-CN" sz="1800" dirty="0"/>
              <a:t>/</a:t>
            </a:r>
            <a:r>
              <a:rPr lang="en-US" altLang="zh-CN" sz="1800" dirty="0" err="1"/>
              <a:t>var</a:t>
            </a:r>
            <a:r>
              <a:rPr lang="en-US" altLang="zh-CN" sz="1800" dirty="0"/>
              <a:t>/log</a:t>
            </a:r>
            <a:r>
              <a:rPr lang="zh-CN" altLang="en-US" sz="1800" dirty="0"/>
              <a:t>目录中。 </a:t>
            </a:r>
            <a:endParaRPr lang="zh-CN" altLang="en-US" sz="1800" dirty="0"/>
          </a:p>
          <a:p>
            <a:pPr marL="82550" indent="0">
              <a:buNone/>
            </a:pPr>
            <a:r>
              <a:rPr lang="en-US" altLang="zh-CN" sz="1800" b="1" dirty="0"/>
              <a:t>/</a:t>
            </a:r>
            <a:r>
              <a:rPr lang="en-US" altLang="zh-CN" sz="1800" b="1" dirty="0" err="1"/>
              <a:t>usr</a:t>
            </a:r>
            <a:br>
              <a:rPr lang="zh-CN" altLang="en-US" sz="1800" dirty="0"/>
            </a:br>
            <a:r>
              <a:rPr lang="zh-CN" altLang="en-US" sz="1800" dirty="0"/>
              <a:t>这是最庞大的目录，我们要用到的应用程序和文件几乎都存放在这个目录下。</a:t>
            </a:r>
            <a:endParaRPr lang="zh-CN" altLang="en-US" sz="1800" dirty="0"/>
          </a:p>
          <a:p>
            <a:endParaRPr lang="zh-CN" alt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/>
          <p:cNvSpPr>
            <a:spLocks noGrp="1"/>
          </p:cNvSpPr>
          <p:nvPr>
            <p:ph idx="1"/>
          </p:nvPr>
        </p:nvSpPr>
        <p:spPr bwMode="auto">
          <a:xfrm>
            <a:off x="755576" y="699542"/>
            <a:ext cx="7662183" cy="3546395"/>
          </a:xfrm>
          <a:prstGeom prst="roundRect">
            <a:avLst/>
          </a:prstGeom>
          <a:blipFill>
            <a:blip r:embed="rId1" cstate="print"/>
            <a:tile tx="0" ty="0" sx="100000" sy="100000" flip="none" algn="tl"/>
          </a:blip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normAutofit fontScale="92500" lnSpcReduction="10000"/>
          </a:bodyPr>
          <a:lstStyle/>
          <a:p>
            <a:pPr marL="457200" lvl="1" indent="0">
              <a:spcBef>
                <a:spcPct val="20000"/>
              </a:spcBef>
              <a:buClr>
                <a:schemeClr val="hlink"/>
              </a:buClr>
              <a:buSzPct val="55000"/>
              <a:buNone/>
              <a:defRPr/>
            </a:pPr>
            <a:r>
              <a:rPr lang="zh-CN" altLang="en-US" sz="2600" kern="0" dirty="0" smtClean="0">
                <a:latin typeface="+mn-ea"/>
              </a:rPr>
              <a:t>文件命名规则：</a:t>
            </a:r>
            <a:endParaRPr lang="en-US" altLang="zh-CN" sz="2600" kern="0" dirty="0">
              <a:latin typeface="+mn-ea"/>
            </a:endParaRPr>
          </a:p>
          <a:p>
            <a:pPr marL="457200" lvl="1" indent="0">
              <a:spcBef>
                <a:spcPct val="20000"/>
              </a:spcBef>
              <a:buClr>
                <a:schemeClr val="hlink"/>
              </a:buClr>
              <a:buSzPct val="55000"/>
              <a:buNone/>
              <a:defRPr/>
            </a:pPr>
            <a:endParaRPr lang="en-US" altLang="zh-CN" sz="2600" kern="0" dirty="0" smtClean="0">
              <a:latin typeface="+mn-ea"/>
            </a:endParaRP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u"/>
              <a:defRPr/>
            </a:pPr>
            <a:r>
              <a:rPr lang="zh-CN" altLang="en-US" sz="2600" kern="0" dirty="0" smtClean="0">
                <a:latin typeface="+mn-ea"/>
              </a:rPr>
              <a:t>字母</a:t>
            </a:r>
            <a:r>
              <a:rPr lang="zh-CN" altLang="en-US" sz="2600" kern="0" dirty="0">
                <a:latin typeface="+mn-ea"/>
              </a:rPr>
              <a:t>字符、下划线和数字组成，也可以加上句号和逗号 </a:t>
            </a:r>
            <a:endParaRPr lang="zh-CN" altLang="en-US" sz="2600" kern="0" dirty="0">
              <a:latin typeface="+mn-ea"/>
            </a:endParaRP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u"/>
              <a:defRPr/>
            </a:pPr>
            <a:r>
              <a:rPr lang="zh-CN" altLang="en-US" sz="2600" kern="0" dirty="0">
                <a:latin typeface="+mn-ea"/>
              </a:rPr>
              <a:t>文件名和扩展名之间用句号隔开 </a:t>
            </a:r>
            <a:endParaRPr lang="en-US" altLang="zh-CN" sz="2600" kern="0" dirty="0">
              <a:latin typeface="+mn-ea"/>
            </a:endParaRP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u"/>
              <a:defRPr/>
            </a:pPr>
            <a:r>
              <a:rPr lang="zh-CN" altLang="en-US" sz="2600" kern="0" dirty="0">
                <a:latin typeface="+mn-ea"/>
              </a:rPr>
              <a:t>文件名</a:t>
            </a:r>
            <a:r>
              <a:rPr lang="zh-CN" altLang="en-US" sz="2600" kern="0" dirty="0">
                <a:solidFill>
                  <a:srgbClr val="FF0000"/>
                </a:solidFill>
                <a:latin typeface="+mn-ea"/>
              </a:rPr>
              <a:t>严格区分大小写</a:t>
            </a:r>
            <a:endParaRPr lang="en-US" altLang="zh-CN" sz="2600" kern="0" dirty="0">
              <a:solidFill>
                <a:srgbClr val="FF0000"/>
              </a:solidFill>
              <a:latin typeface="+mn-ea"/>
            </a:endParaRP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u"/>
              <a:defRPr/>
            </a:pPr>
            <a:r>
              <a:rPr lang="zh-CN" altLang="en-US" sz="2600" kern="0" dirty="0">
                <a:solidFill>
                  <a:srgbClr val="FF0000"/>
                </a:solidFill>
                <a:latin typeface="+mn-ea"/>
              </a:rPr>
              <a:t>以圆点“</a:t>
            </a:r>
            <a:r>
              <a:rPr lang="en-US" altLang="zh-CN" sz="2600" kern="0" dirty="0">
                <a:solidFill>
                  <a:srgbClr val="FF0000"/>
                </a:solidFill>
                <a:latin typeface="+mn-ea"/>
              </a:rPr>
              <a:t>.</a:t>
            </a:r>
            <a:r>
              <a:rPr lang="zh-CN" altLang="en-US" sz="2600" kern="0" dirty="0">
                <a:solidFill>
                  <a:srgbClr val="FF0000"/>
                </a:solidFill>
                <a:latin typeface="+mn-ea"/>
              </a:rPr>
              <a:t>”开头的是隐藏文件</a:t>
            </a:r>
            <a:r>
              <a:rPr lang="zh-CN" altLang="en-US" sz="2600" kern="0" dirty="0">
                <a:latin typeface="+mn-ea"/>
              </a:rPr>
              <a:t>，查看用</a:t>
            </a:r>
            <a:r>
              <a:rPr lang="en-US" altLang="zh-CN" sz="2600" kern="0" dirty="0" err="1">
                <a:latin typeface="+mn-ea"/>
              </a:rPr>
              <a:t>ls</a:t>
            </a:r>
            <a:r>
              <a:rPr lang="en-US" altLang="zh-CN" sz="2600" kern="0" dirty="0">
                <a:latin typeface="+mn-ea"/>
              </a:rPr>
              <a:t> –a</a:t>
            </a:r>
            <a:endParaRPr lang="en-US" altLang="zh-CN" sz="2600" kern="0" dirty="0">
              <a:latin typeface="+mn-ea"/>
            </a:endParaRP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u"/>
              <a:defRPr/>
            </a:pPr>
            <a:r>
              <a:rPr lang="zh-CN" altLang="en-US" sz="2600" kern="0" dirty="0">
                <a:latin typeface="+mn-ea"/>
              </a:rPr>
              <a:t>文件名最长</a:t>
            </a:r>
            <a:r>
              <a:rPr lang="en-US" altLang="zh-CN" sz="2600" kern="0" dirty="0">
                <a:latin typeface="+mn-ea"/>
              </a:rPr>
              <a:t>255</a:t>
            </a:r>
            <a:r>
              <a:rPr lang="zh-CN" altLang="en-US" sz="2600" kern="0" dirty="0">
                <a:latin typeface="+mn-ea"/>
              </a:rPr>
              <a:t>个字符</a:t>
            </a:r>
            <a:endParaRPr lang="zh-CN" altLang="en-US" sz="2600" kern="0" dirty="0">
              <a:latin typeface="+mn-ea"/>
            </a:endParaRPr>
          </a:p>
          <a:p>
            <a:pPr eaLnBrk="1" hangingPunct="1">
              <a:defRPr/>
            </a:pPr>
            <a:endParaRPr lang="zh-CN" altLang="en-US" sz="1800" b="0" i="1" dirty="0"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>
          <a:xfrm>
            <a:off x="611560" y="812912"/>
            <a:ext cx="7975848" cy="3852428"/>
          </a:xfrm>
        </p:spPr>
        <p:txBody>
          <a:bodyPr>
            <a:normAutofit lnSpcReduction="10000"/>
          </a:bodyPr>
          <a:lstStyle/>
          <a:p>
            <a:pPr marL="82550" indent="0">
              <a:lnSpc>
                <a:spcPct val="150000"/>
              </a:lnSpc>
              <a:buNone/>
            </a:pPr>
            <a:r>
              <a:rPr lang="en-US" altLang="zh-CN" sz="2200" dirty="0" smtClean="0"/>
              <a:t>      Linux</a:t>
            </a:r>
            <a:r>
              <a:rPr lang="zh-CN" altLang="en-US" sz="2200" dirty="0"/>
              <a:t>的</a:t>
            </a:r>
            <a:r>
              <a:rPr lang="en-US" altLang="zh-CN" sz="2200" dirty="0"/>
              <a:t>Shell</a:t>
            </a:r>
            <a:r>
              <a:rPr lang="zh-CN" altLang="en-US" sz="2200" dirty="0"/>
              <a:t>作为操作系统的外壳，为用户提供了使用整个</a:t>
            </a:r>
            <a:r>
              <a:rPr lang="en-US" altLang="zh-CN" sz="2200" dirty="0"/>
              <a:t>Linux</a:t>
            </a:r>
            <a:r>
              <a:rPr lang="zh-CN" altLang="en-US" sz="2200" dirty="0"/>
              <a:t>系统的文本用户界面，它是</a:t>
            </a:r>
            <a:endParaRPr lang="zh-CN" altLang="en-US" sz="2200" dirty="0"/>
          </a:p>
          <a:p>
            <a:pPr marL="82550" indent="0">
              <a:lnSpc>
                <a:spcPct val="150000"/>
              </a:lnSpc>
              <a:buNone/>
            </a:pPr>
            <a:r>
              <a:rPr lang="zh-CN" altLang="en-US" sz="2200" dirty="0"/>
              <a:t>　　　</a:t>
            </a:r>
            <a:r>
              <a:rPr lang="zh-CN" altLang="en-US" sz="2200" i="1" dirty="0">
                <a:solidFill>
                  <a:srgbClr val="CC0099"/>
                </a:solidFill>
                <a:ea typeface="黑体" panose="02010609060101010101" pitchFamily="49" charset="-122"/>
              </a:rPr>
              <a:t>命令语言</a:t>
            </a:r>
            <a:endParaRPr lang="zh-CN" altLang="en-US" sz="2200" i="1" dirty="0">
              <a:solidFill>
                <a:srgbClr val="CC0099"/>
              </a:solidFill>
              <a:ea typeface="黑体" panose="02010609060101010101" pitchFamily="49" charset="-122"/>
            </a:endParaRPr>
          </a:p>
          <a:p>
            <a:pPr marL="82550" indent="0">
              <a:lnSpc>
                <a:spcPct val="150000"/>
              </a:lnSpc>
              <a:buNone/>
            </a:pPr>
            <a:r>
              <a:rPr lang="zh-CN" altLang="en-US" sz="2200" dirty="0"/>
              <a:t>　　　</a:t>
            </a:r>
            <a:r>
              <a:rPr lang="zh-CN" altLang="en-US" sz="2200" i="1" dirty="0">
                <a:solidFill>
                  <a:srgbClr val="CC0099"/>
                </a:solidFill>
                <a:ea typeface="黑体" panose="02010609060101010101" pitchFamily="49" charset="-122"/>
              </a:rPr>
              <a:t>程序设计语言</a:t>
            </a:r>
            <a:endParaRPr lang="zh-CN" altLang="en-US" sz="2200" i="1" dirty="0">
              <a:solidFill>
                <a:srgbClr val="CC0099"/>
              </a:solidFill>
              <a:ea typeface="黑体" panose="02010609060101010101" pitchFamily="49" charset="-122"/>
            </a:endParaRPr>
          </a:p>
          <a:p>
            <a:pPr marL="82550" indent="0">
              <a:lnSpc>
                <a:spcPct val="150000"/>
              </a:lnSpc>
              <a:buNone/>
            </a:pPr>
            <a:r>
              <a:rPr lang="zh-CN" altLang="en-US" sz="2200" dirty="0"/>
              <a:t>　　　</a:t>
            </a:r>
            <a:r>
              <a:rPr lang="zh-CN" altLang="en-US" sz="2200" i="1" dirty="0">
                <a:solidFill>
                  <a:srgbClr val="CC0099"/>
                </a:solidFill>
                <a:ea typeface="黑体" panose="02010609060101010101" pitchFamily="49" charset="-122"/>
              </a:rPr>
              <a:t>语言解释器</a:t>
            </a:r>
            <a:endParaRPr lang="zh-CN" altLang="en-US" sz="2200" i="1" dirty="0">
              <a:solidFill>
                <a:srgbClr val="CC0099"/>
              </a:solidFill>
              <a:ea typeface="黑体" panose="02010609060101010101" pitchFamily="49" charset="-122"/>
            </a:endParaRPr>
          </a:p>
          <a:p>
            <a:pPr marL="82550" indent="0">
              <a:lnSpc>
                <a:spcPct val="150000"/>
              </a:lnSpc>
              <a:buNone/>
            </a:pPr>
            <a:r>
              <a:rPr lang="zh-CN" altLang="en-US" sz="2200" dirty="0"/>
              <a:t>　的统称，负责用户与操作系统内核之间以及与</a:t>
            </a:r>
            <a:r>
              <a:rPr lang="en-US" altLang="zh-CN" sz="2200" dirty="0"/>
              <a:t>Linux</a:t>
            </a:r>
            <a:r>
              <a:rPr lang="zh-CN" altLang="en-US" sz="2200" dirty="0"/>
              <a:t>操作系统支持的各种系统工具及应用程序之间的通信</a:t>
            </a:r>
            <a:r>
              <a:rPr lang="zh-CN" altLang="en-US" sz="2200" dirty="0" smtClean="0"/>
              <a:t>。</a:t>
            </a:r>
            <a:endParaRPr lang="zh-CN" altLang="en-US" sz="2200" dirty="0"/>
          </a:p>
        </p:txBody>
      </p:sp>
      <p:sp>
        <p:nvSpPr>
          <p:cNvPr id="5" name="内容占位符 2"/>
          <p:cNvSpPr txBox="1"/>
          <p:nvPr/>
        </p:nvSpPr>
        <p:spPr>
          <a:xfrm>
            <a:off x="1187624" y="249492"/>
            <a:ext cx="7543800" cy="576064"/>
          </a:xfrm>
          <a:prstGeom prst="rect">
            <a:avLst/>
          </a:prstGeom>
        </p:spPr>
        <p:txBody>
          <a:bodyPr>
            <a:normAutofit/>
          </a:bodyPr>
          <a:lstStyle>
            <a:lvl1pPr marL="365760" indent="-28321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/>
              <a:buChar char="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37490" algn="l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 panose="020B0604030504040204"/>
              <a:buChar char="◦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87095" indent="-22860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 panose="05020102010507070707"/>
              <a:buChar char="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17399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575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0876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8945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425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/>
              <a:buNone/>
            </a:pPr>
            <a:r>
              <a:rPr lang="en-US" altLang="zh-CN" sz="26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2.2 </a:t>
            </a:r>
            <a:r>
              <a:rPr lang="zh-CN" altLang="en-US" sz="26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文本基本操作</a:t>
            </a:r>
            <a:endParaRPr lang="zh-CN" altLang="zh-CN" sz="2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627534"/>
            <a:ext cx="8496944" cy="3600450"/>
          </a:xfrm>
        </p:spPr>
        <p:txBody>
          <a:bodyPr>
            <a:normAutofit fontScale="92500" lnSpcReduction="10000"/>
          </a:bodyPr>
          <a:lstStyle/>
          <a:p>
            <a:pPr marL="82550" indent="0">
              <a:lnSpc>
                <a:spcPct val="150000"/>
              </a:lnSpc>
              <a:buNone/>
            </a:pPr>
            <a:r>
              <a:rPr lang="zh-CN" altLang="en-US" dirty="0" smtClean="0"/>
              <a:t>      </a:t>
            </a:r>
            <a:r>
              <a:rPr lang="en-US" altLang="zh-CN" dirty="0" smtClean="0"/>
              <a:t>S</a:t>
            </a:r>
            <a:r>
              <a:rPr lang="en-US" altLang="zh-CN" sz="2400" dirty="0" smtClean="0"/>
              <a:t>hell</a:t>
            </a:r>
            <a:r>
              <a:rPr lang="zh-CN" altLang="en-US" sz="2400" dirty="0"/>
              <a:t>一种功能丰富的交互式命令语言，它提供有上百条基本的控制台操作命令</a:t>
            </a:r>
            <a:r>
              <a:rPr lang="zh-CN" altLang="en-US" sz="2400" dirty="0" smtClean="0"/>
              <a:t>。</a:t>
            </a:r>
            <a:endParaRPr lang="en-US" altLang="zh-CN" sz="2400" dirty="0" smtClean="0"/>
          </a:p>
          <a:p>
            <a:pPr marL="82550" indent="0">
              <a:lnSpc>
                <a:spcPct val="150000"/>
              </a:lnSpc>
              <a:buNone/>
            </a:pPr>
            <a:r>
              <a:rPr lang="en-US" altLang="zh-CN" sz="2400" dirty="0"/>
              <a:t> </a:t>
            </a:r>
            <a:r>
              <a:rPr lang="en-US" altLang="zh-CN" sz="2400" dirty="0" smtClean="0"/>
              <a:t>      </a:t>
            </a:r>
            <a:r>
              <a:rPr lang="zh-CN" altLang="en-US" sz="2400" dirty="0" smtClean="0"/>
              <a:t>所谓</a:t>
            </a:r>
            <a:r>
              <a:rPr lang="zh-CN" altLang="en-US" sz="2400" dirty="0">
                <a:solidFill>
                  <a:srgbClr val="0000FF"/>
                </a:solidFill>
              </a:rPr>
              <a:t>交互式，就是用户从键盘每输入一条命令，就可以立即得到</a:t>
            </a:r>
            <a:r>
              <a:rPr lang="en-US" altLang="zh-CN" sz="2400" dirty="0">
                <a:solidFill>
                  <a:srgbClr val="0000FF"/>
                </a:solidFill>
              </a:rPr>
              <a:t>Shell</a:t>
            </a:r>
            <a:r>
              <a:rPr lang="zh-CN" altLang="en-US" sz="2400" dirty="0">
                <a:solidFill>
                  <a:srgbClr val="0000FF"/>
                </a:solidFill>
              </a:rPr>
              <a:t>解释器 的响应，</a:t>
            </a:r>
            <a:r>
              <a:rPr lang="en-US" altLang="zh-CN" sz="2400" dirty="0">
                <a:solidFill>
                  <a:srgbClr val="0000FF"/>
                </a:solidFill>
              </a:rPr>
              <a:t>Shell</a:t>
            </a:r>
            <a:r>
              <a:rPr lang="zh-CN" altLang="en-US" sz="2400" dirty="0">
                <a:solidFill>
                  <a:srgbClr val="0000FF"/>
                </a:solidFill>
              </a:rPr>
              <a:t>解释器解释用户输入的</a:t>
            </a:r>
            <a:r>
              <a:rPr lang="en-US" altLang="zh-CN" sz="2400" dirty="0">
                <a:solidFill>
                  <a:srgbClr val="0000FF"/>
                </a:solidFill>
              </a:rPr>
              <a:t>Shell</a:t>
            </a:r>
            <a:r>
              <a:rPr lang="zh-CN" altLang="en-US" sz="2400" dirty="0">
                <a:solidFill>
                  <a:srgbClr val="0000FF"/>
                </a:solidFill>
              </a:rPr>
              <a:t>命令然后传送给内核执行，并把内核反馈的结果信息经解释后显示在屏幕上</a:t>
            </a:r>
            <a:r>
              <a:rPr lang="zh-CN" altLang="en-US" sz="2400" dirty="0" smtClean="0">
                <a:solidFill>
                  <a:srgbClr val="0000FF"/>
                </a:solidFill>
              </a:rPr>
              <a:t>。</a:t>
            </a:r>
            <a:endParaRPr lang="en-US" altLang="zh-CN" sz="2400" dirty="0" smtClean="0">
              <a:solidFill>
                <a:srgbClr val="0000FF"/>
              </a:solidFill>
            </a:endParaRPr>
          </a:p>
          <a:p>
            <a:pPr marL="82550" indent="0">
              <a:lnSpc>
                <a:spcPct val="150000"/>
              </a:lnSpc>
              <a:buNone/>
            </a:pPr>
            <a:r>
              <a:rPr lang="en-US" altLang="zh-CN" sz="2400" dirty="0"/>
              <a:t> </a:t>
            </a:r>
            <a:r>
              <a:rPr lang="en-US" altLang="zh-CN" sz="2400" dirty="0" smtClean="0"/>
              <a:t>     Shell</a:t>
            </a:r>
            <a:r>
              <a:rPr lang="zh-CN" altLang="en-US" sz="2400" dirty="0"/>
              <a:t>交互界面（即文本用户界面）非常简单，它通常包含提示用户输入命令行的提示符，并且以回车键结束命令行</a:t>
            </a:r>
            <a:r>
              <a:rPr lang="zh-CN" altLang="en-US" sz="2400" dirty="0" smtClean="0"/>
              <a:t>。</a:t>
            </a:r>
            <a:endParaRPr lang="en-US" altLang="zh-CN" sz="2400" dirty="0" smtClean="0"/>
          </a:p>
          <a:p>
            <a:pPr marL="82550" indent="0">
              <a:buNone/>
            </a:pP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3568" y="483518"/>
            <a:ext cx="8208912" cy="3816474"/>
          </a:xfrm>
        </p:spPr>
        <p:txBody>
          <a:bodyPr>
            <a:normAutofit/>
          </a:bodyPr>
          <a:lstStyle/>
          <a:p>
            <a:pPr marL="82550" indent="0">
              <a:buNone/>
            </a:pPr>
            <a:r>
              <a:rPr lang="zh-CN" altLang="en-US" sz="2200" b="1" dirty="0">
                <a:latin typeface="+mn-ea"/>
              </a:rPr>
              <a:t>格式： </a:t>
            </a:r>
            <a:r>
              <a:rPr lang="zh-CN" altLang="en-US" sz="2200" b="1" dirty="0">
                <a:solidFill>
                  <a:srgbClr val="FF0000"/>
                </a:solidFill>
                <a:latin typeface="+mn-ea"/>
              </a:rPr>
              <a:t>命令名称 </a:t>
            </a:r>
            <a:r>
              <a:rPr lang="en-US" altLang="zh-CN" sz="2200" b="1" dirty="0">
                <a:solidFill>
                  <a:srgbClr val="FF0000"/>
                </a:solidFill>
                <a:latin typeface="+mn-ea"/>
              </a:rPr>
              <a:t>[</a:t>
            </a:r>
            <a:r>
              <a:rPr lang="zh-CN" altLang="en-US" sz="2200" b="1" dirty="0">
                <a:solidFill>
                  <a:srgbClr val="FF0000"/>
                </a:solidFill>
                <a:latin typeface="+mn-ea"/>
              </a:rPr>
              <a:t>选项</a:t>
            </a:r>
            <a:r>
              <a:rPr lang="en-US" altLang="zh-CN" sz="2200" b="1" dirty="0">
                <a:solidFill>
                  <a:srgbClr val="FF0000"/>
                </a:solidFill>
                <a:latin typeface="+mn-ea"/>
              </a:rPr>
              <a:t>]  [</a:t>
            </a:r>
            <a:r>
              <a:rPr lang="zh-CN" altLang="en-US" sz="2200" b="1" dirty="0">
                <a:solidFill>
                  <a:srgbClr val="FF0000"/>
                </a:solidFill>
                <a:latin typeface="+mn-ea"/>
              </a:rPr>
              <a:t>参数</a:t>
            </a:r>
            <a:r>
              <a:rPr lang="en-US" altLang="zh-CN" sz="2200" b="1" dirty="0" smtClean="0">
                <a:solidFill>
                  <a:srgbClr val="FF0000"/>
                </a:solidFill>
                <a:latin typeface="+mn-ea"/>
              </a:rPr>
              <a:t>]</a:t>
            </a:r>
            <a:endParaRPr lang="en-US" altLang="zh-CN" sz="2200" b="1" dirty="0" smtClean="0">
              <a:solidFill>
                <a:srgbClr val="FF0000"/>
              </a:solidFill>
              <a:latin typeface="+mn-ea"/>
            </a:endParaRPr>
          </a:p>
          <a:p>
            <a:pPr marL="82550" indent="0">
              <a:buNone/>
            </a:pPr>
            <a:endParaRPr lang="en-US" altLang="zh-CN" sz="2200" dirty="0">
              <a:latin typeface="+mn-ea"/>
            </a:endParaRPr>
          </a:p>
          <a:p>
            <a:pPr marL="82550" indent="0">
              <a:buNone/>
            </a:pPr>
            <a:r>
              <a:rPr lang="zh-CN" altLang="en-US" sz="2200" b="1" dirty="0" smtClean="0">
                <a:solidFill>
                  <a:srgbClr val="FF0000"/>
                </a:solidFill>
                <a:latin typeface="+mn-ea"/>
              </a:rPr>
              <a:t>选项</a:t>
            </a:r>
            <a:r>
              <a:rPr lang="zh-CN" altLang="en-US" sz="2200" dirty="0" smtClean="0">
                <a:latin typeface="+mn-ea"/>
              </a:rPr>
              <a:t>是一种标志，常用来扩展命令的特性或功能。一般由一个减号和一个或多个英文字母组成。</a:t>
            </a:r>
            <a:endParaRPr lang="en-US" altLang="zh-CN" sz="2200" dirty="0" smtClean="0">
              <a:latin typeface="+mn-ea"/>
            </a:endParaRPr>
          </a:p>
          <a:p>
            <a:pPr marL="82550" indent="0">
              <a:buNone/>
            </a:pPr>
            <a:endParaRPr lang="en-US" altLang="zh-CN" sz="2200" dirty="0" smtClean="0">
              <a:latin typeface="+mn-ea"/>
            </a:endParaRPr>
          </a:p>
          <a:p>
            <a:pPr marL="82550" indent="0">
              <a:buNone/>
            </a:pPr>
            <a:r>
              <a:rPr lang="zh-CN" altLang="en-US" sz="2200" b="1" dirty="0" smtClean="0">
                <a:solidFill>
                  <a:srgbClr val="FF0000"/>
                </a:solidFill>
                <a:latin typeface="+mn-ea"/>
              </a:rPr>
              <a:t>参数</a:t>
            </a:r>
            <a:r>
              <a:rPr lang="zh-CN" altLang="en-US" sz="2200" dirty="0" smtClean="0">
                <a:latin typeface="+mn-ea"/>
              </a:rPr>
              <a:t>是一个或者多个单词。</a:t>
            </a:r>
            <a:endParaRPr lang="en-US" altLang="zh-CN" sz="2200" dirty="0" smtClean="0">
              <a:latin typeface="+mn-ea"/>
            </a:endParaRPr>
          </a:p>
          <a:p>
            <a:pPr marL="82550" indent="0">
              <a:buNone/>
            </a:pPr>
            <a:endParaRPr lang="en-US" altLang="zh-CN" sz="2200" dirty="0" smtClean="0">
              <a:latin typeface="+mn-ea"/>
            </a:endParaRPr>
          </a:p>
          <a:p>
            <a:pPr marL="82550" indent="0">
              <a:buNone/>
            </a:pPr>
            <a:r>
              <a:rPr lang="zh-CN" altLang="en-US" sz="2200" dirty="0" smtClean="0">
                <a:latin typeface="+mn-ea"/>
              </a:rPr>
              <a:t>选项要先于参数输入。</a:t>
            </a:r>
            <a:endParaRPr lang="zh-CN" altLang="en-US" sz="2200" dirty="0">
              <a:latin typeface="+mn-ea"/>
            </a:endParaRPr>
          </a:p>
          <a:p>
            <a:pPr marL="82550" indent="0">
              <a:buNone/>
            </a:pPr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>
          <a:xfrm>
            <a:off x="539552" y="339502"/>
            <a:ext cx="8064896" cy="4068452"/>
          </a:xfrm>
        </p:spPr>
        <p:txBody>
          <a:bodyPr>
            <a:noAutofit/>
          </a:bodyPr>
          <a:lstStyle/>
          <a:p>
            <a:pPr marL="596900" indent="-514350">
              <a:lnSpc>
                <a:spcPct val="120000"/>
              </a:lnSpc>
              <a:buAutoNum type="arabicPeriod"/>
            </a:pPr>
            <a:r>
              <a:rPr lang="en-US" altLang="zh-CN" sz="1800" b="1" dirty="0" smtClean="0">
                <a:solidFill>
                  <a:srgbClr val="C00000"/>
                </a:solidFill>
                <a:latin typeface="Arial Black" panose="020B0A04020102020204" pitchFamily="34" charset="0"/>
              </a:rPr>
              <a:t>cd</a:t>
            </a:r>
            <a:r>
              <a:rPr lang="zh-CN" altLang="en-US" sz="1800" b="1" dirty="0">
                <a:solidFill>
                  <a:srgbClr val="C00000"/>
                </a:solidFill>
              </a:rPr>
              <a:t>命令</a:t>
            </a:r>
            <a:r>
              <a:rPr lang="zh-CN" altLang="en-US" sz="1800" b="1" dirty="0" smtClean="0">
                <a:solidFill>
                  <a:srgbClr val="C00000"/>
                </a:solidFill>
                <a:ea typeface="宋体" panose="02010600030101010101" pitchFamily="2" charset="-122"/>
              </a:rPr>
              <a:t>　</a:t>
            </a:r>
            <a:endParaRPr lang="zh-CN" altLang="en-US" sz="1800" b="1" dirty="0" smtClean="0">
              <a:solidFill>
                <a:srgbClr val="C00000"/>
              </a:solidFill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buNone/>
            </a:pPr>
            <a:r>
              <a:rPr lang="zh-CN" altLang="en-US" sz="1800" b="1" dirty="0" smtClean="0">
                <a:ea typeface="宋体" panose="02010600030101010101" pitchFamily="2" charset="-122"/>
              </a:rPr>
              <a:t>　</a:t>
            </a:r>
            <a:r>
              <a:rPr lang="zh-CN" altLang="en-US" sz="1800" b="1" dirty="0"/>
              <a:t>功能：</a:t>
            </a:r>
            <a:r>
              <a:rPr lang="zh-CN" altLang="en-US" sz="1800" b="1" dirty="0">
                <a:solidFill>
                  <a:srgbClr val="FF0000"/>
                </a:solidFill>
              </a:rPr>
              <a:t>改变当前目录，使指定目录成为当前目录。</a:t>
            </a:r>
            <a:endParaRPr lang="zh-CN" altLang="en-US" sz="1800" b="1" dirty="0">
              <a:solidFill>
                <a:srgbClr val="FF0000"/>
              </a:solidFill>
            </a:endParaRPr>
          </a:p>
          <a:p>
            <a:pPr marL="82550" indent="0">
              <a:lnSpc>
                <a:spcPct val="120000"/>
              </a:lnSpc>
              <a:buNone/>
            </a:pPr>
            <a:r>
              <a:rPr lang="en-US" altLang="zh-CN" sz="1800" b="1" dirty="0" smtClean="0">
                <a:solidFill>
                  <a:schemeClr val="folHlink"/>
                </a:solidFill>
              </a:rPr>
              <a:t>          cd  </a:t>
            </a:r>
            <a:r>
              <a:rPr lang="en-US" altLang="zh-CN" sz="1800" b="1" dirty="0"/>
              <a:t>..     </a:t>
            </a:r>
            <a:r>
              <a:rPr lang="zh-CN" altLang="en-US" sz="1800" b="1" dirty="0"/>
              <a:t>　 　　   </a:t>
            </a:r>
            <a:r>
              <a:rPr lang="en-US" altLang="zh-CN" sz="1800" b="1" dirty="0">
                <a:solidFill>
                  <a:srgbClr val="00CC00"/>
                </a:solidFill>
                <a:latin typeface="楷体_GB2312"/>
                <a:ea typeface="楷体_GB2312"/>
                <a:cs typeface="楷体_GB2312"/>
              </a:rPr>
              <a:t>//</a:t>
            </a:r>
            <a:r>
              <a:rPr lang="zh-CN" altLang="en-US" sz="1800" b="1" dirty="0">
                <a:solidFill>
                  <a:srgbClr val="00CC00"/>
                </a:solidFill>
                <a:latin typeface="楷体_GB2312"/>
                <a:ea typeface="楷体_GB2312"/>
                <a:cs typeface="楷体_GB2312"/>
              </a:rPr>
              <a:t>移到父目录 上一层目录</a:t>
            </a:r>
            <a:endParaRPr lang="zh-CN" altLang="en-US" sz="1800" b="1" dirty="0">
              <a:solidFill>
                <a:srgbClr val="00CC00"/>
              </a:solidFill>
              <a:latin typeface="楷体_GB2312"/>
              <a:ea typeface="楷体_GB2312"/>
              <a:cs typeface="楷体_GB2312"/>
            </a:endParaRPr>
          </a:p>
          <a:p>
            <a:pPr marL="82550" indent="0">
              <a:lnSpc>
                <a:spcPct val="120000"/>
              </a:lnSpc>
              <a:buNone/>
            </a:pPr>
            <a:r>
              <a:rPr lang="zh-CN" altLang="en-US" sz="1800" b="1" dirty="0"/>
              <a:t>　　　</a:t>
            </a:r>
            <a:r>
              <a:rPr lang="en-US" altLang="zh-CN" sz="1800" b="1" dirty="0">
                <a:solidFill>
                  <a:schemeClr val="folHlink"/>
                </a:solidFill>
              </a:rPr>
              <a:t>cd  ~</a:t>
            </a:r>
            <a:r>
              <a:rPr lang="zh-CN" altLang="en-US" sz="1800" b="1" dirty="0"/>
              <a:t>　　　     </a:t>
            </a:r>
            <a:r>
              <a:rPr lang="en-US" altLang="zh-CN" sz="1800" b="1" dirty="0">
                <a:solidFill>
                  <a:srgbClr val="00CC00"/>
                </a:solidFill>
                <a:latin typeface="楷体_GB2312"/>
                <a:ea typeface="楷体_GB2312"/>
                <a:cs typeface="楷体_GB2312"/>
              </a:rPr>
              <a:t>//</a:t>
            </a:r>
            <a:r>
              <a:rPr lang="zh-CN" altLang="en-US" sz="1800" b="1" dirty="0">
                <a:solidFill>
                  <a:srgbClr val="00CC00"/>
                </a:solidFill>
                <a:latin typeface="楷体_GB2312"/>
                <a:ea typeface="楷体_GB2312"/>
                <a:cs typeface="楷体_GB2312"/>
              </a:rPr>
              <a:t>返回到本用户的主目录 </a:t>
            </a:r>
            <a:r>
              <a:rPr lang="en-US" altLang="zh-CN" sz="1800" b="1" dirty="0">
                <a:solidFill>
                  <a:srgbClr val="00CC00"/>
                </a:solidFill>
                <a:latin typeface="楷体_GB2312"/>
                <a:ea typeface="楷体_GB2312"/>
                <a:cs typeface="楷体_GB2312"/>
              </a:rPr>
              <a:t>/root</a:t>
            </a:r>
            <a:r>
              <a:rPr lang="zh-CN" altLang="en-US" sz="1800" b="1" dirty="0">
                <a:solidFill>
                  <a:srgbClr val="00CC00"/>
                </a:solidFill>
                <a:latin typeface="楷体_GB2312"/>
                <a:ea typeface="楷体_GB2312"/>
                <a:cs typeface="楷体_GB2312"/>
              </a:rPr>
              <a:t>目录</a:t>
            </a:r>
            <a:endParaRPr lang="zh-CN" altLang="en-US" sz="1800" b="1" dirty="0">
              <a:solidFill>
                <a:srgbClr val="00CC00"/>
              </a:solidFill>
              <a:latin typeface="楷体_GB2312"/>
              <a:ea typeface="楷体_GB2312"/>
              <a:cs typeface="楷体_GB2312"/>
            </a:endParaRPr>
          </a:p>
          <a:p>
            <a:pPr marL="82550" indent="0">
              <a:lnSpc>
                <a:spcPct val="120000"/>
              </a:lnSpc>
              <a:buNone/>
            </a:pPr>
            <a:r>
              <a:rPr lang="zh-CN" altLang="en-US" sz="1800" b="1" dirty="0"/>
              <a:t>　　　</a:t>
            </a:r>
            <a:r>
              <a:rPr lang="en-US" altLang="zh-CN" sz="1800" b="1" dirty="0">
                <a:solidFill>
                  <a:schemeClr val="folHlink"/>
                </a:solidFill>
              </a:rPr>
              <a:t>cd</a:t>
            </a:r>
            <a:r>
              <a:rPr lang="en-US" altLang="zh-CN" sz="1800" b="1" dirty="0"/>
              <a:t>  </a:t>
            </a:r>
            <a:r>
              <a:rPr lang="zh-CN" altLang="en-US" sz="1800" b="1" dirty="0">
                <a:solidFill>
                  <a:schemeClr val="folHlink"/>
                </a:solidFill>
                <a:ea typeface="黑体" panose="02010609060101010101" pitchFamily="49" charset="-122"/>
              </a:rPr>
              <a:t>目录路径名</a:t>
            </a:r>
            <a:r>
              <a:rPr lang="zh-CN" altLang="en-US" sz="1800" b="1" dirty="0"/>
              <a:t>　 </a:t>
            </a:r>
            <a:r>
              <a:rPr lang="en-US" altLang="zh-CN" sz="1800" b="1" dirty="0">
                <a:solidFill>
                  <a:srgbClr val="00CC00"/>
                </a:solidFill>
                <a:latin typeface="楷体_GB2312"/>
                <a:ea typeface="楷体_GB2312"/>
                <a:cs typeface="楷体_GB2312"/>
              </a:rPr>
              <a:t>//</a:t>
            </a:r>
            <a:r>
              <a:rPr lang="zh-CN" altLang="en-US" sz="1800" b="1" dirty="0">
                <a:solidFill>
                  <a:srgbClr val="00CC00"/>
                </a:solidFill>
                <a:latin typeface="楷体_GB2312"/>
                <a:ea typeface="楷体_GB2312"/>
                <a:cs typeface="楷体_GB2312"/>
              </a:rPr>
              <a:t>切换到指定</a:t>
            </a:r>
            <a:r>
              <a:rPr lang="zh-CN" altLang="en-US" sz="1800" b="1" dirty="0" smtClean="0">
                <a:solidFill>
                  <a:srgbClr val="00CC00"/>
                </a:solidFill>
                <a:latin typeface="楷体_GB2312"/>
                <a:ea typeface="楷体_GB2312"/>
                <a:cs typeface="楷体_GB2312"/>
              </a:rPr>
              <a:t>目录</a:t>
            </a:r>
            <a:endParaRPr lang="en-US" altLang="zh-CN" sz="1800" b="1" dirty="0" smtClean="0">
              <a:solidFill>
                <a:srgbClr val="00CC00"/>
              </a:solidFill>
              <a:latin typeface="楷体_GB2312"/>
              <a:ea typeface="楷体_GB2312"/>
              <a:cs typeface="楷体_GB2312"/>
            </a:endParaRPr>
          </a:p>
          <a:p>
            <a:pPr marL="82550" indent="0">
              <a:lnSpc>
                <a:spcPct val="120000"/>
              </a:lnSpc>
              <a:buNone/>
            </a:pPr>
            <a:r>
              <a:rPr lang="zh-CN" altLang="en-US" sz="1800" b="1" dirty="0" smtClean="0">
                <a:solidFill>
                  <a:srgbClr val="00CC00"/>
                </a:solidFill>
                <a:latin typeface="楷体_GB2312"/>
                <a:ea typeface="楷体_GB2312"/>
                <a:cs typeface="楷体_GB2312"/>
              </a:rPr>
              <a:t>例如：</a:t>
            </a:r>
            <a:endParaRPr lang="zh-CN" altLang="en-US" sz="1800" b="1" dirty="0">
              <a:solidFill>
                <a:srgbClr val="00CC00"/>
              </a:solidFill>
              <a:latin typeface="楷体_GB2312"/>
              <a:ea typeface="楷体_GB2312"/>
              <a:cs typeface="楷体_GB2312"/>
            </a:endParaRPr>
          </a:p>
          <a:p>
            <a:pPr marL="82550" indent="0">
              <a:lnSpc>
                <a:spcPct val="120000"/>
              </a:lnSpc>
              <a:buNone/>
            </a:pPr>
            <a:r>
              <a:rPr lang="zh-CN" altLang="en-US" sz="1800" dirty="0"/>
              <a:t>　</a:t>
            </a:r>
            <a:r>
              <a:rPr lang="da-DK" altLang="zh-CN" sz="1800" dirty="0"/>
              <a:t>[</a:t>
            </a:r>
            <a:r>
              <a:rPr lang="en-US" altLang="zh-CN" sz="1800" dirty="0" err="1"/>
              <a:t>fyl</a:t>
            </a:r>
            <a:r>
              <a:rPr lang="da-DK" altLang="zh-CN" sz="1800" dirty="0"/>
              <a:t>@localhost var]$</a:t>
            </a:r>
            <a:r>
              <a:rPr lang="da-DK" altLang="zh-CN" sz="1800" dirty="0">
                <a:solidFill>
                  <a:schemeClr val="folHlink"/>
                </a:solidFill>
              </a:rPr>
              <a:t>cd   /usr/src</a:t>
            </a:r>
            <a:endParaRPr lang="da-DK" altLang="zh-CN" sz="1800" dirty="0">
              <a:solidFill>
                <a:schemeClr val="folHlink"/>
              </a:solidFill>
            </a:endParaRPr>
          </a:p>
          <a:p>
            <a:pPr marL="82550" indent="0">
              <a:lnSpc>
                <a:spcPct val="120000"/>
              </a:lnSpc>
              <a:buNone/>
            </a:pPr>
            <a:r>
              <a:rPr lang="zh-CN" altLang="da-DK" sz="1800" dirty="0"/>
              <a:t>　</a:t>
            </a:r>
            <a:r>
              <a:rPr lang="da-DK" altLang="zh-CN" sz="1800" dirty="0"/>
              <a:t>[</a:t>
            </a:r>
            <a:r>
              <a:rPr lang="en-US" altLang="zh-CN" sz="1800" dirty="0" err="1"/>
              <a:t>fyl</a:t>
            </a:r>
            <a:r>
              <a:rPr lang="da-DK" altLang="zh-CN" sz="1800" dirty="0"/>
              <a:t>@localhost </a:t>
            </a:r>
            <a:r>
              <a:rPr lang="da-DK" altLang="zh-CN" sz="1800" dirty="0">
                <a:solidFill>
                  <a:srgbClr val="C00000"/>
                </a:solidFill>
              </a:rPr>
              <a:t>src</a:t>
            </a:r>
            <a:r>
              <a:rPr lang="da-DK" altLang="zh-CN" sz="1800" dirty="0"/>
              <a:t>]$</a:t>
            </a:r>
            <a:r>
              <a:rPr lang="zh-CN" altLang="da-DK" sz="1800" dirty="0"/>
              <a:t>              </a:t>
            </a:r>
            <a:r>
              <a:rPr lang="da-DK" altLang="zh-CN" sz="1800" dirty="0" smtClean="0">
                <a:solidFill>
                  <a:srgbClr val="00CC00"/>
                </a:solidFill>
                <a:latin typeface="楷体_GB2312"/>
                <a:ea typeface="楷体_GB2312"/>
                <a:cs typeface="楷体_GB2312"/>
              </a:rPr>
              <a:t> </a:t>
            </a:r>
            <a:r>
              <a:rPr lang="da-DK" altLang="zh-CN" sz="1800" dirty="0">
                <a:solidFill>
                  <a:srgbClr val="00CC00"/>
                </a:solidFill>
                <a:latin typeface="楷体_GB2312"/>
                <a:ea typeface="楷体_GB2312"/>
                <a:cs typeface="楷体_GB2312"/>
              </a:rPr>
              <a:t>//</a:t>
            </a:r>
            <a:r>
              <a:rPr lang="zh-CN" altLang="da-DK" sz="1800" dirty="0">
                <a:solidFill>
                  <a:srgbClr val="00CC00"/>
                </a:solidFill>
                <a:latin typeface="楷体_GB2312"/>
                <a:ea typeface="楷体_GB2312"/>
                <a:cs typeface="楷体_GB2312"/>
              </a:rPr>
              <a:t>进入目录</a:t>
            </a:r>
            <a:r>
              <a:rPr lang="da-DK" altLang="zh-CN" sz="1800" dirty="0">
                <a:solidFill>
                  <a:srgbClr val="00CC00"/>
                </a:solidFill>
                <a:latin typeface="楷体_GB2312"/>
                <a:ea typeface="楷体_GB2312"/>
                <a:cs typeface="楷体_GB2312"/>
              </a:rPr>
              <a:t>/</a:t>
            </a:r>
            <a:r>
              <a:rPr lang="da-DK" altLang="zh-CN" sz="1800" dirty="0" smtClean="0">
                <a:solidFill>
                  <a:srgbClr val="00CC00"/>
                </a:solidFill>
                <a:latin typeface="楷体_GB2312"/>
                <a:ea typeface="楷体_GB2312"/>
                <a:cs typeface="楷体_GB2312"/>
              </a:rPr>
              <a:t>usr/src</a:t>
            </a:r>
            <a:endParaRPr lang="da-DK" altLang="zh-CN" sz="1800" dirty="0">
              <a:solidFill>
                <a:srgbClr val="00CC00"/>
              </a:solidFill>
              <a:latin typeface="楷体_GB2312"/>
              <a:ea typeface="楷体_GB2312"/>
              <a:cs typeface="楷体_GB2312"/>
            </a:endParaRPr>
          </a:p>
          <a:p>
            <a:pPr>
              <a:lnSpc>
                <a:spcPct val="120000"/>
              </a:lnSpc>
              <a:buNone/>
            </a:pPr>
            <a:r>
              <a:rPr lang="zh-CN" altLang="en-US" sz="1800" b="1" dirty="0" smtClean="0">
                <a:ea typeface="宋体" panose="02010600030101010101" pitchFamily="2" charset="-122"/>
              </a:rPr>
              <a:t>说明</a:t>
            </a:r>
            <a:r>
              <a:rPr lang="zh-CN" altLang="en-US" sz="1800" b="1" dirty="0" smtClean="0">
                <a:solidFill>
                  <a:srgbClr val="C00000"/>
                </a:solidFill>
                <a:ea typeface="宋体" panose="02010600030101010101" pitchFamily="2" charset="-122"/>
              </a:rPr>
              <a:t>：</a:t>
            </a:r>
            <a:r>
              <a:rPr lang="da-DK" altLang="zh-CN" sz="1800" dirty="0">
                <a:solidFill>
                  <a:srgbClr val="C00000"/>
                </a:solidFill>
              </a:rPr>
              <a:t> [</a:t>
            </a:r>
            <a:r>
              <a:rPr lang="en-US" altLang="zh-CN" sz="1800" dirty="0" err="1">
                <a:solidFill>
                  <a:srgbClr val="C00000"/>
                </a:solidFill>
              </a:rPr>
              <a:t>fyl</a:t>
            </a:r>
            <a:r>
              <a:rPr lang="da-DK" altLang="zh-CN" sz="1800" dirty="0">
                <a:solidFill>
                  <a:srgbClr val="C00000"/>
                </a:solidFill>
              </a:rPr>
              <a:t>@localhost var]$</a:t>
            </a:r>
            <a:r>
              <a:rPr lang="zh-CN" altLang="en-US" sz="1800" b="1" dirty="0" smtClean="0">
                <a:ea typeface="宋体" panose="02010600030101010101" pitchFamily="2" charset="-122"/>
              </a:rPr>
              <a:t>为提示符。</a:t>
            </a:r>
            <a:endParaRPr lang="en-US" altLang="zh-CN" sz="1800" b="1" dirty="0" smtClean="0">
              <a:ea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1800" b="1" dirty="0" err="1" smtClean="0">
                <a:solidFill>
                  <a:srgbClr val="0000FF"/>
                </a:solidFill>
                <a:ea typeface="宋体" panose="02010600030101010101" pitchFamily="2" charset="-122"/>
              </a:rPr>
              <a:t>fyl</a:t>
            </a:r>
            <a:r>
              <a:rPr lang="en-US" altLang="zh-CN" sz="1800" b="1" dirty="0" smtClean="0">
                <a:solidFill>
                  <a:srgbClr val="0000FF"/>
                </a:solidFill>
                <a:ea typeface="宋体" panose="02010600030101010101" pitchFamily="2" charset="-122"/>
              </a:rPr>
              <a:t> –</a:t>
            </a:r>
            <a:r>
              <a:rPr lang="zh-CN" altLang="en-US" sz="1800" b="1" dirty="0" smtClean="0">
                <a:solidFill>
                  <a:srgbClr val="0000FF"/>
                </a:solidFill>
                <a:ea typeface="宋体" panose="02010600030101010101" pitchFamily="2" charset="-122"/>
              </a:rPr>
              <a:t>用户名</a:t>
            </a:r>
            <a:r>
              <a:rPr lang="en-US" altLang="zh-CN" sz="1800" b="1" dirty="0">
                <a:solidFill>
                  <a:srgbClr val="0000FF"/>
                </a:solidFill>
                <a:ea typeface="宋体" panose="02010600030101010101" pitchFamily="2" charset="-122"/>
              </a:rPr>
              <a:t> </a:t>
            </a:r>
            <a:r>
              <a:rPr lang="en-US" altLang="zh-CN" sz="1800" b="1" dirty="0" smtClean="0">
                <a:solidFill>
                  <a:srgbClr val="0000FF"/>
                </a:solidFill>
                <a:ea typeface="宋体" panose="02010600030101010101" pitchFamily="2" charset="-122"/>
              </a:rPr>
              <a:t>             </a:t>
            </a:r>
            <a:r>
              <a:rPr lang="en-US" altLang="zh-CN" sz="1800" b="1" dirty="0" err="1" smtClean="0">
                <a:solidFill>
                  <a:srgbClr val="0000FF"/>
                </a:solidFill>
                <a:ea typeface="宋体" panose="02010600030101010101" pitchFamily="2" charset="-122"/>
              </a:rPr>
              <a:t>localhost</a:t>
            </a:r>
            <a:r>
              <a:rPr lang="en-US" altLang="zh-CN" sz="1800" b="1" dirty="0" smtClean="0">
                <a:solidFill>
                  <a:srgbClr val="0000FF"/>
                </a:solidFill>
                <a:ea typeface="宋体" panose="02010600030101010101" pitchFamily="2" charset="-122"/>
              </a:rPr>
              <a:t> --</a:t>
            </a:r>
            <a:r>
              <a:rPr lang="zh-CN" altLang="en-US" sz="1800" b="1" dirty="0" smtClean="0">
                <a:solidFill>
                  <a:srgbClr val="0000FF"/>
                </a:solidFill>
                <a:ea typeface="宋体" panose="02010600030101010101" pitchFamily="2" charset="-122"/>
              </a:rPr>
              <a:t>主机名</a:t>
            </a:r>
            <a:r>
              <a:rPr lang="en-US" altLang="zh-CN" sz="1800" b="1" dirty="0">
                <a:solidFill>
                  <a:srgbClr val="0000FF"/>
                </a:solidFill>
                <a:ea typeface="宋体" panose="02010600030101010101" pitchFamily="2" charset="-122"/>
              </a:rPr>
              <a:t> </a:t>
            </a:r>
            <a:r>
              <a:rPr lang="en-US" altLang="zh-CN" sz="1800" b="1" dirty="0" smtClean="0">
                <a:solidFill>
                  <a:srgbClr val="0000FF"/>
                </a:solidFill>
                <a:ea typeface="宋体" panose="02010600030101010101" pitchFamily="2" charset="-122"/>
              </a:rPr>
              <a:t>                </a:t>
            </a:r>
            <a:r>
              <a:rPr lang="en-US" altLang="zh-CN" sz="1800" b="1" dirty="0" err="1" smtClean="0">
                <a:solidFill>
                  <a:srgbClr val="0000FF"/>
                </a:solidFill>
                <a:ea typeface="宋体" panose="02010600030101010101" pitchFamily="2" charset="-122"/>
              </a:rPr>
              <a:t>var</a:t>
            </a:r>
            <a:r>
              <a:rPr lang="en-US" altLang="zh-CN" sz="1800" b="1" dirty="0" smtClean="0">
                <a:solidFill>
                  <a:srgbClr val="0000FF"/>
                </a:solidFill>
                <a:ea typeface="宋体" panose="02010600030101010101" pitchFamily="2" charset="-122"/>
              </a:rPr>
              <a:t> – </a:t>
            </a:r>
            <a:r>
              <a:rPr lang="zh-CN" altLang="en-US" sz="1800" b="1" dirty="0" smtClean="0">
                <a:solidFill>
                  <a:srgbClr val="0000FF"/>
                </a:solidFill>
                <a:ea typeface="宋体" panose="02010600030101010101" pitchFamily="2" charset="-122"/>
              </a:rPr>
              <a:t>当前目录</a:t>
            </a:r>
            <a:endParaRPr lang="en-US" altLang="zh-CN" sz="1800" b="1" dirty="0" smtClean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buNone/>
            </a:pPr>
            <a:r>
              <a:rPr lang="en-US" altLang="zh-CN" sz="1800" b="1" dirty="0" smtClean="0">
                <a:solidFill>
                  <a:srgbClr val="0000FF"/>
                </a:solidFill>
                <a:ea typeface="宋体" panose="02010600030101010101" pitchFamily="2" charset="-122"/>
              </a:rPr>
              <a:t>$-- </a:t>
            </a:r>
            <a:r>
              <a:rPr lang="zh-CN" altLang="en-US" sz="1800" b="1" dirty="0" smtClean="0">
                <a:solidFill>
                  <a:srgbClr val="0000FF"/>
                </a:solidFill>
                <a:ea typeface="宋体" panose="02010600030101010101" pitchFamily="2" charset="-122"/>
              </a:rPr>
              <a:t>普通用户</a:t>
            </a:r>
            <a:r>
              <a:rPr lang="en-US" altLang="zh-CN" sz="1800" b="1" dirty="0">
                <a:solidFill>
                  <a:srgbClr val="0000FF"/>
                </a:solidFill>
                <a:ea typeface="宋体" panose="02010600030101010101" pitchFamily="2" charset="-122"/>
              </a:rPr>
              <a:t> </a:t>
            </a:r>
            <a:r>
              <a:rPr lang="en-US" altLang="zh-CN" sz="1800" b="1" dirty="0" smtClean="0">
                <a:solidFill>
                  <a:srgbClr val="0000FF"/>
                </a:solidFill>
                <a:ea typeface="宋体" panose="02010600030101010101" pitchFamily="2" charset="-122"/>
              </a:rPr>
              <a:t>              #-- </a:t>
            </a:r>
            <a:r>
              <a:rPr lang="zh-CN" altLang="en-US" sz="1800" b="1" dirty="0" smtClean="0">
                <a:solidFill>
                  <a:srgbClr val="0000FF"/>
                </a:solidFill>
                <a:ea typeface="宋体" panose="02010600030101010101" pitchFamily="2" charset="-122"/>
              </a:rPr>
              <a:t>系统管理员用户</a:t>
            </a:r>
            <a:endParaRPr lang="zh-CN" altLang="en-US" sz="1800" b="1" dirty="0" smtClean="0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500"/>
                            </p:stCondLst>
                            <p:childTnLst>
                              <p:par>
                                <p:cTn id="5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>
          <a:xfrm>
            <a:off x="323528" y="303498"/>
            <a:ext cx="8361858" cy="4320480"/>
          </a:xfrm>
        </p:spPr>
        <p:txBody>
          <a:bodyPr>
            <a:normAutofit/>
          </a:bodyPr>
          <a:lstStyle/>
          <a:p>
            <a:pPr marL="82550" indent="0">
              <a:lnSpc>
                <a:spcPct val="80000"/>
              </a:lnSpc>
              <a:buNone/>
            </a:pPr>
            <a:r>
              <a:rPr lang="en-US" altLang="zh-CN" sz="1800" b="1" dirty="0" smtClean="0">
                <a:solidFill>
                  <a:srgbClr val="C00000"/>
                </a:solidFill>
                <a:latin typeface="Arial Black" panose="020B0A04020102020204" pitchFamily="34" charset="0"/>
              </a:rPr>
              <a:t>2. </a:t>
            </a:r>
            <a:r>
              <a:rPr lang="en-US" altLang="zh-CN" sz="1800" b="1" dirty="0">
                <a:solidFill>
                  <a:srgbClr val="C00000"/>
                </a:solidFill>
                <a:latin typeface="Arial Black" panose="020B0A04020102020204" pitchFamily="34" charset="0"/>
              </a:rPr>
              <a:t> </a:t>
            </a:r>
            <a:r>
              <a:rPr lang="en-US" altLang="zh-CN" sz="1800" b="1" dirty="0" err="1" smtClean="0">
                <a:solidFill>
                  <a:srgbClr val="C00000"/>
                </a:solidFill>
                <a:latin typeface="Arial Black" panose="020B0A04020102020204" pitchFamily="34" charset="0"/>
              </a:rPr>
              <a:t>ls</a:t>
            </a:r>
            <a:r>
              <a:rPr lang="zh-CN" altLang="en-US" sz="1800" b="1" dirty="0" smtClean="0">
                <a:solidFill>
                  <a:srgbClr val="C00000"/>
                </a:solidFill>
              </a:rPr>
              <a:t>命令</a:t>
            </a:r>
            <a:r>
              <a:rPr lang="zh-CN" altLang="en-US" sz="1800" b="1" dirty="0" smtClean="0">
                <a:solidFill>
                  <a:srgbClr val="C00000"/>
                </a:solidFill>
                <a:ea typeface="宋体" panose="02010600030101010101" pitchFamily="2" charset="-122"/>
              </a:rPr>
              <a:t>　</a:t>
            </a:r>
            <a:endParaRPr lang="en-US" altLang="zh-CN" sz="1800" b="1" dirty="0" smtClean="0">
              <a:solidFill>
                <a:srgbClr val="C00000"/>
              </a:solidFill>
              <a:ea typeface="宋体" panose="02010600030101010101" pitchFamily="2" charset="-122"/>
            </a:endParaRPr>
          </a:p>
          <a:p>
            <a:pPr marL="82550" indent="0">
              <a:lnSpc>
                <a:spcPct val="90000"/>
              </a:lnSpc>
              <a:buNone/>
            </a:pPr>
            <a:r>
              <a:rPr lang="zh-CN" altLang="en-US" sz="1800" b="1" dirty="0">
                <a:solidFill>
                  <a:srgbClr val="C00000"/>
                </a:solidFill>
                <a:ea typeface="宋体" panose="02010600030101010101" pitchFamily="2" charset="-122"/>
              </a:rPr>
              <a:t> </a:t>
            </a:r>
            <a:r>
              <a:rPr lang="zh-CN" altLang="en-US" sz="1800" b="1" dirty="0" smtClean="0">
                <a:solidFill>
                  <a:srgbClr val="C00000"/>
                </a:solidFill>
                <a:ea typeface="宋体" panose="02010600030101010101" pitchFamily="2" charset="-122"/>
              </a:rPr>
              <a:t>   </a:t>
            </a:r>
            <a:r>
              <a:rPr lang="zh-CN" altLang="en-US" sz="1800" b="1" dirty="0" smtClean="0">
                <a:solidFill>
                  <a:srgbClr val="FF0000"/>
                </a:solidFill>
              </a:rPr>
              <a:t>功能：</a:t>
            </a:r>
            <a:r>
              <a:rPr lang="zh-CN" altLang="en-US" sz="1800" b="1" dirty="0">
                <a:solidFill>
                  <a:srgbClr val="FF0000"/>
                </a:solidFill>
              </a:rPr>
              <a:t>列出指定目录下的文件清单</a:t>
            </a:r>
            <a:endParaRPr lang="zh-CN" altLang="en-US" sz="1800" b="1" dirty="0">
              <a:solidFill>
                <a:srgbClr val="FF0000"/>
              </a:solidFill>
            </a:endParaRPr>
          </a:p>
          <a:p>
            <a:pPr marL="82550" indent="0">
              <a:lnSpc>
                <a:spcPct val="90000"/>
              </a:lnSpc>
              <a:buNone/>
            </a:pPr>
            <a:r>
              <a:rPr lang="en-US" altLang="zh-CN" sz="1800" b="1" dirty="0" smtClean="0">
                <a:solidFill>
                  <a:srgbClr val="FF0000"/>
                </a:solidFill>
              </a:rPr>
              <a:t>    </a:t>
            </a:r>
            <a:r>
              <a:rPr lang="zh-CN" altLang="en-US" sz="1800" b="1" dirty="0" smtClean="0">
                <a:solidFill>
                  <a:srgbClr val="FF0000"/>
                </a:solidFill>
              </a:rPr>
              <a:t>语法：</a:t>
            </a:r>
            <a:r>
              <a:rPr lang="en-US" altLang="zh-CN" sz="1800" b="1" dirty="0" smtClean="0">
                <a:solidFill>
                  <a:srgbClr val="FF0000"/>
                </a:solidFill>
              </a:rPr>
              <a:t> </a:t>
            </a:r>
            <a:r>
              <a:rPr lang="en-US" altLang="zh-CN" sz="1800" b="1" dirty="0" err="1">
                <a:solidFill>
                  <a:srgbClr val="FF0000"/>
                </a:solidFill>
                <a:ea typeface="黑体" panose="02010609060101010101" pitchFamily="49" charset="-122"/>
              </a:rPr>
              <a:t>ls</a:t>
            </a:r>
            <a:r>
              <a:rPr lang="en-US" altLang="zh-CN" sz="1800" b="1" dirty="0">
                <a:solidFill>
                  <a:srgbClr val="FF0000"/>
                </a:solidFill>
                <a:ea typeface="黑体" panose="02010609060101010101" pitchFamily="49" charset="-122"/>
              </a:rPr>
              <a:t> [</a:t>
            </a:r>
            <a:r>
              <a:rPr lang="zh-CN" altLang="en-US" sz="1800" b="1" dirty="0">
                <a:solidFill>
                  <a:srgbClr val="FF0000"/>
                </a:solidFill>
                <a:ea typeface="黑体" panose="02010609060101010101" pitchFamily="49" charset="-122"/>
              </a:rPr>
              <a:t>选项</a:t>
            </a:r>
            <a:r>
              <a:rPr lang="en-US" altLang="zh-CN" sz="1800" b="1" dirty="0">
                <a:solidFill>
                  <a:srgbClr val="FF0000"/>
                </a:solidFill>
                <a:ea typeface="黑体" panose="02010609060101010101" pitchFamily="49" charset="-122"/>
              </a:rPr>
              <a:t>] [</a:t>
            </a:r>
            <a:r>
              <a:rPr lang="zh-CN" altLang="en-US" sz="1800" b="1" dirty="0">
                <a:solidFill>
                  <a:srgbClr val="FF0000"/>
                </a:solidFill>
                <a:ea typeface="黑体" panose="02010609060101010101" pitchFamily="49" charset="-122"/>
              </a:rPr>
              <a:t>目录路径名</a:t>
            </a:r>
            <a:r>
              <a:rPr lang="en-US" altLang="zh-CN" sz="1800" b="1" dirty="0" smtClean="0">
                <a:solidFill>
                  <a:srgbClr val="FF0000"/>
                </a:solidFill>
                <a:ea typeface="黑体" panose="02010609060101010101" pitchFamily="49" charset="-122"/>
              </a:rPr>
              <a:t>]</a:t>
            </a:r>
            <a:endParaRPr lang="en-US" altLang="zh-CN" sz="1800" b="1" dirty="0" smtClean="0">
              <a:solidFill>
                <a:srgbClr val="FF0000"/>
              </a:solidFill>
              <a:ea typeface="黑体" panose="02010609060101010101" pitchFamily="49" charset="-122"/>
            </a:endParaRPr>
          </a:p>
          <a:p>
            <a:pPr marL="82550" indent="0">
              <a:lnSpc>
                <a:spcPct val="90000"/>
              </a:lnSpc>
              <a:buNone/>
            </a:pPr>
            <a:endParaRPr lang="en-US" altLang="zh-CN" sz="1800" dirty="0" smtClean="0">
              <a:solidFill>
                <a:srgbClr val="FF0000"/>
              </a:solidFill>
              <a:ea typeface="黑体" panose="02010609060101010101" pitchFamily="49" charset="-122"/>
            </a:endParaRPr>
          </a:p>
          <a:p>
            <a:pPr marL="82550" indent="0">
              <a:lnSpc>
                <a:spcPct val="90000"/>
              </a:lnSpc>
              <a:buNone/>
            </a:pPr>
            <a:r>
              <a:rPr lang="zh-CN" altLang="en-US" sz="1800" b="1" dirty="0"/>
              <a:t>常用的选项及其含义如下：</a:t>
            </a:r>
            <a:endParaRPr lang="zh-CN" altLang="en-US" sz="1800" b="1" dirty="0"/>
          </a:p>
          <a:p>
            <a:pPr marL="82550" indent="0">
              <a:lnSpc>
                <a:spcPct val="90000"/>
              </a:lnSpc>
              <a:buNone/>
            </a:pPr>
            <a:r>
              <a:rPr lang="zh-CN" altLang="en-US" sz="1800" b="1" dirty="0"/>
              <a:t>　　</a:t>
            </a:r>
            <a:r>
              <a:rPr lang="en-US" altLang="zh-CN" sz="1800" b="1" dirty="0">
                <a:solidFill>
                  <a:schemeClr val="hlink"/>
                </a:solidFill>
              </a:rPr>
              <a:t>-l</a:t>
            </a:r>
            <a:r>
              <a:rPr lang="zh-CN" altLang="en-US" sz="1800" b="1" dirty="0"/>
              <a:t>：以长格式来显示文件的详细信息。这个选项最常用。</a:t>
            </a:r>
            <a:endParaRPr lang="zh-CN" altLang="en-US" sz="1800" b="1" dirty="0"/>
          </a:p>
          <a:p>
            <a:pPr marL="82550" indent="0">
              <a:lnSpc>
                <a:spcPct val="90000"/>
              </a:lnSpc>
              <a:buNone/>
            </a:pPr>
            <a:r>
              <a:rPr lang="zh-CN" altLang="en-US" sz="1800" b="1" dirty="0"/>
              <a:t>　　</a:t>
            </a:r>
            <a:r>
              <a:rPr lang="en-US" altLang="zh-CN" sz="1800" b="1" dirty="0">
                <a:solidFill>
                  <a:schemeClr val="hlink"/>
                </a:solidFill>
              </a:rPr>
              <a:t>-a</a:t>
            </a:r>
            <a:r>
              <a:rPr lang="zh-CN" altLang="en-US" sz="1800" b="1" dirty="0"/>
              <a:t>：显示指定目录下的所有内容，包括隐藏文件。</a:t>
            </a:r>
            <a:endParaRPr lang="zh-CN" altLang="en-US" sz="1800" b="1" dirty="0"/>
          </a:p>
          <a:p>
            <a:pPr marL="82550" indent="0">
              <a:lnSpc>
                <a:spcPct val="90000"/>
              </a:lnSpc>
              <a:buNone/>
            </a:pPr>
            <a:r>
              <a:rPr lang="zh-CN" altLang="en-US" sz="1800" b="1" dirty="0">
                <a:solidFill>
                  <a:schemeClr val="hlink"/>
                </a:solidFill>
              </a:rPr>
              <a:t>　　</a:t>
            </a:r>
            <a:r>
              <a:rPr lang="en-US" altLang="zh-CN" sz="1800" b="1" dirty="0">
                <a:solidFill>
                  <a:schemeClr val="hlink"/>
                </a:solidFill>
              </a:rPr>
              <a:t>-R</a:t>
            </a:r>
            <a:r>
              <a:rPr lang="zh-CN" altLang="en-US" sz="1800" b="1" dirty="0"/>
              <a:t>：递归式地显示指定目录下的内容</a:t>
            </a:r>
            <a:r>
              <a:rPr lang="zh-CN" altLang="en-US" sz="1800" b="1" dirty="0" smtClean="0"/>
              <a:t>。</a:t>
            </a:r>
            <a:endParaRPr lang="en-US" altLang="zh-CN" sz="1800" b="1" dirty="0" smtClean="0"/>
          </a:p>
          <a:p>
            <a:pPr marL="82550" indent="0">
              <a:lnSpc>
                <a:spcPct val="90000"/>
              </a:lnSpc>
              <a:buNone/>
            </a:pPr>
            <a:r>
              <a:rPr lang="zh-CN" altLang="en-US" sz="1800" dirty="0" smtClean="0">
                <a:solidFill>
                  <a:srgbClr val="0000FF"/>
                </a:solidFill>
              </a:rPr>
              <a:t>例如：</a:t>
            </a:r>
            <a:endParaRPr lang="en-US" altLang="zh-CN" sz="1800" dirty="0" smtClean="0">
              <a:solidFill>
                <a:srgbClr val="0000FF"/>
              </a:solidFill>
            </a:endParaRPr>
          </a:p>
          <a:p>
            <a:pPr marL="82550" indent="0">
              <a:lnSpc>
                <a:spcPct val="90000"/>
              </a:lnSpc>
              <a:buNone/>
            </a:pPr>
            <a:r>
              <a:rPr lang="en-US" altLang="zh-CN" sz="1800" dirty="0" err="1" smtClean="0">
                <a:solidFill>
                  <a:srgbClr val="0000FF"/>
                </a:solidFill>
              </a:rPr>
              <a:t>ls</a:t>
            </a:r>
            <a:r>
              <a:rPr lang="en-US" altLang="zh-CN" sz="1800" dirty="0" smtClean="0">
                <a:solidFill>
                  <a:srgbClr val="0000FF"/>
                </a:solidFill>
              </a:rPr>
              <a:t>                              //</a:t>
            </a:r>
            <a:r>
              <a:rPr lang="zh-CN" altLang="en-US" sz="1800" dirty="0">
                <a:solidFill>
                  <a:srgbClr val="0000FF"/>
                </a:solidFill>
              </a:rPr>
              <a:t>列出</a:t>
            </a:r>
            <a:r>
              <a:rPr lang="zh-CN" altLang="en-US" sz="1800" dirty="0" smtClean="0">
                <a:solidFill>
                  <a:srgbClr val="0000FF"/>
                </a:solidFill>
              </a:rPr>
              <a:t>当前目录下的文件和目录名</a:t>
            </a:r>
            <a:endParaRPr lang="en-US" altLang="zh-CN" sz="1800" dirty="0">
              <a:solidFill>
                <a:srgbClr val="0000FF"/>
              </a:solidFill>
              <a:ea typeface="黑体" panose="02010609060101010101" pitchFamily="49" charset="-122"/>
            </a:endParaRPr>
          </a:p>
          <a:p>
            <a:pPr>
              <a:lnSpc>
                <a:spcPct val="80000"/>
              </a:lnSpc>
              <a:buNone/>
            </a:pPr>
            <a:r>
              <a:rPr lang="en-US" altLang="zh-CN" sz="1800" dirty="0" smtClean="0">
                <a:solidFill>
                  <a:srgbClr val="0000FF"/>
                </a:solidFill>
              </a:rPr>
              <a:t> </a:t>
            </a:r>
            <a:r>
              <a:rPr lang="en-US" altLang="zh-CN" sz="1800" dirty="0" err="1" smtClean="0">
                <a:solidFill>
                  <a:srgbClr val="0000FF"/>
                </a:solidFill>
              </a:rPr>
              <a:t>ls</a:t>
            </a:r>
            <a:r>
              <a:rPr lang="en-US" altLang="zh-CN" sz="1800" dirty="0" smtClean="0">
                <a:solidFill>
                  <a:srgbClr val="0000FF"/>
                </a:solidFill>
              </a:rPr>
              <a:t>  -l  /root                 //</a:t>
            </a:r>
            <a:r>
              <a:rPr lang="zh-CN" altLang="en-US" sz="1800" dirty="0" smtClean="0">
                <a:solidFill>
                  <a:srgbClr val="0000FF"/>
                </a:solidFill>
              </a:rPr>
              <a:t>使用长格式列出</a:t>
            </a:r>
            <a:r>
              <a:rPr lang="en-US" altLang="zh-CN" sz="1800" dirty="0" smtClean="0">
                <a:solidFill>
                  <a:srgbClr val="0000FF"/>
                </a:solidFill>
              </a:rPr>
              <a:t>/root</a:t>
            </a:r>
            <a:r>
              <a:rPr lang="zh-CN" altLang="en-US" sz="1800" dirty="0" smtClean="0">
                <a:solidFill>
                  <a:srgbClr val="0000FF"/>
                </a:solidFill>
              </a:rPr>
              <a:t>目录</a:t>
            </a:r>
            <a:r>
              <a:rPr lang="zh-CN" altLang="en-US" sz="1800" dirty="0">
                <a:solidFill>
                  <a:srgbClr val="0000FF"/>
                </a:solidFill>
              </a:rPr>
              <a:t>下的文件和目录名</a:t>
            </a:r>
            <a:endParaRPr lang="zh-CN" altLang="en-US" sz="1800" dirty="0">
              <a:solidFill>
                <a:srgbClr val="0000FF"/>
              </a:solidFill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1800" b="1" dirty="0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627534"/>
            <a:ext cx="7669212" cy="520304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CN" sz="2000" dirty="0" err="1" smtClean="0">
                <a:solidFill>
                  <a:schemeClr val="folHlink"/>
                </a:solidFill>
              </a:rPr>
              <a:t>ls</a:t>
            </a:r>
            <a:r>
              <a:rPr lang="en-US" altLang="zh-CN" sz="2000" dirty="0" smtClean="0">
                <a:solidFill>
                  <a:schemeClr val="folHlink"/>
                </a:solidFill>
              </a:rPr>
              <a:t> </a:t>
            </a:r>
            <a:r>
              <a:rPr lang="en-US" altLang="zh-CN" sz="2000" dirty="0" smtClean="0">
                <a:solidFill>
                  <a:schemeClr val="folHlink"/>
                </a:solidFill>
                <a:latin typeface="Arial" panose="020B0604020202020204" pitchFamily="34" charset="0"/>
              </a:rPr>
              <a:t>–</a:t>
            </a:r>
            <a:r>
              <a:rPr lang="en-US" altLang="zh-CN" sz="2000" dirty="0" smtClean="0">
                <a:solidFill>
                  <a:schemeClr val="folHlink"/>
                </a:solidFill>
              </a:rPr>
              <a:t>l </a:t>
            </a:r>
            <a:r>
              <a:rPr lang="zh-CN" altLang="en-US" sz="2000" dirty="0" smtClean="0">
                <a:solidFill>
                  <a:schemeClr val="tx1"/>
                </a:solidFill>
              </a:rPr>
              <a:t>显示的长格式说明：</a:t>
            </a:r>
            <a:endParaRPr lang="zh-CN" altLang="en-US" sz="2000" dirty="0" smtClean="0">
              <a:solidFill>
                <a:schemeClr val="tx1"/>
              </a:solidFill>
            </a:endParaRP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xfrm>
            <a:off x="395536" y="987574"/>
            <a:ext cx="8352928" cy="3456384"/>
          </a:xfrm>
        </p:spPr>
        <p:txBody>
          <a:bodyPr>
            <a:normAutofit/>
          </a:bodyPr>
          <a:lstStyle/>
          <a:p>
            <a:pPr marL="0" indent="0" eaLnBrk="1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1800" dirty="0" smtClean="0"/>
              <a:t>①第</a:t>
            </a:r>
            <a:r>
              <a:rPr lang="en-US" altLang="zh-CN" sz="1800" dirty="0" smtClean="0"/>
              <a:t>1</a:t>
            </a:r>
            <a:r>
              <a:rPr lang="zh-CN" altLang="en-US" sz="1800" dirty="0" smtClean="0"/>
              <a:t>栏为</a:t>
            </a:r>
            <a:r>
              <a:rPr lang="zh-CN" altLang="en-US" sz="1800" u="sng" dirty="0" smtClean="0"/>
              <a:t>文件的类型</a:t>
            </a:r>
            <a:r>
              <a:rPr lang="zh-CN" altLang="en-US" sz="1800" dirty="0" smtClean="0"/>
              <a:t>（</a:t>
            </a:r>
            <a:r>
              <a:rPr lang="en-US" altLang="zh-CN" sz="1800" dirty="0" smtClean="0"/>
              <a:t>1</a:t>
            </a:r>
            <a:r>
              <a:rPr lang="zh-CN" altLang="en-US" sz="1800" dirty="0" smtClean="0"/>
              <a:t>个符号）和用户的存取权限（</a:t>
            </a:r>
            <a:r>
              <a:rPr lang="en-US" altLang="zh-CN" sz="1800" dirty="0" smtClean="0"/>
              <a:t>9</a:t>
            </a:r>
            <a:r>
              <a:rPr lang="zh-CN" altLang="en-US" sz="1800" dirty="0" smtClean="0"/>
              <a:t>个符号），共</a:t>
            </a:r>
            <a:r>
              <a:rPr lang="en-US" altLang="zh-CN" sz="1800" dirty="0" smtClean="0"/>
              <a:t>10</a:t>
            </a:r>
            <a:r>
              <a:rPr lang="zh-CN" altLang="en-US" sz="1800" dirty="0" smtClean="0"/>
              <a:t>个符号。</a:t>
            </a:r>
            <a:endParaRPr lang="zh-CN" altLang="en-US" sz="1800" dirty="0" smtClean="0"/>
          </a:p>
          <a:p>
            <a:pPr marL="0" indent="0" eaLnBrk="1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1800" dirty="0" smtClean="0"/>
              <a:t>②第</a:t>
            </a:r>
            <a:r>
              <a:rPr lang="en-US" altLang="zh-CN" sz="1800" dirty="0" smtClean="0"/>
              <a:t>2</a:t>
            </a:r>
            <a:r>
              <a:rPr lang="zh-CN" altLang="en-US" sz="1800" dirty="0" smtClean="0"/>
              <a:t>栏为该文件的硬链接个数</a:t>
            </a:r>
            <a:endParaRPr lang="zh-CN" altLang="en-US" sz="1800" dirty="0" smtClean="0"/>
          </a:p>
          <a:p>
            <a:pPr marL="0" indent="0" eaLnBrk="1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1800" dirty="0" smtClean="0"/>
              <a:t>③第</a:t>
            </a:r>
            <a:r>
              <a:rPr lang="en-US" altLang="zh-CN" sz="1800" dirty="0" smtClean="0"/>
              <a:t>3</a:t>
            </a:r>
            <a:r>
              <a:rPr lang="zh-CN" altLang="en-US" sz="1800" dirty="0" smtClean="0"/>
              <a:t>栏为文件所有者的用户名</a:t>
            </a:r>
            <a:endParaRPr lang="zh-CN" altLang="en-US" sz="1800" dirty="0" smtClean="0"/>
          </a:p>
          <a:p>
            <a:pPr marL="0" indent="0" eaLnBrk="1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1800" dirty="0" smtClean="0"/>
              <a:t>④第</a:t>
            </a:r>
            <a:r>
              <a:rPr lang="en-US" altLang="zh-CN" sz="1800" dirty="0" smtClean="0"/>
              <a:t>4</a:t>
            </a:r>
            <a:r>
              <a:rPr lang="zh-CN" altLang="en-US" sz="1800" dirty="0" smtClean="0"/>
              <a:t>栏为用户所在的用户组</a:t>
            </a:r>
            <a:endParaRPr lang="zh-CN" altLang="en-US" sz="1800" dirty="0" smtClean="0"/>
          </a:p>
          <a:p>
            <a:pPr marL="0" indent="0" eaLnBrk="1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1800" dirty="0" smtClean="0"/>
              <a:t>⑤第</a:t>
            </a:r>
            <a:r>
              <a:rPr lang="en-US" altLang="zh-CN" sz="1800" dirty="0" smtClean="0"/>
              <a:t>5</a:t>
            </a:r>
            <a:r>
              <a:rPr lang="zh-CN" altLang="en-US" sz="1800" dirty="0" smtClean="0"/>
              <a:t>栏为文件的大小。对于设备文件，显示的是主、次设备号。</a:t>
            </a:r>
            <a:endParaRPr lang="zh-CN" altLang="en-US" sz="1800" dirty="0" smtClean="0"/>
          </a:p>
          <a:p>
            <a:pPr marL="0" indent="0" eaLnBrk="1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1800" dirty="0" smtClean="0"/>
              <a:t>⑥第</a:t>
            </a:r>
            <a:r>
              <a:rPr lang="en-US" altLang="zh-CN" sz="1800" dirty="0" smtClean="0"/>
              <a:t>6</a:t>
            </a:r>
            <a:r>
              <a:rPr lang="zh-CN" altLang="en-US" sz="1800" dirty="0" smtClean="0"/>
              <a:t>栏为创建或最后修改的日期与时间</a:t>
            </a:r>
            <a:endParaRPr lang="zh-CN" altLang="en-US" sz="1800" dirty="0" smtClean="0"/>
          </a:p>
          <a:p>
            <a:pPr marL="0" indent="0" eaLnBrk="1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1800" dirty="0" smtClean="0"/>
              <a:t>⑦第</a:t>
            </a:r>
            <a:r>
              <a:rPr lang="en-US" altLang="zh-CN" sz="1800" dirty="0" smtClean="0"/>
              <a:t>7</a:t>
            </a:r>
            <a:r>
              <a:rPr lang="zh-CN" altLang="en-US" sz="1800" dirty="0" smtClean="0"/>
              <a:t>栏为文件的名称。对于符号链接文件，显示的文件名后面有</a:t>
            </a:r>
            <a:r>
              <a:rPr lang="en-US" altLang="zh-CN" sz="1800" dirty="0" smtClean="0"/>
              <a:t>-&gt;</a:t>
            </a:r>
            <a:r>
              <a:rPr lang="zh-CN" altLang="en-US" sz="1800" dirty="0" smtClean="0"/>
              <a:t>和被链接的文件路径名。</a:t>
            </a:r>
            <a:endParaRPr lang="zh-CN" altLang="en-US" sz="1800" dirty="0" smtClean="0"/>
          </a:p>
        </p:txBody>
      </p:sp>
      <p:sp>
        <p:nvSpPr>
          <p:cNvPr id="26629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87DE9FFC-B44C-4AA7-B02C-28F85A8E6E12}" type="slidenum">
              <a:rPr lang="en-US" altLang="zh-CN" sz="1400" b="0" smtClean="0"/>
            </a:fld>
            <a:endParaRPr lang="en-US" altLang="zh-CN" sz="1400" b="0" smtClean="0"/>
          </a:p>
        </p:txBody>
      </p:sp>
      <p:sp>
        <p:nvSpPr>
          <p:cNvPr id="616452" name="AutoShape 4"/>
          <p:cNvSpPr>
            <a:spLocks noChangeArrowheads="1"/>
          </p:cNvSpPr>
          <p:nvPr/>
        </p:nvSpPr>
        <p:spPr bwMode="auto">
          <a:xfrm>
            <a:off x="5219701" y="141685"/>
            <a:ext cx="3744913" cy="1835944"/>
          </a:xfrm>
          <a:prstGeom prst="wedgeRoundRectCallout">
            <a:avLst>
              <a:gd name="adj1" fmla="val -74162"/>
              <a:gd name="adj2" fmla="val 25486"/>
              <a:gd name="adj3" fmla="val 16667"/>
            </a:avLst>
          </a:prstGeom>
          <a:solidFill>
            <a:srgbClr val="FFFF00"/>
          </a:solidFill>
          <a:ln w="9525">
            <a:noFill/>
            <a:miter lim="800000"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/>
          <a:lstStyle/>
          <a:p>
            <a:pPr eaLnBrk="1" hangingPunct="1">
              <a:defRPr/>
            </a:pPr>
            <a:r>
              <a:rPr lang="zh-CN" altLang="en-US" sz="1400" b="1" u="sng" dirty="0"/>
              <a:t>文件类型符号</a:t>
            </a:r>
            <a:r>
              <a:rPr lang="zh-CN" altLang="en-US" sz="1400" b="1" dirty="0"/>
              <a:t>：</a:t>
            </a:r>
            <a:endParaRPr lang="zh-CN" altLang="en-US" sz="1400" b="1" dirty="0"/>
          </a:p>
          <a:p>
            <a:pPr eaLnBrk="1" hangingPunct="1">
              <a:defRPr/>
            </a:pPr>
            <a:r>
              <a:rPr lang="en-US" altLang="zh-CN" sz="1400" b="1" dirty="0">
                <a:solidFill>
                  <a:schemeClr val="hlink"/>
                </a:solidFill>
              </a:rPr>
              <a:t>d</a:t>
            </a:r>
            <a:r>
              <a:rPr lang="en-US" altLang="zh-CN" sz="1400" b="1" dirty="0"/>
              <a:t>:  </a:t>
            </a:r>
            <a:r>
              <a:rPr lang="zh-CN" altLang="en-US" sz="1400" b="1" dirty="0"/>
              <a:t>目录</a:t>
            </a:r>
            <a:endParaRPr lang="zh-CN" altLang="en-US" sz="1400" b="1" dirty="0"/>
          </a:p>
          <a:p>
            <a:pPr eaLnBrk="1" hangingPunct="1">
              <a:buFontTx/>
              <a:buChar char="-"/>
              <a:defRPr/>
            </a:pPr>
            <a:r>
              <a:rPr lang="zh-CN" altLang="en-US" sz="1400" b="1" dirty="0">
                <a:solidFill>
                  <a:schemeClr val="hlink"/>
                </a:solidFill>
              </a:rPr>
              <a:t> </a:t>
            </a:r>
            <a:r>
              <a:rPr lang="zh-CN" altLang="en-US" sz="1400" b="1" dirty="0"/>
              <a:t>：普通文件</a:t>
            </a:r>
            <a:endParaRPr lang="zh-CN" altLang="en-US" sz="1400" b="1" dirty="0"/>
          </a:p>
          <a:p>
            <a:pPr eaLnBrk="1" hangingPunct="1">
              <a:defRPr/>
            </a:pPr>
            <a:r>
              <a:rPr lang="en-US" altLang="zh-CN" sz="1400" b="1" dirty="0">
                <a:solidFill>
                  <a:schemeClr val="hlink"/>
                </a:solidFill>
              </a:rPr>
              <a:t>l</a:t>
            </a:r>
            <a:r>
              <a:rPr lang="en-US" altLang="zh-CN" sz="1400" b="1" dirty="0"/>
              <a:t> :   </a:t>
            </a:r>
            <a:r>
              <a:rPr lang="zh-CN" altLang="en-US" sz="1400" b="1" dirty="0"/>
              <a:t>软链接文件</a:t>
            </a:r>
            <a:endParaRPr lang="zh-CN" altLang="en-US" sz="1400" b="1" dirty="0"/>
          </a:p>
          <a:p>
            <a:pPr eaLnBrk="1" hangingPunct="1">
              <a:defRPr/>
            </a:pPr>
            <a:r>
              <a:rPr lang="en-US" altLang="zh-CN" sz="1400" b="1" dirty="0">
                <a:solidFill>
                  <a:schemeClr val="hlink"/>
                </a:solidFill>
              </a:rPr>
              <a:t>P</a:t>
            </a:r>
            <a:r>
              <a:rPr lang="en-US" altLang="zh-CN" sz="1400" b="1" dirty="0"/>
              <a:t>:</a:t>
            </a:r>
            <a:r>
              <a:rPr lang="zh-CN" altLang="en-US" sz="1400" b="1" dirty="0"/>
              <a:t>　管道文件</a:t>
            </a:r>
            <a:endParaRPr lang="zh-CN" altLang="en-US" sz="1400" b="1" dirty="0"/>
          </a:p>
          <a:p>
            <a:pPr eaLnBrk="1" hangingPunct="1">
              <a:defRPr/>
            </a:pPr>
            <a:r>
              <a:rPr lang="en-US" altLang="zh-CN" sz="1400" b="1" dirty="0">
                <a:solidFill>
                  <a:schemeClr val="hlink"/>
                </a:solidFill>
              </a:rPr>
              <a:t>b</a:t>
            </a:r>
            <a:r>
              <a:rPr lang="en-US" altLang="zh-CN" sz="1400" b="1" dirty="0"/>
              <a:t>:   </a:t>
            </a:r>
            <a:r>
              <a:rPr lang="zh-CN" altLang="en-US" sz="1400" b="1" dirty="0"/>
              <a:t>块设备文件，如磁盘</a:t>
            </a:r>
            <a:endParaRPr lang="zh-CN" altLang="en-US" sz="1400" b="1" dirty="0"/>
          </a:p>
          <a:p>
            <a:pPr eaLnBrk="1" hangingPunct="1">
              <a:defRPr/>
            </a:pPr>
            <a:r>
              <a:rPr lang="en-US" altLang="zh-CN" sz="1400" b="1" dirty="0">
                <a:solidFill>
                  <a:schemeClr val="hlink"/>
                </a:solidFill>
              </a:rPr>
              <a:t>c</a:t>
            </a:r>
            <a:r>
              <a:rPr lang="en-US" altLang="zh-CN" sz="1400" b="1" dirty="0"/>
              <a:t>:</a:t>
            </a:r>
            <a:r>
              <a:rPr lang="zh-CN" altLang="en-US" sz="1400" b="1" dirty="0"/>
              <a:t>　字符设备文件，如打印机</a:t>
            </a:r>
            <a:endParaRPr lang="zh-CN" altLang="en-US" sz="1400" b="1" dirty="0"/>
          </a:p>
          <a:p>
            <a:pPr eaLnBrk="1" hangingPunct="1">
              <a:defRPr/>
            </a:pPr>
            <a:endParaRPr lang="en-US" altLang="zh-CN" sz="14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616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645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>
          <a:xfrm>
            <a:off x="323528" y="411510"/>
            <a:ext cx="8352928" cy="4320480"/>
          </a:xfrm>
        </p:spPr>
        <p:txBody>
          <a:bodyPr>
            <a:normAutofit/>
          </a:bodyPr>
          <a:lstStyle/>
          <a:p>
            <a:pPr marL="82550" indent="0">
              <a:lnSpc>
                <a:spcPct val="80000"/>
              </a:lnSpc>
              <a:buNone/>
            </a:pPr>
            <a:r>
              <a:rPr lang="en-US" altLang="zh-CN" sz="2000" b="1" dirty="0">
                <a:solidFill>
                  <a:srgbClr val="C00000"/>
                </a:solidFill>
                <a:latin typeface="Arial Black" panose="020B0A04020102020204" pitchFamily="34" charset="0"/>
              </a:rPr>
              <a:t>3</a:t>
            </a:r>
            <a:r>
              <a:rPr lang="en-US" altLang="zh-CN" sz="2000" b="1" dirty="0" smtClean="0">
                <a:solidFill>
                  <a:srgbClr val="C00000"/>
                </a:solidFill>
                <a:latin typeface="Arial Black" panose="020B0A04020102020204" pitchFamily="34" charset="0"/>
              </a:rPr>
              <a:t>.  </a:t>
            </a:r>
            <a:r>
              <a:rPr lang="zh-CN" altLang="en-US" sz="2000" b="1" dirty="0" smtClean="0">
                <a:solidFill>
                  <a:srgbClr val="C00000"/>
                </a:solidFill>
                <a:latin typeface="Arial Black" panose="020B0A04020102020204" pitchFamily="34" charset="0"/>
              </a:rPr>
              <a:t>查看历史</a:t>
            </a:r>
            <a:r>
              <a:rPr lang="zh-CN" altLang="en-US" sz="2000" b="1" dirty="0" smtClean="0">
                <a:solidFill>
                  <a:srgbClr val="C00000"/>
                </a:solidFill>
              </a:rPr>
              <a:t>命令</a:t>
            </a:r>
            <a:r>
              <a:rPr lang="zh-CN" altLang="en-US" sz="2000" b="1" dirty="0" smtClean="0">
                <a:solidFill>
                  <a:srgbClr val="C00000"/>
                </a:solidFill>
                <a:ea typeface="宋体" panose="02010600030101010101" pitchFamily="2" charset="-122"/>
              </a:rPr>
              <a:t>　</a:t>
            </a:r>
            <a:endParaRPr lang="en-US" altLang="zh-CN" sz="2000" b="1" dirty="0" smtClean="0">
              <a:solidFill>
                <a:srgbClr val="C00000"/>
              </a:solidFill>
              <a:ea typeface="宋体" panose="02010600030101010101" pitchFamily="2" charset="-122"/>
            </a:endParaRPr>
          </a:p>
          <a:p>
            <a:pPr marL="82550" indent="0">
              <a:lnSpc>
                <a:spcPct val="80000"/>
              </a:lnSpc>
              <a:buNone/>
            </a:pPr>
            <a:endParaRPr lang="zh-CN" altLang="en-US" sz="2000" b="1" dirty="0" smtClean="0">
              <a:solidFill>
                <a:srgbClr val="C00000"/>
              </a:solidFill>
              <a:ea typeface="宋体" panose="02010600030101010101" pitchFamily="2" charset="-122"/>
            </a:endParaRPr>
          </a:p>
          <a:p>
            <a:pPr marL="82550" indent="0">
              <a:buNone/>
            </a:pPr>
            <a:r>
              <a:rPr lang="zh-CN" altLang="en-US" sz="2000" b="1" dirty="0" smtClean="0">
                <a:ea typeface="宋体" panose="02010600030101010101" pitchFamily="2" charset="-122"/>
              </a:rPr>
              <a:t>　   </a:t>
            </a:r>
            <a:r>
              <a:rPr lang="en-US" altLang="zh-CN" sz="2000" dirty="0" smtClean="0"/>
              <a:t>Shell</a:t>
            </a:r>
            <a:r>
              <a:rPr lang="zh-CN" altLang="en-US" sz="2000" dirty="0"/>
              <a:t>将用户每次输入的命令都记录在命令历史缓冲区中，以便用户可能用到过去用过的命令</a:t>
            </a:r>
            <a:r>
              <a:rPr lang="zh-CN" altLang="en-US" sz="2000" dirty="0" smtClean="0"/>
              <a:t>。</a:t>
            </a:r>
            <a:endParaRPr lang="en-US" altLang="zh-CN" sz="2000" dirty="0" smtClean="0"/>
          </a:p>
          <a:p>
            <a:pPr marL="82550" indent="0">
              <a:buNone/>
            </a:pPr>
            <a:r>
              <a:rPr lang="en-US" altLang="zh-CN" sz="2000" dirty="0"/>
              <a:t> </a:t>
            </a:r>
            <a:r>
              <a:rPr lang="en-US" altLang="zh-CN" sz="2000" dirty="0" smtClean="0"/>
              <a:t>    </a:t>
            </a:r>
            <a:r>
              <a:rPr lang="zh-CN" altLang="en-US" sz="2000" dirty="0" smtClean="0"/>
              <a:t>要</a:t>
            </a:r>
            <a:r>
              <a:rPr lang="zh-CN" altLang="en-US" sz="2000" dirty="0"/>
              <a:t>调出历史缓冲区中保存的命令，可使用两种方法：</a:t>
            </a:r>
            <a:endParaRPr lang="zh-CN" altLang="en-US" sz="2000" dirty="0"/>
          </a:p>
          <a:p>
            <a:pPr marL="82550" indent="0">
              <a:buNone/>
            </a:pPr>
            <a:r>
              <a:rPr lang="zh-CN" altLang="en-US" sz="2000" dirty="0"/>
              <a:t>　　</a:t>
            </a:r>
            <a:endParaRPr lang="en-US" altLang="zh-CN" sz="2000" dirty="0" smtClean="0"/>
          </a:p>
          <a:p>
            <a:pPr marL="82550" indent="0">
              <a:buNone/>
            </a:pPr>
            <a:r>
              <a:rPr lang="en-US" altLang="zh-CN" sz="20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1) </a:t>
            </a:r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使用箭头键</a:t>
            </a:r>
            <a:endParaRPr lang="zh-CN" altLang="en-US" sz="20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82550" indent="0">
              <a:buNone/>
            </a:pP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　　在命令提示符状态下，按向上箭头可回退到上一条命令（在命令提示符后显示上一条命令），若连续按向上箭头则连续回退。 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82550" indent="0">
              <a:buNone/>
            </a:pP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　</a:t>
            </a:r>
            <a:r>
              <a:rPr lang="en-US" altLang="zh-CN" sz="20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2) </a:t>
            </a:r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使用</a:t>
            </a:r>
            <a:r>
              <a:rPr lang="en-US" altLang="zh-CN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history</a:t>
            </a:r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命令</a:t>
            </a:r>
            <a:endParaRPr lang="zh-CN" altLang="en-US" sz="20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82550" indent="0">
              <a:buNone/>
            </a:pP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　　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history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命令将显示用户执行过的全部命令</a:t>
            </a:r>
            <a:r>
              <a:rPr lang="zh-CN" altLang="en-US" sz="2000" dirty="0"/>
              <a:t>。 </a:t>
            </a:r>
            <a:endParaRPr lang="zh-CN" altLang="en-US" sz="2000" dirty="0"/>
          </a:p>
          <a:p>
            <a:pPr marL="82550" indent="0">
              <a:lnSpc>
                <a:spcPct val="90000"/>
              </a:lnSpc>
              <a:buNone/>
            </a:pPr>
            <a:endParaRPr lang="zh-CN" altLang="en-US" sz="2400" b="1" dirty="0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>
          <a:xfrm>
            <a:off x="251520" y="771550"/>
            <a:ext cx="8289850" cy="2520280"/>
          </a:xfrm>
        </p:spPr>
        <p:txBody>
          <a:bodyPr>
            <a:normAutofit/>
          </a:bodyPr>
          <a:lstStyle/>
          <a:p>
            <a:pPr marL="82550" indent="0">
              <a:lnSpc>
                <a:spcPct val="80000"/>
              </a:lnSpc>
              <a:buNone/>
            </a:pPr>
            <a:r>
              <a:rPr lang="en-US" altLang="zh-CN" sz="2000" b="1" dirty="0" smtClean="0">
                <a:solidFill>
                  <a:srgbClr val="C00000"/>
                </a:solidFill>
                <a:latin typeface="Arial Black" panose="020B0A04020102020204" pitchFamily="34" charset="0"/>
              </a:rPr>
              <a:t>4.  </a:t>
            </a:r>
            <a:r>
              <a:rPr lang="zh-CN" altLang="en-US" sz="2000" b="1" dirty="0" smtClean="0">
                <a:solidFill>
                  <a:srgbClr val="C00000"/>
                </a:solidFill>
                <a:latin typeface="Arial Black" panose="020B0A04020102020204" pitchFamily="34" charset="0"/>
              </a:rPr>
              <a:t>命令补全</a:t>
            </a:r>
            <a:r>
              <a:rPr lang="zh-CN" altLang="en-US" sz="2000" b="1" dirty="0" smtClean="0">
                <a:solidFill>
                  <a:srgbClr val="C00000"/>
                </a:solidFill>
                <a:ea typeface="宋体" panose="02010600030101010101" pitchFamily="2" charset="-122"/>
              </a:rPr>
              <a:t>　</a:t>
            </a:r>
            <a:endParaRPr lang="en-US" altLang="zh-CN" sz="2000" b="1" dirty="0" smtClean="0">
              <a:solidFill>
                <a:srgbClr val="C00000"/>
              </a:solidFill>
              <a:ea typeface="宋体" panose="02010600030101010101" pitchFamily="2" charset="-122"/>
            </a:endParaRPr>
          </a:p>
          <a:p>
            <a:pPr marL="82550" indent="0">
              <a:buNone/>
            </a:pPr>
            <a:r>
              <a:rPr lang="zh-CN" altLang="en-US" sz="2000" dirty="0"/>
              <a:t>　　</a:t>
            </a:r>
            <a:endParaRPr lang="en-US" altLang="zh-CN" sz="2000" dirty="0" smtClean="0"/>
          </a:p>
          <a:p>
            <a:pPr marL="82550" indent="0" algn="just">
              <a:buNone/>
            </a:pPr>
            <a:r>
              <a:rPr lang="zh-CN" altLang="en-US" sz="2000" dirty="0" smtClean="0"/>
              <a:t>    对于</a:t>
            </a:r>
            <a:r>
              <a:rPr lang="zh-CN" altLang="en-US" sz="2000" dirty="0"/>
              <a:t>能唯一确定的命令，输入该命令的前若干字符。然后按下键盘上的</a:t>
            </a:r>
            <a:r>
              <a:rPr lang="en-US" altLang="zh-CN" sz="2000" b="1" dirty="0">
                <a:solidFill>
                  <a:srgbClr val="FF0000"/>
                </a:solidFill>
              </a:rPr>
              <a:t>Tab</a:t>
            </a:r>
            <a:r>
              <a:rPr lang="zh-CN" altLang="en-US" sz="2000" b="1" dirty="0">
                <a:solidFill>
                  <a:srgbClr val="FF0000"/>
                </a:solidFill>
              </a:rPr>
              <a:t>键</a:t>
            </a:r>
            <a:r>
              <a:rPr lang="zh-CN" altLang="en-US" sz="2000" dirty="0"/>
              <a:t>，就可以自动补全该命令的剩余部分。</a:t>
            </a:r>
            <a:endParaRPr lang="zh-CN" altLang="en-US" sz="2000" dirty="0"/>
          </a:p>
          <a:p>
            <a:pPr marL="82550" indent="0" algn="just">
              <a:buNone/>
            </a:pPr>
            <a:endParaRPr lang="zh-CN" altLang="en-US" sz="2000" dirty="0"/>
          </a:p>
          <a:p>
            <a:pPr marL="82550" indent="0" algn="just">
              <a:buNone/>
            </a:pPr>
            <a:r>
              <a:rPr lang="en-US" altLang="zh-CN" sz="2000" dirty="0">
                <a:solidFill>
                  <a:srgbClr val="CC0099"/>
                </a:solidFill>
              </a:rPr>
              <a:t>【</a:t>
            </a:r>
            <a:r>
              <a:rPr lang="zh-CN" altLang="en-US" sz="2000" dirty="0" smtClean="0">
                <a:solidFill>
                  <a:srgbClr val="CC0099"/>
                </a:solidFill>
              </a:rPr>
              <a:t>例</a:t>
            </a:r>
            <a:r>
              <a:rPr lang="en-US" altLang="zh-CN" sz="2000" dirty="0" smtClean="0">
                <a:solidFill>
                  <a:srgbClr val="CC0099"/>
                </a:solidFill>
              </a:rPr>
              <a:t>】</a:t>
            </a:r>
            <a:r>
              <a:rPr lang="zh-CN" altLang="en-US" sz="2000" dirty="0"/>
              <a:t>要输入</a:t>
            </a:r>
            <a:r>
              <a:rPr lang="en-US" altLang="zh-CN" sz="2000" dirty="0"/>
              <a:t>hostname</a:t>
            </a:r>
            <a:r>
              <a:rPr lang="zh-CN" altLang="en-US" sz="2000" dirty="0"/>
              <a:t>命令来查看当前主机的名称，可以输入</a:t>
            </a:r>
            <a:r>
              <a:rPr lang="en-US" altLang="zh-CN" sz="2000" dirty="0" err="1">
                <a:solidFill>
                  <a:schemeClr val="folHlink"/>
                </a:solidFill>
              </a:rPr>
              <a:t>hostn</a:t>
            </a:r>
            <a:r>
              <a:rPr lang="zh-CN" altLang="en-US" sz="2000" dirty="0"/>
              <a:t>后按下</a:t>
            </a:r>
            <a:r>
              <a:rPr lang="en-US" altLang="zh-CN" sz="2000" dirty="0"/>
              <a:t>Tab</a:t>
            </a:r>
            <a:r>
              <a:rPr lang="zh-CN" altLang="en-US" sz="2000" dirty="0"/>
              <a:t>键，这时</a:t>
            </a:r>
            <a:r>
              <a:rPr lang="en-US" altLang="zh-CN" sz="2000" dirty="0"/>
              <a:t>Shell</a:t>
            </a:r>
            <a:r>
              <a:rPr lang="zh-CN" altLang="en-US" sz="2000" dirty="0"/>
              <a:t>会自动在后面补全为</a:t>
            </a:r>
            <a:r>
              <a:rPr lang="en-US" altLang="zh-CN" sz="2000" dirty="0"/>
              <a:t>hostname</a:t>
            </a:r>
            <a:r>
              <a:rPr lang="zh-CN" altLang="en-US" sz="2000" dirty="0"/>
              <a:t>。</a:t>
            </a:r>
            <a:endParaRPr lang="zh-CN" altLang="en-US" sz="2000" dirty="0"/>
          </a:p>
          <a:p>
            <a:pPr marL="82550" indent="0">
              <a:buNone/>
            </a:pPr>
            <a:endParaRPr lang="zh-CN" altLang="en-US" sz="2000" dirty="0"/>
          </a:p>
          <a:p>
            <a:pPr marL="82550" indent="0">
              <a:lnSpc>
                <a:spcPct val="90000"/>
              </a:lnSpc>
              <a:buNone/>
            </a:pPr>
            <a:endParaRPr lang="zh-CN" altLang="en-US" sz="2400" b="1" dirty="0" smtClean="0"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23528" y="3363838"/>
            <a:ext cx="7848872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39750" indent="-457200">
              <a:lnSpc>
                <a:spcPct val="80000"/>
              </a:lnSpc>
              <a:buAutoNum type="arabicPeriod" startAt="5"/>
            </a:pPr>
            <a:r>
              <a:rPr lang="en-US" altLang="zh-CN" sz="2000" b="1" dirty="0" err="1" smtClean="0">
                <a:solidFill>
                  <a:srgbClr val="C00000"/>
                </a:solidFill>
                <a:latin typeface="Arial Black" panose="020B0A04020102020204" pitchFamily="34" charset="0"/>
              </a:rPr>
              <a:t>pwd</a:t>
            </a:r>
            <a:r>
              <a:rPr lang="zh-CN" altLang="en-US" sz="2000" b="1" dirty="0">
                <a:solidFill>
                  <a:srgbClr val="C00000"/>
                </a:solidFill>
                <a:ea typeface="宋体" panose="02010600030101010101" pitchFamily="2" charset="-122"/>
              </a:rPr>
              <a:t>　</a:t>
            </a:r>
            <a:endParaRPr lang="en-US" altLang="zh-CN" sz="2000" b="1" dirty="0" smtClean="0">
              <a:solidFill>
                <a:srgbClr val="C00000"/>
              </a:solidFill>
              <a:ea typeface="宋体" panose="02010600030101010101" pitchFamily="2" charset="-122"/>
            </a:endParaRPr>
          </a:p>
          <a:p>
            <a:pPr marL="82550">
              <a:lnSpc>
                <a:spcPct val="80000"/>
              </a:lnSpc>
            </a:pPr>
            <a:endParaRPr lang="en-US" altLang="zh-CN" sz="2000" b="1" dirty="0">
              <a:solidFill>
                <a:srgbClr val="C00000"/>
              </a:solidFill>
              <a:ea typeface="宋体" panose="02010600030101010101" pitchFamily="2" charset="-122"/>
            </a:endParaRPr>
          </a:p>
          <a:p>
            <a:pPr marL="82550" indent="0">
              <a:buNone/>
            </a:pPr>
            <a:r>
              <a:rPr lang="zh-CN" altLang="en-US" sz="2000" dirty="0"/>
              <a:t>　　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功能：</a:t>
            </a:r>
            <a:r>
              <a:rPr lang="zh-CN" altLang="da-DK" sz="2000" dirty="0"/>
              <a:t>　</a:t>
            </a:r>
            <a:r>
              <a:rPr lang="zh-CN" altLang="en-US" sz="2000" b="1" dirty="0"/>
              <a:t>查看当前目录的绝对路径</a:t>
            </a:r>
            <a:r>
              <a:rPr lang="zh-CN" altLang="da-DK" sz="2000" b="1" dirty="0"/>
              <a:t>。</a:t>
            </a:r>
            <a:endParaRPr lang="zh-CN" altLang="da-DK" sz="20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>
          <a:xfrm>
            <a:off x="395536" y="411510"/>
            <a:ext cx="8289850" cy="4320480"/>
          </a:xfrm>
        </p:spPr>
        <p:txBody>
          <a:bodyPr>
            <a:normAutofit/>
          </a:bodyPr>
          <a:lstStyle/>
          <a:p>
            <a:pPr marL="82550" indent="0">
              <a:lnSpc>
                <a:spcPct val="80000"/>
              </a:lnSpc>
              <a:buNone/>
            </a:pPr>
            <a:r>
              <a:rPr lang="en-US" altLang="zh-CN" sz="2000" b="1" dirty="0" smtClean="0">
                <a:solidFill>
                  <a:srgbClr val="C00000"/>
                </a:solidFill>
                <a:latin typeface="Arial Black" panose="020B0A04020102020204" pitchFamily="34" charset="0"/>
              </a:rPr>
              <a:t>6.  </a:t>
            </a:r>
            <a:r>
              <a:rPr lang="zh-CN" altLang="en-US" sz="2000" b="1" dirty="0" smtClean="0">
                <a:solidFill>
                  <a:srgbClr val="C00000"/>
                </a:solidFill>
                <a:latin typeface="Arial Black" panose="020B0A04020102020204" pitchFamily="34" charset="0"/>
              </a:rPr>
              <a:t>获得帮助</a:t>
            </a:r>
            <a:r>
              <a:rPr lang="zh-CN" altLang="en-US" sz="2000" b="1" dirty="0" smtClean="0">
                <a:solidFill>
                  <a:srgbClr val="C00000"/>
                </a:solidFill>
                <a:ea typeface="宋体" panose="02010600030101010101" pitchFamily="2" charset="-122"/>
              </a:rPr>
              <a:t>　</a:t>
            </a:r>
            <a:endParaRPr lang="en-US" altLang="zh-CN" sz="2000" b="1" dirty="0" smtClean="0">
              <a:solidFill>
                <a:srgbClr val="C00000"/>
              </a:solidFill>
              <a:ea typeface="宋体" panose="02010600030101010101" pitchFamily="2" charset="-122"/>
            </a:endParaRPr>
          </a:p>
          <a:p>
            <a:pPr marL="82550" indent="0">
              <a:buNone/>
            </a:pPr>
            <a:r>
              <a:rPr lang="zh-CN" altLang="en-US" sz="2000" dirty="0"/>
              <a:t>　　</a:t>
            </a:r>
            <a:endParaRPr lang="en-US" altLang="zh-CN" sz="2000" dirty="0" smtClean="0"/>
          </a:p>
          <a:p>
            <a:pPr marL="82550" indent="0">
              <a:buNone/>
            </a:pPr>
            <a:r>
              <a:rPr lang="en-US" altLang="zh-CN" sz="20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(1) --help</a:t>
            </a:r>
            <a:endParaRPr lang="en-US" altLang="zh-CN" sz="2000" b="1" dirty="0" smtClean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82550" indent="0">
              <a:buNone/>
            </a:pP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　　</a:t>
            </a:r>
            <a:r>
              <a:rPr lang="zh-CN" altLang="da-DK" sz="2000" dirty="0"/>
              <a:t> </a:t>
            </a:r>
            <a:r>
              <a:rPr lang="da-DK" altLang="zh-CN" sz="2000" dirty="0"/>
              <a:t>$</a:t>
            </a:r>
            <a:r>
              <a:rPr lang="zh-CN" altLang="da-DK" sz="2000" dirty="0"/>
              <a:t> </a:t>
            </a:r>
            <a:r>
              <a:rPr lang="da-DK" altLang="zh-CN" sz="2000" dirty="0">
                <a:solidFill>
                  <a:schemeClr val="folHlink"/>
                </a:solidFill>
              </a:rPr>
              <a:t>cat  --help</a:t>
            </a:r>
            <a:endParaRPr lang="da-DK" altLang="zh-CN" sz="2000" dirty="0">
              <a:solidFill>
                <a:schemeClr val="folHlink"/>
              </a:solidFill>
            </a:endParaRPr>
          </a:p>
          <a:p>
            <a:pPr marL="82550" indent="0">
              <a:buNone/>
            </a:pPr>
            <a:r>
              <a:rPr lang="zh-CN" altLang="da-DK" sz="2000" dirty="0"/>
              <a:t>   　可以获得</a:t>
            </a:r>
            <a:r>
              <a:rPr lang="da-DK" altLang="zh-CN" sz="2000" dirty="0"/>
              <a:t>cat</a:t>
            </a:r>
            <a:r>
              <a:rPr lang="zh-CN" altLang="da-DK" sz="2000" dirty="0"/>
              <a:t>命令的帮助信息。</a:t>
            </a:r>
            <a:endParaRPr lang="zh-CN" altLang="da-DK" sz="2000" dirty="0"/>
          </a:p>
          <a:p>
            <a:pPr marL="82550" indent="0">
              <a:buNone/>
            </a:pPr>
            <a:endParaRPr lang="en-US" altLang="zh-CN" sz="20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82550" indent="0">
              <a:buNone/>
            </a:pPr>
            <a:r>
              <a:rPr lang="en-US" altLang="zh-CN" sz="20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2) </a:t>
            </a:r>
            <a:r>
              <a:rPr lang="zh-CN" altLang="en-US" sz="20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使用</a:t>
            </a:r>
            <a:r>
              <a:rPr lang="en-US" altLang="zh-CN" sz="20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man</a:t>
            </a:r>
            <a:r>
              <a:rPr lang="zh-CN" altLang="en-US" sz="20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命令</a:t>
            </a:r>
            <a:endParaRPr lang="zh-CN" altLang="en-US" sz="20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82550" indent="0">
              <a:buNone/>
            </a:pP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　　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history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命令将显示用户执行过的全部命令</a:t>
            </a:r>
            <a:r>
              <a:rPr lang="zh-CN" altLang="en-US" sz="2000" dirty="0"/>
              <a:t>。 </a:t>
            </a:r>
            <a:endParaRPr lang="en-US" altLang="zh-CN" sz="2000" dirty="0" smtClean="0"/>
          </a:p>
          <a:p>
            <a:pPr marL="82550" indent="0">
              <a:buNone/>
            </a:pPr>
            <a:r>
              <a:rPr lang="zh-CN" altLang="en-US" sz="2000" dirty="0"/>
              <a:t>只要将需要查询的命令名作为</a:t>
            </a:r>
            <a:r>
              <a:rPr lang="en-US" altLang="zh-CN" sz="2000" dirty="0"/>
              <a:t>man</a:t>
            </a:r>
            <a:r>
              <a:rPr lang="zh-CN" altLang="en-US" sz="2000" dirty="0"/>
              <a:t>命令的参数即</a:t>
            </a:r>
            <a:r>
              <a:rPr lang="zh-CN" altLang="en-US" sz="2000" dirty="0" smtClean="0"/>
              <a:t>可，如：</a:t>
            </a:r>
            <a:endParaRPr lang="zh-CN" altLang="en-US" sz="2000" dirty="0"/>
          </a:p>
          <a:p>
            <a:pPr marL="82550" indent="0">
              <a:buNone/>
            </a:pPr>
            <a:r>
              <a:rPr lang="zh-CN" altLang="en-US" sz="2000" dirty="0"/>
              <a:t>　　　</a:t>
            </a:r>
            <a:r>
              <a:rPr lang="en-US" altLang="zh-CN" sz="2000" dirty="0"/>
              <a:t>$</a:t>
            </a:r>
            <a:r>
              <a:rPr lang="en-US" altLang="zh-CN" sz="2000" dirty="0">
                <a:solidFill>
                  <a:schemeClr val="folHlink"/>
                </a:solidFill>
              </a:rPr>
              <a:t>man  cat</a:t>
            </a:r>
            <a:endParaRPr lang="en-US" altLang="zh-CN" sz="2000" dirty="0">
              <a:solidFill>
                <a:schemeClr val="folHlink"/>
              </a:solidFill>
            </a:endParaRPr>
          </a:p>
          <a:p>
            <a:pPr marL="82550" indent="0">
              <a:buNone/>
            </a:pPr>
            <a:endParaRPr lang="zh-CN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99592" y="411510"/>
            <a:ext cx="7498080" cy="4392538"/>
          </a:xfrm>
        </p:spPr>
        <p:txBody>
          <a:bodyPr>
            <a:normAutofit/>
          </a:bodyPr>
          <a:lstStyle/>
          <a:p>
            <a:pPr marL="82550" indent="0">
              <a:buNone/>
            </a:pPr>
            <a:r>
              <a:rPr lang="zh-CN" altLang="en-US" sz="2000" dirty="0" smtClean="0"/>
              <a:t>练习一     文本基本操作练习</a:t>
            </a:r>
            <a:endParaRPr lang="en-US" altLang="zh-CN" sz="2000" dirty="0" smtClean="0"/>
          </a:p>
          <a:p>
            <a:pPr marL="82550" indent="0">
              <a:buNone/>
            </a:pPr>
            <a:r>
              <a:rPr lang="zh-CN" altLang="en-US" sz="2000" dirty="0" smtClean="0"/>
              <a:t>一、</a:t>
            </a:r>
            <a:r>
              <a:rPr lang="zh-CN" altLang="zh-CN" sz="2000" dirty="0" smtClean="0"/>
              <a:t>以</a:t>
            </a:r>
            <a:r>
              <a:rPr lang="en-US" altLang="zh-CN" sz="2000" dirty="0" smtClean="0"/>
              <a:t>root</a:t>
            </a:r>
            <a:r>
              <a:rPr lang="zh-CN" altLang="zh-CN" sz="2000" dirty="0" smtClean="0"/>
              <a:t>用户名</a:t>
            </a:r>
            <a:r>
              <a:rPr lang="zh-CN" altLang="zh-CN" sz="2000" dirty="0"/>
              <a:t>登录</a:t>
            </a:r>
            <a:r>
              <a:rPr lang="en-US" altLang="zh-CN" sz="2000" dirty="0" err="1"/>
              <a:t>linux</a:t>
            </a:r>
            <a:r>
              <a:rPr lang="zh-CN" altLang="zh-CN" sz="2000" dirty="0"/>
              <a:t>系统，进行以下操作：</a:t>
            </a:r>
            <a:endParaRPr lang="zh-CN" altLang="zh-CN" sz="2000" dirty="0"/>
          </a:p>
          <a:p>
            <a:pPr marL="82550" indent="0">
              <a:buNone/>
            </a:pPr>
            <a:r>
              <a:rPr lang="zh-CN" altLang="zh-CN" sz="2000" dirty="0"/>
              <a:t>（</a:t>
            </a:r>
            <a:r>
              <a:rPr lang="en-US" altLang="zh-CN" sz="2000" dirty="0"/>
              <a:t>1</a:t>
            </a:r>
            <a:r>
              <a:rPr lang="zh-CN" altLang="zh-CN" sz="2000" dirty="0" smtClean="0"/>
              <a:t>）查看</a:t>
            </a:r>
            <a:r>
              <a:rPr lang="zh-CN" altLang="zh-CN" sz="2000" dirty="0"/>
              <a:t>当前目录的绝对路径；</a:t>
            </a:r>
            <a:r>
              <a:rPr lang="en-US" altLang="zh-CN" sz="2000" dirty="0"/>
              <a:t> </a:t>
            </a:r>
            <a:endParaRPr lang="en-US" altLang="zh-CN" sz="2000" dirty="0" smtClean="0"/>
          </a:p>
          <a:p>
            <a:pPr marL="82550" indent="0">
              <a:buNone/>
            </a:pPr>
            <a:r>
              <a:rPr lang="en-US" altLang="zh-CN" sz="2000" dirty="0"/>
              <a:t> </a:t>
            </a:r>
            <a:r>
              <a:rPr lang="en-US" altLang="zh-CN" sz="2000" dirty="0" smtClean="0"/>
              <a:t>        </a:t>
            </a:r>
            <a:r>
              <a:rPr lang="zh-CN" altLang="en-US" sz="2000" dirty="0" smtClean="0"/>
              <a:t>使用长格式查看</a:t>
            </a:r>
            <a:r>
              <a:rPr lang="zh-CN" altLang="en-US" sz="2000" dirty="0"/>
              <a:t>目录下有哪些文件和子目录；</a:t>
            </a:r>
            <a:endParaRPr lang="zh-CN" altLang="zh-CN" sz="2000" dirty="0"/>
          </a:p>
          <a:p>
            <a:pPr marL="82550" indent="0">
              <a:buNone/>
            </a:pPr>
            <a:r>
              <a:rPr lang="zh-CN" altLang="zh-CN" sz="2000" dirty="0"/>
              <a:t>（</a:t>
            </a:r>
            <a:r>
              <a:rPr lang="en-US" altLang="zh-CN" sz="2000" dirty="0"/>
              <a:t>2</a:t>
            </a:r>
            <a:r>
              <a:rPr lang="zh-CN" altLang="zh-CN" sz="2000" dirty="0" smtClean="0"/>
              <a:t>）进入</a:t>
            </a:r>
            <a:r>
              <a:rPr lang="zh-CN" altLang="zh-CN" sz="2000" dirty="0"/>
              <a:t>根目录</a:t>
            </a:r>
            <a:r>
              <a:rPr lang="zh-CN" altLang="zh-CN" sz="2000" dirty="0" smtClean="0"/>
              <a:t>；</a:t>
            </a:r>
            <a:endParaRPr lang="en-US" altLang="zh-CN" sz="2000" dirty="0" smtClean="0"/>
          </a:p>
          <a:p>
            <a:pPr marL="82550" indent="0">
              <a:buNone/>
            </a:pPr>
            <a:r>
              <a:rPr lang="en-US" altLang="zh-CN" sz="2000" dirty="0"/>
              <a:t> </a:t>
            </a:r>
            <a:r>
              <a:rPr lang="en-US" altLang="zh-CN" sz="2000" dirty="0" smtClean="0"/>
              <a:t>        </a:t>
            </a:r>
            <a:r>
              <a:rPr lang="zh-CN" altLang="en-US" sz="2000" dirty="0" smtClean="0"/>
              <a:t>查看目录下有哪些文件和子目录；</a:t>
            </a:r>
            <a:endParaRPr lang="zh-CN" altLang="zh-CN" sz="2000" dirty="0"/>
          </a:p>
          <a:p>
            <a:pPr marL="82550" indent="0">
              <a:buNone/>
            </a:pPr>
            <a:r>
              <a:rPr lang="zh-CN" altLang="zh-CN" sz="2000" dirty="0"/>
              <a:t>（</a:t>
            </a:r>
            <a:r>
              <a:rPr lang="en-US" altLang="zh-CN" sz="2000" dirty="0"/>
              <a:t>3</a:t>
            </a:r>
            <a:r>
              <a:rPr lang="zh-CN" altLang="zh-CN" sz="2000" dirty="0" smtClean="0"/>
              <a:t>）进入</a:t>
            </a:r>
            <a:r>
              <a:rPr lang="zh-CN" altLang="zh-CN" sz="2000" dirty="0"/>
              <a:t>根目录下的</a:t>
            </a:r>
            <a:r>
              <a:rPr lang="en-US" altLang="zh-CN" sz="2000" dirty="0" err="1"/>
              <a:t>etc</a:t>
            </a:r>
            <a:r>
              <a:rPr lang="zh-CN" altLang="zh-CN" sz="2000" dirty="0"/>
              <a:t>目录；</a:t>
            </a:r>
            <a:endParaRPr lang="zh-CN" altLang="zh-CN" sz="2000" dirty="0"/>
          </a:p>
          <a:p>
            <a:pPr marL="82550" indent="0">
              <a:buNone/>
            </a:pPr>
            <a:r>
              <a:rPr lang="zh-CN" altLang="zh-CN" sz="2000" dirty="0"/>
              <a:t>（</a:t>
            </a:r>
            <a:r>
              <a:rPr lang="en-US" altLang="zh-CN" sz="2000" dirty="0"/>
              <a:t>4</a:t>
            </a:r>
            <a:r>
              <a:rPr lang="zh-CN" altLang="zh-CN" sz="2000" dirty="0" smtClean="0"/>
              <a:t>）返回</a:t>
            </a:r>
            <a:r>
              <a:rPr lang="zh-CN" altLang="zh-CN" sz="2000" dirty="0"/>
              <a:t>用户自己的主目录；</a:t>
            </a:r>
            <a:endParaRPr lang="zh-CN" altLang="zh-CN" sz="2000" dirty="0"/>
          </a:p>
          <a:p>
            <a:pPr marL="82550" indent="0">
              <a:buNone/>
            </a:pPr>
            <a:r>
              <a:rPr lang="zh-CN" altLang="zh-CN" sz="2000" dirty="0"/>
              <a:t>（</a:t>
            </a:r>
            <a:r>
              <a:rPr lang="en-US" altLang="zh-CN" sz="2000" dirty="0"/>
              <a:t>5</a:t>
            </a:r>
            <a:r>
              <a:rPr lang="zh-CN" altLang="zh-CN" sz="2000" dirty="0" smtClean="0"/>
              <a:t>）返回</a:t>
            </a:r>
            <a:r>
              <a:rPr lang="zh-CN" altLang="zh-CN" sz="2000" dirty="0"/>
              <a:t>当前目录的上一级目录</a:t>
            </a:r>
            <a:r>
              <a:rPr lang="zh-CN" altLang="zh-CN" sz="2000" dirty="0" smtClean="0"/>
              <a:t>；</a:t>
            </a:r>
            <a:endParaRPr lang="zh-CN" altLang="zh-CN" sz="2000" dirty="0"/>
          </a:p>
          <a:p>
            <a:pPr marL="82550" indent="0">
              <a:buNone/>
            </a:pPr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536" y="555526"/>
            <a:ext cx="8496944" cy="3600450"/>
          </a:xfrm>
        </p:spPr>
        <p:txBody>
          <a:bodyPr>
            <a:normAutofit lnSpcReduction="10000"/>
          </a:bodyPr>
          <a:lstStyle/>
          <a:p>
            <a:pPr marL="82550" indent="0">
              <a:buNone/>
            </a:pPr>
            <a:r>
              <a:rPr lang="zh-CN" altLang="en-US" sz="2000" dirty="0"/>
              <a:t>二</a:t>
            </a:r>
            <a:r>
              <a:rPr lang="zh-CN" altLang="en-US" sz="2000" dirty="0" smtClean="0"/>
              <a:t>、</a:t>
            </a:r>
            <a:endParaRPr lang="en-US" altLang="zh-CN" sz="2000" dirty="0" smtClean="0"/>
          </a:p>
          <a:p>
            <a:pPr marL="82550" indent="0">
              <a:buNone/>
            </a:pPr>
            <a:r>
              <a:rPr lang="zh-CN" altLang="en-US" sz="2000" dirty="0" smtClean="0"/>
              <a:t>（</a:t>
            </a:r>
            <a:r>
              <a:rPr lang="en-US" altLang="zh-CN" sz="2000" dirty="0"/>
              <a:t>1</a:t>
            </a:r>
            <a:r>
              <a:rPr lang="zh-CN" altLang="en-US" sz="2000" dirty="0"/>
              <a:t>）查看</a:t>
            </a:r>
            <a:r>
              <a:rPr lang="zh-CN" altLang="en-US" sz="2000" dirty="0" smtClean="0"/>
              <a:t>当前的路径名；</a:t>
            </a:r>
            <a:endParaRPr lang="en-US" altLang="zh-CN" sz="2000" dirty="0"/>
          </a:p>
          <a:p>
            <a:pPr marL="82550" lvl="0" indent="0">
              <a:buNone/>
            </a:pPr>
            <a:r>
              <a:rPr lang="zh-CN" altLang="en-US" sz="2000" dirty="0"/>
              <a:t>（</a:t>
            </a:r>
            <a:r>
              <a:rPr lang="en-US" altLang="zh-CN" sz="2000" dirty="0"/>
              <a:t>2</a:t>
            </a:r>
            <a:r>
              <a:rPr lang="zh-CN" altLang="en-US" sz="2000" dirty="0"/>
              <a:t>）</a:t>
            </a:r>
            <a:r>
              <a:rPr lang="en-US" altLang="zh-CN" sz="2000" dirty="0"/>
              <a:t>Shell</a:t>
            </a:r>
            <a:r>
              <a:rPr lang="zh-CN" altLang="zh-CN" sz="2000" dirty="0"/>
              <a:t>命令自动补全功能的使用（</a:t>
            </a:r>
            <a:r>
              <a:rPr lang="en-US" altLang="zh-CN" sz="2000" dirty="0"/>
              <a:t>TAB</a:t>
            </a:r>
            <a:r>
              <a:rPr lang="zh-CN" altLang="zh-CN" sz="2000" dirty="0"/>
              <a:t>键的使用）。</a:t>
            </a:r>
            <a:endParaRPr lang="zh-CN" altLang="zh-CN" sz="2000" dirty="0"/>
          </a:p>
          <a:p>
            <a:pPr marL="82550" lvl="0" indent="0">
              <a:buNone/>
            </a:pPr>
            <a:r>
              <a:rPr lang="zh-CN" altLang="zh-CN" sz="2000" dirty="0"/>
              <a:t>输入</a:t>
            </a:r>
            <a:r>
              <a:rPr lang="en-US" altLang="zh-CN" sz="2000" dirty="0"/>
              <a:t>host</a:t>
            </a:r>
            <a:r>
              <a:rPr lang="zh-CN" altLang="zh-CN" sz="2000" dirty="0"/>
              <a:t>查看当前有哪些命令</a:t>
            </a:r>
            <a:endParaRPr lang="zh-CN" altLang="zh-CN" sz="2000" dirty="0"/>
          </a:p>
          <a:p>
            <a:pPr marL="82550" lvl="0" indent="0">
              <a:buNone/>
            </a:pPr>
            <a:r>
              <a:rPr lang="zh-CN" altLang="zh-CN" sz="2000" dirty="0"/>
              <a:t>使用</a:t>
            </a:r>
            <a:r>
              <a:rPr lang="en-US" altLang="zh-CN" sz="2000" dirty="0"/>
              <a:t>tab</a:t>
            </a:r>
            <a:r>
              <a:rPr lang="zh-CN" altLang="zh-CN" sz="2000" dirty="0"/>
              <a:t>键选择</a:t>
            </a:r>
            <a:r>
              <a:rPr lang="en-US" altLang="zh-CN" sz="2000" dirty="0"/>
              <a:t>hostname</a:t>
            </a:r>
            <a:r>
              <a:rPr lang="zh-CN" altLang="zh-CN" sz="2000" dirty="0"/>
              <a:t>命令运行；</a:t>
            </a:r>
            <a:endParaRPr lang="zh-CN" altLang="zh-CN" sz="2000" dirty="0"/>
          </a:p>
          <a:p>
            <a:pPr marL="82550" indent="0">
              <a:buNone/>
            </a:pPr>
            <a:r>
              <a:rPr lang="en-US" altLang="zh-CN" sz="2000" dirty="0"/>
              <a:t> </a:t>
            </a:r>
            <a:r>
              <a:rPr lang="zh-CN" altLang="en-US" sz="2000" dirty="0" smtClean="0"/>
              <a:t>（</a:t>
            </a:r>
            <a:r>
              <a:rPr lang="en-US" altLang="zh-CN" sz="2000" dirty="0" smtClean="0"/>
              <a:t>3</a:t>
            </a:r>
            <a:r>
              <a:rPr lang="zh-CN" altLang="en-US" sz="2000" dirty="0" smtClean="0"/>
              <a:t>）</a:t>
            </a:r>
            <a:r>
              <a:rPr lang="en-US" altLang="zh-CN" sz="2000" dirty="0" smtClean="0"/>
              <a:t>Shell</a:t>
            </a:r>
            <a:r>
              <a:rPr lang="zh-CN" altLang="zh-CN" sz="2000" dirty="0"/>
              <a:t>历史命令的使用（箭头键、</a:t>
            </a:r>
            <a:r>
              <a:rPr lang="en-US" altLang="zh-CN" sz="2000" dirty="0"/>
              <a:t>history</a:t>
            </a:r>
            <a:r>
              <a:rPr lang="zh-CN" altLang="zh-CN" sz="2000" dirty="0"/>
              <a:t>命令）</a:t>
            </a:r>
            <a:endParaRPr lang="zh-CN" altLang="zh-CN" sz="2000" dirty="0"/>
          </a:p>
          <a:p>
            <a:pPr marL="82550" lvl="0" indent="0">
              <a:buNone/>
            </a:pPr>
            <a:r>
              <a:rPr lang="zh-CN" altLang="zh-CN" sz="2000" dirty="0"/>
              <a:t>使用箭头键和</a:t>
            </a:r>
            <a:r>
              <a:rPr lang="en-US" altLang="zh-CN" sz="2000" dirty="0"/>
              <a:t>history</a:t>
            </a:r>
            <a:r>
              <a:rPr lang="zh-CN" altLang="zh-CN" sz="2000" dirty="0"/>
              <a:t>命令分别查看历史命令</a:t>
            </a:r>
            <a:r>
              <a:rPr lang="zh-CN" altLang="zh-CN" sz="2000" dirty="0" smtClean="0"/>
              <a:t>；</a:t>
            </a:r>
            <a:endParaRPr lang="en-US" altLang="zh-CN" sz="2000" dirty="0" smtClean="0"/>
          </a:p>
          <a:p>
            <a:pPr marL="82550" indent="0">
              <a:buNone/>
            </a:pPr>
            <a:r>
              <a:rPr lang="zh-CN" altLang="en-US" sz="2000" dirty="0"/>
              <a:t>（</a:t>
            </a:r>
            <a:r>
              <a:rPr lang="en-US" altLang="zh-CN" sz="2000" dirty="0"/>
              <a:t>4</a:t>
            </a:r>
            <a:r>
              <a:rPr lang="zh-CN" altLang="en-US" sz="2000" dirty="0"/>
              <a:t>）</a:t>
            </a:r>
            <a:r>
              <a:rPr lang="zh-CN" altLang="zh-CN" sz="2000" dirty="0"/>
              <a:t>帮助信息的使用：用两种方法查看</a:t>
            </a:r>
            <a:r>
              <a:rPr lang="en-US" altLang="zh-CN" sz="2000" dirty="0" err="1"/>
              <a:t>rm</a:t>
            </a:r>
            <a:r>
              <a:rPr lang="zh-CN" altLang="zh-CN" sz="2000" dirty="0"/>
              <a:t>命令的帮助信息。</a:t>
            </a:r>
            <a:r>
              <a:rPr lang="zh-CN" altLang="en-US" sz="2000" dirty="0"/>
              <a:t>如  ：</a:t>
            </a:r>
            <a:endParaRPr lang="en-US" altLang="zh-CN" sz="2000" dirty="0"/>
          </a:p>
          <a:p>
            <a:pPr marL="82550" indent="0">
              <a:buNone/>
            </a:pPr>
            <a:r>
              <a:rPr lang="en-US" altLang="zh-CN" sz="2000" dirty="0" err="1"/>
              <a:t>rm</a:t>
            </a:r>
            <a:r>
              <a:rPr lang="en-US" altLang="zh-CN" sz="2000" dirty="0"/>
              <a:t>  --help</a:t>
            </a:r>
            <a:endParaRPr lang="en-US" altLang="zh-CN" sz="2000" dirty="0"/>
          </a:p>
          <a:p>
            <a:pPr marL="82550" indent="0">
              <a:buNone/>
            </a:pPr>
            <a:r>
              <a:rPr lang="en-US" altLang="zh-CN" sz="2000" dirty="0"/>
              <a:t>man  </a:t>
            </a:r>
            <a:r>
              <a:rPr lang="en-US" altLang="zh-CN" sz="2000" dirty="0" err="1" smtClean="0"/>
              <a:t>rm</a:t>
            </a:r>
            <a:endParaRPr lang="zh-CN" altLang="zh-CN" sz="2000" dirty="0"/>
          </a:p>
          <a:p>
            <a:pPr marL="82550" indent="0">
              <a:buNone/>
            </a:pPr>
            <a:endParaRPr lang="zh-CN" alt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2"/>
          <p:cNvSpPr txBox="1"/>
          <p:nvPr/>
        </p:nvSpPr>
        <p:spPr>
          <a:xfrm>
            <a:off x="1187624" y="249492"/>
            <a:ext cx="7543800" cy="576064"/>
          </a:xfrm>
          <a:prstGeom prst="rect">
            <a:avLst/>
          </a:prstGeom>
        </p:spPr>
        <p:txBody>
          <a:bodyPr>
            <a:normAutofit/>
          </a:bodyPr>
          <a:lstStyle>
            <a:lvl1pPr marL="365760" indent="-28321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/>
              <a:buChar char="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37490" algn="l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 panose="020B0604030504040204"/>
              <a:buChar char="◦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87095" indent="-22860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 panose="05020102010507070707"/>
              <a:buChar char="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17399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575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0876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8945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425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/>
              <a:buNone/>
            </a:pPr>
            <a:r>
              <a:rPr lang="en-US" altLang="zh-CN" sz="26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2.3 </a:t>
            </a:r>
            <a:r>
              <a:rPr lang="zh-CN" altLang="en-US" sz="26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文件基本操作</a:t>
            </a:r>
            <a:endParaRPr lang="zh-CN" altLang="zh-CN" sz="2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Rectangle 3"/>
          <p:cNvSpPr>
            <a:spLocks noGrp="1" noChangeArrowheads="1"/>
          </p:cNvSpPr>
          <p:nvPr>
            <p:ph idx="1"/>
          </p:nvPr>
        </p:nvSpPr>
        <p:spPr>
          <a:xfrm>
            <a:off x="611560" y="825556"/>
            <a:ext cx="7704856" cy="4068452"/>
          </a:xfrm>
        </p:spPr>
        <p:txBody>
          <a:bodyPr>
            <a:normAutofit fontScale="77500" lnSpcReduction="20000"/>
          </a:bodyPr>
          <a:lstStyle/>
          <a:p>
            <a:pPr marL="596900" indent="-514350">
              <a:lnSpc>
                <a:spcPct val="80000"/>
              </a:lnSpc>
              <a:buAutoNum type="arabicPeriod"/>
            </a:pPr>
            <a:r>
              <a:rPr lang="en-US" altLang="zh-CN" sz="2900" b="1" dirty="0" err="1" smtClean="0">
                <a:solidFill>
                  <a:srgbClr val="C00000"/>
                </a:solidFill>
                <a:latin typeface="Arial Black" panose="020B0A04020102020204" pitchFamily="34" charset="0"/>
              </a:rPr>
              <a:t>mkdir</a:t>
            </a:r>
            <a:r>
              <a:rPr lang="zh-CN" altLang="en-US" sz="2900" b="1" dirty="0" smtClean="0">
                <a:solidFill>
                  <a:srgbClr val="C00000"/>
                </a:solidFill>
              </a:rPr>
              <a:t>命令</a:t>
            </a:r>
            <a:r>
              <a:rPr lang="zh-CN" altLang="en-US" sz="2900" b="1" dirty="0" smtClean="0">
                <a:solidFill>
                  <a:srgbClr val="C00000"/>
                </a:solidFill>
                <a:ea typeface="宋体" panose="02010600030101010101" pitchFamily="2" charset="-122"/>
              </a:rPr>
              <a:t>　</a:t>
            </a:r>
            <a:endParaRPr lang="en-US" altLang="zh-CN" sz="2900" b="1" dirty="0" smtClean="0">
              <a:solidFill>
                <a:srgbClr val="C00000"/>
              </a:solidFill>
              <a:ea typeface="宋体" panose="02010600030101010101" pitchFamily="2" charset="-122"/>
            </a:endParaRPr>
          </a:p>
          <a:p>
            <a:pPr>
              <a:lnSpc>
                <a:spcPct val="80000"/>
              </a:lnSpc>
              <a:buNone/>
            </a:pPr>
            <a:r>
              <a:rPr lang="zh-CN" altLang="en-US" sz="2900" b="1" dirty="0">
                <a:solidFill>
                  <a:srgbClr val="C00000"/>
                </a:solidFill>
                <a:ea typeface="宋体" panose="02010600030101010101" pitchFamily="2" charset="-122"/>
              </a:rPr>
              <a:t> </a:t>
            </a:r>
            <a:r>
              <a:rPr lang="zh-CN" altLang="en-US" sz="2900" b="1" dirty="0" smtClean="0">
                <a:solidFill>
                  <a:srgbClr val="C00000"/>
                </a:solidFill>
                <a:ea typeface="宋体" panose="02010600030101010101" pitchFamily="2" charset="-122"/>
              </a:rPr>
              <a:t>   </a:t>
            </a:r>
            <a:r>
              <a:rPr lang="zh-CN" altLang="en-US" sz="2900" dirty="0" smtClean="0"/>
              <a:t>功能：</a:t>
            </a:r>
            <a:r>
              <a:rPr lang="zh-CN" altLang="da-DK" sz="2900" dirty="0">
                <a:solidFill>
                  <a:srgbClr val="FF0000"/>
                </a:solidFill>
              </a:rPr>
              <a:t>建立新目录或目录</a:t>
            </a:r>
            <a:r>
              <a:rPr lang="zh-CN" altLang="da-DK" sz="2900" dirty="0" smtClean="0">
                <a:solidFill>
                  <a:srgbClr val="FF0000"/>
                </a:solidFill>
              </a:rPr>
              <a:t>结构</a:t>
            </a:r>
            <a:r>
              <a:rPr lang="zh-CN" altLang="en-US" sz="2900" dirty="0" smtClean="0">
                <a:solidFill>
                  <a:srgbClr val="FF0000"/>
                </a:solidFill>
              </a:rPr>
              <a:t>。</a:t>
            </a:r>
            <a:endParaRPr lang="zh-CN" altLang="en-US" sz="2900" dirty="0">
              <a:solidFill>
                <a:srgbClr val="FF0000"/>
              </a:solidFill>
            </a:endParaRPr>
          </a:p>
          <a:p>
            <a:pPr marL="82550" indent="0">
              <a:buNone/>
            </a:pPr>
            <a:r>
              <a:rPr lang="zh-CN" altLang="da-DK" sz="2900" dirty="0" smtClean="0"/>
              <a:t>   语法</a:t>
            </a:r>
            <a:r>
              <a:rPr lang="zh-CN" altLang="da-DK" sz="2900" dirty="0"/>
              <a:t>：</a:t>
            </a:r>
            <a:r>
              <a:rPr lang="da-DK" altLang="zh-CN" sz="2900" dirty="0" smtClean="0">
                <a:solidFill>
                  <a:srgbClr val="FF0000"/>
                </a:solidFill>
                <a:ea typeface="黑体" panose="02010609060101010101" pitchFamily="49" charset="-122"/>
              </a:rPr>
              <a:t>mkdir </a:t>
            </a:r>
            <a:r>
              <a:rPr lang="da-DK" altLang="zh-CN" sz="2900" dirty="0">
                <a:solidFill>
                  <a:srgbClr val="FF0000"/>
                </a:solidFill>
                <a:ea typeface="黑体" panose="02010609060101010101" pitchFamily="49" charset="-122"/>
              </a:rPr>
              <a:t>[</a:t>
            </a:r>
            <a:r>
              <a:rPr lang="zh-CN" altLang="da-DK" sz="2900" dirty="0">
                <a:solidFill>
                  <a:srgbClr val="FF0000"/>
                </a:solidFill>
                <a:ea typeface="黑体" panose="02010609060101010101" pitchFamily="49" charset="-122"/>
              </a:rPr>
              <a:t>选项</a:t>
            </a:r>
            <a:r>
              <a:rPr lang="da-DK" altLang="zh-CN" sz="2900" dirty="0">
                <a:solidFill>
                  <a:srgbClr val="FF0000"/>
                </a:solidFill>
                <a:ea typeface="黑体" panose="02010609060101010101" pitchFamily="49" charset="-122"/>
              </a:rPr>
              <a:t>] </a:t>
            </a:r>
            <a:r>
              <a:rPr lang="zh-CN" altLang="da-DK" sz="2900" dirty="0">
                <a:solidFill>
                  <a:srgbClr val="FF0000"/>
                </a:solidFill>
                <a:ea typeface="黑体" panose="02010609060101010101" pitchFamily="49" charset="-122"/>
              </a:rPr>
              <a:t>新目录名</a:t>
            </a:r>
            <a:r>
              <a:rPr lang="da-DK" altLang="zh-CN" sz="2900" dirty="0">
                <a:solidFill>
                  <a:srgbClr val="FF0000"/>
                </a:solidFill>
                <a:ea typeface="黑体" panose="02010609060101010101" pitchFamily="49" charset="-122"/>
              </a:rPr>
              <a:t>1  [</a:t>
            </a:r>
            <a:r>
              <a:rPr lang="zh-CN" altLang="da-DK" sz="2900" dirty="0">
                <a:solidFill>
                  <a:srgbClr val="FF0000"/>
                </a:solidFill>
                <a:ea typeface="黑体" panose="02010609060101010101" pitchFamily="49" charset="-122"/>
              </a:rPr>
              <a:t>新目录名</a:t>
            </a:r>
            <a:r>
              <a:rPr lang="da-DK" altLang="zh-CN" sz="2900" dirty="0">
                <a:solidFill>
                  <a:srgbClr val="FF0000"/>
                </a:solidFill>
                <a:ea typeface="黑体" panose="02010609060101010101" pitchFamily="49" charset="-122"/>
              </a:rPr>
              <a:t>2] </a:t>
            </a:r>
            <a:r>
              <a:rPr lang="da-DK" altLang="zh-CN" sz="29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…</a:t>
            </a:r>
            <a:endParaRPr lang="da-DK" altLang="zh-CN" sz="2900" dirty="0">
              <a:solidFill>
                <a:srgbClr val="FF0000"/>
              </a:solidFill>
              <a:ea typeface="黑体" panose="02010609060101010101" pitchFamily="49" charset="-122"/>
            </a:endParaRPr>
          </a:p>
          <a:p>
            <a:pPr marL="82550" indent="0">
              <a:lnSpc>
                <a:spcPct val="90000"/>
              </a:lnSpc>
              <a:buNone/>
            </a:pPr>
            <a:r>
              <a:rPr lang="zh-CN" altLang="en-US" sz="2000" b="1" dirty="0" smtClean="0">
                <a:solidFill>
                  <a:srgbClr val="00CC00"/>
                </a:solidFill>
                <a:latin typeface="楷体_GB2312"/>
                <a:ea typeface="楷体_GB2312"/>
                <a:cs typeface="楷体_GB2312"/>
              </a:rPr>
              <a:t>例如：</a:t>
            </a:r>
            <a:endParaRPr lang="zh-CN" altLang="en-US" sz="2000" b="1" dirty="0">
              <a:solidFill>
                <a:srgbClr val="00CC00"/>
              </a:solidFill>
              <a:latin typeface="楷体_GB2312"/>
              <a:ea typeface="楷体_GB2312"/>
              <a:cs typeface="楷体_GB2312"/>
            </a:endParaRPr>
          </a:p>
          <a:p>
            <a:pPr marL="82550" indent="0">
              <a:buNone/>
            </a:pPr>
            <a:r>
              <a:rPr lang="zh-CN" altLang="en-US" sz="2000" dirty="0"/>
              <a:t>　</a:t>
            </a:r>
            <a:r>
              <a:rPr lang="en-US" altLang="zh-CN" sz="2000" dirty="0"/>
              <a:t>[</a:t>
            </a:r>
            <a:r>
              <a:rPr lang="en-US" altLang="zh-CN" sz="2000" dirty="0" err="1"/>
              <a:t>fyl@localhost</a:t>
            </a:r>
            <a:r>
              <a:rPr lang="en-US" altLang="zh-CN" sz="2000" dirty="0"/>
              <a:t> ~]$</a:t>
            </a:r>
            <a:r>
              <a:rPr lang="en-US" altLang="zh-CN" sz="2000" dirty="0" err="1">
                <a:solidFill>
                  <a:schemeClr val="folHlink"/>
                </a:solidFill>
              </a:rPr>
              <a:t>mkdir</a:t>
            </a:r>
            <a:r>
              <a:rPr lang="en-US" altLang="zh-CN" sz="2000" dirty="0">
                <a:solidFill>
                  <a:schemeClr val="folHlink"/>
                </a:solidFill>
              </a:rPr>
              <a:t>  dir1</a:t>
            </a:r>
            <a:r>
              <a:rPr lang="en-US" altLang="zh-CN" sz="2000" dirty="0"/>
              <a:t>      </a:t>
            </a:r>
            <a:endParaRPr lang="en-US" altLang="zh-CN" sz="2000" dirty="0"/>
          </a:p>
          <a:p>
            <a:pPr marL="82550" indent="0">
              <a:buNone/>
            </a:pPr>
            <a:r>
              <a:rPr lang="zh-CN" altLang="en-US" sz="2000" dirty="0"/>
              <a:t>　</a:t>
            </a:r>
            <a:r>
              <a:rPr lang="en-US" altLang="zh-CN" sz="2000" dirty="0">
                <a:solidFill>
                  <a:srgbClr val="00CC00"/>
                </a:solidFill>
                <a:latin typeface="楷体_GB2312" pitchFamily="49" charset="-122"/>
                <a:ea typeface="楷体_GB2312" pitchFamily="49" charset="-122"/>
              </a:rPr>
              <a:t>//</a:t>
            </a:r>
            <a:r>
              <a:rPr lang="zh-CN" altLang="en-US" sz="2000" dirty="0">
                <a:solidFill>
                  <a:srgbClr val="00CC00"/>
                </a:solidFill>
                <a:latin typeface="楷体_GB2312" pitchFamily="49" charset="-122"/>
                <a:ea typeface="楷体_GB2312" pitchFamily="49" charset="-122"/>
              </a:rPr>
              <a:t>在当前目录下建立一个</a:t>
            </a:r>
            <a:r>
              <a:rPr lang="zh-CN" altLang="en-US" sz="2000" dirty="0" smtClean="0">
                <a:solidFill>
                  <a:srgbClr val="00CC00"/>
                </a:solidFill>
                <a:latin typeface="楷体_GB2312" pitchFamily="49" charset="-122"/>
                <a:ea typeface="楷体_GB2312" pitchFamily="49" charset="-122"/>
              </a:rPr>
              <a:t>子目录</a:t>
            </a:r>
            <a:endParaRPr lang="zh-CN" altLang="en-US" sz="2000" dirty="0"/>
          </a:p>
          <a:p>
            <a:pPr marL="82550" indent="0">
              <a:buNone/>
            </a:pPr>
            <a:r>
              <a:rPr lang="zh-CN" altLang="en-US" sz="2000" dirty="0"/>
              <a:t>　</a:t>
            </a:r>
            <a:r>
              <a:rPr lang="en-US" altLang="zh-CN" sz="2000" dirty="0"/>
              <a:t>[</a:t>
            </a:r>
            <a:r>
              <a:rPr lang="en-US" altLang="zh-CN" sz="2000" dirty="0" err="1"/>
              <a:t>fyl@localhost</a:t>
            </a:r>
            <a:r>
              <a:rPr lang="en-US" altLang="zh-CN" sz="2000" dirty="0"/>
              <a:t> ~]$</a:t>
            </a:r>
            <a:r>
              <a:rPr lang="en-US" altLang="zh-CN" sz="2000" dirty="0" err="1">
                <a:solidFill>
                  <a:schemeClr val="folHlink"/>
                </a:solidFill>
              </a:rPr>
              <a:t>mkdir</a:t>
            </a:r>
            <a:r>
              <a:rPr lang="en-US" altLang="zh-CN" sz="2000" dirty="0">
                <a:solidFill>
                  <a:schemeClr val="folHlink"/>
                </a:solidFill>
              </a:rPr>
              <a:t>  dir2  dir3</a:t>
            </a:r>
            <a:r>
              <a:rPr lang="en-US" altLang="zh-CN" sz="2000" dirty="0"/>
              <a:t>  </a:t>
            </a:r>
            <a:endParaRPr lang="en-US" altLang="zh-CN" sz="2000" dirty="0"/>
          </a:p>
          <a:p>
            <a:pPr marL="82550" indent="0">
              <a:buNone/>
            </a:pPr>
            <a:r>
              <a:rPr lang="zh-CN" altLang="en-US" sz="2000" dirty="0"/>
              <a:t>　</a:t>
            </a:r>
            <a:r>
              <a:rPr lang="en-US" altLang="zh-CN" sz="2000" dirty="0">
                <a:solidFill>
                  <a:srgbClr val="00CC00"/>
                </a:solidFill>
                <a:latin typeface="楷体_GB2312" pitchFamily="49" charset="-122"/>
                <a:ea typeface="楷体_GB2312" pitchFamily="49" charset="-122"/>
              </a:rPr>
              <a:t>//</a:t>
            </a:r>
            <a:r>
              <a:rPr lang="zh-CN" altLang="en-US" sz="2000" dirty="0">
                <a:solidFill>
                  <a:srgbClr val="00CC00"/>
                </a:solidFill>
                <a:latin typeface="楷体_GB2312" pitchFamily="49" charset="-122"/>
                <a:ea typeface="楷体_GB2312" pitchFamily="49" charset="-122"/>
              </a:rPr>
              <a:t>在当前目录下建立两个并行的</a:t>
            </a:r>
            <a:r>
              <a:rPr lang="zh-CN" altLang="en-US" sz="2000" dirty="0" smtClean="0">
                <a:solidFill>
                  <a:srgbClr val="00CC00"/>
                </a:solidFill>
                <a:latin typeface="楷体_GB2312" pitchFamily="49" charset="-122"/>
                <a:ea typeface="楷体_GB2312" pitchFamily="49" charset="-122"/>
              </a:rPr>
              <a:t>子目录</a:t>
            </a:r>
            <a:r>
              <a:rPr lang="zh-CN" altLang="en-US" sz="2000" dirty="0"/>
              <a:t>　</a:t>
            </a:r>
            <a:endParaRPr lang="zh-CN" altLang="en-US" sz="2000" dirty="0"/>
          </a:p>
          <a:p>
            <a:pPr marL="82550" indent="0">
              <a:buNone/>
            </a:pPr>
            <a:r>
              <a:rPr lang="zh-CN" altLang="en-US" sz="2000" dirty="0"/>
              <a:t>　</a:t>
            </a:r>
            <a:r>
              <a:rPr lang="en-US" altLang="zh-CN" sz="2000" dirty="0"/>
              <a:t>[</a:t>
            </a:r>
            <a:r>
              <a:rPr lang="en-US" altLang="zh-CN" sz="2000" dirty="0" err="1"/>
              <a:t>fyl@localhost</a:t>
            </a:r>
            <a:r>
              <a:rPr lang="en-US" altLang="zh-CN" sz="2000" dirty="0"/>
              <a:t> ~]$</a:t>
            </a:r>
            <a:r>
              <a:rPr lang="en-US" altLang="zh-CN" sz="2000" dirty="0" err="1">
                <a:solidFill>
                  <a:schemeClr val="folHlink"/>
                </a:solidFill>
              </a:rPr>
              <a:t>mkdir</a:t>
            </a:r>
            <a:r>
              <a:rPr lang="en-US" altLang="zh-CN" sz="2000" dirty="0">
                <a:solidFill>
                  <a:schemeClr val="folHlink"/>
                </a:solidFill>
              </a:rPr>
              <a:t> -p</a:t>
            </a:r>
            <a:r>
              <a:rPr lang="en-US" altLang="zh-CN" sz="2000" dirty="0"/>
              <a:t> </a:t>
            </a:r>
            <a:r>
              <a:rPr lang="en-US" altLang="zh-CN" sz="2000" dirty="0">
                <a:solidFill>
                  <a:schemeClr val="folHlink"/>
                </a:solidFill>
              </a:rPr>
              <a:t>music/pop</a:t>
            </a:r>
            <a:endParaRPr lang="en-US" altLang="zh-CN" sz="2000" dirty="0">
              <a:solidFill>
                <a:schemeClr val="folHlink"/>
              </a:solidFill>
            </a:endParaRPr>
          </a:p>
          <a:p>
            <a:pPr marL="82550" indent="0">
              <a:buNone/>
            </a:pPr>
            <a:r>
              <a:rPr lang="zh-CN" altLang="en-US" sz="2000" dirty="0"/>
              <a:t>　</a:t>
            </a:r>
            <a:r>
              <a:rPr lang="en-US" altLang="zh-CN" sz="2000" dirty="0">
                <a:solidFill>
                  <a:srgbClr val="00CC00"/>
                </a:solidFill>
                <a:latin typeface="楷体_GB2312" pitchFamily="49" charset="-122"/>
                <a:ea typeface="楷体_GB2312" pitchFamily="49" charset="-122"/>
              </a:rPr>
              <a:t>//</a:t>
            </a:r>
            <a:r>
              <a:rPr lang="zh-CN" altLang="en-US" sz="2000" dirty="0">
                <a:solidFill>
                  <a:srgbClr val="00CC00"/>
                </a:solidFill>
                <a:latin typeface="楷体_GB2312" pitchFamily="49" charset="-122"/>
                <a:ea typeface="楷体_GB2312" pitchFamily="49" charset="-122"/>
              </a:rPr>
              <a:t>在当前目录下建立子目录</a:t>
            </a:r>
            <a:r>
              <a:rPr lang="en-US" altLang="zh-CN" sz="2000" dirty="0">
                <a:solidFill>
                  <a:srgbClr val="00CC00"/>
                </a:solidFill>
                <a:latin typeface="楷体_GB2312" pitchFamily="49" charset="-122"/>
                <a:ea typeface="楷体_GB2312" pitchFamily="49" charset="-122"/>
              </a:rPr>
              <a:t>music</a:t>
            </a:r>
            <a:r>
              <a:rPr lang="zh-CN" altLang="en-US" sz="2000" dirty="0">
                <a:solidFill>
                  <a:srgbClr val="00CC00"/>
                </a:solidFill>
                <a:latin typeface="楷体_GB2312" pitchFamily="49" charset="-122"/>
                <a:ea typeface="楷体_GB2312" pitchFamily="49" charset="-122"/>
              </a:rPr>
              <a:t>及其下一级目录</a:t>
            </a:r>
            <a:r>
              <a:rPr lang="en-US" altLang="zh-CN" sz="2000" dirty="0">
                <a:solidFill>
                  <a:srgbClr val="00CC00"/>
                </a:solidFill>
                <a:latin typeface="楷体_GB2312" pitchFamily="49" charset="-122"/>
                <a:ea typeface="楷体_GB2312" pitchFamily="49" charset="-122"/>
              </a:rPr>
              <a:t>pop</a:t>
            </a:r>
            <a:endParaRPr lang="en-US" altLang="zh-CN" sz="2000" dirty="0">
              <a:solidFill>
                <a:srgbClr val="00CC00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82550" indent="0">
              <a:lnSpc>
                <a:spcPct val="90000"/>
              </a:lnSpc>
              <a:buNone/>
            </a:pPr>
            <a:endParaRPr lang="da-DK" altLang="zh-CN" sz="2000" dirty="0">
              <a:solidFill>
                <a:srgbClr val="00CC00"/>
              </a:solidFill>
              <a:latin typeface="楷体_GB2312"/>
              <a:ea typeface="楷体_GB2312"/>
              <a:cs typeface="楷体_GB2312"/>
            </a:endParaRPr>
          </a:p>
          <a:p>
            <a:pPr marL="82550" indent="0">
              <a:buNone/>
            </a:pPr>
            <a:r>
              <a:rPr lang="zh-CN" altLang="da-DK" sz="2400" dirty="0"/>
              <a:t>常用的选项及其含义：</a:t>
            </a:r>
            <a:endParaRPr lang="zh-CN" altLang="da-DK" sz="2400" dirty="0"/>
          </a:p>
          <a:p>
            <a:pPr marL="82550" indent="0">
              <a:buNone/>
            </a:pPr>
            <a:r>
              <a:rPr lang="zh-CN" altLang="da-DK" sz="2400" dirty="0"/>
              <a:t>　　　</a:t>
            </a:r>
            <a:r>
              <a:rPr lang="da-DK" altLang="zh-CN" sz="2400" b="1" dirty="0">
                <a:solidFill>
                  <a:srgbClr val="FF0000"/>
                </a:solidFill>
              </a:rPr>
              <a:t>-p</a:t>
            </a:r>
            <a:r>
              <a:rPr lang="zh-CN" altLang="da-DK" sz="2400" b="1" dirty="0">
                <a:solidFill>
                  <a:srgbClr val="FF0000"/>
                </a:solidFill>
              </a:rPr>
              <a:t>：</a:t>
            </a:r>
            <a:r>
              <a:rPr lang="zh-CN" altLang="da-DK" sz="2400" dirty="0"/>
              <a:t>新目录名可以是一个路径名。此时若路径中的某些目录尚不存在，加上此选项后，系统将自动建立好那些尚不存在的目录，即一次可以建立多个目录。</a:t>
            </a:r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>
          <a:xfrm>
            <a:off x="683568" y="411510"/>
            <a:ext cx="8496944" cy="4068452"/>
          </a:xfrm>
        </p:spPr>
        <p:txBody>
          <a:bodyPr>
            <a:normAutofit/>
          </a:bodyPr>
          <a:lstStyle/>
          <a:p>
            <a:pPr marL="82550" indent="0">
              <a:lnSpc>
                <a:spcPct val="80000"/>
              </a:lnSpc>
              <a:buNone/>
            </a:pPr>
            <a:r>
              <a:rPr lang="en-US" altLang="zh-CN" sz="1900" b="1" dirty="0" smtClean="0">
                <a:solidFill>
                  <a:srgbClr val="C00000"/>
                </a:solidFill>
                <a:latin typeface="Arial Black" panose="020B0A04020102020204" pitchFamily="34" charset="0"/>
              </a:rPr>
              <a:t>2.  cat</a:t>
            </a:r>
            <a:r>
              <a:rPr lang="zh-CN" altLang="en-US" sz="1900" b="1" dirty="0" smtClean="0">
                <a:solidFill>
                  <a:srgbClr val="C00000"/>
                </a:solidFill>
                <a:latin typeface="Arial Black" panose="020B0A04020102020204" pitchFamily="34" charset="0"/>
              </a:rPr>
              <a:t>命令</a:t>
            </a:r>
            <a:endParaRPr lang="en-US" altLang="zh-CN" sz="1900" b="1" dirty="0" smtClean="0">
              <a:solidFill>
                <a:srgbClr val="C00000"/>
              </a:solidFill>
              <a:ea typeface="宋体" panose="02010600030101010101" pitchFamily="2" charset="-122"/>
            </a:endParaRPr>
          </a:p>
          <a:p>
            <a:pPr marL="82550" indent="0">
              <a:lnSpc>
                <a:spcPct val="80000"/>
              </a:lnSpc>
              <a:buNone/>
            </a:pPr>
            <a:endParaRPr lang="zh-CN" altLang="en-US" sz="1900" b="1" dirty="0" smtClean="0">
              <a:solidFill>
                <a:srgbClr val="C00000"/>
              </a:solidFill>
              <a:ea typeface="宋体" panose="02010600030101010101" pitchFamily="2" charset="-122"/>
            </a:endParaRPr>
          </a:p>
          <a:p>
            <a:pPr marL="82550" indent="0">
              <a:lnSpc>
                <a:spcPct val="110000"/>
              </a:lnSpc>
              <a:buNone/>
            </a:pPr>
            <a:r>
              <a:rPr lang="zh-CN" altLang="en-US" sz="1900" b="1" dirty="0" smtClean="0">
                <a:ea typeface="宋体" panose="02010600030101010101" pitchFamily="2" charset="-122"/>
              </a:rPr>
              <a:t>　</a:t>
            </a:r>
            <a:r>
              <a:rPr lang="zh-CN" altLang="en-US" sz="1900" dirty="0"/>
              <a:t>功能</a:t>
            </a:r>
            <a:r>
              <a:rPr lang="en-US" altLang="zh-CN" sz="1900" dirty="0"/>
              <a:t>1</a:t>
            </a:r>
            <a:r>
              <a:rPr lang="zh-CN" altLang="en-US" sz="1900" dirty="0"/>
              <a:t>：</a:t>
            </a:r>
            <a:r>
              <a:rPr lang="zh-CN" altLang="en-US" sz="1900" b="1" dirty="0">
                <a:solidFill>
                  <a:srgbClr val="FF0000"/>
                </a:solidFill>
              </a:rPr>
              <a:t>显示一个或多个文本文件的内容</a:t>
            </a:r>
            <a:r>
              <a:rPr lang="zh-CN" altLang="en-US" sz="1900" b="1" dirty="0" smtClean="0">
                <a:solidFill>
                  <a:srgbClr val="FF0000"/>
                </a:solidFill>
              </a:rPr>
              <a:t>。</a:t>
            </a:r>
            <a:endParaRPr lang="zh-CN" altLang="en-US" sz="1900" dirty="0"/>
          </a:p>
          <a:p>
            <a:pPr marL="82550" indent="0">
              <a:lnSpc>
                <a:spcPct val="110000"/>
              </a:lnSpc>
              <a:buNone/>
            </a:pPr>
            <a:r>
              <a:rPr lang="zh-CN" altLang="en-US" sz="1900" dirty="0"/>
              <a:t>　</a:t>
            </a:r>
            <a:r>
              <a:rPr lang="zh-CN" altLang="en-US" sz="1900" dirty="0" smtClean="0"/>
              <a:t>语法</a:t>
            </a:r>
            <a:r>
              <a:rPr lang="en-US" altLang="zh-CN" sz="1900" dirty="0"/>
              <a:t>1</a:t>
            </a:r>
            <a:r>
              <a:rPr lang="zh-CN" altLang="en-US" sz="1900" dirty="0"/>
              <a:t>：</a:t>
            </a:r>
            <a:r>
              <a:rPr lang="en-US" altLang="zh-CN" sz="1900" dirty="0">
                <a:solidFill>
                  <a:srgbClr val="FF0000"/>
                </a:solidFill>
                <a:ea typeface="黑体" panose="02010609060101010101" pitchFamily="49" charset="-122"/>
              </a:rPr>
              <a:t>cat  [-n]  </a:t>
            </a:r>
            <a:r>
              <a:rPr lang="zh-CN" altLang="en-US" sz="1900" dirty="0">
                <a:solidFill>
                  <a:srgbClr val="FF0000"/>
                </a:solidFill>
                <a:ea typeface="黑体" panose="02010609060101010101" pitchFamily="49" charset="-122"/>
              </a:rPr>
              <a:t>文件</a:t>
            </a:r>
            <a:r>
              <a:rPr lang="en-US" altLang="zh-CN" sz="1900" dirty="0">
                <a:solidFill>
                  <a:srgbClr val="FF0000"/>
                </a:solidFill>
                <a:ea typeface="黑体" panose="02010609060101010101" pitchFamily="49" charset="-122"/>
              </a:rPr>
              <a:t>1  [</a:t>
            </a:r>
            <a:r>
              <a:rPr lang="zh-CN" altLang="en-US" sz="1900" dirty="0">
                <a:solidFill>
                  <a:srgbClr val="FF0000"/>
                </a:solidFill>
                <a:ea typeface="黑体" panose="02010609060101010101" pitchFamily="49" charset="-122"/>
              </a:rPr>
              <a:t>文件</a:t>
            </a:r>
            <a:r>
              <a:rPr lang="en-US" altLang="zh-CN" sz="1900" dirty="0">
                <a:solidFill>
                  <a:srgbClr val="FF0000"/>
                </a:solidFill>
                <a:ea typeface="黑体" panose="02010609060101010101" pitchFamily="49" charset="-122"/>
              </a:rPr>
              <a:t>2 </a:t>
            </a:r>
            <a:r>
              <a:rPr lang="en-US" altLang="zh-CN" sz="1900" dirty="0" smtClean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…</a:t>
            </a:r>
            <a:r>
              <a:rPr lang="en-US" altLang="zh-CN" sz="1900" dirty="0" smtClean="0">
                <a:solidFill>
                  <a:srgbClr val="FF0000"/>
                </a:solidFill>
                <a:ea typeface="黑体" panose="02010609060101010101" pitchFamily="49" charset="-122"/>
              </a:rPr>
              <a:t>]</a:t>
            </a:r>
            <a:endParaRPr lang="en-US" altLang="zh-CN" sz="1900" dirty="0" smtClean="0">
              <a:solidFill>
                <a:srgbClr val="FF0000"/>
              </a:solidFill>
              <a:ea typeface="黑体" panose="02010609060101010101" pitchFamily="49" charset="-122"/>
            </a:endParaRPr>
          </a:p>
          <a:p>
            <a:pPr marL="82550" indent="0">
              <a:lnSpc>
                <a:spcPct val="90000"/>
              </a:lnSpc>
              <a:buNone/>
            </a:pPr>
            <a:r>
              <a:rPr lang="zh-CN" altLang="en-US" sz="1900" dirty="0"/>
              <a:t>选项</a:t>
            </a:r>
            <a:r>
              <a:rPr lang="en-US" altLang="zh-CN" sz="1900" dirty="0"/>
              <a:t>-n</a:t>
            </a:r>
            <a:r>
              <a:rPr lang="zh-CN" altLang="en-US" sz="1900" dirty="0"/>
              <a:t>将</a:t>
            </a:r>
            <a:r>
              <a:rPr lang="zh-CN" altLang="da-DK" sz="1900" dirty="0"/>
              <a:t>对文本中所有的输出行进行数字</a:t>
            </a:r>
            <a:r>
              <a:rPr lang="zh-CN" altLang="da-DK" sz="1900" dirty="0" smtClean="0"/>
              <a:t>编号</a:t>
            </a:r>
            <a:r>
              <a:rPr lang="zh-CN" altLang="en-US" sz="1900" dirty="0" smtClean="0"/>
              <a:t>。</a:t>
            </a:r>
            <a:endParaRPr lang="en-US" altLang="zh-CN" sz="1900" dirty="0" smtClean="0"/>
          </a:p>
          <a:p>
            <a:pPr marL="82550" indent="0">
              <a:lnSpc>
                <a:spcPct val="90000"/>
              </a:lnSpc>
              <a:buNone/>
            </a:pPr>
            <a:endParaRPr lang="en-US" altLang="zh-CN" sz="1900" b="1" dirty="0">
              <a:solidFill>
                <a:schemeClr val="hlink"/>
              </a:solidFill>
              <a:latin typeface="黑体" panose="02010609060101010101" pitchFamily="49" charset="-122"/>
              <a:ea typeface="黑体" panose="02010609060101010101" pitchFamily="49" charset="-122"/>
              <a:cs typeface="楷体_GB2312"/>
            </a:endParaRPr>
          </a:p>
          <a:p>
            <a:pPr marL="82550" indent="0">
              <a:lnSpc>
                <a:spcPct val="90000"/>
              </a:lnSpc>
              <a:buNone/>
            </a:pPr>
            <a:r>
              <a:rPr lang="zh-CN" altLang="en-US" sz="1900" b="1" dirty="0">
                <a:solidFill>
                  <a:srgbClr val="00CC00"/>
                </a:solidFill>
                <a:latin typeface="楷体_GB2312"/>
                <a:ea typeface="楷体_GB2312"/>
                <a:cs typeface="楷体_GB2312"/>
              </a:rPr>
              <a:t>例如：</a:t>
            </a:r>
            <a:endParaRPr lang="zh-CN" altLang="en-US" sz="1900" b="1" dirty="0">
              <a:solidFill>
                <a:srgbClr val="00CC00"/>
              </a:solidFill>
              <a:latin typeface="楷体_GB2312"/>
              <a:ea typeface="楷体_GB2312"/>
              <a:cs typeface="楷体_GB2312"/>
            </a:endParaRPr>
          </a:p>
          <a:p>
            <a:pPr marL="82550" indent="0">
              <a:buNone/>
            </a:pPr>
            <a:r>
              <a:rPr lang="zh-CN" altLang="en-US" sz="1900" dirty="0"/>
              <a:t>　</a:t>
            </a:r>
            <a:r>
              <a:rPr lang="en-US" altLang="zh-CN" sz="1900" dirty="0"/>
              <a:t>[</a:t>
            </a:r>
            <a:r>
              <a:rPr lang="en-US" altLang="zh-CN" sz="1900" dirty="0" err="1"/>
              <a:t>fyl@localhost</a:t>
            </a:r>
            <a:r>
              <a:rPr lang="en-US" altLang="zh-CN" sz="1900" dirty="0"/>
              <a:t> </a:t>
            </a:r>
            <a:r>
              <a:rPr lang="en-US" altLang="zh-CN" sz="1900" dirty="0" smtClean="0"/>
              <a:t>~]$</a:t>
            </a:r>
            <a:r>
              <a:rPr lang="en-US" altLang="zh-CN" sz="1900" dirty="0">
                <a:solidFill>
                  <a:schemeClr val="folHlink"/>
                </a:solidFill>
              </a:rPr>
              <a:t>cat  file1  </a:t>
            </a:r>
            <a:r>
              <a:rPr lang="en-US" altLang="zh-CN" sz="1900" dirty="0" smtClean="0"/>
              <a:t>     </a:t>
            </a:r>
            <a:endParaRPr lang="en-US" altLang="zh-CN" sz="1900" dirty="0"/>
          </a:p>
          <a:p>
            <a:pPr marL="82550" indent="0">
              <a:buNone/>
            </a:pPr>
            <a:r>
              <a:rPr lang="zh-CN" altLang="en-US" sz="1900" dirty="0"/>
              <a:t>　</a:t>
            </a:r>
            <a:r>
              <a:rPr lang="en-US" altLang="zh-CN" sz="1900" dirty="0" smtClean="0">
                <a:solidFill>
                  <a:srgbClr val="00CC00"/>
                </a:solidFill>
                <a:latin typeface="楷体_GB2312" pitchFamily="49" charset="-122"/>
                <a:ea typeface="楷体_GB2312" pitchFamily="49" charset="-122"/>
              </a:rPr>
              <a:t>//</a:t>
            </a:r>
            <a:r>
              <a:rPr lang="zh-CN" altLang="en-US" sz="1900" dirty="0" smtClean="0">
                <a:solidFill>
                  <a:srgbClr val="00CC00"/>
                </a:solidFill>
                <a:latin typeface="楷体_GB2312" pitchFamily="49" charset="-122"/>
                <a:ea typeface="楷体_GB2312" pitchFamily="49" charset="-122"/>
              </a:rPr>
              <a:t>查看当前</a:t>
            </a:r>
            <a:r>
              <a:rPr lang="zh-CN" altLang="en-US" sz="1900" dirty="0">
                <a:solidFill>
                  <a:srgbClr val="00CC00"/>
                </a:solidFill>
                <a:latin typeface="楷体_GB2312" pitchFamily="49" charset="-122"/>
                <a:ea typeface="楷体_GB2312" pitchFamily="49" charset="-122"/>
              </a:rPr>
              <a:t>目录</a:t>
            </a:r>
            <a:r>
              <a:rPr lang="zh-CN" altLang="en-US" sz="1900" dirty="0" smtClean="0">
                <a:solidFill>
                  <a:srgbClr val="00CC00"/>
                </a:solidFill>
                <a:latin typeface="楷体_GB2312" pitchFamily="49" charset="-122"/>
                <a:ea typeface="楷体_GB2312" pitchFamily="49" charset="-122"/>
              </a:rPr>
              <a:t>下</a:t>
            </a:r>
            <a:r>
              <a:rPr lang="en-US" altLang="zh-CN" sz="1900" dirty="0" smtClean="0">
                <a:solidFill>
                  <a:srgbClr val="00CC00"/>
                </a:solidFill>
                <a:latin typeface="楷体_GB2312" pitchFamily="49" charset="-122"/>
                <a:ea typeface="楷体_GB2312" pitchFamily="49" charset="-122"/>
              </a:rPr>
              <a:t>file1</a:t>
            </a:r>
            <a:r>
              <a:rPr lang="zh-CN" altLang="en-US" sz="1900" dirty="0" smtClean="0">
                <a:solidFill>
                  <a:srgbClr val="00CC00"/>
                </a:solidFill>
                <a:latin typeface="楷体_GB2312" pitchFamily="49" charset="-122"/>
                <a:ea typeface="楷体_GB2312" pitchFamily="49" charset="-122"/>
              </a:rPr>
              <a:t>文件的内容</a:t>
            </a:r>
            <a:endParaRPr lang="zh-CN" altLang="en-US" sz="1900" dirty="0"/>
          </a:p>
          <a:p>
            <a:pPr marL="82550" indent="0">
              <a:buNone/>
            </a:pPr>
            <a:r>
              <a:rPr lang="zh-CN" altLang="en-US" sz="1900" dirty="0"/>
              <a:t>　</a:t>
            </a:r>
            <a:r>
              <a:rPr lang="en-US" altLang="zh-CN" sz="1900" dirty="0"/>
              <a:t>[</a:t>
            </a:r>
            <a:r>
              <a:rPr lang="en-US" altLang="zh-CN" sz="1900" dirty="0" err="1"/>
              <a:t>fyl@localhost</a:t>
            </a:r>
            <a:r>
              <a:rPr lang="en-US" altLang="zh-CN" sz="1900" dirty="0"/>
              <a:t> </a:t>
            </a:r>
            <a:r>
              <a:rPr lang="en-US" altLang="zh-CN" sz="1900" dirty="0" smtClean="0"/>
              <a:t>~]$</a:t>
            </a:r>
            <a:r>
              <a:rPr lang="en-US" altLang="zh-CN" sz="1900" dirty="0">
                <a:solidFill>
                  <a:schemeClr val="folHlink"/>
                </a:solidFill>
              </a:rPr>
              <a:t>cat /</a:t>
            </a:r>
            <a:r>
              <a:rPr lang="en-US" altLang="zh-CN" sz="1900" dirty="0" err="1" smtClean="0">
                <a:solidFill>
                  <a:schemeClr val="folHlink"/>
                </a:solidFill>
              </a:rPr>
              <a:t>etc</a:t>
            </a:r>
            <a:r>
              <a:rPr lang="en-US" altLang="zh-CN" sz="1900" dirty="0" smtClean="0">
                <a:solidFill>
                  <a:schemeClr val="folHlink"/>
                </a:solidFill>
              </a:rPr>
              <a:t>/</a:t>
            </a:r>
            <a:r>
              <a:rPr lang="en-US" altLang="zh-CN" sz="1900" dirty="0" err="1" smtClean="0">
                <a:solidFill>
                  <a:schemeClr val="folHlink"/>
                </a:solidFill>
              </a:rPr>
              <a:t>inittab</a:t>
            </a:r>
            <a:endParaRPr lang="en-US" altLang="zh-CN" sz="1900" dirty="0"/>
          </a:p>
          <a:p>
            <a:pPr marL="82550" indent="0">
              <a:buNone/>
            </a:pPr>
            <a:r>
              <a:rPr lang="zh-CN" altLang="en-US" sz="1900" dirty="0"/>
              <a:t>　</a:t>
            </a:r>
            <a:r>
              <a:rPr lang="en-US" altLang="zh-CN" sz="1900" dirty="0" smtClean="0">
                <a:solidFill>
                  <a:srgbClr val="00CC00"/>
                </a:solidFill>
                <a:latin typeface="楷体_GB2312" pitchFamily="49" charset="-122"/>
                <a:ea typeface="楷体_GB2312" pitchFamily="49" charset="-122"/>
              </a:rPr>
              <a:t>//</a:t>
            </a:r>
            <a:r>
              <a:rPr lang="zh-CN" altLang="en-US" sz="1900" dirty="0" smtClean="0">
                <a:solidFill>
                  <a:srgbClr val="00CC00"/>
                </a:solidFill>
                <a:latin typeface="楷体_GB2312" pitchFamily="49" charset="-122"/>
                <a:ea typeface="楷体_GB2312" pitchFamily="49" charset="-122"/>
              </a:rPr>
              <a:t>查看</a:t>
            </a:r>
            <a:r>
              <a:rPr lang="en-US" altLang="zh-CN" sz="1900" dirty="0" smtClean="0">
                <a:solidFill>
                  <a:srgbClr val="00CC00"/>
                </a:solidFill>
                <a:latin typeface="楷体_GB2312" pitchFamily="49" charset="-122"/>
                <a:ea typeface="楷体_GB2312" pitchFamily="49" charset="-122"/>
              </a:rPr>
              <a:t>/</a:t>
            </a:r>
            <a:r>
              <a:rPr lang="en-US" altLang="zh-CN" sz="1900" dirty="0" err="1" smtClean="0">
                <a:solidFill>
                  <a:srgbClr val="00CC00"/>
                </a:solidFill>
                <a:latin typeface="楷体_GB2312" pitchFamily="49" charset="-122"/>
                <a:ea typeface="楷体_GB2312" pitchFamily="49" charset="-122"/>
              </a:rPr>
              <a:t>etc</a:t>
            </a:r>
            <a:r>
              <a:rPr lang="zh-CN" altLang="en-US" sz="1900" dirty="0" smtClean="0">
                <a:solidFill>
                  <a:srgbClr val="00CC00"/>
                </a:solidFill>
                <a:latin typeface="楷体_GB2312" pitchFamily="49" charset="-122"/>
                <a:ea typeface="楷体_GB2312" pitchFamily="49" charset="-122"/>
              </a:rPr>
              <a:t>目录下</a:t>
            </a:r>
            <a:r>
              <a:rPr lang="en-US" altLang="zh-CN" sz="1900" dirty="0" err="1" smtClean="0">
                <a:solidFill>
                  <a:srgbClr val="00CC00"/>
                </a:solidFill>
                <a:latin typeface="楷体_GB2312" pitchFamily="49" charset="-122"/>
                <a:ea typeface="楷体_GB2312" pitchFamily="49" charset="-122"/>
              </a:rPr>
              <a:t>inittab</a:t>
            </a:r>
            <a:r>
              <a:rPr lang="zh-CN" altLang="en-US" sz="1900" dirty="0" smtClean="0">
                <a:solidFill>
                  <a:srgbClr val="00CC00"/>
                </a:solidFill>
                <a:latin typeface="楷体_GB2312" pitchFamily="49" charset="-122"/>
                <a:ea typeface="楷体_GB2312" pitchFamily="49" charset="-122"/>
              </a:rPr>
              <a:t>文件的内容</a:t>
            </a:r>
            <a:r>
              <a:rPr lang="zh-CN" altLang="en-US" sz="1900" dirty="0"/>
              <a:t>　</a:t>
            </a:r>
            <a:endParaRPr lang="zh-CN" altLang="en-US" sz="1900" dirty="0"/>
          </a:p>
          <a:p>
            <a:pPr marL="82550" indent="0">
              <a:lnSpc>
                <a:spcPct val="90000"/>
              </a:lnSpc>
              <a:buNone/>
            </a:pPr>
            <a:endParaRPr lang="en-US" altLang="zh-CN" sz="2400" b="1" dirty="0">
              <a:solidFill>
                <a:schemeClr val="hlink"/>
              </a:solidFill>
              <a:latin typeface="黑体" panose="02010609060101010101" pitchFamily="49" charset="-122"/>
              <a:ea typeface="黑体" panose="02010609060101010101" pitchFamily="49" charset="-122"/>
              <a:cs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11560" y="483518"/>
            <a:ext cx="6912768" cy="17225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dirty="0" smtClean="0"/>
              <a:t>功能</a:t>
            </a:r>
            <a:r>
              <a:rPr lang="en-US" altLang="zh-CN" dirty="0" smtClean="0"/>
              <a:t>2</a:t>
            </a:r>
            <a:r>
              <a:rPr lang="zh-CN" altLang="en-US" dirty="0" smtClean="0"/>
              <a:t>：</a:t>
            </a:r>
            <a:r>
              <a:rPr lang="zh-CN" altLang="en-US" dirty="0">
                <a:solidFill>
                  <a:srgbClr val="FF0000"/>
                </a:solidFill>
              </a:rPr>
              <a:t>建立或更新一个简短的文本文件</a:t>
            </a:r>
            <a:r>
              <a:rPr lang="zh-CN" altLang="en-US" dirty="0"/>
              <a:t>，并读取从标准输入设备上输入的文件内容。</a:t>
            </a:r>
            <a:endParaRPr lang="zh-CN" altLang="en-US" dirty="0"/>
          </a:p>
          <a:p>
            <a:pPr>
              <a:lnSpc>
                <a:spcPct val="120000"/>
              </a:lnSpc>
            </a:pPr>
            <a:r>
              <a:rPr lang="zh-CN" altLang="en-US" dirty="0"/>
              <a:t>　　　</a:t>
            </a:r>
            <a:r>
              <a:rPr lang="zh-CN" altLang="en-US" dirty="0" smtClean="0"/>
              <a:t>语法</a:t>
            </a:r>
            <a:r>
              <a:rPr lang="en-US" altLang="zh-CN" dirty="0" smtClean="0"/>
              <a:t>2-1</a:t>
            </a:r>
            <a:r>
              <a:rPr lang="zh-CN" altLang="en-US" dirty="0"/>
              <a:t>：</a:t>
            </a:r>
            <a:r>
              <a:rPr lang="en-US" altLang="zh-CN" dirty="0">
                <a:solidFill>
                  <a:srgbClr val="FF0000"/>
                </a:solidFill>
                <a:ea typeface="黑体" panose="02010609060101010101" pitchFamily="49" charset="-122"/>
              </a:rPr>
              <a:t>cat&gt;</a:t>
            </a:r>
            <a:r>
              <a:rPr lang="zh-CN" altLang="en-US" dirty="0">
                <a:solidFill>
                  <a:srgbClr val="FF0000"/>
                </a:solidFill>
                <a:ea typeface="黑体" panose="02010609060101010101" pitchFamily="49" charset="-122"/>
              </a:rPr>
              <a:t>文件名</a:t>
            </a:r>
            <a:endParaRPr lang="zh-CN" altLang="en-US" dirty="0">
              <a:solidFill>
                <a:srgbClr val="FF0000"/>
              </a:solidFill>
              <a:ea typeface="黑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chemeClr val="hlink"/>
                </a:solidFill>
              </a:rPr>
              <a:t>　　　</a:t>
            </a:r>
            <a:endParaRPr lang="en-US" altLang="zh-CN" dirty="0" smtClean="0">
              <a:solidFill>
                <a:schemeClr val="hlink"/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chemeClr val="hlink"/>
                </a:solidFill>
              </a:rPr>
              <a:t> </a:t>
            </a:r>
            <a:r>
              <a:rPr lang="en-US" altLang="zh-CN" dirty="0" smtClean="0">
                <a:solidFill>
                  <a:schemeClr val="hlink"/>
                </a:solidFill>
              </a:rPr>
              <a:t>          </a:t>
            </a:r>
            <a:r>
              <a:rPr lang="zh-CN" altLang="en-US" dirty="0" smtClean="0"/>
              <a:t>语法</a:t>
            </a:r>
            <a:r>
              <a:rPr lang="en-US" altLang="zh-CN" dirty="0" smtClean="0"/>
              <a:t>2-2</a:t>
            </a:r>
            <a:r>
              <a:rPr lang="zh-CN" altLang="en-US" dirty="0"/>
              <a:t>：</a:t>
            </a:r>
            <a:r>
              <a:rPr lang="en-US" altLang="zh-CN" dirty="0">
                <a:solidFill>
                  <a:srgbClr val="FF0000"/>
                </a:solidFill>
                <a:ea typeface="黑体" panose="02010609060101010101" pitchFamily="49" charset="-122"/>
              </a:rPr>
              <a:t>cat&gt;&gt;</a:t>
            </a:r>
            <a:r>
              <a:rPr lang="zh-CN" altLang="en-US" dirty="0">
                <a:solidFill>
                  <a:srgbClr val="FF0000"/>
                </a:solidFill>
                <a:ea typeface="黑体" panose="02010609060101010101" pitchFamily="49" charset="-122"/>
              </a:rPr>
              <a:t>文件名</a:t>
            </a:r>
            <a:endParaRPr lang="zh-CN" altLang="en-US" dirty="0">
              <a:solidFill>
                <a:srgbClr val="FF0000"/>
              </a:solidFill>
              <a:ea typeface="黑体" panose="02010609060101010101" pitchFamily="49" charset="-122"/>
            </a:endParaRPr>
          </a:p>
        </p:txBody>
      </p:sp>
      <p:sp>
        <p:nvSpPr>
          <p:cNvPr id="3" name="圆角矩形标注 2"/>
          <p:cNvSpPr/>
          <p:nvPr/>
        </p:nvSpPr>
        <p:spPr bwMode="auto">
          <a:xfrm>
            <a:off x="4247964" y="2067694"/>
            <a:ext cx="4500500" cy="594122"/>
          </a:xfrm>
          <a:prstGeom prst="wedgeRoundRectCallout">
            <a:avLst>
              <a:gd name="adj1" fmla="val -63318"/>
              <a:gd name="adj2" fmla="val -47301"/>
              <a:gd name="adj3" fmla="val 16667"/>
            </a:avLst>
          </a:prstGeom>
          <a:solidFill>
            <a:srgbClr val="FFFF00"/>
          </a:solidFill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eaLnBrk="1" hangingPunct="1">
              <a:defRPr/>
            </a:pPr>
            <a:r>
              <a:rPr lang="zh-CN" altLang="en-US" dirty="0">
                <a:solidFill>
                  <a:schemeClr val="tx1"/>
                </a:solidFill>
              </a:rPr>
              <a:t>下面输入的内容</a:t>
            </a:r>
            <a:r>
              <a:rPr lang="zh-CN" altLang="en-US" dirty="0" smtClean="0">
                <a:solidFill>
                  <a:schemeClr val="tx1"/>
                </a:solidFill>
              </a:rPr>
              <a:t>将追加到原来文件的末尾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圆角矩形标注 3"/>
          <p:cNvSpPr/>
          <p:nvPr/>
        </p:nvSpPr>
        <p:spPr bwMode="auto">
          <a:xfrm>
            <a:off x="4572000" y="843558"/>
            <a:ext cx="4104456" cy="1080120"/>
          </a:xfrm>
          <a:prstGeom prst="wedgeRoundRectCallout">
            <a:avLst>
              <a:gd name="adj1" fmla="val -69229"/>
              <a:gd name="adj2" fmla="val 2222"/>
              <a:gd name="adj3" fmla="val 16667"/>
            </a:avLst>
          </a:prstGeom>
          <a:solidFill>
            <a:srgbClr val="FFFF00"/>
          </a:solidFill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eaLnBrk="1" hangingPunct="1">
              <a:defRPr/>
            </a:pPr>
            <a:r>
              <a:rPr lang="zh-CN" altLang="en-US" dirty="0">
                <a:solidFill>
                  <a:schemeClr val="tx1"/>
                </a:solidFill>
              </a:rPr>
              <a:t>若指定目录中没有所给定的文件时，系统将以该文件名为用户建立一个新</a:t>
            </a:r>
            <a:r>
              <a:rPr lang="zh-CN" altLang="en-US" dirty="0" smtClean="0">
                <a:solidFill>
                  <a:schemeClr val="tx1"/>
                </a:solidFill>
              </a:rPr>
              <a:t>文件；若有该文件，则覆盖重写。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683568" y="2427734"/>
            <a:ext cx="7128792" cy="14219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2550" indent="0">
              <a:lnSpc>
                <a:spcPct val="90000"/>
              </a:lnSpc>
              <a:buNone/>
            </a:pPr>
            <a:r>
              <a:rPr lang="zh-CN" altLang="en-US" sz="1600" b="1" dirty="0">
                <a:solidFill>
                  <a:srgbClr val="00CC00"/>
                </a:solidFill>
                <a:latin typeface="楷体_GB2312"/>
                <a:ea typeface="楷体_GB2312"/>
                <a:cs typeface="楷体_GB2312"/>
              </a:rPr>
              <a:t>例如：</a:t>
            </a:r>
            <a:endParaRPr lang="zh-CN" altLang="en-US" sz="1600" b="1" dirty="0">
              <a:solidFill>
                <a:srgbClr val="00CC00"/>
              </a:solidFill>
              <a:latin typeface="楷体_GB2312"/>
              <a:ea typeface="楷体_GB2312"/>
              <a:cs typeface="楷体_GB2312"/>
            </a:endParaRPr>
          </a:p>
          <a:p>
            <a:pPr marL="82550" indent="0">
              <a:buNone/>
            </a:pPr>
            <a:r>
              <a:rPr lang="zh-CN" altLang="en-US" dirty="0"/>
              <a:t>　</a:t>
            </a:r>
            <a:r>
              <a:rPr lang="en-US" altLang="zh-CN" dirty="0"/>
              <a:t>[</a:t>
            </a:r>
            <a:r>
              <a:rPr lang="en-US" altLang="zh-CN" dirty="0" err="1"/>
              <a:t>fyl@localhost</a:t>
            </a:r>
            <a:r>
              <a:rPr lang="en-US" altLang="zh-CN" dirty="0"/>
              <a:t> ~]$</a:t>
            </a:r>
            <a:r>
              <a:rPr lang="en-US" altLang="zh-CN" dirty="0">
                <a:solidFill>
                  <a:schemeClr val="folHlink"/>
                </a:solidFill>
              </a:rPr>
              <a:t>cat </a:t>
            </a:r>
            <a:r>
              <a:rPr lang="en-US" altLang="zh-CN" dirty="0" smtClean="0">
                <a:solidFill>
                  <a:schemeClr val="folHlink"/>
                </a:solidFill>
              </a:rPr>
              <a:t>&gt; file1  </a:t>
            </a:r>
            <a:r>
              <a:rPr lang="en-US" altLang="zh-CN" dirty="0" smtClean="0"/>
              <a:t>     </a:t>
            </a:r>
            <a:endParaRPr lang="en-US" altLang="zh-CN" dirty="0"/>
          </a:p>
          <a:p>
            <a:pPr marL="82550" indent="0">
              <a:buNone/>
            </a:pPr>
            <a:r>
              <a:rPr lang="zh-CN" altLang="en-US" dirty="0"/>
              <a:t>　</a:t>
            </a:r>
            <a:r>
              <a:rPr lang="en-US" altLang="zh-CN" sz="1600" dirty="0" smtClean="0">
                <a:solidFill>
                  <a:srgbClr val="00CC00"/>
                </a:solidFill>
                <a:latin typeface="楷体_GB2312" pitchFamily="49" charset="-122"/>
                <a:ea typeface="楷体_GB2312" pitchFamily="49" charset="-122"/>
              </a:rPr>
              <a:t>//</a:t>
            </a:r>
            <a:r>
              <a:rPr lang="zh-CN" altLang="en-US" sz="1600" dirty="0" smtClean="0">
                <a:solidFill>
                  <a:srgbClr val="00CC00"/>
                </a:solidFill>
                <a:latin typeface="楷体_GB2312" pitchFamily="49" charset="-122"/>
                <a:ea typeface="楷体_GB2312" pitchFamily="49" charset="-122"/>
              </a:rPr>
              <a:t>在当前</a:t>
            </a:r>
            <a:r>
              <a:rPr lang="zh-CN" altLang="en-US" sz="1600" dirty="0">
                <a:solidFill>
                  <a:srgbClr val="00CC00"/>
                </a:solidFill>
                <a:latin typeface="楷体_GB2312" pitchFamily="49" charset="-122"/>
                <a:ea typeface="楷体_GB2312" pitchFamily="49" charset="-122"/>
              </a:rPr>
              <a:t>目录</a:t>
            </a:r>
            <a:r>
              <a:rPr lang="zh-CN" altLang="en-US" sz="1600" dirty="0" smtClean="0">
                <a:solidFill>
                  <a:srgbClr val="00CC00"/>
                </a:solidFill>
                <a:latin typeface="楷体_GB2312" pitchFamily="49" charset="-122"/>
                <a:ea typeface="楷体_GB2312" pitchFamily="49" charset="-122"/>
              </a:rPr>
              <a:t>下新建文件</a:t>
            </a:r>
            <a:r>
              <a:rPr lang="en-US" altLang="zh-CN" sz="1600" dirty="0" smtClean="0">
                <a:solidFill>
                  <a:srgbClr val="00CC00"/>
                </a:solidFill>
                <a:latin typeface="楷体_GB2312" pitchFamily="49" charset="-122"/>
                <a:ea typeface="楷体_GB2312" pitchFamily="49" charset="-122"/>
              </a:rPr>
              <a:t>file1</a:t>
            </a:r>
            <a:r>
              <a:rPr lang="zh-CN" altLang="en-US" sz="1600" dirty="0" smtClean="0">
                <a:solidFill>
                  <a:srgbClr val="00CC00"/>
                </a:solidFill>
                <a:latin typeface="楷体_GB2312" pitchFamily="49" charset="-122"/>
                <a:ea typeface="楷体_GB2312" pitchFamily="49" charset="-122"/>
              </a:rPr>
              <a:t>，并输入内容</a:t>
            </a:r>
            <a:endParaRPr lang="zh-CN" altLang="en-US" dirty="0"/>
          </a:p>
          <a:p>
            <a:pPr marL="82550" indent="0">
              <a:buNone/>
            </a:pPr>
            <a:r>
              <a:rPr lang="zh-CN" altLang="en-US" dirty="0"/>
              <a:t>　</a:t>
            </a:r>
            <a:r>
              <a:rPr lang="en-US" altLang="zh-CN" dirty="0"/>
              <a:t>[</a:t>
            </a:r>
            <a:r>
              <a:rPr lang="en-US" altLang="zh-CN" dirty="0" err="1"/>
              <a:t>fyl@localhost</a:t>
            </a:r>
            <a:r>
              <a:rPr lang="en-US" altLang="zh-CN" dirty="0"/>
              <a:t> ~]$</a:t>
            </a:r>
            <a:r>
              <a:rPr lang="en-US" altLang="zh-CN" dirty="0">
                <a:solidFill>
                  <a:schemeClr val="folHlink"/>
                </a:solidFill>
              </a:rPr>
              <a:t>cat </a:t>
            </a:r>
            <a:r>
              <a:rPr lang="en-US" altLang="zh-CN" dirty="0" smtClean="0">
                <a:solidFill>
                  <a:schemeClr val="folHlink"/>
                </a:solidFill>
              </a:rPr>
              <a:t>&gt;&gt; file2</a:t>
            </a:r>
            <a:endParaRPr lang="en-US" altLang="zh-CN" dirty="0"/>
          </a:p>
          <a:p>
            <a:pPr marL="82550" indent="0">
              <a:buNone/>
            </a:pPr>
            <a:r>
              <a:rPr lang="zh-CN" altLang="en-US" dirty="0"/>
              <a:t>　</a:t>
            </a:r>
            <a:r>
              <a:rPr lang="en-US" altLang="zh-CN" sz="1600" dirty="0" smtClean="0">
                <a:solidFill>
                  <a:srgbClr val="00CC00"/>
                </a:solidFill>
                <a:latin typeface="楷体_GB2312" pitchFamily="49" charset="-122"/>
                <a:ea typeface="楷体_GB2312" pitchFamily="49" charset="-122"/>
              </a:rPr>
              <a:t>//</a:t>
            </a:r>
            <a:r>
              <a:rPr lang="zh-CN" altLang="en-US" sz="1600" dirty="0" smtClean="0">
                <a:solidFill>
                  <a:srgbClr val="00CC00"/>
                </a:solidFill>
                <a:latin typeface="楷体_GB2312" pitchFamily="49" charset="-122"/>
                <a:ea typeface="楷体_GB2312" pitchFamily="49" charset="-122"/>
              </a:rPr>
              <a:t>将输入内容放在文件</a:t>
            </a:r>
            <a:r>
              <a:rPr lang="en-US" altLang="zh-CN" sz="1600" dirty="0" smtClean="0">
                <a:solidFill>
                  <a:srgbClr val="00CC00"/>
                </a:solidFill>
                <a:latin typeface="楷体_GB2312" pitchFamily="49" charset="-122"/>
                <a:ea typeface="楷体_GB2312" pitchFamily="49" charset="-122"/>
              </a:rPr>
              <a:t>file2</a:t>
            </a:r>
            <a:r>
              <a:rPr lang="zh-CN" altLang="en-US" sz="1600" dirty="0" smtClean="0">
                <a:solidFill>
                  <a:srgbClr val="00CC00"/>
                </a:solidFill>
                <a:latin typeface="楷体_GB2312" pitchFamily="49" charset="-122"/>
                <a:ea typeface="楷体_GB2312" pitchFamily="49" charset="-122"/>
              </a:rPr>
              <a:t>的末尾</a:t>
            </a:r>
            <a:r>
              <a:rPr lang="zh-CN" altLang="en-US" dirty="0"/>
              <a:t>　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>
          <a:xfrm>
            <a:off x="899592" y="627534"/>
            <a:ext cx="7497762" cy="4320480"/>
          </a:xfrm>
        </p:spPr>
        <p:txBody>
          <a:bodyPr>
            <a:normAutofit/>
          </a:bodyPr>
          <a:lstStyle/>
          <a:p>
            <a:pPr marL="596900" indent="-514350">
              <a:lnSpc>
                <a:spcPct val="80000"/>
              </a:lnSpc>
              <a:buAutoNum type="arabicPeriod" startAt="3"/>
            </a:pPr>
            <a:r>
              <a:rPr lang="en-US" altLang="zh-CN" sz="1800" b="1" dirty="0" err="1" smtClean="0">
                <a:solidFill>
                  <a:srgbClr val="C00000"/>
                </a:solidFill>
                <a:latin typeface="Arial Black" panose="020B0A04020102020204" pitchFamily="34" charset="0"/>
              </a:rPr>
              <a:t>cp</a:t>
            </a:r>
            <a:r>
              <a:rPr lang="zh-CN" altLang="en-US" sz="1800" b="1" dirty="0" smtClean="0">
                <a:solidFill>
                  <a:srgbClr val="C00000"/>
                </a:solidFill>
                <a:ea typeface="宋体" panose="02010600030101010101" pitchFamily="2" charset="-122"/>
              </a:rPr>
              <a:t>　</a:t>
            </a:r>
            <a:endParaRPr lang="en-US" altLang="zh-CN" sz="1800" b="1" dirty="0" smtClean="0">
              <a:solidFill>
                <a:srgbClr val="C00000"/>
              </a:solidFill>
              <a:ea typeface="宋体" panose="02010600030101010101" pitchFamily="2" charset="-122"/>
            </a:endParaRPr>
          </a:p>
          <a:p>
            <a:pPr marL="82550" indent="0">
              <a:lnSpc>
                <a:spcPct val="80000"/>
              </a:lnSpc>
              <a:buNone/>
            </a:pPr>
            <a:endParaRPr lang="en-US" altLang="zh-CN" sz="1800" b="1" dirty="0" smtClean="0">
              <a:solidFill>
                <a:srgbClr val="C00000"/>
              </a:solidFill>
              <a:ea typeface="宋体" panose="02010600030101010101" pitchFamily="2" charset="-122"/>
            </a:endParaRPr>
          </a:p>
          <a:p>
            <a:pPr marL="82550" indent="0">
              <a:buNone/>
            </a:pPr>
            <a:r>
              <a:rPr lang="zh-CN" altLang="fr-FR" sz="1800" b="1" dirty="0" smtClean="0"/>
              <a:t>功能</a:t>
            </a:r>
            <a:r>
              <a:rPr lang="zh-CN" altLang="fr-FR" sz="1800" b="1" dirty="0"/>
              <a:t>：</a:t>
            </a:r>
            <a:r>
              <a:rPr lang="zh-CN" altLang="fr-FR" sz="1800" b="1" dirty="0">
                <a:solidFill>
                  <a:srgbClr val="FF0000"/>
                </a:solidFill>
              </a:rPr>
              <a:t>复制文件或目录</a:t>
            </a:r>
            <a:endParaRPr lang="zh-CN" altLang="fr-FR" sz="1800" b="1" dirty="0">
              <a:solidFill>
                <a:srgbClr val="FF0000"/>
              </a:solidFill>
            </a:endParaRPr>
          </a:p>
          <a:p>
            <a:pPr marL="82550" indent="0">
              <a:buNone/>
            </a:pPr>
            <a:r>
              <a:rPr lang="zh-CN" altLang="fr-FR" sz="1800" b="1" dirty="0" smtClean="0"/>
              <a:t>语法</a:t>
            </a:r>
            <a:r>
              <a:rPr lang="zh-CN" altLang="fr-FR" sz="1800" b="1" dirty="0"/>
              <a:t>：</a:t>
            </a:r>
            <a:r>
              <a:rPr lang="fr-FR" altLang="zh-CN" sz="1800" b="1" dirty="0">
                <a:solidFill>
                  <a:srgbClr val="FF0000"/>
                </a:solidFill>
                <a:ea typeface="黑体" panose="02010609060101010101" pitchFamily="49" charset="-122"/>
              </a:rPr>
              <a:t>cp  </a:t>
            </a:r>
            <a:r>
              <a:rPr lang="en-US" altLang="zh-CN" sz="1800" b="1" dirty="0">
                <a:solidFill>
                  <a:srgbClr val="FF0000"/>
                </a:solidFill>
                <a:ea typeface="黑体" panose="02010609060101010101" pitchFamily="49" charset="-122"/>
              </a:rPr>
              <a:t>[</a:t>
            </a:r>
            <a:r>
              <a:rPr lang="zh-CN" altLang="en-US" sz="1800" b="1" dirty="0">
                <a:solidFill>
                  <a:srgbClr val="FF0000"/>
                </a:solidFill>
                <a:ea typeface="黑体" panose="02010609060101010101" pitchFamily="49" charset="-122"/>
              </a:rPr>
              <a:t>选项</a:t>
            </a:r>
            <a:r>
              <a:rPr lang="en-US" altLang="zh-CN" sz="1800" b="1" dirty="0">
                <a:solidFill>
                  <a:srgbClr val="FF0000"/>
                </a:solidFill>
                <a:ea typeface="黑体" panose="02010609060101010101" pitchFamily="49" charset="-122"/>
              </a:rPr>
              <a:t>]  </a:t>
            </a:r>
            <a:r>
              <a:rPr lang="zh-CN" altLang="en-US" sz="1800" b="1" dirty="0">
                <a:solidFill>
                  <a:srgbClr val="FF0000"/>
                </a:solidFill>
                <a:ea typeface="黑体" panose="02010609060101010101" pitchFamily="49" charset="-122"/>
              </a:rPr>
              <a:t>源目录或文件　目的目录或文件</a:t>
            </a:r>
            <a:endParaRPr lang="zh-CN" altLang="en-US" sz="1800" b="1" dirty="0">
              <a:solidFill>
                <a:srgbClr val="FF0000"/>
              </a:solidFill>
              <a:ea typeface="黑体" panose="02010609060101010101" pitchFamily="49" charset="-122"/>
            </a:endParaRPr>
          </a:p>
          <a:p>
            <a:pPr marL="82550" indent="0">
              <a:buNone/>
            </a:pPr>
            <a:r>
              <a:rPr lang="zh-CN" altLang="da-DK" sz="1800" dirty="0" smtClean="0"/>
              <a:t>常用</a:t>
            </a:r>
            <a:r>
              <a:rPr lang="zh-CN" altLang="da-DK" sz="1800" dirty="0"/>
              <a:t>的选项及其含义：</a:t>
            </a:r>
            <a:endParaRPr lang="zh-CN" altLang="da-DK" sz="1800" dirty="0"/>
          </a:p>
          <a:p>
            <a:pPr marL="82550" indent="0">
              <a:buNone/>
            </a:pPr>
            <a:r>
              <a:rPr lang="zh-CN" altLang="da-DK" sz="1800" dirty="0"/>
              <a:t>　</a:t>
            </a:r>
            <a:r>
              <a:rPr lang="zh-CN" altLang="da-DK" sz="1800" dirty="0">
                <a:solidFill>
                  <a:srgbClr val="FF0000"/>
                </a:solidFill>
              </a:rPr>
              <a:t>　</a:t>
            </a:r>
            <a:r>
              <a:rPr lang="da-DK" altLang="zh-CN" sz="1800" dirty="0">
                <a:solidFill>
                  <a:srgbClr val="FF0000"/>
                </a:solidFill>
              </a:rPr>
              <a:t>-i</a:t>
            </a:r>
            <a:r>
              <a:rPr lang="zh-CN" altLang="da-DK" sz="1800" dirty="0"/>
              <a:t>：交互式复制，若目标文件已存在，则给出提示要求覆盖确认</a:t>
            </a:r>
            <a:r>
              <a:rPr lang="en-US" altLang="zh-CN" sz="1800" dirty="0"/>
              <a:t>(</a:t>
            </a:r>
            <a:r>
              <a:rPr lang="zh-CN" altLang="en-US" sz="1800" dirty="0"/>
              <a:t>默认</a:t>
            </a:r>
            <a:r>
              <a:rPr lang="en-US" altLang="zh-CN" sz="1800" dirty="0"/>
              <a:t>)</a:t>
            </a:r>
            <a:r>
              <a:rPr lang="zh-CN" altLang="da-DK" sz="1800" dirty="0"/>
              <a:t>。</a:t>
            </a:r>
            <a:endParaRPr lang="zh-CN" altLang="da-DK" sz="1800" dirty="0"/>
          </a:p>
          <a:p>
            <a:pPr marL="82550" indent="0">
              <a:buNone/>
            </a:pPr>
            <a:r>
              <a:rPr lang="zh-CN" altLang="da-DK" sz="1800" dirty="0"/>
              <a:t>　　</a:t>
            </a:r>
            <a:r>
              <a:rPr lang="da-DK" altLang="zh-CN" sz="1800" dirty="0">
                <a:solidFill>
                  <a:srgbClr val="FF0000"/>
                </a:solidFill>
              </a:rPr>
              <a:t>-f</a:t>
            </a:r>
            <a:r>
              <a:rPr lang="zh-CN" altLang="da-DK" sz="1800" dirty="0"/>
              <a:t>：非交互式复制，若目标文件已存在，则直接覆盖目标文件而不作提示。</a:t>
            </a:r>
            <a:endParaRPr lang="en-US" altLang="zh-CN" sz="1800" dirty="0"/>
          </a:p>
          <a:p>
            <a:pPr marL="82550" indent="0">
              <a:buNone/>
            </a:pPr>
            <a:r>
              <a:rPr lang="zh-CN" altLang="da-DK" sz="1800" dirty="0"/>
              <a:t>　</a:t>
            </a:r>
            <a:r>
              <a:rPr lang="zh-CN" altLang="da-DK" sz="1800" dirty="0">
                <a:solidFill>
                  <a:srgbClr val="FF0000"/>
                </a:solidFill>
              </a:rPr>
              <a:t>  </a:t>
            </a:r>
            <a:r>
              <a:rPr lang="da-DK" altLang="zh-CN" sz="1800" dirty="0">
                <a:solidFill>
                  <a:srgbClr val="FF0000"/>
                </a:solidFill>
              </a:rPr>
              <a:t>-r</a:t>
            </a:r>
            <a:r>
              <a:rPr lang="zh-CN" altLang="da-DK" sz="1800" dirty="0"/>
              <a:t>：</a:t>
            </a:r>
            <a:r>
              <a:rPr lang="zh-CN" altLang="da-DK" sz="1800" dirty="0">
                <a:solidFill>
                  <a:srgbClr val="0000FF"/>
                </a:solidFill>
              </a:rPr>
              <a:t>递归复制目录子树，包括该目录自身</a:t>
            </a:r>
            <a:r>
              <a:rPr lang="zh-CN" altLang="da-DK" sz="1800" dirty="0"/>
              <a:t>。 </a:t>
            </a:r>
            <a:endParaRPr lang="zh-CN" altLang="da-DK" sz="1800" dirty="0"/>
          </a:p>
          <a:p>
            <a:pPr marL="82550" indent="0">
              <a:buNone/>
            </a:pPr>
            <a:endParaRPr lang="zh-CN" altLang="en-US" sz="2400" dirty="0"/>
          </a:p>
          <a:p>
            <a:pPr marL="82550" indent="0">
              <a:lnSpc>
                <a:spcPct val="90000"/>
              </a:lnSpc>
              <a:buNone/>
            </a:pPr>
            <a:endParaRPr lang="zh-CN" altLang="en-US" sz="2400" b="1" dirty="0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899592" y="699542"/>
            <a:ext cx="7915275" cy="3348038"/>
          </a:xfrm>
          <a:prstGeom prst="rect">
            <a:avLst/>
          </a:prstGeom>
        </p:spPr>
        <p:txBody>
          <a:bodyPr>
            <a:noAutofit/>
          </a:bodyPr>
          <a:lstStyle>
            <a:lvl1pPr marL="365760" indent="-28321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/>
              <a:buChar char="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37490" algn="l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 panose="020B0604030504040204"/>
              <a:buChar char="◦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87095" indent="-22860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 panose="05020102010507070707"/>
              <a:buChar char="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17399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575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0876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8945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425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2550" indent="0">
              <a:lnSpc>
                <a:spcPct val="90000"/>
              </a:lnSpc>
              <a:buNone/>
            </a:pPr>
            <a:r>
              <a:rPr lang="zh-CN" altLang="en-US" sz="2400" dirty="0" smtClean="0"/>
              <a:t>　</a:t>
            </a:r>
            <a:r>
              <a:rPr lang="en-US" altLang="zh-CN" sz="2400" b="1" dirty="0" smtClean="0"/>
              <a:t>$</a:t>
            </a:r>
            <a:r>
              <a:rPr lang="en-US" altLang="zh-CN" sz="2400" b="1" dirty="0" err="1" smtClean="0">
                <a:solidFill>
                  <a:schemeClr val="folHlink"/>
                </a:solidFill>
              </a:rPr>
              <a:t>cp</a:t>
            </a:r>
            <a:r>
              <a:rPr lang="en-US" altLang="zh-CN" sz="2400" b="1" dirty="0" smtClean="0">
                <a:solidFill>
                  <a:schemeClr val="folHlink"/>
                </a:solidFill>
              </a:rPr>
              <a:t>  f1  dir1/f11</a:t>
            </a:r>
            <a:endParaRPr lang="en-US" altLang="zh-CN" sz="2400" b="1" dirty="0" smtClean="0">
              <a:solidFill>
                <a:schemeClr val="folHlink"/>
              </a:solidFill>
            </a:endParaRPr>
          </a:p>
          <a:p>
            <a:pPr marL="82550" indent="0">
              <a:lnSpc>
                <a:spcPct val="90000"/>
              </a:lnSpc>
              <a:buNone/>
            </a:pPr>
            <a:r>
              <a:rPr lang="zh-CN" altLang="en-US" sz="2400" b="1" dirty="0" smtClean="0"/>
              <a:t>　</a:t>
            </a:r>
            <a:r>
              <a:rPr lang="en-US" altLang="zh-CN" sz="1400" b="1" dirty="0" smtClean="0">
                <a:solidFill>
                  <a:srgbClr val="00CC00"/>
                </a:solidFill>
                <a:latin typeface="楷体_GB2312" pitchFamily="49" charset="-122"/>
                <a:ea typeface="楷体_GB2312" pitchFamily="49" charset="-122"/>
              </a:rPr>
              <a:t>//</a:t>
            </a:r>
            <a:r>
              <a:rPr lang="zh-CN" altLang="en-US" sz="1400" b="1" dirty="0" smtClean="0">
                <a:solidFill>
                  <a:srgbClr val="00CC00"/>
                </a:solidFill>
                <a:latin typeface="楷体_GB2312" pitchFamily="49" charset="-122"/>
                <a:ea typeface="楷体_GB2312" pitchFamily="49" charset="-122"/>
              </a:rPr>
              <a:t>将当前目录中的文件</a:t>
            </a:r>
            <a:r>
              <a:rPr lang="en-US" altLang="zh-CN" sz="1400" b="1" dirty="0" smtClean="0">
                <a:solidFill>
                  <a:srgbClr val="00CC00"/>
                </a:solidFill>
                <a:latin typeface="楷体_GB2312" pitchFamily="49" charset="-122"/>
                <a:ea typeface="楷体_GB2312" pitchFamily="49" charset="-122"/>
              </a:rPr>
              <a:t>f1</a:t>
            </a:r>
            <a:r>
              <a:rPr lang="zh-CN" altLang="en-US" sz="1400" b="1" dirty="0" smtClean="0">
                <a:solidFill>
                  <a:srgbClr val="00CC00"/>
                </a:solidFill>
                <a:latin typeface="楷体_GB2312" pitchFamily="49" charset="-122"/>
                <a:ea typeface="楷体_GB2312" pitchFamily="49" charset="-122"/>
              </a:rPr>
              <a:t>复制到子目录</a:t>
            </a:r>
            <a:r>
              <a:rPr lang="en-US" altLang="zh-CN" sz="1400" b="1" dirty="0" smtClean="0">
                <a:solidFill>
                  <a:srgbClr val="00CC00"/>
                </a:solidFill>
                <a:latin typeface="楷体_GB2312" pitchFamily="49" charset="-122"/>
                <a:ea typeface="楷体_GB2312" pitchFamily="49" charset="-122"/>
              </a:rPr>
              <a:t>dir1</a:t>
            </a:r>
            <a:r>
              <a:rPr lang="zh-CN" altLang="en-US" sz="1400" b="1" dirty="0" smtClean="0">
                <a:solidFill>
                  <a:srgbClr val="00CC00"/>
                </a:solidFill>
                <a:latin typeface="楷体_GB2312" pitchFamily="49" charset="-122"/>
                <a:ea typeface="楷体_GB2312" pitchFamily="49" charset="-122"/>
              </a:rPr>
              <a:t>下，并取名为</a:t>
            </a:r>
            <a:r>
              <a:rPr lang="en-US" altLang="zh-CN" sz="1400" b="1" dirty="0" smtClean="0">
                <a:solidFill>
                  <a:srgbClr val="00CC00"/>
                </a:solidFill>
                <a:latin typeface="楷体_GB2312" pitchFamily="49" charset="-122"/>
                <a:ea typeface="楷体_GB2312" pitchFamily="49" charset="-122"/>
              </a:rPr>
              <a:t>f11</a:t>
            </a:r>
            <a:endParaRPr lang="en-US" altLang="zh-CN" sz="1400" b="1" dirty="0" smtClean="0">
              <a:solidFill>
                <a:srgbClr val="00CC00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82550" indent="0">
              <a:lnSpc>
                <a:spcPct val="90000"/>
              </a:lnSpc>
              <a:buNone/>
            </a:pPr>
            <a:endParaRPr lang="en-US" altLang="zh-CN" sz="1400" b="1" dirty="0" smtClean="0">
              <a:solidFill>
                <a:srgbClr val="00CC00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82550" indent="0">
              <a:lnSpc>
                <a:spcPct val="90000"/>
              </a:lnSpc>
              <a:buNone/>
            </a:pPr>
            <a:r>
              <a:rPr lang="zh-CN" altLang="en-US" sz="2400" b="1" dirty="0" smtClean="0"/>
              <a:t>　</a:t>
            </a:r>
            <a:r>
              <a:rPr lang="en-US" altLang="zh-CN" sz="2400" b="1" dirty="0" smtClean="0"/>
              <a:t>$</a:t>
            </a:r>
            <a:r>
              <a:rPr lang="en-US" altLang="zh-CN" sz="2400" b="1" dirty="0" err="1" smtClean="0">
                <a:solidFill>
                  <a:schemeClr val="folHlink"/>
                </a:solidFill>
              </a:rPr>
              <a:t>cp</a:t>
            </a:r>
            <a:r>
              <a:rPr lang="en-US" altLang="zh-CN" sz="2400" b="1" dirty="0" smtClean="0">
                <a:solidFill>
                  <a:schemeClr val="folHlink"/>
                </a:solidFill>
              </a:rPr>
              <a:t>   /</a:t>
            </a:r>
            <a:r>
              <a:rPr lang="en-US" altLang="zh-CN" sz="2400" b="1" dirty="0" err="1" smtClean="0">
                <a:solidFill>
                  <a:schemeClr val="folHlink"/>
                </a:solidFill>
              </a:rPr>
              <a:t>usr</a:t>
            </a:r>
            <a:r>
              <a:rPr lang="en-US" altLang="zh-CN" sz="2400" b="1" dirty="0" smtClean="0">
                <a:solidFill>
                  <a:schemeClr val="folHlink"/>
                </a:solidFill>
              </a:rPr>
              <a:t>/share/magic   .</a:t>
            </a:r>
            <a:endParaRPr lang="da-DK" altLang="zh-CN" sz="2400" b="1" dirty="0" smtClean="0">
              <a:solidFill>
                <a:schemeClr val="folHlink"/>
              </a:solidFill>
            </a:endParaRPr>
          </a:p>
          <a:p>
            <a:pPr marL="82550" indent="0">
              <a:lnSpc>
                <a:spcPct val="90000"/>
              </a:lnSpc>
              <a:buNone/>
            </a:pPr>
            <a:r>
              <a:rPr lang="zh-CN" altLang="da-DK" sz="1400" b="1" dirty="0" smtClean="0">
                <a:solidFill>
                  <a:srgbClr val="008000"/>
                </a:solidFill>
              </a:rPr>
              <a:t>　</a:t>
            </a:r>
            <a:r>
              <a:rPr lang="da-DK" altLang="zh-CN" sz="1400" b="1" dirty="0" smtClean="0">
                <a:solidFill>
                  <a:srgbClr val="00CC00"/>
                </a:solidFill>
                <a:latin typeface="楷体_GB2312" pitchFamily="49" charset="-122"/>
                <a:ea typeface="楷体_GB2312" pitchFamily="49" charset="-122"/>
              </a:rPr>
              <a:t>//</a:t>
            </a:r>
            <a:r>
              <a:rPr lang="zh-CN" altLang="da-DK" sz="1400" b="1" dirty="0" smtClean="0">
                <a:solidFill>
                  <a:srgbClr val="00CC00"/>
                </a:solidFill>
                <a:latin typeface="楷体_GB2312" pitchFamily="49" charset="-122"/>
                <a:ea typeface="楷体_GB2312" pitchFamily="49" charset="-122"/>
              </a:rPr>
              <a:t>将文件</a:t>
            </a:r>
            <a:r>
              <a:rPr lang="en-US" altLang="zh-CN" sz="1400" b="1" dirty="0" smtClean="0">
                <a:solidFill>
                  <a:srgbClr val="00CC00"/>
                </a:solidFill>
                <a:latin typeface="楷体_GB2312" pitchFamily="49" charset="-122"/>
                <a:ea typeface="楷体_GB2312" pitchFamily="49" charset="-122"/>
              </a:rPr>
              <a:t>/</a:t>
            </a:r>
            <a:r>
              <a:rPr lang="en-US" altLang="zh-CN" sz="1400" b="1" dirty="0" err="1" smtClean="0">
                <a:solidFill>
                  <a:srgbClr val="00CC00"/>
                </a:solidFill>
                <a:latin typeface="楷体_GB2312" pitchFamily="49" charset="-122"/>
                <a:ea typeface="楷体_GB2312" pitchFamily="49" charset="-122"/>
              </a:rPr>
              <a:t>usr</a:t>
            </a:r>
            <a:r>
              <a:rPr lang="en-US" altLang="zh-CN" sz="1400" b="1" dirty="0" smtClean="0">
                <a:solidFill>
                  <a:srgbClr val="00CC00"/>
                </a:solidFill>
                <a:latin typeface="楷体_GB2312" pitchFamily="49" charset="-122"/>
                <a:ea typeface="楷体_GB2312" pitchFamily="49" charset="-122"/>
              </a:rPr>
              <a:t>/share/magic</a:t>
            </a:r>
            <a:r>
              <a:rPr lang="zh-CN" altLang="en-US" sz="1400" b="1" dirty="0" smtClean="0">
                <a:solidFill>
                  <a:srgbClr val="00CC00"/>
                </a:solidFill>
                <a:latin typeface="楷体_GB2312" pitchFamily="49" charset="-122"/>
                <a:ea typeface="楷体_GB2312" pitchFamily="49" charset="-122"/>
              </a:rPr>
              <a:t>复制到当前目录下。</a:t>
            </a:r>
            <a:endParaRPr lang="zh-CN" altLang="en-US" sz="1400" b="1" dirty="0" smtClean="0">
              <a:solidFill>
                <a:srgbClr val="00CC00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82550" indent="0">
              <a:lnSpc>
                <a:spcPct val="90000"/>
              </a:lnSpc>
              <a:buNone/>
            </a:pPr>
            <a:endParaRPr lang="zh-CN" altLang="en-US" sz="1400" b="1" dirty="0" smtClean="0">
              <a:solidFill>
                <a:srgbClr val="00CC00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82550" indent="0">
              <a:lnSpc>
                <a:spcPct val="90000"/>
              </a:lnSpc>
              <a:buNone/>
            </a:pPr>
            <a:r>
              <a:rPr lang="zh-CN" altLang="en-US" sz="2400" b="1" dirty="0" smtClean="0"/>
              <a:t>　</a:t>
            </a:r>
            <a:r>
              <a:rPr lang="en-US" altLang="zh-CN" sz="2400" b="1" dirty="0" smtClean="0"/>
              <a:t>$</a:t>
            </a:r>
            <a:r>
              <a:rPr lang="en-US" altLang="zh-CN" sz="2400" b="1" dirty="0" err="1" smtClean="0">
                <a:solidFill>
                  <a:schemeClr val="folHlink"/>
                </a:solidFill>
              </a:rPr>
              <a:t>cp</a:t>
            </a:r>
            <a:r>
              <a:rPr lang="en-US" altLang="zh-CN" sz="2400" b="1" dirty="0" smtClean="0">
                <a:solidFill>
                  <a:schemeClr val="folHlink"/>
                </a:solidFill>
              </a:rPr>
              <a:t>   /</a:t>
            </a:r>
            <a:r>
              <a:rPr lang="en-US" altLang="zh-CN" sz="2400" b="1" dirty="0" err="1" smtClean="0">
                <a:solidFill>
                  <a:schemeClr val="folHlink"/>
                </a:solidFill>
              </a:rPr>
              <a:t>usr</a:t>
            </a:r>
            <a:r>
              <a:rPr lang="en-US" altLang="zh-CN" sz="2400" b="1" dirty="0" smtClean="0">
                <a:solidFill>
                  <a:schemeClr val="folHlink"/>
                </a:solidFill>
              </a:rPr>
              <a:t>/share/*.txt   dir1/</a:t>
            </a:r>
            <a:endParaRPr lang="en-US" altLang="zh-CN" sz="2400" b="1" dirty="0" smtClean="0">
              <a:solidFill>
                <a:schemeClr val="folHlink"/>
              </a:solidFill>
            </a:endParaRPr>
          </a:p>
          <a:p>
            <a:pPr marL="82550" indent="0">
              <a:lnSpc>
                <a:spcPct val="90000"/>
              </a:lnSpc>
              <a:buNone/>
            </a:pPr>
            <a:r>
              <a:rPr lang="zh-CN" altLang="en-US" sz="1400" b="1" dirty="0" smtClean="0">
                <a:solidFill>
                  <a:srgbClr val="008000"/>
                </a:solidFill>
              </a:rPr>
              <a:t>　</a:t>
            </a:r>
            <a:r>
              <a:rPr lang="en-US" altLang="zh-CN" sz="1400" b="1" dirty="0" smtClean="0">
                <a:solidFill>
                  <a:srgbClr val="00CC00"/>
                </a:solidFill>
                <a:latin typeface="楷体_GB2312" pitchFamily="49" charset="-122"/>
                <a:ea typeface="楷体_GB2312" pitchFamily="49" charset="-122"/>
              </a:rPr>
              <a:t>//</a:t>
            </a:r>
            <a:r>
              <a:rPr lang="zh-CN" altLang="en-US" sz="1400" b="1" dirty="0" smtClean="0">
                <a:solidFill>
                  <a:srgbClr val="00CC00"/>
                </a:solidFill>
                <a:latin typeface="楷体_GB2312" pitchFamily="49" charset="-122"/>
                <a:ea typeface="楷体_GB2312" pitchFamily="49" charset="-122"/>
              </a:rPr>
              <a:t>将目录</a:t>
            </a:r>
            <a:r>
              <a:rPr lang="en-US" altLang="zh-CN" sz="1400" b="1" dirty="0" smtClean="0">
                <a:solidFill>
                  <a:srgbClr val="00CC00"/>
                </a:solidFill>
                <a:latin typeface="楷体_GB2312" pitchFamily="49" charset="-122"/>
                <a:ea typeface="楷体_GB2312" pitchFamily="49" charset="-122"/>
              </a:rPr>
              <a:t>/</a:t>
            </a:r>
            <a:r>
              <a:rPr lang="en-US" altLang="zh-CN" sz="1400" b="1" dirty="0" err="1" smtClean="0">
                <a:solidFill>
                  <a:srgbClr val="00CC00"/>
                </a:solidFill>
                <a:latin typeface="楷体_GB2312" pitchFamily="49" charset="-122"/>
                <a:ea typeface="楷体_GB2312" pitchFamily="49" charset="-122"/>
              </a:rPr>
              <a:t>usr</a:t>
            </a:r>
            <a:r>
              <a:rPr lang="en-US" altLang="zh-CN" sz="1400" b="1" dirty="0" smtClean="0">
                <a:solidFill>
                  <a:srgbClr val="00CC00"/>
                </a:solidFill>
                <a:latin typeface="楷体_GB2312" pitchFamily="49" charset="-122"/>
                <a:ea typeface="楷体_GB2312" pitchFamily="49" charset="-122"/>
              </a:rPr>
              <a:t>/share</a:t>
            </a:r>
            <a:r>
              <a:rPr lang="zh-CN" altLang="en-US" sz="1400" b="1" dirty="0" smtClean="0">
                <a:solidFill>
                  <a:srgbClr val="00CC00"/>
                </a:solidFill>
                <a:latin typeface="楷体_GB2312" pitchFamily="49" charset="-122"/>
                <a:ea typeface="楷体_GB2312" pitchFamily="49" charset="-122"/>
              </a:rPr>
              <a:t>下的所有</a:t>
            </a:r>
            <a:r>
              <a:rPr lang="en-US" altLang="zh-CN" sz="1400" b="1" dirty="0" smtClean="0">
                <a:solidFill>
                  <a:srgbClr val="00CC00"/>
                </a:solidFill>
                <a:latin typeface="楷体_GB2312" pitchFamily="49" charset="-122"/>
                <a:ea typeface="楷体_GB2312" pitchFamily="49" charset="-122"/>
              </a:rPr>
              <a:t>.txt</a:t>
            </a:r>
            <a:r>
              <a:rPr lang="zh-CN" altLang="en-US" sz="1400" b="1" dirty="0" smtClean="0">
                <a:solidFill>
                  <a:srgbClr val="00CC00"/>
                </a:solidFill>
                <a:latin typeface="楷体_GB2312" pitchFamily="49" charset="-122"/>
                <a:ea typeface="楷体_GB2312" pitchFamily="49" charset="-122"/>
              </a:rPr>
              <a:t>文件复制到</a:t>
            </a:r>
            <a:r>
              <a:rPr lang="en-US" altLang="zh-CN" sz="1400" b="1" dirty="0" smtClean="0">
                <a:solidFill>
                  <a:srgbClr val="00CC00"/>
                </a:solidFill>
                <a:latin typeface="楷体_GB2312" pitchFamily="49" charset="-122"/>
                <a:ea typeface="楷体_GB2312" pitchFamily="49" charset="-122"/>
              </a:rPr>
              <a:t>dir1</a:t>
            </a:r>
            <a:r>
              <a:rPr lang="zh-CN" altLang="en-US" sz="1400" b="1" dirty="0" smtClean="0">
                <a:solidFill>
                  <a:srgbClr val="00CC00"/>
                </a:solidFill>
                <a:latin typeface="楷体_GB2312" pitchFamily="49" charset="-122"/>
                <a:ea typeface="楷体_GB2312" pitchFamily="49" charset="-122"/>
              </a:rPr>
              <a:t>目录中。</a:t>
            </a:r>
            <a:endParaRPr lang="zh-CN" altLang="en-US" sz="1400" b="1" dirty="0" smtClean="0">
              <a:solidFill>
                <a:srgbClr val="00CC00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82550" indent="0">
              <a:lnSpc>
                <a:spcPct val="90000"/>
              </a:lnSpc>
              <a:buNone/>
            </a:pPr>
            <a:endParaRPr lang="zh-CN" altLang="en-US" sz="1400" b="1" dirty="0" smtClean="0">
              <a:solidFill>
                <a:srgbClr val="00CC00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82550" indent="0">
              <a:lnSpc>
                <a:spcPct val="90000"/>
              </a:lnSpc>
              <a:buNone/>
            </a:pPr>
            <a:r>
              <a:rPr lang="zh-CN" altLang="en-US" sz="2400" b="1" dirty="0" smtClean="0"/>
              <a:t>　</a:t>
            </a:r>
            <a:r>
              <a:rPr lang="en-US" altLang="zh-CN" sz="2400" b="1" dirty="0" smtClean="0"/>
              <a:t>$</a:t>
            </a:r>
            <a:r>
              <a:rPr lang="en-US" altLang="zh-CN" sz="2400" b="1" dirty="0" err="1" smtClean="0">
                <a:solidFill>
                  <a:schemeClr val="folHlink"/>
                </a:solidFill>
              </a:rPr>
              <a:t>cp</a:t>
            </a:r>
            <a:r>
              <a:rPr lang="en-US" altLang="zh-CN" sz="2400" b="1" dirty="0" smtClean="0">
                <a:solidFill>
                  <a:schemeClr val="folHlink"/>
                </a:solidFill>
              </a:rPr>
              <a:t>  -r  music/  </a:t>
            </a:r>
            <a:r>
              <a:rPr lang="en-US" altLang="zh-CN" sz="2400" b="1" dirty="0" err="1" smtClean="0">
                <a:solidFill>
                  <a:schemeClr val="folHlink"/>
                </a:solidFill>
              </a:rPr>
              <a:t>Mydocument</a:t>
            </a:r>
            <a:r>
              <a:rPr lang="en-US" altLang="zh-CN" sz="2400" b="1" dirty="0" smtClean="0">
                <a:solidFill>
                  <a:schemeClr val="folHlink"/>
                </a:solidFill>
              </a:rPr>
              <a:t>/</a:t>
            </a:r>
            <a:endParaRPr lang="en-US" altLang="zh-CN" sz="2400" b="1" dirty="0" smtClean="0">
              <a:solidFill>
                <a:schemeClr val="folHlink"/>
              </a:solidFill>
            </a:endParaRPr>
          </a:p>
          <a:p>
            <a:pPr marL="82550" indent="0">
              <a:lnSpc>
                <a:spcPct val="90000"/>
              </a:lnSpc>
              <a:buNone/>
            </a:pPr>
            <a:r>
              <a:rPr lang="zh-CN" altLang="en-US" sz="1400" b="1" dirty="0" smtClean="0">
                <a:solidFill>
                  <a:srgbClr val="008000"/>
                </a:solidFill>
              </a:rPr>
              <a:t>　</a:t>
            </a:r>
            <a:r>
              <a:rPr lang="en-US" altLang="zh-CN" sz="1400" b="1" dirty="0" smtClean="0">
                <a:solidFill>
                  <a:srgbClr val="00CC00"/>
                </a:solidFill>
                <a:latin typeface="楷体_GB2312" pitchFamily="49" charset="-122"/>
                <a:ea typeface="楷体_GB2312" pitchFamily="49" charset="-122"/>
              </a:rPr>
              <a:t>//</a:t>
            </a:r>
            <a:r>
              <a:rPr lang="zh-CN" altLang="en-US" sz="1400" b="1" dirty="0" smtClean="0">
                <a:solidFill>
                  <a:srgbClr val="00CC00"/>
                </a:solidFill>
                <a:latin typeface="楷体_GB2312" pitchFamily="49" charset="-122"/>
                <a:ea typeface="楷体_GB2312" pitchFamily="49" charset="-122"/>
              </a:rPr>
              <a:t>将</a:t>
            </a:r>
            <a:r>
              <a:rPr lang="en-US" altLang="zh-CN" sz="1400" b="1" dirty="0" smtClean="0">
                <a:solidFill>
                  <a:srgbClr val="00CC00"/>
                </a:solidFill>
                <a:latin typeface="楷体_GB2312" pitchFamily="49" charset="-122"/>
                <a:ea typeface="楷体_GB2312" pitchFamily="49" charset="-122"/>
              </a:rPr>
              <a:t>music</a:t>
            </a:r>
            <a:r>
              <a:rPr lang="zh-CN" altLang="en-US" sz="1400" b="1" dirty="0" smtClean="0">
                <a:solidFill>
                  <a:srgbClr val="00CC00"/>
                </a:solidFill>
                <a:latin typeface="楷体_GB2312" pitchFamily="49" charset="-122"/>
                <a:ea typeface="楷体_GB2312" pitchFamily="49" charset="-122"/>
              </a:rPr>
              <a:t>子树递归复制到子目录</a:t>
            </a:r>
            <a:r>
              <a:rPr lang="en-US" altLang="zh-CN" sz="1400" b="1" dirty="0" err="1" smtClean="0">
                <a:solidFill>
                  <a:srgbClr val="00CC00"/>
                </a:solidFill>
                <a:latin typeface="楷体_GB2312" pitchFamily="49" charset="-122"/>
                <a:ea typeface="楷体_GB2312" pitchFamily="49" charset="-122"/>
              </a:rPr>
              <a:t>Mydocument</a:t>
            </a:r>
            <a:r>
              <a:rPr lang="zh-CN" altLang="en-US" sz="1400" b="1" dirty="0" smtClean="0">
                <a:solidFill>
                  <a:srgbClr val="00CC00"/>
                </a:solidFill>
                <a:latin typeface="楷体_GB2312" pitchFamily="49" charset="-122"/>
                <a:ea typeface="楷体_GB2312" pitchFamily="49" charset="-122"/>
              </a:rPr>
              <a:t>下。</a:t>
            </a:r>
            <a:r>
              <a:rPr lang="zh-CN" altLang="en-US" sz="2400" b="1" dirty="0" smtClean="0"/>
              <a:t> </a:t>
            </a:r>
            <a:endParaRPr lang="zh-CN" altLang="en-US" sz="24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>
          <a:xfrm>
            <a:off x="683568" y="411510"/>
            <a:ext cx="7497762" cy="4320480"/>
          </a:xfrm>
        </p:spPr>
        <p:txBody>
          <a:bodyPr>
            <a:normAutofit/>
          </a:bodyPr>
          <a:lstStyle/>
          <a:p>
            <a:pPr marL="82550" indent="0">
              <a:lnSpc>
                <a:spcPct val="80000"/>
              </a:lnSpc>
              <a:buNone/>
            </a:pPr>
            <a:r>
              <a:rPr lang="en-US" altLang="zh-CN" sz="2000" b="1" dirty="0" smtClean="0">
                <a:solidFill>
                  <a:srgbClr val="C00000"/>
                </a:solidFill>
                <a:latin typeface="Arial Black" panose="020B0A04020102020204" pitchFamily="34" charset="0"/>
              </a:rPr>
              <a:t>4. </a:t>
            </a:r>
            <a:r>
              <a:rPr lang="en-US" altLang="zh-CN" sz="2000" b="1" dirty="0" err="1" smtClean="0">
                <a:solidFill>
                  <a:srgbClr val="C00000"/>
                </a:solidFill>
                <a:latin typeface="Arial Black" panose="020B0A04020102020204" pitchFamily="34" charset="0"/>
              </a:rPr>
              <a:t>rm</a:t>
            </a:r>
            <a:r>
              <a:rPr lang="zh-CN" altLang="en-US" sz="2000" b="1" dirty="0" smtClean="0">
                <a:solidFill>
                  <a:srgbClr val="C00000"/>
                </a:solidFill>
                <a:ea typeface="宋体" panose="02010600030101010101" pitchFamily="2" charset="-122"/>
              </a:rPr>
              <a:t>　</a:t>
            </a:r>
            <a:endParaRPr lang="en-US" altLang="zh-CN" sz="2000" b="1" dirty="0" smtClean="0">
              <a:solidFill>
                <a:srgbClr val="C00000"/>
              </a:solidFill>
              <a:ea typeface="宋体" panose="02010600030101010101" pitchFamily="2" charset="-122"/>
            </a:endParaRPr>
          </a:p>
          <a:p>
            <a:pPr marL="82550" indent="0">
              <a:lnSpc>
                <a:spcPct val="80000"/>
              </a:lnSpc>
              <a:buNone/>
            </a:pPr>
            <a:endParaRPr lang="en-US" altLang="zh-CN" sz="2000" b="1" dirty="0" smtClean="0">
              <a:solidFill>
                <a:srgbClr val="C00000"/>
              </a:solidFill>
              <a:ea typeface="宋体" panose="02010600030101010101" pitchFamily="2" charset="-122"/>
            </a:endParaRPr>
          </a:p>
          <a:p>
            <a:pPr marL="82550" indent="0">
              <a:buNone/>
            </a:pPr>
            <a:r>
              <a:rPr lang="zh-CN" altLang="fr-FR" sz="2000" b="1" dirty="0" smtClean="0"/>
              <a:t>功能：</a:t>
            </a:r>
            <a:r>
              <a:rPr lang="zh-CN" altLang="en-US" sz="2000" b="1" dirty="0">
                <a:solidFill>
                  <a:srgbClr val="FF0000"/>
                </a:solidFill>
              </a:rPr>
              <a:t>删除</a:t>
            </a:r>
            <a:r>
              <a:rPr lang="zh-CN" altLang="fr-FR" sz="2000" b="1" dirty="0" smtClean="0">
                <a:solidFill>
                  <a:srgbClr val="FF0000"/>
                </a:solidFill>
              </a:rPr>
              <a:t>文件</a:t>
            </a:r>
            <a:r>
              <a:rPr lang="zh-CN" altLang="fr-FR" sz="2000" b="1" dirty="0">
                <a:solidFill>
                  <a:srgbClr val="FF0000"/>
                </a:solidFill>
              </a:rPr>
              <a:t>或目录</a:t>
            </a:r>
            <a:endParaRPr lang="zh-CN" altLang="fr-FR" sz="2000" b="1" dirty="0">
              <a:solidFill>
                <a:srgbClr val="FF0000"/>
              </a:solidFill>
            </a:endParaRPr>
          </a:p>
          <a:p>
            <a:pPr marL="82550" indent="0">
              <a:buNone/>
            </a:pPr>
            <a:r>
              <a:rPr lang="zh-CN" altLang="fr-FR" sz="2000" b="1" dirty="0" smtClean="0"/>
              <a:t>语法：</a:t>
            </a:r>
            <a:r>
              <a:rPr lang="en-US" altLang="zh-CN" sz="2000" b="1" dirty="0" err="1">
                <a:solidFill>
                  <a:srgbClr val="FF0000"/>
                </a:solidFill>
                <a:ea typeface="黑体" panose="02010609060101010101" pitchFamily="49" charset="-122"/>
              </a:rPr>
              <a:t>rm</a:t>
            </a:r>
            <a:r>
              <a:rPr lang="fr-FR" altLang="zh-CN" sz="2000" b="1" dirty="0" smtClean="0">
                <a:solidFill>
                  <a:srgbClr val="FF0000"/>
                </a:solidFill>
                <a:ea typeface="黑体" panose="02010609060101010101" pitchFamily="49" charset="-122"/>
              </a:rPr>
              <a:t>  </a:t>
            </a:r>
            <a:r>
              <a:rPr lang="en-US" altLang="zh-CN" sz="2000" b="1" dirty="0">
                <a:solidFill>
                  <a:srgbClr val="FF0000"/>
                </a:solidFill>
                <a:ea typeface="黑体" panose="02010609060101010101" pitchFamily="49" charset="-122"/>
              </a:rPr>
              <a:t>[</a:t>
            </a:r>
            <a:r>
              <a:rPr lang="zh-CN" altLang="en-US" sz="2000" b="1" dirty="0">
                <a:solidFill>
                  <a:srgbClr val="FF0000"/>
                </a:solidFill>
                <a:ea typeface="黑体" panose="02010609060101010101" pitchFamily="49" charset="-122"/>
              </a:rPr>
              <a:t>选项</a:t>
            </a:r>
            <a:r>
              <a:rPr lang="en-US" altLang="zh-CN" sz="2000" b="1" dirty="0">
                <a:solidFill>
                  <a:srgbClr val="FF0000"/>
                </a:solidFill>
                <a:ea typeface="黑体" panose="02010609060101010101" pitchFamily="49" charset="-122"/>
              </a:rPr>
              <a:t>]  </a:t>
            </a:r>
            <a:r>
              <a:rPr lang="zh-CN" altLang="en-US" sz="2000" b="1" dirty="0">
                <a:solidFill>
                  <a:srgbClr val="FF0000"/>
                </a:solidFill>
                <a:ea typeface="黑体" panose="02010609060101010101" pitchFamily="49" charset="-122"/>
              </a:rPr>
              <a:t>源目录或</a:t>
            </a:r>
            <a:r>
              <a:rPr lang="zh-CN" altLang="en-US" sz="2000" b="1" dirty="0" smtClean="0">
                <a:solidFill>
                  <a:srgbClr val="FF0000"/>
                </a:solidFill>
                <a:ea typeface="黑体" panose="02010609060101010101" pitchFamily="49" charset="-122"/>
              </a:rPr>
              <a:t>文件</a:t>
            </a:r>
            <a:endParaRPr lang="en-US" altLang="zh-CN" sz="2000" b="1" dirty="0">
              <a:solidFill>
                <a:srgbClr val="FF0000"/>
              </a:solidFill>
              <a:ea typeface="黑体" panose="02010609060101010101" pitchFamily="49" charset="-122"/>
            </a:endParaRPr>
          </a:p>
          <a:p>
            <a:pPr marL="82550" indent="0">
              <a:buNone/>
            </a:pPr>
            <a:r>
              <a:rPr lang="zh-CN" altLang="da-DK" sz="2000" dirty="0" smtClean="0"/>
              <a:t>常用</a:t>
            </a:r>
            <a:r>
              <a:rPr lang="zh-CN" altLang="da-DK" sz="2000" dirty="0"/>
              <a:t>的选项及其含义：</a:t>
            </a:r>
            <a:endParaRPr lang="zh-CN" altLang="da-DK" sz="2000" dirty="0"/>
          </a:p>
          <a:p>
            <a:pPr marL="82550" indent="0">
              <a:lnSpc>
                <a:spcPct val="90000"/>
              </a:lnSpc>
              <a:buNone/>
            </a:pPr>
            <a:r>
              <a:rPr lang="zh-CN" altLang="da-DK" sz="2000" dirty="0"/>
              <a:t>　</a:t>
            </a:r>
            <a:r>
              <a:rPr lang="en-US" altLang="zh-CN" sz="2000" dirty="0">
                <a:solidFill>
                  <a:srgbClr val="0000FF"/>
                </a:solidFill>
              </a:rPr>
              <a:t>-i</a:t>
            </a:r>
            <a:r>
              <a:rPr lang="zh-CN" altLang="en-US" sz="2000" dirty="0"/>
              <a:t>：</a:t>
            </a:r>
            <a:r>
              <a:rPr lang="zh-CN" altLang="da-DK" sz="2000" dirty="0"/>
              <a:t>交互式删除，删除时给出提示要求确认。</a:t>
            </a:r>
            <a:endParaRPr lang="zh-CN" altLang="da-DK" sz="2000" dirty="0"/>
          </a:p>
          <a:p>
            <a:pPr marL="82550" indent="0">
              <a:lnSpc>
                <a:spcPct val="90000"/>
              </a:lnSpc>
              <a:buNone/>
            </a:pPr>
            <a:r>
              <a:rPr lang="zh-CN" altLang="da-DK" sz="2000" dirty="0"/>
              <a:t>　</a:t>
            </a:r>
            <a:r>
              <a:rPr lang="da-DK" altLang="zh-CN" sz="2000" dirty="0" smtClean="0">
                <a:solidFill>
                  <a:srgbClr val="0000FF"/>
                </a:solidFill>
              </a:rPr>
              <a:t>-</a:t>
            </a:r>
            <a:r>
              <a:rPr lang="da-DK" altLang="zh-CN" sz="2000" dirty="0">
                <a:solidFill>
                  <a:srgbClr val="0000FF"/>
                </a:solidFill>
              </a:rPr>
              <a:t>f</a:t>
            </a:r>
            <a:r>
              <a:rPr lang="zh-CN" altLang="da-DK" sz="2000" dirty="0"/>
              <a:t>：非交互式删除，不给出提示而直接删除。</a:t>
            </a:r>
            <a:endParaRPr lang="zh-CN" altLang="en-US" sz="2000" dirty="0"/>
          </a:p>
          <a:p>
            <a:pPr marL="82550" indent="0">
              <a:lnSpc>
                <a:spcPct val="90000"/>
              </a:lnSpc>
              <a:buNone/>
            </a:pPr>
            <a:r>
              <a:rPr lang="zh-CN" altLang="en-US" sz="2000" dirty="0"/>
              <a:t>　</a:t>
            </a:r>
            <a:r>
              <a:rPr lang="en-US" altLang="zh-CN" sz="2000" dirty="0" smtClean="0">
                <a:solidFill>
                  <a:srgbClr val="0000FF"/>
                </a:solidFill>
              </a:rPr>
              <a:t>-</a:t>
            </a:r>
            <a:r>
              <a:rPr lang="en-US" altLang="zh-CN" sz="2000" dirty="0">
                <a:solidFill>
                  <a:srgbClr val="0000FF"/>
                </a:solidFill>
              </a:rPr>
              <a:t>r</a:t>
            </a:r>
            <a:r>
              <a:rPr lang="zh-CN" altLang="en-US" sz="2000" dirty="0"/>
              <a:t>：递归删除</a:t>
            </a:r>
            <a:r>
              <a:rPr lang="zh-CN" altLang="en-US" sz="2000" dirty="0">
                <a:solidFill>
                  <a:srgbClr val="0000FF"/>
                </a:solidFill>
              </a:rPr>
              <a:t>目录子树</a:t>
            </a:r>
            <a:r>
              <a:rPr lang="zh-CN" altLang="en-US" sz="2000" dirty="0">
                <a:solidFill>
                  <a:schemeClr val="hlink"/>
                </a:solidFill>
              </a:rPr>
              <a:t>。</a:t>
            </a:r>
            <a:endParaRPr lang="zh-CN" altLang="en-US" sz="2000" dirty="0">
              <a:solidFill>
                <a:schemeClr val="hlink"/>
              </a:solidFill>
            </a:endParaRPr>
          </a:p>
          <a:p>
            <a:pPr marL="82550" indent="0">
              <a:buNone/>
            </a:pPr>
            <a:endParaRPr lang="zh-CN" altLang="en-US" sz="2400" dirty="0"/>
          </a:p>
          <a:p>
            <a:pPr marL="82550" indent="0">
              <a:lnSpc>
                <a:spcPct val="90000"/>
              </a:lnSpc>
              <a:buNone/>
            </a:pPr>
            <a:endParaRPr lang="zh-CN" altLang="en-US" sz="2400" b="1" dirty="0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55576" y="621365"/>
            <a:ext cx="7848872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　</a:t>
            </a:r>
            <a:r>
              <a:rPr lang="en-US" altLang="zh-CN" sz="2000" dirty="0"/>
              <a:t>$</a:t>
            </a:r>
            <a:r>
              <a:rPr lang="en-US" altLang="zh-CN" sz="2000" dirty="0" err="1">
                <a:solidFill>
                  <a:schemeClr val="folHlink"/>
                </a:solidFill>
              </a:rPr>
              <a:t>rm</a:t>
            </a:r>
            <a:r>
              <a:rPr lang="en-US" altLang="zh-CN" sz="2000" dirty="0">
                <a:solidFill>
                  <a:schemeClr val="folHlink"/>
                </a:solidFill>
              </a:rPr>
              <a:t>  -r dir1</a:t>
            </a:r>
            <a:r>
              <a:rPr lang="en-US" altLang="zh-CN" sz="2000" dirty="0"/>
              <a:t>  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en-US" altLang="zh-CN" sz="2000" dirty="0"/>
              <a:t>    </a:t>
            </a:r>
            <a:r>
              <a:rPr lang="en-US" altLang="zh-CN" sz="2000" dirty="0">
                <a:solidFill>
                  <a:srgbClr val="00CC00"/>
                </a:solidFill>
                <a:latin typeface="楷体_GB2312" pitchFamily="49" charset="-122"/>
                <a:ea typeface="楷体_GB2312" pitchFamily="49" charset="-122"/>
              </a:rPr>
              <a:t>//</a:t>
            </a:r>
            <a:r>
              <a:rPr lang="zh-CN" altLang="en-US" sz="2000" dirty="0">
                <a:solidFill>
                  <a:srgbClr val="00CC00"/>
                </a:solidFill>
                <a:latin typeface="楷体_GB2312" pitchFamily="49" charset="-122"/>
                <a:ea typeface="楷体_GB2312" pitchFamily="49" charset="-122"/>
              </a:rPr>
              <a:t>删除当前目录的子目录</a:t>
            </a:r>
            <a:r>
              <a:rPr lang="en-US" altLang="zh-CN" sz="2000" dirty="0">
                <a:solidFill>
                  <a:srgbClr val="00CC00"/>
                </a:solidFill>
                <a:latin typeface="楷体_GB2312" pitchFamily="49" charset="-122"/>
                <a:ea typeface="楷体_GB2312" pitchFamily="49" charset="-122"/>
              </a:rPr>
              <a:t>dir1</a:t>
            </a:r>
            <a:r>
              <a:rPr lang="zh-CN" altLang="en-US" sz="2000" dirty="0">
                <a:solidFill>
                  <a:srgbClr val="00CC00"/>
                </a:solidFill>
                <a:latin typeface="楷体_GB2312" pitchFamily="49" charset="-122"/>
                <a:ea typeface="楷体_GB2312" pitchFamily="49" charset="-122"/>
              </a:rPr>
              <a:t>，需确认</a:t>
            </a:r>
            <a:endParaRPr lang="zh-CN" altLang="en-US" sz="2000" dirty="0"/>
          </a:p>
          <a:p>
            <a:pPr>
              <a:lnSpc>
                <a:spcPct val="150000"/>
              </a:lnSpc>
            </a:pPr>
            <a:r>
              <a:rPr lang="zh-CN" altLang="en-US" sz="2000" dirty="0"/>
              <a:t>　</a:t>
            </a:r>
            <a:r>
              <a:rPr lang="en-US" altLang="zh-CN" sz="2000" dirty="0"/>
              <a:t>$</a:t>
            </a:r>
            <a:r>
              <a:rPr lang="en-US" altLang="zh-CN" sz="2000" dirty="0" err="1">
                <a:solidFill>
                  <a:schemeClr val="folHlink"/>
                </a:solidFill>
              </a:rPr>
              <a:t>rm</a:t>
            </a:r>
            <a:r>
              <a:rPr lang="en-US" altLang="zh-CN" sz="2000" dirty="0">
                <a:solidFill>
                  <a:schemeClr val="folHlink"/>
                </a:solidFill>
              </a:rPr>
              <a:t> -</a:t>
            </a:r>
            <a:r>
              <a:rPr lang="en-US" altLang="zh-CN" sz="2000" dirty="0" err="1">
                <a:solidFill>
                  <a:schemeClr val="folHlink"/>
                </a:solidFill>
              </a:rPr>
              <a:t>rf</a:t>
            </a:r>
            <a:r>
              <a:rPr lang="en-US" altLang="zh-CN" sz="2000" dirty="0">
                <a:solidFill>
                  <a:schemeClr val="folHlink"/>
                </a:solidFill>
              </a:rPr>
              <a:t>  music</a:t>
            </a:r>
            <a:endParaRPr lang="en-US" altLang="zh-CN" sz="2000" dirty="0">
              <a:solidFill>
                <a:schemeClr val="folHlink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/>
              <a:t>　</a:t>
            </a:r>
            <a:r>
              <a:rPr lang="en-US" altLang="zh-CN" sz="2000" dirty="0">
                <a:solidFill>
                  <a:srgbClr val="00CC00"/>
                </a:solidFill>
                <a:latin typeface="楷体_GB2312" pitchFamily="49" charset="-122"/>
                <a:ea typeface="楷体_GB2312" pitchFamily="49" charset="-122"/>
              </a:rPr>
              <a:t> //</a:t>
            </a:r>
            <a:r>
              <a:rPr lang="zh-CN" altLang="en-US" sz="2000" dirty="0">
                <a:solidFill>
                  <a:srgbClr val="00CC00"/>
                </a:solidFill>
                <a:latin typeface="楷体_GB2312" pitchFamily="49" charset="-122"/>
                <a:ea typeface="楷体_GB2312" pitchFamily="49" charset="-122"/>
              </a:rPr>
              <a:t>删除当前目录的子目录</a:t>
            </a:r>
            <a:r>
              <a:rPr lang="en-US" altLang="zh-CN" sz="2000" dirty="0">
                <a:solidFill>
                  <a:srgbClr val="00CC00"/>
                </a:solidFill>
                <a:latin typeface="楷体_GB2312" pitchFamily="49" charset="-122"/>
                <a:ea typeface="楷体_GB2312" pitchFamily="49" charset="-122"/>
              </a:rPr>
              <a:t>music</a:t>
            </a:r>
            <a:r>
              <a:rPr lang="zh-CN" altLang="en-US" sz="2000" dirty="0">
                <a:solidFill>
                  <a:srgbClr val="00CC00"/>
                </a:solidFill>
                <a:latin typeface="楷体_GB2312" pitchFamily="49" charset="-122"/>
                <a:ea typeface="楷体_GB2312" pitchFamily="49" charset="-122"/>
              </a:rPr>
              <a:t>，不需确认</a:t>
            </a:r>
            <a:endParaRPr lang="zh-CN" altLang="en-US" sz="2000" dirty="0"/>
          </a:p>
          <a:p>
            <a:pPr>
              <a:lnSpc>
                <a:spcPct val="150000"/>
              </a:lnSpc>
            </a:pPr>
            <a:r>
              <a:rPr lang="zh-CN" altLang="en-US" sz="2000" dirty="0"/>
              <a:t>　</a:t>
            </a:r>
            <a:r>
              <a:rPr lang="en-US" altLang="zh-CN" sz="2000" dirty="0"/>
              <a:t>$</a:t>
            </a:r>
            <a:r>
              <a:rPr lang="en-US" altLang="zh-CN" sz="2000" dirty="0" err="1">
                <a:solidFill>
                  <a:schemeClr val="folHlink"/>
                </a:solidFill>
              </a:rPr>
              <a:t>rm</a:t>
            </a:r>
            <a:r>
              <a:rPr lang="en-US" altLang="zh-CN" sz="2000" dirty="0">
                <a:solidFill>
                  <a:schemeClr val="folHlink"/>
                </a:solidFill>
              </a:rPr>
              <a:t> file1</a:t>
            </a:r>
            <a:endParaRPr lang="en-US" altLang="zh-CN" sz="2000" dirty="0">
              <a:solidFill>
                <a:schemeClr val="folHlink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/>
              <a:t>　</a:t>
            </a:r>
            <a:r>
              <a:rPr lang="en-US" altLang="zh-CN" sz="2000" dirty="0">
                <a:solidFill>
                  <a:srgbClr val="00CC00"/>
                </a:solidFill>
                <a:latin typeface="楷体_GB2312" pitchFamily="49" charset="-122"/>
                <a:ea typeface="楷体_GB2312" pitchFamily="49" charset="-122"/>
              </a:rPr>
              <a:t>//</a:t>
            </a:r>
            <a:r>
              <a:rPr lang="zh-CN" altLang="en-US" sz="2000" dirty="0">
                <a:solidFill>
                  <a:srgbClr val="00CC00"/>
                </a:solidFill>
                <a:latin typeface="楷体_GB2312" pitchFamily="49" charset="-122"/>
                <a:ea typeface="楷体_GB2312" pitchFamily="49" charset="-122"/>
              </a:rPr>
              <a:t>删除文件</a:t>
            </a:r>
            <a:r>
              <a:rPr lang="en-US" altLang="zh-CN" sz="2000" dirty="0">
                <a:solidFill>
                  <a:srgbClr val="00CC00"/>
                </a:solidFill>
                <a:latin typeface="楷体_GB2312" pitchFamily="49" charset="-122"/>
                <a:ea typeface="楷体_GB2312" pitchFamily="49" charset="-122"/>
              </a:rPr>
              <a:t>file1</a:t>
            </a:r>
            <a:r>
              <a:rPr lang="zh-CN" altLang="en-US" sz="2000" dirty="0">
                <a:solidFill>
                  <a:srgbClr val="00CC00"/>
                </a:solidFill>
                <a:latin typeface="楷体_GB2312" pitchFamily="49" charset="-122"/>
                <a:ea typeface="楷体_GB2312" pitchFamily="49" charset="-122"/>
              </a:rPr>
              <a:t>，需确认</a:t>
            </a:r>
            <a:endParaRPr lang="en-US" altLang="zh-CN" sz="2000" dirty="0">
              <a:solidFill>
                <a:srgbClr val="00CC00"/>
              </a:solidFill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/>
              <a:t>   $</a:t>
            </a:r>
            <a:r>
              <a:rPr lang="en-US" altLang="zh-CN" sz="2000" dirty="0" err="1">
                <a:solidFill>
                  <a:schemeClr val="folHlink"/>
                </a:solidFill>
              </a:rPr>
              <a:t>rm</a:t>
            </a:r>
            <a:r>
              <a:rPr lang="en-US" altLang="zh-CN" sz="2000" dirty="0">
                <a:solidFill>
                  <a:schemeClr val="folHlink"/>
                </a:solidFill>
              </a:rPr>
              <a:t> –f file2</a:t>
            </a:r>
            <a:endParaRPr lang="en-US" altLang="zh-CN" sz="2000" dirty="0">
              <a:solidFill>
                <a:schemeClr val="folHlink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/>
              <a:t>　</a:t>
            </a:r>
            <a:r>
              <a:rPr lang="en-US" altLang="zh-CN" sz="2000" dirty="0">
                <a:solidFill>
                  <a:srgbClr val="00CC00"/>
                </a:solidFill>
                <a:latin typeface="楷体_GB2312" pitchFamily="49" charset="-122"/>
                <a:ea typeface="楷体_GB2312" pitchFamily="49" charset="-122"/>
              </a:rPr>
              <a:t>//</a:t>
            </a:r>
            <a:r>
              <a:rPr lang="zh-CN" altLang="en-US" sz="2000" dirty="0">
                <a:solidFill>
                  <a:srgbClr val="00CC00"/>
                </a:solidFill>
                <a:latin typeface="楷体_GB2312" pitchFamily="49" charset="-122"/>
                <a:ea typeface="楷体_GB2312" pitchFamily="49" charset="-122"/>
              </a:rPr>
              <a:t>删除文件</a:t>
            </a:r>
            <a:r>
              <a:rPr lang="en-US" altLang="zh-CN" sz="2000" dirty="0">
                <a:solidFill>
                  <a:srgbClr val="00CC00"/>
                </a:solidFill>
                <a:latin typeface="楷体_GB2312" pitchFamily="49" charset="-122"/>
                <a:ea typeface="楷体_GB2312" pitchFamily="49" charset="-122"/>
              </a:rPr>
              <a:t>file2</a:t>
            </a:r>
            <a:r>
              <a:rPr lang="zh-CN" altLang="en-US" sz="2000" dirty="0">
                <a:solidFill>
                  <a:srgbClr val="00CC00"/>
                </a:solidFill>
                <a:latin typeface="楷体_GB2312" pitchFamily="49" charset="-122"/>
                <a:ea typeface="楷体_GB2312" pitchFamily="49" charset="-122"/>
              </a:rPr>
              <a:t>，不需确认</a:t>
            </a:r>
            <a:endParaRPr lang="zh-CN" altLang="en-US" sz="2000" dirty="0">
              <a:solidFill>
                <a:srgbClr val="00CC00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>
          <a:xfrm>
            <a:off x="467544" y="339502"/>
            <a:ext cx="8208912" cy="4536504"/>
          </a:xfrm>
        </p:spPr>
        <p:txBody>
          <a:bodyPr>
            <a:normAutofit/>
          </a:bodyPr>
          <a:lstStyle/>
          <a:p>
            <a:pPr marL="82550" indent="0">
              <a:lnSpc>
                <a:spcPct val="80000"/>
              </a:lnSpc>
              <a:buNone/>
            </a:pPr>
            <a:r>
              <a:rPr lang="en-US" altLang="zh-CN" sz="2000" b="1" dirty="0" smtClean="0">
                <a:solidFill>
                  <a:srgbClr val="C00000"/>
                </a:solidFill>
                <a:ea typeface="宋体" panose="02010600030101010101" pitchFamily="2" charset="-122"/>
              </a:rPr>
              <a:t>5. mv</a:t>
            </a:r>
            <a:endParaRPr lang="en-US" altLang="zh-CN" sz="2000" b="1" dirty="0" smtClean="0">
              <a:solidFill>
                <a:srgbClr val="C00000"/>
              </a:solidFill>
              <a:ea typeface="宋体" panose="02010600030101010101" pitchFamily="2" charset="-122"/>
            </a:endParaRPr>
          </a:p>
          <a:p>
            <a:pPr marL="82550" indent="0">
              <a:buNone/>
            </a:pPr>
            <a:r>
              <a:rPr lang="zh-CN" altLang="fr-FR" sz="2000" b="1" dirty="0" smtClean="0"/>
              <a:t>功能：</a:t>
            </a:r>
            <a:r>
              <a:rPr lang="zh-CN" altLang="en-US" sz="2000" b="1" dirty="0"/>
              <a:t>①将目录或文件</a:t>
            </a:r>
            <a:r>
              <a:rPr lang="zh-CN" altLang="en-US" sz="2000" b="1" dirty="0">
                <a:solidFill>
                  <a:srgbClr val="FF0000"/>
                </a:solidFill>
              </a:rPr>
              <a:t>改名</a:t>
            </a:r>
            <a:r>
              <a:rPr lang="zh-CN" altLang="en-US" sz="2000" b="1" dirty="0" smtClean="0"/>
              <a:t>；</a:t>
            </a:r>
            <a:endParaRPr lang="en-US" altLang="zh-CN" sz="2000" b="1" dirty="0" smtClean="0"/>
          </a:p>
          <a:p>
            <a:pPr marL="82550" indent="0">
              <a:buNone/>
            </a:pPr>
            <a:r>
              <a:rPr lang="zh-CN" altLang="en-US" sz="2000" b="1" dirty="0" smtClean="0"/>
              <a:t>②</a:t>
            </a:r>
            <a:r>
              <a:rPr lang="zh-CN" altLang="en-US" sz="2000" b="1" dirty="0"/>
              <a:t>将文件从一个目录中移到（</a:t>
            </a:r>
            <a:r>
              <a:rPr lang="zh-CN" altLang="en-US" sz="2000" b="1" dirty="0">
                <a:solidFill>
                  <a:srgbClr val="FF0000"/>
                </a:solidFill>
              </a:rPr>
              <a:t>剪切</a:t>
            </a:r>
            <a:r>
              <a:rPr lang="zh-CN" altLang="en-US" sz="2000" b="1" dirty="0"/>
              <a:t>）另一个目录中，或将一个目录及其所有内容移到另一个目录下</a:t>
            </a:r>
            <a:r>
              <a:rPr lang="zh-CN" altLang="en-US" sz="2000" b="1" dirty="0" smtClean="0"/>
              <a:t>。</a:t>
            </a:r>
            <a:endParaRPr lang="en-US" altLang="zh-CN" sz="2000" b="1" dirty="0" smtClean="0"/>
          </a:p>
          <a:p>
            <a:pPr marL="82550" indent="0">
              <a:buNone/>
            </a:pPr>
            <a:endParaRPr lang="en-US" altLang="zh-CN" sz="2000" dirty="0" smtClean="0"/>
          </a:p>
          <a:p>
            <a:pPr marL="82550" indent="0">
              <a:buNone/>
            </a:pPr>
            <a:r>
              <a:rPr lang="zh-CN" altLang="en-US" sz="1800" dirty="0"/>
              <a:t>●形式</a:t>
            </a:r>
            <a:r>
              <a:rPr lang="en-US" altLang="zh-CN" sz="1800" dirty="0"/>
              <a:t>1</a:t>
            </a:r>
            <a:r>
              <a:rPr lang="zh-CN" altLang="en-US" sz="1800" dirty="0"/>
              <a:t>：</a:t>
            </a:r>
            <a:r>
              <a:rPr lang="en-US" altLang="zh-CN" sz="1800" dirty="0">
                <a:solidFill>
                  <a:srgbClr val="FF0000"/>
                </a:solidFill>
                <a:ea typeface="黑体" panose="02010609060101010101" pitchFamily="49" charset="-122"/>
              </a:rPr>
              <a:t>mv  </a:t>
            </a:r>
            <a:r>
              <a:rPr lang="zh-CN" altLang="en-US" sz="1800" dirty="0">
                <a:solidFill>
                  <a:srgbClr val="FF0000"/>
                </a:solidFill>
                <a:ea typeface="黑体" panose="02010609060101010101" pitchFamily="49" charset="-122"/>
              </a:rPr>
              <a:t>文件名</a:t>
            </a:r>
            <a:r>
              <a:rPr lang="en-US" altLang="zh-CN" sz="1800" dirty="0">
                <a:solidFill>
                  <a:srgbClr val="FF0000"/>
                </a:solidFill>
                <a:ea typeface="黑体" panose="02010609060101010101" pitchFamily="49" charset="-122"/>
              </a:rPr>
              <a:t>1</a:t>
            </a:r>
            <a:r>
              <a:rPr lang="zh-CN" altLang="en-US" sz="1800" dirty="0">
                <a:solidFill>
                  <a:srgbClr val="FF0000"/>
                </a:solidFill>
                <a:ea typeface="黑体" panose="02010609060101010101" pitchFamily="49" charset="-122"/>
              </a:rPr>
              <a:t>　文件名</a:t>
            </a:r>
            <a:r>
              <a:rPr lang="en-US" altLang="zh-CN" sz="1800" dirty="0">
                <a:solidFill>
                  <a:srgbClr val="FF0000"/>
                </a:solidFill>
                <a:ea typeface="黑体" panose="02010609060101010101" pitchFamily="49" charset="-122"/>
              </a:rPr>
              <a:t>2</a:t>
            </a:r>
            <a:endParaRPr lang="en-US" altLang="zh-CN" sz="1800" dirty="0">
              <a:solidFill>
                <a:srgbClr val="FF0000"/>
              </a:solidFill>
              <a:ea typeface="黑体" panose="02010609060101010101" pitchFamily="49" charset="-122"/>
            </a:endParaRPr>
          </a:p>
          <a:p>
            <a:pPr marL="82550" indent="0">
              <a:buNone/>
            </a:pPr>
            <a:r>
              <a:rPr lang="zh-CN" altLang="en-US" sz="1800" dirty="0">
                <a:solidFill>
                  <a:schemeClr val="hlink"/>
                </a:solidFill>
              </a:rPr>
              <a:t>　　　</a:t>
            </a:r>
            <a:r>
              <a:rPr lang="zh-CN" altLang="en-US" sz="1800" dirty="0"/>
              <a:t>执行文件更名，文件名</a:t>
            </a:r>
            <a:r>
              <a:rPr lang="en-US" altLang="zh-CN" sz="1800" dirty="0"/>
              <a:t>1</a:t>
            </a:r>
            <a:r>
              <a:rPr lang="zh-CN" altLang="en-US" sz="1800" dirty="0"/>
              <a:t>改为文件名</a:t>
            </a:r>
            <a:r>
              <a:rPr lang="en-US" altLang="zh-CN" sz="1800" dirty="0"/>
              <a:t>2</a:t>
            </a:r>
            <a:r>
              <a:rPr lang="zh-CN" altLang="en-US" sz="1800" dirty="0"/>
              <a:t>。</a:t>
            </a:r>
            <a:r>
              <a:rPr lang="zh-CN" altLang="en-US" sz="1800" dirty="0">
                <a:solidFill>
                  <a:schemeClr val="hlink"/>
                </a:solidFill>
              </a:rPr>
              <a:t>           </a:t>
            </a:r>
            <a:endParaRPr lang="zh-CN" altLang="en-US" sz="1800" dirty="0">
              <a:solidFill>
                <a:schemeClr val="hlink"/>
              </a:solidFill>
            </a:endParaRPr>
          </a:p>
          <a:p>
            <a:pPr marL="82550" indent="0">
              <a:buNone/>
            </a:pPr>
            <a:r>
              <a:rPr lang="zh-CN" altLang="en-US" sz="1800" dirty="0" smtClean="0"/>
              <a:t>●</a:t>
            </a:r>
            <a:r>
              <a:rPr lang="zh-CN" altLang="en-US" sz="1800" dirty="0"/>
              <a:t>形式</a:t>
            </a:r>
            <a:r>
              <a:rPr lang="en-US" altLang="zh-CN" sz="1800" dirty="0"/>
              <a:t>2</a:t>
            </a:r>
            <a:r>
              <a:rPr lang="zh-CN" altLang="en-US" sz="1800" dirty="0"/>
              <a:t>：</a:t>
            </a:r>
            <a:r>
              <a:rPr lang="en-US" altLang="zh-CN" sz="1800" dirty="0">
                <a:solidFill>
                  <a:srgbClr val="FF0000"/>
                </a:solidFill>
                <a:ea typeface="黑体" panose="02010609060101010101" pitchFamily="49" charset="-122"/>
              </a:rPr>
              <a:t>mv  </a:t>
            </a:r>
            <a:r>
              <a:rPr lang="zh-CN" altLang="en-US" sz="1800" dirty="0">
                <a:solidFill>
                  <a:srgbClr val="FF0000"/>
                </a:solidFill>
                <a:ea typeface="黑体" panose="02010609060101010101" pitchFamily="49" charset="-122"/>
              </a:rPr>
              <a:t>文件名　目录名</a:t>
            </a:r>
            <a:endParaRPr lang="zh-CN" altLang="en-US" sz="1800" dirty="0">
              <a:solidFill>
                <a:srgbClr val="FF0000"/>
              </a:solidFill>
              <a:ea typeface="黑体" panose="02010609060101010101" pitchFamily="49" charset="-122"/>
            </a:endParaRPr>
          </a:p>
          <a:p>
            <a:pPr marL="82550" indent="0">
              <a:buNone/>
            </a:pPr>
            <a:r>
              <a:rPr lang="zh-CN" altLang="en-US" sz="1800" dirty="0">
                <a:solidFill>
                  <a:schemeClr val="hlink"/>
                </a:solidFill>
              </a:rPr>
              <a:t>　　　</a:t>
            </a:r>
            <a:r>
              <a:rPr lang="zh-CN" altLang="en-US" sz="1800" dirty="0"/>
              <a:t>执行文件移动，将文件移到指定目录中。</a:t>
            </a:r>
            <a:endParaRPr lang="zh-CN" altLang="en-US" sz="1800" dirty="0"/>
          </a:p>
          <a:p>
            <a:pPr marL="82550" indent="0">
              <a:buNone/>
            </a:pPr>
            <a:r>
              <a:rPr lang="zh-CN" altLang="en-US" sz="1800" dirty="0" smtClean="0"/>
              <a:t>●</a:t>
            </a:r>
            <a:r>
              <a:rPr lang="zh-CN" altLang="en-US" sz="1800" dirty="0"/>
              <a:t>形式</a:t>
            </a:r>
            <a:r>
              <a:rPr lang="en-US" altLang="zh-CN" sz="1800" dirty="0"/>
              <a:t>3</a:t>
            </a:r>
            <a:r>
              <a:rPr lang="zh-CN" altLang="en-US" sz="1800" dirty="0"/>
              <a:t>：</a:t>
            </a:r>
            <a:r>
              <a:rPr lang="en-US" altLang="zh-CN" sz="1800" dirty="0">
                <a:solidFill>
                  <a:srgbClr val="FF0000"/>
                </a:solidFill>
                <a:ea typeface="黑体" panose="02010609060101010101" pitchFamily="49" charset="-122"/>
              </a:rPr>
              <a:t>mv  </a:t>
            </a:r>
            <a:r>
              <a:rPr lang="zh-CN" altLang="en-US" sz="1800" dirty="0">
                <a:solidFill>
                  <a:srgbClr val="FF0000"/>
                </a:solidFill>
                <a:ea typeface="黑体" panose="02010609060101010101" pitchFamily="49" charset="-122"/>
              </a:rPr>
              <a:t>目录</a:t>
            </a:r>
            <a:r>
              <a:rPr lang="en-US" altLang="zh-CN" sz="1800" dirty="0">
                <a:solidFill>
                  <a:srgbClr val="FF0000"/>
                </a:solidFill>
                <a:ea typeface="黑体" panose="02010609060101010101" pitchFamily="49" charset="-122"/>
              </a:rPr>
              <a:t>1</a:t>
            </a:r>
            <a:r>
              <a:rPr lang="zh-CN" altLang="en-US" sz="1800" dirty="0">
                <a:solidFill>
                  <a:srgbClr val="FF0000"/>
                </a:solidFill>
                <a:ea typeface="黑体" panose="02010609060101010101" pitchFamily="49" charset="-122"/>
              </a:rPr>
              <a:t>　目录</a:t>
            </a:r>
            <a:r>
              <a:rPr lang="en-US" altLang="zh-CN" sz="1800" dirty="0">
                <a:solidFill>
                  <a:srgbClr val="FF0000"/>
                </a:solidFill>
                <a:ea typeface="黑体" panose="02010609060101010101" pitchFamily="49" charset="-122"/>
              </a:rPr>
              <a:t>2</a:t>
            </a:r>
            <a:endParaRPr lang="en-US" altLang="zh-CN" sz="1800" dirty="0">
              <a:solidFill>
                <a:srgbClr val="FF0000"/>
              </a:solidFill>
              <a:ea typeface="黑体" panose="02010609060101010101" pitchFamily="49" charset="-122"/>
            </a:endParaRPr>
          </a:p>
          <a:p>
            <a:pPr marL="82550" indent="0">
              <a:buNone/>
            </a:pPr>
            <a:r>
              <a:rPr lang="zh-CN" altLang="en-US" sz="1800" dirty="0">
                <a:solidFill>
                  <a:schemeClr val="hlink"/>
                </a:solidFill>
              </a:rPr>
              <a:t>　　　</a:t>
            </a:r>
            <a:r>
              <a:rPr lang="zh-CN" altLang="en-US" sz="1800" dirty="0"/>
              <a:t>若目录</a:t>
            </a:r>
            <a:r>
              <a:rPr lang="en-US" altLang="zh-CN" sz="1800" dirty="0"/>
              <a:t>2</a:t>
            </a:r>
            <a:r>
              <a:rPr lang="zh-CN" altLang="en-US" sz="1800" dirty="0"/>
              <a:t>为新目录，执行目录更名；否则执行目录移动，将目录</a:t>
            </a:r>
            <a:r>
              <a:rPr lang="en-US" altLang="zh-CN" sz="1800" dirty="0"/>
              <a:t>1</a:t>
            </a:r>
            <a:r>
              <a:rPr lang="zh-CN" altLang="en-US" sz="1800" dirty="0"/>
              <a:t>及其所有内容移到目录</a:t>
            </a:r>
            <a:r>
              <a:rPr lang="en-US" altLang="zh-CN" sz="1800" dirty="0"/>
              <a:t>2</a:t>
            </a:r>
            <a:r>
              <a:rPr lang="zh-CN" altLang="en-US" sz="1800" dirty="0"/>
              <a:t>下。</a:t>
            </a:r>
            <a:r>
              <a:rPr lang="zh-CN" altLang="en-US" sz="1800" dirty="0">
                <a:solidFill>
                  <a:schemeClr val="hlink"/>
                </a:solidFill>
              </a:rPr>
              <a:t> </a:t>
            </a:r>
            <a:r>
              <a:rPr lang="zh-CN" altLang="en-US" sz="1800" dirty="0"/>
              <a:t>　</a:t>
            </a:r>
            <a:endParaRPr lang="zh-CN" alt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>
          <a:xfrm>
            <a:off x="539552" y="699542"/>
            <a:ext cx="7497762" cy="4320480"/>
          </a:xfrm>
        </p:spPr>
        <p:txBody>
          <a:bodyPr>
            <a:normAutofit/>
          </a:bodyPr>
          <a:lstStyle/>
          <a:p>
            <a:pPr marL="82550" indent="0">
              <a:lnSpc>
                <a:spcPct val="80000"/>
              </a:lnSpc>
              <a:buNone/>
            </a:pPr>
            <a:r>
              <a:rPr lang="en-US" altLang="zh-CN" sz="2000" b="1" dirty="0">
                <a:solidFill>
                  <a:srgbClr val="C00000"/>
                </a:solidFill>
                <a:ea typeface="宋体" panose="02010600030101010101" pitchFamily="2" charset="-122"/>
              </a:rPr>
              <a:t>6</a:t>
            </a:r>
            <a:r>
              <a:rPr lang="en-US" altLang="zh-CN" sz="2000" b="1" dirty="0" smtClean="0">
                <a:solidFill>
                  <a:srgbClr val="C00000"/>
                </a:solidFill>
                <a:ea typeface="宋体" panose="02010600030101010101" pitchFamily="2" charset="-122"/>
              </a:rPr>
              <a:t>. </a:t>
            </a:r>
            <a:r>
              <a:rPr lang="en-US" altLang="zh-CN" sz="2000" b="1" dirty="0" err="1" smtClean="0">
                <a:solidFill>
                  <a:srgbClr val="C00000"/>
                </a:solidFill>
                <a:ea typeface="宋体" panose="02010600030101010101" pitchFamily="2" charset="-122"/>
              </a:rPr>
              <a:t>rmdir</a:t>
            </a:r>
            <a:endParaRPr lang="en-US" altLang="zh-CN" sz="2000" b="1" dirty="0" smtClean="0">
              <a:solidFill>
                <a:srgbClr val="C00000"/>
              </a:solidFill>
              <a:ea typeface="宋体" panose="02010600030101010101" pitchFamily="2" charset="-122"/>
            </a:endParaRPr>
          </a:p>
          <a:p>
            <a:pPr marL="82550" indent="0">
              <a:buNone/>
            </a:pPr>
            <a:r>
              <a:rPr lang="zh-CN" altLang="fr-FR" sz="2000" b="1" dirty="0" smtClean="0"/>
              <a:t>功能：</a:t>
            </a:r>
            <a:r>
              <a:rPr lang="zh-CN" altLang="en-US" sz="2000" b="1" dirty="0" smtClean="0">
                <a:solidFill>
                  <a:srgbClr val="FF0000"/>
                </a:solidFill>
              </a:rPr>
              <a:t>删除空目录</a:t>
            </a:r>
            <a:r>
              <a:rPr lang="zh-CN" altLang="en-US" sz="2000" b="1" dirty="0" smtClean="0"/>
              <a:t>。</a:t>
            </a:r>
            <a:endParaRPr lang="zh-CN" altLang="en-US" sz="2000" b="1" dirty="0"/>
          </a:p>
          <a:p>
            <a:pPr marL="82550" indent="0">
              <a:buNone/>
            </a:pPr>
            <a:r>
              <a:rPr lang="zh-CN" altLang="fr-FR" sz="2000" dirty="0" smtClean="0"/>
              <a:t>语法</a:t>
            </a:r>
            <a:r>
              <a:rPr lang="en-US" altLang="zh-CN" sz="2000" b="1" dirty="0" smtClean="0">
                <a:solidFill>
                  <a:srgbClr val="FF0000"/>
                </a:solidFill>
                <a:ea typeface="黑体" panose="02010609060101010101" pitchFamily="49" charset="-122"/>
              </a:rPr>
              <a:t>:  </a:t>
            </a:r>
            <a:r>
              <a:rPr lang="en-US" altLang="zh-CN" sz="2000" b="1" dirty="0" err="1" smtClean="0">
                <a:solidFill>
                  <a:srgbClr val="FF0000"/>
                </a:solidFill>
                <a:ea typeface="黑体" panose="02010609060101010101" pitchFamily="49" charset="-122"/>
              </a:rPr>
              <a:t>rmdir</a:t>
            </a:r>
            <a:r>
              <a:rPr lang="fr-FR" altLang="zh-CN" sz="2000" b="1" dirty="0" smtClean="0">
                <a:solidFill>
                  <a:srgbClr val="FF0000"/>
                </a:solidFill>
                <a:ea typeface="黑体" panose="02010609060101010101" pitchFamily="49" charset="-122"/>
              </a:rPr>
              <a:t>  </a:t>
            </a:r>
            <a:r>
              <a:rPr lang="en-US" altLang="zh-CN" sz="2000" b="1" dirty="0">
                <a:solidFill>
                  <a:srgbClr val="FF0000"/>
                </a:solidFill>
                <a:ea typeface="黑体" panose="02010609060101010101" pitchFamily="49" charset="-122"/>
              </a:rPr>
              <a:t>[</a:t>
            </a:r>
            <a:r>
              <a:rPr lang="zh-CN" altLang="en-US" sz="2000" b="1" dirty="0">
                <a:solidFill>
                  <a:srgbClr val="FF0000"/>
                </a:solidFill>
                <a:ea typeface="黑体" panose="02010609060101010101" pitchFamily="49" charset="-122"/>
              </a:rPr>
              <a:t>选项</a:t>
            </a:r>
            <a:r>
              <a:rPr lang="en-US" altLang="zh-CN" sz="2000" b="1" dirty="0">
                <a:solidFill>
                  <a:srgbClr val="FF0000"/>
                </a:solidFill>
                <a:ea typeface="黑体" panose="02010609060101010101" pitchFamily="49" charset="-122"/>
              </a:rPr>
              <a:t>] </a:t>
            </a:r>
            <a:r>
              <a:rPr lang="zh-CN" altLang="en-US" sz="2000" b="1" dirty="0" smtClean="0">
                <a:solidFill>
                  <a:srgbClr val="FF0000"/>
                </a:solidFill>
                <a:ea typeface="黑体" panose="02010609060101010101" pitchFamily="49" charset="-122"/>
              </a:rPr>
              <a:t>目录名</a:t>
            </a:r>
            <a:endParaRPr lang="en-US" altLang="zh-CN" sz="2000" b="1" dirty="0" smtClean="0">
              <a:solidFill>
                <a:srgbClr val="FF0000"/>
              </a:solidFill>
              <a:ea typeface="黑体" panose="02010609060101010101" pitchFamily="49" charset="-122"/>
            </a:endParaRPr>
          </a:p>
          <a:p>
            <a:pPr marL="82550" indent="0">
              <a:buNone/>
            </a:pPr>
            <a:endParaRPr lang="en-US" altLang="zh-CN" sz="2000" b="1" dirty="0" smtClean="0">
              <a:solidFill>
                <a:srgbClr val="FF0000"/>
              </a:solidFill>
              <a:ea typeface="黑体" panose="02010609060101010101" pitchFamily="49" charset="-122"/>
            </a:endParaRPr>
          </a:p>
          <a:p>
            <a:pPr marL="82550" indent="0">
              <a:buNone/>
            </a:pPr>
            <a:r>
              <a:rPr lang="zh-CN" altLang="da-DK" sz="2000" dirty="0"/>
              <a:t>常用的选项及其含义：</a:t>
            </a:r>
            <a:endParaRPr lang="zh-CN" altLang="da-DK" sz="2000" dirty="0"/>
          </a:p>
          <a:p>
            <a:pPr marL="82550" indent="0">
              <a:buNone/>
            </a:pPr>
            <a:r>
              <a:rPr lang="zh-CN" altLang="da-DK" sz="2000" dirty="0"/>
              <a:t>　　</a:t>
            </a:r>
            <a:r>
              <a:rPr lang="zh-CN" altLang="da-DK" sz="2000" dirty="0">
                <a:solidFill>
                  <a:srgbClr val="FF0000"/>
                </a:solidFill>
              </a:rPr>
              <a:t>　</a:t>
            </a:r>
            <a:r>
              <a:rPr lang="da-DK" altLang="zh-CN" sz="2000" dirty="0">
                <a:solidFill>
                  <a:srgbClr val="FF0000"/>
                </a:solidFill>
              </a:rPr>
              <a:t>-p</a:t>
            </a:r>
            <a:r>
              <a:rPr lang="zh-CN" altLang="da-DK" sz="2000" dirty="0"/>
              <a:t>：递归删除目录，当子目录删除后其父目录为空时，也一并被删除。</a:t>
            </a:r>
            <a:endParaRPr lang="zh-CN" altLang="da-DK" sz="2000" dirty="0"/>
          </a:p>
          <a:p>
            <a:pPr marL="82550" indent="0">
              <a:buNone/>
            </a:pPr>
            <a:endParaRPr lang="zh-CN" altLang="en-US" sz="2400" b="1" dirty="0">
              <a:solidFill>
                <a:srgbClr val="FF0000"/>
              </a:solidFill>
              <a:ea typeface="黑体" panose="02010609060101010101" pitchFamily="49" charset="-122"/>
            </a:endParaRPr>
          </a:p>
          <a:p>
            <a:pPr marL="82550" indent="0">
              <a:buNone/>
            </a:pPr>
            <a:endParaRPr lang="zh-CN" altLang="en-US" sz="2400" dirty="0"/>
          </a:p>
          <a:p>
            <a:pPr marL="82550" indent="0">
              <a:lnSpc>
                <a:spcPct val="90000"/>
              </a:lnSpc>
              <a:buNone/>
            </a:pPr>
            <a:endParaRPr lang="zh-CN" altLang="en-US" sz="2400" b="1" dirty="0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60" y="627534"/>
            <a:ext cx="7498080" cy="4032498"/>
          </a:xfrm>
        </p:spPr>
        <p:txBody>
          <a:bodyPr>
            <a:normAutofit lnSpcReduction="10000"/>
          </a:bodyPr>
          <a:lstStyle/>
          <a:p>
            <a:pPr marL="82550" indent="0">
              <a:buNone/>
            </a:pPr>
            <a:r>
              <a:rPr lang="zh-CN" altLang="en-US" sz="2200" dirty="0" smtClean="0"/>
              <a:t>练习二     文件命令的练习</a:t>
            </a:r>
            <a:endParaRPr lang="en-US" altLang="zh-CN" sz="2200" dirty="0" smtClean="0"/>
          </a:p>
          <a:p>
            <a:pPr marL="82550" indent="0">
              <a:buNone/>
            </a:pPr>
            <a:endParaRPr lang="en-US" altLang="zh-CN" sz="2200" dirty="0" smtClean="0"/>
          </a:p>
          <a:p>
            <a:pPr marL="82550" indent="0">
              <a:lnSpc>
                <a:spcPct val="110000"/>
              </a:lnSpc>
              <a:buNone/>
            </a:pPr>
            <a:r>
              <a:rPr lang="zh-CN" altLang="zh-CN" sz="2200" dirty="0"/>
              <a:t>以</a:t>
            </a:r>
            <a:r>
              <a:rPr lang="en-US" altLang="zh-CN" sz="2200" dirty="0"/>
              <a:t>root</a:t>
            </a:r>
            <a:r>
              <a:rPr lang="zh-CN" altLang="zh-CN" sz="2200" dirty="0"/>
              <a:t>用户名登录</a:t>
            </a:r>
            <a:r>
              <a:rPr lang="en-US" altLang="zh-CN" sz="2200" dirty="0" err="1"/>
              <a:t>linux</a:t>
            </a:r>
            <a:r>
              <a:rPr lang="zh-CN" altLang="zh-CN" sz="2200" dirty="0"/>
              <a:t>系统，进行以下操作</a:t>
            </a:r>
            <a:r>
              <a:rPr lang="zh-CN" altLang="zh-CN" sz="2200" dirty="0" smtClean="0"/>
              <a:t>：</a:t>
            </a:r>
            <a:endParaRPr lang="en-US" altLang="zh-CN" sz="2200" dirty="0"/>
          </a:p>
          <a:p>
            <a:pPr marL="82550" indent="0">
              <a:buNone/>
            </a:pPr>
            <a:r>
              <a:rPr lang="zh-CN" altLang="en-US" sz="2200" dirty="0" smtClean="0"/>
              <a:t>一、文件和目录的创建</a:t>
            </a:r>
            <a:endParaRPr lang="en-US" altLang="zh-CN" sz="2200" dirty="0"/>
          </a:p>
          <a:p>
            <a:pPr marL="82550" indent="0">
              <a:buNone/>
            </a:pPr>
            <a:r>
              <a:rPr lang="en-US" altLang="zh-CN" sz="2200" dirty="0"/>
              <a:t>(</a:t>
            </a:r>
            <a:r>
              <a:rPr lang="en-US" altLang="zh-CN" sz="2200" dirty="0" smtClean="0"/>
              <a:t>1</a:t>
            </a:r>
            <a:r>
              <a:rPr lang="en-US" altLang="zh-CN" sz="2200" dirty="0"/>
              <a:t>)</a:t>
            </a:r>
            <a:r>
              <a:rPr lang="zh-CN" altLang="zh-CN" sz="2200" dirty="0" smtClean="0"/>
              <a:t>查看</a:t>
            </a:r>
            <a:r>
              <a:rPr lang="zh-CN" altLang="zh-CN" sz="2200" dirty="0"/>
              <a:t>用户主目录下的内容</a:t>
            </a:r>
            <a:r>
              <a:rPr lang="zh-CN" altLang="zh-CN" sz="2200" dirty="0" smtClean="0"/>
              <a:t>；</a:t>
            </a:r>
            <a:endParaRPr lang="en-US" altLang="zh-CN" sz="2200" dirty="0" smtClean="0"/>
          </a:p>
          <a:p>
            <a:pPr marL="82550" indent="0">
              <a:buNone/>
            </a:pPr>
            <a:r>
              <a:rPr lang="en-US" altLang="zh-CN" sz="2200" dirty="0" smtClean="0"/>
              <a:t>(2</a:t>
            </a:r>
            <a:r>
              <a:rPr lang="en-US" altLang="zh-CN" sz="2200" dirty="0"/>
              <a:t>)</a:t>
            </a:r>
            <a:r>
              <a:rPr lang="zh-CN" altLang="zh-CN" sz="2200" dirty="0" smtClean="0"/>
              <a:t>在</a:t>
            </a:r>
            <a:r>
              <a:rPr lang="zh-CN" altLang="zh-CN" sz="2200" dirty="0"/>
              <a:t>当前目录下建立新目录</a:t>
            </a:r>
            <a:r>
              <a:rPr lang="en-US" altLang="zh-CN" sz="2200" dirty="0"/>
              <a:t> </a:t>
            </a:r>
            <a:r>
              <a:rPr lang="en-US" altLang="zh-CN" sz="2200" dirty="0" err="1"/>
              <a:t>tt</a:t>
            </a:r>
            <a:r>
              <a:rPr lang="zh-CN" altLang="zh-CN" sz="2200" dirty="0"/>
              <a:t>和</a:t>
            </a:r>
            <a:r>
              <a:rPr lang="en-US" altLang="zh-CN" sz="2200" dirty="0"/>
              <a:t>mm</a:t>
            </a:r>
            <a:r>
              <a:rPr lang="en-US" altLang="zh-CN" sz="2200" dirty="0" smtClean="0"/>
              <a:t>;</a:t>
            </a:r>
            <a:endParaRPr lang="en-US" altLang="zh-CN" sz="2200" dirty="0"/>
          </a:p>
          <a:p>
            <a:pPr marL="82550" indent="0">
              <a:buNone/>
            </a:pPr>
            <a:r>
              <a:rPr lang="en-US" altLang="zh-CN" sz="2200" dirty="0" smtClean="0"/>
              <a:t>(3</a:t>
            </a:r>
            <a:r>
              <a:rPr lang="en-US" altLang="zh-CN" sz="2200" dirty="0"/>
              <a:t>)</a:t>
            </a:r>
            <a:r>
              <a:rPr lang="zh-CN" altLang="zh-CN" sz="2200" dirty="0" smtClean="0"/>
              <a:t>在</a:t>
            </a:r>
            <a:r>
              <a:rPr lang="en-US" altLang="zh-CN" sz="2200" dirty="0" err="1" smtClean="0"/>
              <a:t>tt</a:t>
            </a:r>
            <a:r>
              <a:rPr lang="zh-CN" altLang="zh-CN" sz="2200" dirty="0" smtClean="0"/>
              <a:t>目录</a:t>
            </a:r>
            <a:r>
              <a:rPr lang="zh-CN" altLang="zh-CN" sz="2200" dirty="0"/>
              <a:t>下建立文件</a:t>
            </a:r>
            <a:r>
              <a:rPr lang="en-US" altLang="zh-CN" sz="2200" dirty="0"/>
              <a:t>123</a:t>
            </a:r>
            <a:r>
              <a:rPr lang="zh-CN" altLang="zh-CN" sz="2200" dirty="0"/>
              <a:t>；</a:t>
            </a:r>
            <a:endParaRPr lang="zh-CN" altLang="zh-CN" sz="2200" dirty="0"/>
          </a:p>
          <a:p>
            <a:pPr marL="82550" indent="0">
              <a:buNone/>
            </a:pPr>
            <a:r>
              <a:rPr lang="en-US" altLang="zh-CN" sz="2200" dirty="0" smtClean="0"/>
              <a:t>(4)</a:t>
            </a:r>
            <a:r>
              <a:rPr lang="zh-CN" altLang="zh-CN" sz="2200" dirty="0" smtClean="0"/>
              <a:t>用</a:t>
            </a:r>
            <a:r>
              <a:rPr lang="en-US" altLang="zh-CN" sz="2200" dirty="0"/>
              <a:t>cat</a:t>
            </a:r>
            <a:r>
              <a:rPr lang="zh-CN" altLang="zh-CN" sz="2200" dirty="0"/>
              <a:t>命令显示文件</a:t>
            </a:r>
            <a:r>
              <a:rPr lang="en-US" altLang="zh-CN" sz="2200" dirty="0"/>
              <a:t>123</a:t>
            </a:r>
            <a:r>
              <a:rPr lang="zh-CN" altLang="zh-CN" sz="2200" dirty="0"/>
              <a:t>的内容；</a:t>
            </a:r>
            <a:endParaRPr lang="zh-CN" altLang="zh-CN" sz="2200" dirty="0"/>
          </a:p>
          <a:p>
            <a:pPr marL="82550" indent="0">
              <a:buNone/>
            </a:pPr>
            <a:r>
              <a:rPr lang="en-US" altLang="zh-CN" sz="2200" dirty="0" smtClean="0"/>
              <a:t>(5)</a:t>
            </a:r>
            <a:r>
              <a:rPr lang="zh-CN" altLang="zh-CN" sz="2200" dirty="0" smtClean="0"/>
              <a:t>在</a:t>
            </a:r>
            <a:r>
              <a:rPr lang="en-US" altLang="zh-CN" sz="2200" dirty="0" err="1" smtClean="0"/>
              <a:t>tt</a:t>
            </a:r>
            <a:r>
              <a:rPr lang="zh-CN" altLang="zh-CN" sz="2200" dirty="0" smtClean="0"/>
              <a:t>目录</a:t>
            </a:r>
            <a:r>
              <a:rPr lang="zh-CN" altLang="zh-CN" sz="2200" dirty="0"/>
              <a:t>下建立文件</a:t>
            </a:r>
            <a:r>
              <a:rPr lang="en-US" altLang="zh-CN" sz="2200" dirty="0"/>
              <a:t>456</a:t>
            </a:r>
            <a:r>
              <a:rPr lang="zh-CN" altLang="zh-CN" sz="2200" dirty="0"/>
              <a:t>；</a:t>
            </a:r>
            <a:endParaRPr lang="zh-CN" altLang="zh-CN" sz="2200" dirty="0"/>
          </a:p>
          <a:p>
            <a:pPr marL="82550" indent="0">
              <a:buNone/>
            </a:pPr>
            <a:r>
              <a:rPr lang="en-US" altLang="zh-CN" sz="2200" dirty="0" smtClean="0"/>
              <a:t>(6)</a:t>
            </a:r>
            <a:r>
              <a:rPr lang="zh-CN" altLang="zh-CN" sz="2200" dirty="0" smtClean="0"/>
              <a:t>用</a:t>
            </a:r>
            <a:r>
              <a:rPr lang="en-US" altLang="zh-CN" sz="2200" dirty="0"/>
              <a:t>cat</a:t>
            </a:r>
            <a:r>
              <a:rPr lang="zh-CN" altLang="zh-CN" sz="2200" dirty="0"/>
              <a:t>命令对</a:t>
            </a:r>
            <a:r>
              <a:rPr lang="zh-CN" altLang="zh-CN" sz="2200" dirty="0" smtClean="0"/>
              <a:t>文件</a:t>
            </a:r>
            <a:r>
              <a:rPr lang="en-US" altLang="zh-CN" sz="2200" dirty="0" smtClean="0"/>
              <a:t>456</a:t>
            </a:r>
            <a:r>
              <a:rPr lang="zh-CN" altLang="zh-CN" sz="2200" dirty="0" smtClean="0"/>
              <a:t>增添</a:t>
            </a:r>
            <a:r>
              <a:rPr lang="zh-CN" altLang="zh-CN" sz="2200" dirty="0"/>
              <a:t>一行文本</a:t>
            </a:r>
            <a:r>
              <a:rPr lang="zh-CN" altLang="zh-CN" sz="2200" dirty="0" smtClean="0"/>
              <a:t>。</a:t>
            </a:r>
            <a:endParaRPr lang="zh-CN" altLang="zh-CN" sz="2200" dirty="0"/>
          </a:p>
          <a:p>
            <a:pPr marL="82550" indent="0">
              <a:buNone/>
            </a:pPr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555526"/>
            <a:ext cx="8208912" cy="3888482"/>
          </a:xfrm>
        </p:spPr>
        <p:txBody>
          <a:bodyPr>
            <a:normAutofit fontScale="92500" lnSpcReduction="10000"/>
          </a:bodyPr>
          <a:lstStyle/>
          <a:p>
            <a:pPr marL="82550" indent="0">
              <a:buNone/>
            </a:pPr>
            <a:r>
              <a:rPr lang="zh-CN" altLang="en-US" sz="2400" dirty="0"/>
              <a:t>二</a:t>
            </a:r>
            <a:r>
              <a:rPr lang="zh-CN" altLang="en-US" sz="2400" dirty="0" smtClean="0"/>
              <a:t>、文件和目录的拷贝和剪切</a:t>
            </a:r>
            <a:endParaRPr lang="en-US" altLang="zh-CN" sz="2400" dirty="0" smtClean="0"/>
          </a:p>
          <a:p>
            <a:pPr marL="82550" indent="0">
              <a:buNone/>
            </a:pPr>
            <a:r>
              <a:rPr lang="zh-CN" altLang="zh-CN" sz="2400" dirty="0" smtClean="0"/>
              <a:t>（</a:t>
            </a:r>
            <a:r>
              <a:rPr lang="en-US" altLang="zh-CN" sz="2400" dirty="0" smtClean="0"/>
              <a:t>1</a:t>
            </a:r>
            <a:r>
              <a:rPr lang="zh-CN" altLang="zh-CN" sz="2400" dirty="0" smtClean="0"/>
              <a:t>）</a:t>
            </a:r>
            <a:r>
              <a:rPr lang="zh-CN" altLang="en-US" sz="2400" dirty="0" smtClean="0"/>
              <a:t>进入目录</a:t>
            </a:r>
            <a:r>
              <a:rPr lang="en-US" altLang="zh-CN" sz="2400" dirty="0" err="1" smtClean="0"/>
              <a:t>tt</a:t>
            </a:r>
            <a:r>
              <a:rPr lang="zh-CN" altLang="en-US" sz="2400" dirty="0" smtClean="0"/>
              <a:t>，将文件</a:t>
            </a:r>
            <a:r>
              <a:rPr lang="en-US" altLang="zh-CN" sz="2400" dirty="0" smtClean="0"/>
              <a:t>123</a:t>
            </a:r>
            <a:r>
              <a:rPr lang="zh-CN" altLang="en-US" sz="2400" dirty="0" smtClean="0"/>
              <a:t>改名为</a:t>
            </a:r>
            <a:r>
              <a:rPr lang="en-US" altLang="zh-CN" sz="2400" dirty="0" smtClean="0"/>
              <a:t>file123</a:t>
            </a:r>
            <a:r>
              <a:rPr lang="zh-CN" altLang="en-US" sz="2400" dirty="0" smtClean="0"/>
              <a:t>；将文件</a:t>
            </a:r>
            <a:r>
              <a:rPr lang="en-US" altLang="zh-CN" sz="2400" dirty="0" smtClean="0"/>
              <a:t>456</a:t>
            </a:r>
            <a:r>
              <a:rPr lang="zh-CN" altLang="en-US" sz="2400" dirty="0" smtClean="0"/>
              <a:t>拷贝到目录</a:t>
            </a:r>
            <a:r>
              <a:rPr lang="en-US" altLang="zh-CN" sz="2400" dirty="0" smtClean="0"/>
              <a:t>mm</a:t>
            </a:r>
            <a:r>
              <a:rPr lang="zh-CN" altLang="en-US" sz="2400" dirty="0" smtClean="0"/>
              <a:t>中，并改名为</a:t>
            </a:r>
            <a:r>
              <a:rPr lang="en-US" altLang="zh-CN" sz="2400" dirty="0" smtClean="0"/>
              <a:t>file456.</a:t>
            </a:r>
            <a:endParaRPr lang="en-US" altLang="zh-CN" sz="2400" dirty="0" smtClean="0"/>
          </a:p>
          <a:p>
            <a:pPr marL="82550" indent="0">
              <a:buNone/>
            </a:pPr>
            <a:r>
              <a:rPr lang="zh-CN" altLang="zh-CN" sz="2400" dirty="0" smtClean="0"/>
              <a:t>（</a:t>
            </a:r>
            <a:r>
              <a:rPr lang="en-US" altLang="zh-CN" sz="2400" dirty="0" smtClean="0"/>
              <a:t>2</a:t>
            </a:r>
            <a:r>
              <a:rPr lang="zh-CN" altLang="zh-CN" sz="2400" dirty="0" smtClean="0"/>
              <a:t>）</a:t>
            </a:r>
            <a:r>
              <a:rPr lang="zh-CN" altLang="en-US" sz="2400" dirty="0"/>
              <a:t>将目录</a:t>
            </a:r>
            <a:r>
              <a:rPr lang="en-US" altLang="zh-CN" sz="2400" dirty="0" err="1"/>
              <a:t>tt</a:t>
            </a:r>
            <a:r>
              <a:rPr lang="zh-CN" altLang="en-US" sz="2400" dirty="0"/>
              <a:t>中的全部内容拷贝到目录</a:t>
            </a:r>
            <a:r>
              <a:rPr lang="en-US" altLang="zh-CN" sz="2400" dirty="0"/>
              <a:t>mm</a:t>
            </a:r>
            <a:r>
              <a:rPr lang="zh-CN" altLang="en-US" sz="2400" dirty="0" smtClean="0"/>
              <a:t>中；</a:t>
            </a:r>
            <a:endParaRPr lang="en-US" altLang="zh-CN" sz="2400" dirty="0" smtClean="0"/>
          </a:p>
          <a:p>
            <a:pPr marL="82550" indent="0">
              <a:buNone/>
            </a:pPr>
            <a:r>
              <a:rPr lang="zh-CN" altLang="zh-CN" sz="2400" dirty="0" smtClean="0"/>
              <a:t>（</a:t>
            </a:r>
            <a:r>
              <a:rPr lang="en-US" altLang="zh-CN" sz="2400" dirty="0" smtClean="0"/>
              <a:t>3</a:t>
            </a:r>
            <a:r>
              <a:rPr lang="zh-CN" altLang="zh-CN" sz="2400" dirty="0" smtClean="0"/>
              <a:t>）</a:t>
            </a:r>
            <a:r>
              <a:rPr lang="zh-CN" altLang="en-US" sz="2400" dirty="0"/>
              <a:t>将</a:t>
            </a:r>
            <a:r>
              <a:rPr lang="en-US" altLang="zh-CN" sz="2400" dirty="0" err="1"/>
              <a:t>tt</a:t>
            </a:r>
            <a:r>
              <a:rPr lang="zh-CN" altLang="en-US" sz="2400" dirty="0"/>
              <a:t>中的</a:t>
            </a:r>
            <a:r>
              <a:rPr lang="en-US" altLang="zh-CN" sz="2400" dirty="0"/>
              <a:t>file123</a:t>
            </a:r>
            <a:r>
              <a:rPr lang="zh-CN" altLang="en-US" sz="2400" dirty="0"/>
              <a:t>剪切到上级目录中</a:t>
            </a:r>
            <a:r>
              <a:rPr lang="zh-CN" altLang="en-US" sz="2400" dirty="0" smtClean="0"/>
              <a:t>；</a:t>
            </a:r>
            <a:endParaRPr lang="en-US" altLang="zh-CN" sz="2400" dirty="0" smtClean="0"/>
          </a:p>
          <a:p>
            <a:pPr marL="82550" indent="0">
              <a:buNone/>
            </a:pPr>
            <a:endParaRPr lang="en-US" altLang="zh-CN" sz="2400" dirty="0" smtClean="0"/>
          </a:p>
          <a:p>
            <a:pPr marL="82550" indent="0">
              <a:buNone/>
            </a:pPr>
            <a:r>
              <a:rPr lang="zh-CN" altLang="en-US" sz="2400" dirty="0" smtClean="0"/>
              <a:t>三、文件和目录的删除</a:t>
            </a:r>
            <a:endParaRPr lang="en-US" altLang="zh-CN" sz="2400" dirty="0" smtClean="0"/>
          </a:p>
          <a:p>
            <a:pPr marL="82550" indent="0">
              <a:buNone/>
            </a:pPr>
            <a:r>
              <a:rPr lang="zh-CN" altLang="en-US" sz="2400" dirty="0" smtClean="0"/>
              <a:t>（</a:t>
            </a:r>
            <a:r>
              <a:rPr lang="en-US" altLang="zh-CN" sz="2400" dirty="0" smtClean="0"/>
              <a:t>1</a:t>
            </a:r>
            <a:r>
              <a:rPr lang="zh-CN" altLang="en-US" sz="2400" dirty="0" smtClean="0"/>
              <a:t>）删除</a:t>
            </a:r>
            <a:r>
              <a:rPr lang="en-US" altLang="zh-CN" sz="2400" dirty="0" err="1" smtClean="0"/>
              <a:t>tt</a:t>
            </a:r>
            <a:r>
              <a:rPr lang="zh-CN" altLang="en-US" sz="2400" dirty="0" smtClean="0"/>
              <a:t>中的所有内容</a:t>
            </a:r>
            <a:endParaRPr lang="en-US" altLang="zh-CN" sz="2400" dirty="0" smtClean="0"/>
          </a:p>
          <a:p>
            <a:pPr marL="82550" indent="0">
              <a:buNone/>
            </a:pPr>
            <a:r>
              <a:rPr lang="zh-CN" altLang="en-US" sz="2400" dirty="0" smtClean="0"/>
              <a:t>（</a:t>
            </a:r>
            <a:r>
              <a:rPr lang="en-US" altLang="zh-CN" sz="2400" dirty="0" smtClean="0"/>
              <a:t>2</a:t>
            </a:r>
            <a:r>
              <a:rPr lang="zh-CN" altLang="en-US" sz="2400" dirty="0" smtClean="0"/>
              <a:t>）删除</a:t>
            </a:r>
            <a:r>
              <a:rPr lang="en-US" altLang="zh-CN" sz="2400" dirty="0" err="1" smtClean="0"/>
              <a:t>tt</a:t>
            </a:r>
            <a:r>
              <a:rPr lang="zh-CN" altLang="en-US" sz="2400" dirty="0" smtClean="0"/>
              <a:t>目录</a:t>
            </a:r>
            <a:endParaRPr lang="en-US" altLang="zh-CN" sz="2400" dirty="0" smtClean="0"/>
          </a:p>
          <a:p>
            <a:pPr marL="82550" indent="0">
              <a:buNone/>
            </a:pPr>
            <a:r>
              <a:rPr lang="zh-CN" altLang="en-US" sz="2400" dirty="0" smtClean="0"/>
              <a:t>（</a:t>
            </a:r>
            <a:r>
              <a:rPr lang="en-US" altLang="zh-CN" sz="2400" dirty="0" smtClean="0"/>
              <a:t>3</a:t>
            </a:r>
            <a:r>
              <a:rPr lang="zh-CN" altLang="en-US" sz="2400" dirty="0" smtClean="0"/>
              <a:t>）删除</a:t>
            </a:r>
            <a:r>
              <a:rPr lang="en-US" altLang="zh-CN" sz="2400" dirty="0" err="1" smtClean="0"/>
              <a:t>tt</a:t>
            </a:r>
            <a:r>
              <a:rPr lang="zh-CN" altLang="en-US" sz="2400" dirty="0" smtClean="0"/>
              <a:t>上一级目录中的</a:t>
            </a:r>
            <a:r>
              <a:rPr lang="en-US" altLang="zh-CN" sz="2400" dirty="0" smtClean="0"/>
              <a:t>file123</a:t>
            </a:r>
            <a:r>
              <a:rPr lang="zh-CN" altLang="en-US" sz="2400" dirty="0" smtClean="0"/>
              <a:t>文件</a:t>
            </a:r>
            <a:endParaRPr lang="zh-CN" altLang="zh-CN" sz="2400" dirty="0"/>
          </a:p>
          <a:p>
            <a:pPr marL="82550" indent="0">
              <a:buNone/>
            </a:pPr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>
          <a:xfrm>
            <a:off x="395536" y="771550"/>
            <a:ext cx="8352928" cy="4068452"/>
          </a:xfrm>
        </p:spPr>
        <p:txBody>
          <a:bodyPr>
            <a:normAutofit/>
          </a:bodyPr>
          <a:lstStyle/>
          <a:p>
            <a:pPr marL="82550" indent="0">
              <a:buNone/>
            </a:pPr>
            <a:r>
              <a:rPr lang="zh-CN" altLang="en-US" sz="2000" b="1" dirty="0" smtClean="0"/>
              <a:t>     打包：</a:t>
            </a:r>
            <a:endParaRPr lang="en-US" altLang="zh-CN" sz="2000" b="1" dirty="0" smtClean="0"/>
          </a:p>
          <a:p>
            <a:pPr marL="82550" indent="0">
              <a:buNone/>
            </a:pPr>
            <a:r>
              <a:rPr lang="zh-CN" altLang="en-US" sz="2000" b="1" dirty="0" smtClean="0"/>
              <a:t>     将</a:t>
            </a:r>
            <a:r>
              <a:rPr lang="zh-CN" altLang="en-US" sz="2000" b="1" dirty="0">
                <a:solidFill>
                  <a:srgbClr val="FF0000"/>
                </a:solidFill>
              </a:rPr>
              <a:t>一大堆文件或目录</a:t>
            </a:r>
            <a:r>
              <a:rPr lang="zh-CN" altLang="en-US" sz="2000" b="1" dirty="0"/>
              <a:t>什么的变成一个总的</a:t>
            </a:r>
            <a:r>
              <a:rPr lang="zh-CN" altLang="en-US" sz="2000" b="1" dirty="0" smtClean="0"/>
              <a:t>文件！</a:t>
            </a:r>
            <a:endParaRPr lang="en-US" altLang="zh-CN" sz="2000" b="1" dirty="0" smtClean="0"/>
          </a:p>
          <a:p>
            <a:pPr marL="82550" indent="0">
              <a:buNone/>
            </a:pPr>
            <a:r>
              <a:rPr lang="en-US" altLang="zh-CN" sz="2000" b="1" dirty="0"/>
              <a:t> </a:t>
            </a:r>
            <a:r>
              <a:rPr lang="en-US" altLang="zh-CN" sz="2000" b="1" dirty="0" smtClean="0"/>
              <a:t>    </a:t>
            </a:r>
            <a:r>
              <a:rPr lang="zh-CN" altLang="en-US" sz="2000" b="1" dirty="0" smtClean="0"/>
              <a:t>压缩：</a:t>
            </a:r>
            <a:endParaRPr lang="en-US" altLang="zh-CN" sz="2000" b="1" dirty="0" smtClean="0"/>
          </a:p>
          <a:p>
            <a:pPr marL="82550" indent="0">
              <a:buNone/>
            </a:pPr>
            <a:r>
              <a:rPr lang="en-US" altLang="zh-CN" sz="2000" b="1" dirty="0"/>
              <a:t> </a:t>
            </a:r>
            <a:r>
              <a:rPr lang="en-US" altLang="zh-CN" sz="2000" b="1" dirty="0" smtClean="0"/>
              <a:t>    </a:t>
            </a:r>
            <a:r>
              <a:rPr lang="zh-CN" altLang="en-US" sz="2000" b="1" dirty="0" smtClean="0"/>
              <a:t>将</a:t>
            </a:r>
            <a:r>
              <a:rPr lang="zh-CN" altLang="en-US" sz="2000" b="1" dirty="0"/>
              <a:t>一</a:t>
            </a:r>
            <a:r>
              <a:rPr lang="zh-CN" altLang="en-US" sz="2000" b="1" dirty="0" smtClean="0"/>
              <a:t>个</a:t>
            </a:r>
            <a:r>
              <a:rPr lang="zh-CN" altLang="en-US" sz="2000" b="1" dirty="0" smtClean="0">
                <a:solidFill>
                  <a:srgbClr val="FF0000"/>
                </a:solidFill>
              </a:rPr>
              <a:t>大</a:t>
            </a:r>
            <a:r>
              <a:rPr lang="zh-CN" altLang="en-US" sz="2000" b="1" dirty="0">
                <a:solidFill>
                  <a:srgbClr val="FF0000"/>
                </a:solidFill>
              </a:rPr>
              <a:t>的文件</a:t>
            </a:r>
            <a:r>
              <a:rPr lang="zh-CN" altLang="en-US" sz="2000" b="1" dirty="0"/>
              <a:t>通过一些压 缩算法变成一个小文件</a:t>
            </a:r>
            <a:r>
              <a:rPr lang="zh-CN" altLang="en-US" sz="2000" b="1" dirty="0" smtClean="0"/>
              <a:t>。</a:t>
            </a:r>
            <a:endParaRPr lang="en-US" altLang="zh-CN" sz="2000" b="1" dirty="0" smtClean="0"/>
          </a:p>
          <a:p>
            <a:pPr marL="82550" indent="0">
              <a:buNone/>
            </a:pPr>
            <a:endParaRPr lang="en-US" altLang="zh-CN" sz="2000" b="1" dirty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marL="82550" indent="0">
              <a:buNone/>
            </a:pPr>
            <a:r>
              <a:rPr lang="en-US" altLang="zh-CN" sz="2000" dirty="0" smtClean="0"/>
              <a:t>    Linux</a:t>
            </a:r>
            <a:r>
              <a:rPr lang="zh-CN" altLang="en-US" sz="2000" dirty="0" smtClean="0"/>
              <a:t>有</a:t>
            </a:r>
            <a:r>
              <a:rPr lang="en-US" altLang="zh-CN" sz="2000" dirty="0"/>
              <a:t>.</a:t>
            </a:r>
            <a:r>
              <a:rPr lang="en-US" altLang="zh-CN" sz="2000" dirty="0" err="1"/>
              <a:t>gz</a:t>
            </a:r>
            <a:r>
              <a:rPr lang="zh-CN" altLang="en-US" sz="2000" dirty="0"/>
              <a:t>、</a:t>
            </a:r>
            <a:r>
              <a:rPr lang="en-US" altLang="zh-CN" sz="2000" dirty="0"/>
              <a:t>.tar.gz</a:t>
            </a:r>
            <a:r>
              <a:rPr lang="zh-CN" altLang="en-US" sz="2000" dirty="0"/>
              <a:t>、</a:t>
            </a:r>
            <a:r>
              <a:rPr lang="en-US" altLang="zh-CN" sz="2000" dirty="0" err="1"/>
              <a:t>tgz</a:t>
            </a:r>
            <a:r>
              <a:rPr lang="zh-CN" altLang="en-US" sz="2000" dirty="0"/>
              <a:t>、</a:t>
            </a:r>
            <a:r>
              <a:rPr lang="en-US" altLang="zh-CN" sz="2000" dirty="0"/>
              <a:t>bz2</a:t>
            </a:r>
            <a:r>
              <a:rPr lang="zh-CN" altLang="en-US" sz="2000" dirty="0"/>
              <a:t>、</a:t>
            </a:r>
            <a:r>
              <a:rPr lang="en-US" altLang="zh-CN" sz="2000" dirty="0"/>
              <a:t>.Z</a:t>
            </a:r>
            <a:r>
              <a:rPr lang="zh-CN" altLang="en-US" sz="2000" dirty="0"/>
              <a:t>、</a:t>
            </a:r>
            <a:r>
              <a:rPr lang="en-US" altLang="zh-CN" sz="2000" dirty="0"/>
              <a:t>.tar</a:t>
            </a:r>
            <a:r>
              <a:rPr lang="zh-CN" altLang="en-US" sz="2000" dirty="0"/>
              <a:t>等众多的 压缩文件名，此外</a:t>
            </a:r>
            <a:r>
              <a:rPr lang="en-US" altLang="zh-CN" sz="2000" dirty="0"/>
              <a:t>windows</a:t>
            </a:r>
            <a:r>
              <a:rPr lang="zh-CN" altLang="en-US" sz="2000" dirty="0"/>
              <a:t>下的</a:t>
            </a:r>
            <a:r>
              <a:rPr lang="en-US" altLang="zh-CN" sz="2000" dirty="0"/>
              <a:t>.zip</a:t>
            </a:r>
            <a:r>
              <a:rPr lang="zh-CN" altLang="en-US" sz="2000" dirty="0"/>
              <a:t>和</a:t>
            </a:r>
            <a:r>
              <a:rPr lang="en-US" altLang="zh-CN" sz="2000" dirty="0"/>
              <a:t>.</a:t>
            </a:r>
            <a:r>
              <a:rPr lang="en-US" altLang="zh-CN" sz="2000" dirty="0" err="1"/>
              <a:t>rar</a:t>
            </a:r>
            <a:r>
              <a:rPr lang="zh-CN" altLang="en-US" sz="2000" dirty="0"/>
              <a:t>也可以在</a:t>
            </a:r>
            <a:r>
              <a:rPr lang="en-US" altLang="zh-CN" sz="2000" dirty="0"/>
              <a:t>Linux</a:t>
            </a:r>
            <a:r>
              <a:rPr lang="zh-CN" altLang="en-US" sz="2000" dirty="0"/>
              <a:t>下</a:t>
            </a:r>
            <a:r>
              <a:rPr lang="zh-CN" altLang="en-US" sz="2000" dirty="0" smtClean="0"/>
              <a:t>使用</a:t>
            </a:r>
            <a:r>
              <a:rPr lang="en-US" altLang="zh-CN" sz="2000" dirty="0" smtClean="0"/>
              <a:t>.</a:t>
            </a:r>
            <a:endParaRPr lang="en-US" altLang="zh-CN" sz="2000" dirty="0" smtClean="0"/>
          </a:p>
          <a:p>
            <a:pPr marL="82550" indent="0">
              <a:buNone/>
            </a:pPr>
            <a:r>
              <a:rPr lang="zh-CN" altLang="en-US" sz="2000" b="1" dirty="0" smtClean="0">
                <a:solidFill>
                  <a:srgbClr val="0000FF"/>
                </a:solidFill>
                <a:ea typeface="宋体" panose="02010600030101010101" pitchFamily="2" charset="-122"/>
              </a:rPr>
              <a:t>如： </a:t>
            </a:r>
            <a:r>
              <a:rPr lang="en-US" altLang="zh-CN" sz="2000" b="1" dirty="0" smtClean="0">
                <a:solidFill>
                  <a:srgbClr val="0000FF"/>
                </a:solidFill>
                <a:ea typeface="宋体" panose="02010600030101010101" pitchFamily="2" charset="-122"/>
              </a:rPr>
              <a:t>test1.tar.gz    </a:t>
            </a:r>
            <a:endParaRPr lang="en-US" altLang="zh-CN" sz="2000" b="1" dirty="0" smtClean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marL="82550" indent="0">
              <a:buNone/>
            </a:pPr>
            <a:r>
              <a:rPr lang="en-US" altLang="zh-CN" sz="2000" b="1" dirty="0">
                <a:solidFill>
                  <a:srgbClr val="0000FF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000" b="1" dirty="0" smtClean="0">
                <a:solidFill>
                  <a:srgbClr val="0000FF"/>
                </a:solidFill>
                <a:ea typeface="宋体" panose="02010600030101010101" pitchFamily="2" charset="-122"/>
              </a:rPr>
              <a:t>       file1. bz2</a:t>
            </a:r>
            <a:endParaRPr lang="en-US" altLang="zh-CN" sz="2000" b="1" dirty="0" smtClean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marL="82550" indent="0">
              <a:buNone/>
            </a:pPr>
            <a:endParaRPr lang="zh-CN" altLang="en-US" sz="2400" b="1" dirty="0" smtClean="0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  <p:sp>
        <p:nvSpPr>
          <p:cNvPr id="5" name="内容占位符 2"/>
          <p:cNvSpPr txBox="1"/>
          <p:nvPr/>
        </p:nvSpPr>
        <p:spPr>
          <a:xfrm>
            <a:off x="683568" y="339502"/>
            <a:ext cx="7543800" cy="576064"/>
          </a:xfrm>
          <a:prstGeom prst="rect">
            <a:avLst/>
          </a:prstGeom>
        </p:spPr>
        <p:txBody>
          <a:bodyPr>
            <a:normAutofit/>
          </a:bodyPr>
          <a:lstStyle>
            <a:lvl1pPr marL="365760" indent="-28321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/>
              <a:buChar char="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37490" algn="l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 panose="020B0604030504040204"/>
              <a:buChar char="◦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87095" indent="-22860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 panose="05020102010507070707"/>
              <a:buChar char="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17399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575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0876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8945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425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/>
              <a:buNone/>
            </a:pPr>
            <a:r>
              <a:rPr lang="en-US" altLang="zh-CN" sz="26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2.4 </a:t>
            </a:r>
            <a:r>
              <a:rPr lang="zh-CN" altLang="en-US" sz="26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打包压缩操作</a:t>
            </a:r>
            <a:endParaRPr lang="zh-CN" altLang="zh-CN" sz="2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>
          <a:xfrm>
            <a:off x="539552" y="483518"/>
            <a:ext cx="8136904" cy="4320480"/>
          </a:xfrm>
        </p:spPr>
        <p:txBody>
          <a:bodyPr>
            <a:normAutofit/>
          </a:bodyPr>
          <a:lstStyle/>
          <a:p>
            <a:pPr marL="82550" indent="0">
              <a:lnSpc>
                <a:spcPct val="80000"/>
              </a:lnSpc>
              <a:buNone/>
            </a:pPr>
            <a:r>
              <a:rPr lang="en-US" altLang="zh-CN" sz="2000" b="1" dirty="0" smtClean="0">
                <a:solidFill>
                  <a:srgbClr val="C00000"/>
                </a:solidFill>
                <a:latin typeface="Arial Black" panose="020B0A04020102020204" pitchFamily="34" charset="0"/>
              </a:rPr>
              <a:t>1. tar</a:t>
            </a:r>
            <a:r>
              <a:rPr lang="zh-CN" altLang="en-US" sz="2000" b="1" dirty="0" smtClean="0">
                <a:solidFill>
                  <a:srgbClr val="C00000"/>
                </a:solidFill>
                <a:ea typeface="宋体" panose="02010600030101010101" pitchFamily="2" charset="-122"/>
              </a:rPr>
              <a:t>　</a:t>
            </a:r>
            <a:endParaRPr lang="en-US" altLang="zh-CN" sz="2000" b="1" dirty="0" smtClean="0">
              <a:solidFill>
                <a:srgbClr val="C00000"/>
              </a:solidFill>
              <a:ea typeface="宋体" panose="02010600030101010101" pitchFamily="2" charset="-122"/>
            </a:endParaRPr>
          </a:p>
          <a:p>
            <a:pPr marL="82550" indent="0">
              <a:buNone/>
            </a:pPr>
            <a:r>
              <a:rPr lang="zh-CN" altLang="fr-FR" sz="2000" dirty="0" smtClean="0"/>
              <a:t>功能：</a:t>
            </a:r>
            <a:r>
              <a:rPr lang="zh-CN" altLang="en-US" sz="2000" b="1" dirty="0">
                <a:solidFill>
                  <a:srgbClr val="FF0000"/>
                </a:solidFill>
              </a:rPr>
              <a:t>打包、压缩一个命令全搞定。</a:t>
            </a:r>
            <a:r>
              <a:rPr lang="zh-CN" altLang="en-US" sz="2000" dirty="0"/>
              <a:t>  </a:t>
            </a:r>
            <a:endParaRPr lang="en-US" altLang="zh-CN" sz="2000" dirty="0" smtClean="0"/>
          </a:p>
          <a:p>
            <a:pPr marL="82550" indent="0">
              <a:buNone/>
            </a:pPr>
            <a:r>
              <a:rPr lang="zh-CN" altLang="fr-FR" sz="2000" dirty="0" smtClean="0"/>
              <a:t>语法：</a:t>
            </a:r>
            <a:r>
              <a:rPr lang="en-US" altLang="zh-CN" sz="2000" dirty="0">
                <a:solidFill>
                  <a:schemeClr val="hlink"/>
                </a:solidFill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</a:rPr>
              <a:t>tar  </a:t>
            </a:r>
            <a:r>
              <a:rPr lang="en-US" altLang="zh-CN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选项</a:t>
            </a:r>
            <a:r>
              <a:rPr lang="en-US" altLang="zh-CN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] 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目标文件名 </a:t>
            </a:r>
            <a:r>
              <a:rPr lang="zh-CN" altLang="en-US" sz="2000" b="1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目录名</a:t>
            </a:r>
            <a:endParaRPr lang="en-US" altLang="zh-CN" sz="2000" b="1" dirty="0" smtClean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buFont typeface="Wingdings" panose="05000000000000000000" pitchFamily="2" charset="2"/>
              <a:buChar char="l"/>
            </a:pPr>
            <a:r>
              <a:rPr lang="zh-CN" altLang="en-US" sz="2000" b="1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压缩时，根据不同的选项可以选择压缩为不同格式的压缩文件！</a:t>
            </a:r>
            <a:endParaRPr lang="en-US" altLang="zh-CN" sz="2000" b="1" dirty="0" smtClean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82550" indent="0">
              <a:buNone/>
            </a:pPr>
            <a:endParaRPr lang="en-US" altLang="zh-CN" sz="2000" b="1" dirty="0">
              <a:solidFill>
                <a:srgbClr val="FF0000"/>
              </a:solidFill>
              <a:ea typeface="黑体" panose="02010609060101010101" pitchFamily="49" charset="-122"/>
            </a:endParaRPr>
          </a:p>
          <a:p>
            <a:pPr marL="82550" indent="0">
              <a:buNone/>
            </a:pPr>
            <a:r>
              <a:rPr lang="en-US" altLang="zh-CN" sz="2000" dirty="0"/>
              <a:t>$tar  </a:t>
            </a:r>
            <a:r>
              <a:rPr lang="en-US" altLang="zh-CN" sz="2000" dirty="0">
                <a:solidFill>
                  <a:srgbClr val="FF0000"/>
                </a:solidFill>
              </a:rPr>
              <a:t>-</a:t>
            </a:r>
            <a:r>
              <a:rPr lang="en-US" altLang="zh-CN" sz="2000" dirty="0" err="1">
                <a:solidFill>
                  <a:srgbClr val="FF0000"/>
                </a:solidFill>
              </a:rPr>
              <a:t>cf</a:t>
            </a:r>
            <a:r>
              <a:rPr lang="en-US" altLang="zh-CN" sz="2000" dirty="0">
                <a:solidFill>
                  <a:srgbClr val="FF0000"/>
                </a:solidFill>
              </a:rPr>
              <a:t>  </a:t>
            </a:r>
            <a:r>
              <a:rPr lang="en-US" altLang="zh-CN" sz="2000" dirty="0"/>
              <a:t>dir1.tar  dir1</a:t>
            </a:r>
            <a:r>
              <a:rPr lang="zh-CN" altLang="en-US" sz="2000" dirty="0"/>
              <a:t>　</a:t>
            </a:r>
            <a:endParaRPr lang="zh-CN" altLang="en-US" sz="2000" dirty="0"/>
          </a:p>
          <a:p>
            <a:pPr marL="82550" indent="0">
              <a:buNone/>
            </a:pPr>
            <a:r>
              <a:rPr lang="zh-CN" altLang="en-US" sz="2000" dirty="0"/>
              <a:t>　　</a:t>
            </a:r>
            <a:r>
              <a:rPr lang="zh-CN" altLang="en-US" sz="2000" dirty="0">
                <a:solidFill>
                  <a:srgbClr val="009900"/>
                </a:solidFill>
              </a:rPr>
              <a:t>将目录</a:t>
            </a:r>
            <a:r>
              <a:rPr lang="en-US" altLang="zh-CN" sz="2000" dirty="0">
                <a:solidFill>
                  <a:srgbClr val="009900"/>
                </a:solidFill>
              </a:rPr>
              <a:t>dir1</a:t>
            </a:r>
            <a:r>
              <a:rPr lang="zh-CN" altLang="en-US" sz="2000" dirty="0">
                <a:solidFill>
                  <a:srgbClr val="009900"/>
                </a:solidFill>
              </a:rPr>
              <a:t>打包成</a:t>
            </a:r>
            <a:r>
              <a:rPr lang="en-US" altLang="zh-CN" sz="2000" dirty="0">
                <a:solidFill>
                  <a:srgbClr val="009900"/>
                </a:solidFill>
              </a:rPr>
              <a:t>dir1.tar</a:t>
            </a:r>
            <a:r>
              <a:rPr lang="zh-CN" altLang="en-US" sz="2000" dirty="0">
                <a:solidFill>
                  <a:srgbClr val="009900"/>
                </a:solidFill>
              </a:rPr>
              <a:t>文件</a:t>
            </a:r>
            <a:endParaRPr lang="zh-CN" altLang="en-US" sz="2000" dirty="0">
              <a:solidFill>
                <a:srgbClr val="009900"/>
              </a:solidFill>
            </a:endParaRPr>
          </a:p>
          <a:p>
            <a:pPr marL="82550" indent="0">
              <a:buNone/>
            </a:pPr>
            <a:r>
              <a:rPr lang="en-US" altLang="zh-CN" sz="2000" dirty="0" smtClean="0"/>
              <a:t>$</a:t>
            </a:r>
            <a:r>
              <a:rPr lang="en-US" altLang="zh-CN" sz="2000" dirty="0"/>
              <a:t>tar  </a:t>
            </a:r>
            <a:r>
              <a:rPr lang="en-US" altLang="zh-CN" sz="2000" dirty="0">
                <a:solidFill>
                  <a:srgbClr val="FF0000"/>
                </a:solidFill>
              </a:rPr>
              <a:t>-</a:t>
            </a:r>
            <a:r>
              <a:rPr lang="en-US" altLang="zh-CN" sz="2000" dirty="0" err="1">
                <a:solidFill>
                  <a:srgbClr val="FF0000"/>
                </a:solidFill>
              </a:rPr>
              <a:t>xf</a:t>
            </a:r>
            <a:r>
              <a:rPr lang="en-US" altLang="zh-CN" sz="2000" dirty="0">
                <a:solidFill>
                  <a:srgbClr val="FF0000"/>
                </a:solidFill>
              </a:rPr>
              <a:t>  </a:t>
            </a:r>
            <a:r>
              <a:rPr lang="en-US" altLang="zh-CN" sz="2000" dirty="0"/>
              <a:t>dir1.tar</a:t>
            </a:r>
            <a:endParaRPr lang="en-US" altLang="zh-CN" sz="2000" dirty="0"/>
          </a:p>
          <a:p>
            <a:pPr marL="82550" indent="0">
              <a:buNone/>
            </a:pPr>
            <a:r>
              <a:rPr lang="en-US" altLang="zh-CN" sz="2000" dirty="0"/>
              <a:t>        </a:t>
            </a:r>
            <a:r>
              <a:rPr lang="zh-CN" altLang="en-US" sz="2000" dirty="0">
                <a:solidFill>
                  <a:srgbClr val="009900"/>
                </a:solidFill>
              </a:rPr>
              <a:t>解包，将</a:t>
            </a:r>
            <a:r>
              <a:rPr lang="en-US" altLang="zh-CN" sz="2000" dirty="0">
                <a:solidFill>
                  <a:srgbClr val="009900"/>
                </a:solidFill>
              </a:rPr>
              <a:t>dir1.tar</a:t>
            </a:r>
            <a:r>
              <a:rPr lang="zh-CN" altLang="en-US" sz="2000" dirty="0">
                <a:solidFill>
                  <a:srgbClr val="009900"/>
                </a:solidFill>
              </a:rPr>
              <a:t>复原到原</a:t>
            </a:r>
            <a:r>
              <a:rPr lang="zh-CN" altLang="en-US" sz="2000" dirty="0" smtClean="0">
                <a:solidFill>
                  <a:srgbClr val="009900"/>
                </a:solidFill>
              </a:rPr>
              <a:t>位置</a:t>
            </a:r>
            <a:endParaRPr lang="zh-CN" altLang="en-US" sz="2000" dirty="0"/>
          </a:p>
          <a:p>
            <a:pPr marL="82550" indent="0">
              <a:lnSpc>
                <a:spcPct val="90000"/>
              </a:lnSpc>
              <a:buNone/>
            </a:pPr>
            <a:endParaRPr lang="zh-CN" altLang="en-US" sz="2400" b="1" dirty="0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>
          <a:xfrm>
            <a:off x="323528" y="627534"/>
            <a:ext cx="8424936" cy="4320480"/>
          </a:xfrm>
        </p:spPr>
        <p:txBody>
          <a:bodyPr>
            <a:normAutofit fontScale="85000" lnSpcReduction="20000"/>
          </a:bodyPr>
          <a:lstStyle/>
          <a:p>
            <a:pPr marL="82550" indent="0">
              <a:buNone/>
            </a:pPr>
            <a:r>
              <a:rPr lang="zh-CN" altLang="en-US" sz="2400" b="1" dirty="0">
                <a:solidFill>
                  <a:srgbClr val="0000FF"/>
                </a:solidFill>
              </a:rPr>
              <a:t>指定压缩算法： </a:t>
            </a:r>
            <a:r>
              <a:rPr lang="en-US" altLang="zh-CN" sz="2400" b="1" dirty="0">
                <a:solidFill>
                  <a:srgbClr val="0000FF"/>
                </a:solidFill>
              </a:rPr>
              <a:t>z </a:t>
            </a:r>
            <a:r>
              <a:rPr lang="zh-CN" altLang="en-US" sz="2400" b="1" dirty="0">
                <a:solidFill>
                  <a:srgbClr val="0000FF"/>
                </a:solidFill>
              </a:rPr>
              <a:t>代表 </a:t>
            </a:r>
            <a:r>
              <a:rPr lang="en-US" altLang="zh-CN" sz="2400" b="1" dirty="0" err="1">
                <a:solidFill>
                  <a:srgbClr val="0000FF"/>
                </a:solidFill>
              </a:rPr>
              <a:t>gz</a:t>
            </a:r>
            <a:r>
              <a:rPr lang="zh-CN" altLang="en-US" sz="2400" b="1" dirty="0">
                <a:solidFill>
                  <a:srgbClr val="0000FF"/>
                </a:solidFill>
              </a:rPr>
              <a:t>， </a:t>
            </a:r>
            <a:r>
              <a:rPr lang="en-US" altLang="zh-CN" sz="2400" b="1" dirty="0">
                <a:solidFill>
                  <a:srgbClr val="0000FF"/>
                </a:solidFill>
              </a:rPr>
              <a:t>j </a:t>
            </a:r>
            <a:r>
              <a:rPr lang="zh-CN" altLang="en-US" sz="2400" b="1" dirty="0">
                <a:solidFill>
                  <a:srgbClr val="0000FF"/>
                </a:solidFill>
              </a:rPr>
              <a:t>代表 </a:t>
            </a:r>
            <a:r>
              <a:rPr lang="en-US" altLang="zh-CN" sz="2400" b="1" dirty="0">
                <a:solidFill>
                  <a:srgbClr val="0000FF"/>
                </a:solidFill>
              </a:rPr>
              <a:t>bz2</a:t>
            </a:r>
            <a:r>
              <a:rPr lang="zh-CN" altLang="en-US" sz="2400" b="1" dirty="0">
                <a:solidFill>
                  <a:srgbClr val="0000FF"/>
                </a:solidFill>
              </a:rPr>
              <a:t>， </a:t>
            </a:r>
            <a:r>
              <a:rPr lang="en-US" altLang="zh-CN" sz="2400" b="1" dirty="0">
                <a:solidFill>
                  <a:srgbClr val="0000FF"/>
                </a:solidFill>
              </a:rPr>
              <a:t>J </a:t>
            </a:r>
            <a:r>
              <a:rPr lang="zh-CN" altLang="en-US" sz="2400" b="1" dirty="0">
                <a:solidFill>
                  <a:srgbClr val="0000FF"/>
                </a:solidFill>
              </a:rPr>
              <a:t>代表 </a:t>
            </a:r>
            <a:r>
              <a:rPr lang="en-US" altLang="zh-CN" sz="2400" b="1" dirty="0" err="1">
                <a:solidFill>
                  <a:srgbClr val="0000FF"/>
                </a:solidFill>
              </a:rPr>
              <a:t>xz</a:t>
            </a:r>
            <a:r>
              <a:rPr lang="zh-CN" altLang="en-US" sz="2400" b="1" dirty="0">
                <a:solidFill>
                  <a:srgbClr val="0000FF"/>
                </a:solidFill>
              </a:rPr>
              <a:t>。</a:t>
            </a:r>
            <a:endParaRPr lang="en-US" altLang="zh-CN" sz="2400" b="1" dirty="0" smtClean="0">
              <a:solidFill>
                <a:srgbClr val="0000FF"/>
              </a:solidFill>
              <a:ea typeface="黑体" panose="02010609060101010101" pitchFamily="49" charset="-122"/>
            </a:endParaRPr>
          </a:p>
          <a:p>
            <a:pPr marL="82550" indent="0">
              <a:buNone/>
            </a:pPr>
            <a:endParaRPr lang="en-US" altLang="zh-CN" sz="2400" b="1" dirty="0" smtClean="0">
              <a:solidFill>
                <a:srgbClr val="FF0000"/>
              </a:solidFill>
              <a:ea typeface="黑体" panose="02010609060101010101" pitchFamily="49" charset="-122"/>
            </a:endParaRPr>
          </a:p>
          <a:p>
            <a:pPr marL="82550" indent="0">
              <a:buNone/>
            </a:pPr>
            <a:r>
              <a:rPr lang="zh-CN" altLang="en-US" sz="2400" b="1" dirty="0" smtClean="0">
                <a:solidFill>
                  <a:srgbClr val="FF0000"/>
                </a:solidFill>
                <a:ea typeface="黑体" panose="02010609060101010101" pitchFamily="49" charset="-122"/>
              </a:rPr>
              <a:t>压缩</a:t>
            </a:r>
            <a:r>
              <a:rPr lang="zh-CN" altLang="en-US" sz="2400" b="1" dirty="0">
                <a:solidFill>
                  <a:srgbClr val="FF0000"/>
                </a:solidFill>
                <a:ea typeface="黑体" panose="02010609060101010101" pitchFamily="49" charset="-122"/>
              </a:rPr>
              <a:t>为</a:t>
            </a:r>
            <a:r>
              <a:rPr lang="en-US" altLang="zh-CN" sz="2400" b="1" dirty="0">
                <a:solidFill>
                  <a:srgbClr val="FF0000"/>
                </a:solidFill>
                <a:ea typeface="黑体" panose="02010609060101010101" pitchFamily="49" charset="-122"/>
              </a:rPr>
              <a:t>.</a:t>
            </a:r>
            <a:r>
              <a:rPr lang="en-US" altLang="zh-CN" sz="2400" b="1" dirty="0" smtClean="0">
                <a:solidFill>
                  <a:srgbClr val="FF0000"/>
                </a:solidFill>
                <a:ea typeface="黑体" panose="02010609060101010101" pitchFamily="49" charset="-122"/>
              </a:rPr>
              <a:t>tar.bz2</a:t>
            </a:r>
            <a:r>
              <a:rPr lang="zh-CN" altLang="en-US" sz="2400" b="1" dirty="0" smtClean="0">
                <a:solidFill>
                  <a:srgbClr val="FF0000"/>
                </a:solidFill>
                <a:ea typeface="黑体" panose="02010609060101010101" pitchFamily="49" charset="-122"/>
              </a:rPr>
              <a:t>格式</a:t>
            </a:r>
            <a:r>
              <a:rPr lang="zh-CN" altLang="en-US" sz="2400" b="1" dirty="0">
                <a:solidFill>
                  <a:srgbClr val="FF0000"/>
                </a:solidFill>
                <a:ea typeface="黑体" panose="02010609060101010101" pitchFamily="49" charset="-122"/>
              </a:rPr>
              <a:t>：</a:t>
            </a:r>
            <a:endParaRPr lang="en-US" altLang="zh-CN" sz="2400" b="1" dirty="0">
              <a:solidFill>
                <a:srgbClr val="FF0000"/>
              </a:solidFill>
              <a:ea typeface="黑体" panose="02010609060101010101" pitchFamily="49" charset="-122"/>
            </a:endParaRPr>
          </a:p>
          <a:p>
            <a:pPr marL="82550" indent="0">
              <a:buNone/>
            </a:pPr>
            <a:r>
              <a:rPr lang="en-US" altLang="zh-CN" sz="2400" dirty="0"/>
              <a:t>   $tar  </a:t>
            </a:r>
            <a:r>
              <a:rPr lang="en-US" altLang="zh-CN" sz="2400" dirty="0" smtClean="0">
                <a:solidFill>
                  <a:srgbClr val="FF0000"/>
                </a:solidFill>
              </a:rPr>
              <a:t>-</a:t>
            </a:r>
            <a:r>
              <a:rPr lang="en-US" altLang="zh-CN" sz="2400" dirty="0" err="1">
                <a:solidFill>
                  <a:srgbClr val="FF0000"/>
                </a:solidFill>
              </a:rPr>
              <a:t>j</a:t>
            </a:r>
            <a:r>
              <a:rPr lang="en-US" altLang="zh-CN" sz="2400" dirty="0" err="1" smtClean="0">
                <a:solidFill>
                  <a:srgbClr val="FF0000"/>
                </a:solidFill>
              </a:rPr>
              <a:t>cvf</a:t>
            </a:r>
            <a:r>
              <a:rPr lang="en-US" altLang="zh-CN" sz="2400" dirty="0" smtClean="0">
                <a:solidFill>
                  <a:srgbClr val="FF0000"/>
                </a:solidFill>
              </a:rPr>
              <a:t>  </a:t>
            </a:r>
            <a:r>
              <a:rPr lang="en-US" altLang="zh-CN" sz="2400" dirty="0" smtClean="0"/>
              <a:t>dir2.tar.bz2  </a:t>
            </a:r>
            <a:r>
              <a:rPr lang="en-US" altLang="zh-CN" sz="2400" dirty="0"/>
              <a:t>dir2</a:t>
            </a:r>
            <a:endParaRPr lang="en-US" altLang="zh-CN" sz="2400" dirty="0"/>
          </a:p>
          <a:p>
            <a:pPr marL="82550" indent="0">
              <a:buNone/>
            </a:pPr>
            <a:r>
              <a:rPr lang="en-US" altLang="zh-CN" sz="2400" dirty="0"/>
              <a:t>    </a:t>
            </a:r>
            <a:r>
              <a:rPr lang="zh-CN" altLang="en-US" sz="2400" dirty="0"/>
              <a:t>　</a:t>
            </a:r>
            <a:r>
              <a:rPr lang="zh-CN" altLang="en-US" sz="2400" dirty="0">
                <a:solidFill>
                  <a:srgbClr val="009900"/>
                </a:solidFill>
              </a:rPr>
              <a:t>将目录</a:t>
            </a:r>
            <a:r>
              <a:rPr lang="en-US" altLang="zh-CN" sz="2400" dirty="0">
                <a:solidFill>
                  <a:srgbClr val="009900"/>
                </a:solidFill>
              </a:rPr>
              <a:t>dir2</a:t>
            </a:r>
            <a:r>
              <a:rPr lang="zh-CN" altLang="en-US" sz="2400" dirty="0">
                <a:solidFill>
                  <a:srgbClr val="009900"/>
                </a:solidFill>
              </a:rPr>
              <a:t>打包并压缩成</a:t>
            </a:r>
            <a:r>
              <a:rPr lang="en-US" altLang="zh-CN" sz="2400" dirty="0" smtClean="0">
                <a:solidFill>
                  <a:srgbClr val="009900"/>
                </a:solidFill>
              </a:rPr>
              <a:t>dir2.tar.bz2</a:t>
            </a:r>
            <a:r>
              <a:rPr lang="zh-CN" altLang="en-US" sz="2400" dirty="0" smtClean="0">
                <a:solidFill>
                  <a:srgbClr val="009900"/>
                </a:solidFill>
              </a:rPr>
              <a:t>文件</a:t>
            </a:r>
            <a:endParaRPr lang="zh-CN" altLang="en-US" sz="2400" dirty="0">
              <a:solidFill>
                <a:srgbClr val="009900"/>
              </a:solidFill>
            </a:endParaRPr>
          </a:p>
          <a:p>
            <a:pPr marL="82550" indent="0">
              <a:buNone/>
            </a:pPr>
            <a:r>
              <a:rPr lang="zh-CN" altLang="en-US" sz="2400" dirty="0"/>
              <a:t>　</a:t>
            </a:r>
            <a:r>
              <a:rPr lang="en-US" altLang="zh-CN" sz="2400" dirty="0"/>
              <a:t>$tar  </a:t>
            </a:r>
            <a:r>
              <a:rPr lang="en-US" altLang="zh-CN" sz="2400" dirty="0" smtClean="0">
                <a:solidFill>
                  <a:srgbClr val="FF0000"/>
                </a:solidFill>
              </a:rPr>
              <a:t>-</a:t>
            </a:r>
            <a:r>
              <a:rPr lang="en-US" altLang="zh-CN" sz="2400" dirty="0" err="1" smtClean="0">
                <a:solidFill>
                  <a:srgbClr val="FF0000"/>
                </a:solidFill>
              </a:rPr>
              <a:t>jxf</a:t>
            </a:r>
            <a:r>
              <a:rPr lang="en-US" altLang="zh-CN" sz="2400" dirty="0" smtClean="0">
                <a:solidFill>
                  <a:srgbClr val="FF0000"/>
                </a:solidFill>
              </a:rPr>
              <a:t>  </a:t>
            </a:r>
            <a:r>
              <a:rPr lang="en-US" altLang="zh-CN" sz="2400" dirty="0" smtClean="0"/>
              <a:t>dir2.tar.bz2</a:t>
            </a:r>
            <a:endParaRPr lang="en-US" altLang="zh-CN" sz="2400" dirty="0"/>
          </a:p>
          <a:p>
            <a:pPr marL="82550" indent="0">
              <a:buNone/>
            </a:pPr>
            <a:r>
              <a:rPr lang="en-US" altLang="zh-CN" sz="2400" dirty="0"/>
              <a:t>    </a:t>
            </a:r>
            <a:r>
              <a:rPr lang="zh-CN" altLang="en-US" sz="2400" dirty="0"/>
              <a:t>　</a:t>
            </a:r>
            <a:r>
              <a:rPr lang="zh-CN" altLang="en-US" sz="2400" dirty="0">
                <a:solidFill>
                  <a:srgbClr val="009900"/>
                </a:solidFill>
              </a:rPr>
              <a:t>解压并解包</a:t>
            </a:r>
            <a:r>
              <a:rPr lang="en-US" altLang="zh-CN" sz="2400" dirty="0" smtClean="0">
                <a:solidFill>
                  <a:srgbClr val="009900"/>
                </a:solidFill>
              </a:rPr>
              <a:t>dir1.tar.bz2</a:t>
            </a:r>
            <a:r>
              <a:rPr lang="zh-CN" altLang="en-US" sz="2400" dirty="0" smtClean="0">
                <a:solidFill>
                  <a:srgbClr val="009900"/>
                </a:solidFill>
              </a:rPr>
              <a:t>文件</a:t>
            </a:r>
            <a:r>
              <a:rPr lang="zh-CN" altLang="en-US" sz="2400" dirty="0"/>
              <a:t>　</a:t>
            </a:r>
            <a:endParaRPr lang="en-US" altLang="zh-CN" sz="2400" b="1" dirty="0" smtClean="0">
              <a:solidFill>
                <a:srgbClr val="FF0000"/>
              </a:solidFill>
              <a:ea typeface="黑体" panose="02010609060101010101" pitchFamily="49" charset="-122"/>
            </a:endParaRPr>
          </a:p>
          <a:p>
            <a:pPr marL="82550" indent="0">
              <a:buNone/>
            </a:pPr>
            <a:endParaRPr lang="en-US" altLang="zh-CN" sz="2400" b="1" dirty="0">
              <a:solidFill>
                <a:srgbClr val="FF0000"/>
              </a:solidFill>
              <a:ea typeface="黑体" panose="02010609060101010101" pitchFamily="49" charset="-122"/>
            </a:endParaRPr>
          </a:p>
          <a:p>
            <a:pPr marL="82550" indent="0">
              <a:buNone/>
            </a:pPr>
            <a:r>
              <a:rPr lang="zh-CN" altLang="en-US" sz="2400" b="1" dirty="0" smtClean="0">
                <a:solidFill>
                  <a:srgbClr val="FF0000"/>
                </a:solidFill>
                <a:ea typeface="黑体" panose="02010609060101010101" pitchFamily="49" charset="-122"/>
              </a:rPr>
              <a:t>压缩为</a:t>
            </a:r>
            <a:r>
              <a:rPr lang="en-US" altLang="zh-CN" sz="2400" b="1" dirty="0" smtClean="0">
                <a:solidFill>
                  <a:srgbClr val="FF0000"/>
                </a:solidFill>
                <a:ea typeface="黑体" panose="02010609060101010101" pitchFamily="49" charset="-122"/>
              </a:rPr>
              <a:t>.tar.gz</a:t>
            </a:r>
            <a:r>
              <a:rPr lang="zh-CN" altLang="en-US" sz="2400" b="1" dirty="0" smtClean="0">
                <a:solidFill>
                  <a:srgbClr val="FF0000"/>
                </a:solidFill>
                <a:ea typeface="黑体" panose="02010609060101010101" pitchFamily="49" charset="-122"/>
              </a:rPr>
              <a:t>格式：</a:t>
            </a:r>
            <a:endParaRPr lang="en-US" altLang="zh-CN" sz="2400" b="1" dirty="0">
              <a:solidFill>
                <a:srgbClr val="FF0000"/>
              </a:solidFill>
              <a:ea typeface="黑体" panose="02010609060101010101" pitchFamily="49" charset="-122"/>
            </a:endParaRPr>
          </a:p>
          <a:p>
            <a:pPr marL="82550" indent="0">
              <a:buNone/>
            </a:pPr>
            <a:r>
              <a:rPr lang="en-US" altLang="zh-CN" sz="2400" dirty="0" smtClean="0"/>
              <a:t>   $</a:t>
            </a:r>
            <a:r>
              <a:rPr lang="en-US" altLang="zh-CN" sz="2400" dirty="0"/>
              <a:t>tar  </a:t>
            </a:r>
            <a:r>
              <a:rPr lang="en-US" altLang="zh-CN" sz="2400" dirty="0" smtClean="0">
                <a:solidFill>
                  <a:srgbClr val="FF0000"/>
                </a:solidFill>
              </a:rPr>
              <a:t>-</a:t>
            </a:r>
            <a:r>
              <a:rPr lang="en-US" altLang="zh-CN" sz="2400" dirty="0" err="1">
                <a:solidFill>
                  <a:srgbClr val="FF0000"/>
                </a:solidFill>
              </a:rPr>
              <a:t>z</a:t>
            </a:r>
            <a:r>
              <a:rPr lang="en-US" altLang="zh-CN" sz="2400" dirty="0" err="1" smtClean="0">
                <a:solidFill>
                  <a:srgbClr val="FF0000"/>
                </a:solidFill>
              </a:rPr>
              <a:t>cvf</a:t>
            </a:r>
            <a:r>
              <a:rPr lang="en-US" altLang="zh-CN" sz="2400" dirty="0" smtClean="0">
                <a:solidFill>
                  <a:srgbClr val="FF0000"/>
                </a:solidFill>
              </a:rPr>
              <a:t>  </a:t>
            </a:r>
            <a:r>
              <a:rPr lang="en-US" altLang="zh-CN" sz="2400" dirty="0" smtClean="0"/>
              <a:t>dir3.tar.gz  dir3</a:t>
            </a:r>
            <a:endParaRPr lang="en-US" altLang="zh-CN" sz="2400" dirty="0" smtClean="0"/>
          </a:p>
          <a:p>
            <a:pPr marL="82550" indent="0">
              <a:buNone/>
            </a:pPr>
            <a:r>
              <a:rPr lang="en-US" altLang="zh-CN" sz="2400" dirty="0" smtClean="0"/>
              <a:t>    </a:t>
            </a:r>
            <a:r>
              <a:rPr lang="zh-CN" altLang="en-US" sz="2400" dirty="0"/>
              <a:t>　</a:t>
            </a:r>
            <a:r>
              <a:rPr lang="zh-CN" altLang="en-US" sz="2400" dirty="0">
                <a:solidFill>
                  <a:srgbClr val="009900"/>
                </a:solidFill>
              </a:rPr>
              <a:t>将目录</a:t>
            </a:r>
            <a:r>
              <a:rPr lang="en-US" altLang="zh-CN" sz="2400" dirty="0" smtClean="0">
                <a:solidFill>
                  <a:srgbClr val="009900"/>
                </a:solidFill>
              </a:rPr>
              <a:t>dir3</a:t>
            </a:r>
            <a:r>
              <a:rPr lang="zh-CN" altLang="en-US" sz="2400" dirty="0" smtClean="0">
                <a:solidFill>
                  <a:srgbClr val="009900"/>
                </a:solidFill>
              </a:rPr>
              <a:t>打包</a:t>
            </a:r>
            <a:r>
              <a:rPr lang="zh-CN" altLang="en-US" sz="2400" dirty="0">
                <a:solidFill>
                  <a:srgbClr val="009900"/>
                </a:solidFill>
              </a:rPr>
              <a:t>并压缩成</a:t>
            </a:r>
            <a:r>
              <a:rPr lang="en-US" altLang="zh-CN" sz="2400" dirty="0" smtClean="0">
                <a:solidFill>
                  <a:srgbClr val="009900"/>
                </a:solidFill>
              </a:rPr>
              <a:t>dir3.tar.gz</a:t>
            </a:r>
            <a:r>
              <a:rPr lang="zh-CN" altLang="en-US" sz="2400" dirty="0">
                <a:solidFill>
                  <a:srgbClr val="009900"/>
                </a:solidFill>
              </a:rPr>
              <a:t>文件</a:t>
            </a:r>
            <a:endParaRPr lang="zh-CN" altLang="en-US" sz="2400" dirty="0">
              <a:solidFill>
                <a:srgbClr val="009900"/>
              </a:solidFill>
            </a:endParaRPr>
          </a:p>
          <a:p>
            <a:pPr marL="82550" indent="0">
              <a:buNone/>
            </a:pPr>
            <a:r>
              <a:rPr lang="zh-CN" altLang="en-US" sz="2400" dirty="0"/>
              <a:t>　</a:t>
            </a:r>
            <a:r>
              <a:rPr lang="en-US" altLang="zh-CN" sz="2400" dirty="0"/>
              <a:t>$tar  </a:t>
            </a:r>
            <a:r>
              <a:rPr lang="en-US" altLang="zh-CN" sz="2400" dirty="0">
                <a:solidFill>
                  <a:srgbClr val="FF0000"/>
                </a:solidFill>
              </a:rPr>
              <a:t>-</a:t>
            </a:r>
            <a:r>
              <a:rPr lang="en-US" altLang="zh-CN" sz="2400" dirty="0" err="1">
                <a:solidFill>
                  <a:srgbClr val="FF0000"/>
                </a:solidFill>
              </a:rPr>
              <a:t>zxf</a:t>
            </a:r>
            <a:r>
              <a:rPr lang="en-US" altLang="zh-CN" sz="2400" dirty="0">
                <a:solidFill>
                  <a:srgbClr val="FF0000"/>
                </a:solidFill>
              </a:rPr>
              <a:t>  </a:t>
            </a:r>
            <a:r>
              <a:rPr lang="en-US" altLang="zh-CN" sz="2400" dirty="0" smtClean="0"/>
              <a:t>dir3.tar.gz</a:t>
            </a:r>
            <a:endParaRPr lang="en-US" altLang="zh-CN" sz="2400" dirty="0"/>
          </a:p>
          <a:p>
            <a:pPr marL="82550" indent="0">
              <a:buNone/>
            </a:pPr>
            <a:r>
              <a:rPr lang="en-US" altLang="zh-CN" sz="2400" dirty="0"/>
              <a:t>    </a:t>
            </a:r>
            <a:r>
              <a:rPr lang="zh-CN" altLang="en-US" sz="2400" dirty="0"/>
              <a:t>　</a:t>
            </a:r>
            <a:r>
              <a:rPr lang="zh-CN" altLang="en-US" sz="2400" dirty="0">
                <a:solidFill>
                  <a:srgbClr val="009900"/>
                </a:solidFill>
              </a:rPr>
              <a:t>解压并解包</a:t>
            </a:r>
            <a:r>
              <a:rPr lang="en-US" altLang="zh-CN" sz="2400" dirty="0" smtClean="0">
                <a:solidFill>
                  <a:srgbClr val="009900"/>
                </a:solidFill>
              </a:rPr>
              <a:t>dir3.tar.gz</a:t>
            </a:r>
            <a:r>
              <a:rPr lang="zh-CN" altLang="en-US" sz="2400" dirty="0">
                <a:solidFill>
                  <a:srgbClr val="009900"/>
                </a:solidFill>
              </a:rPr>
              <a:t>文件</a:t>
            </a:r>
            <a:r>
              <a:rPr lang="zh-CN" altLang="en-US" sz="2400" dirty="0"/>
              <a:t>　</a:t>
            </a:r>
            <a:endParaRPr lang="zh-CN" altLang="en-US" sz="2400" dirty="0"/>
          </a:p>
          <a:p>
            <a:pPr marL="82550" indent="0">
              <a:lnSpc>
                <a:spcPct val="90000"/>
              </a:lnSpc>
              <a:buNone/>
            </a:pPr>
            <a:endParaRPr lang="zh-CN" altLang="en-US" sz="2400" b="1" dirty="0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>
          <a:xfrm>
            <a:off x="323528" y="407670"/>
            <a:ext cx="8136904" cy="4735830"/>
          </a:xfrm>
        </p:spPr>
        <p:txBody>
          <a:bodyPr>
            <a:normAutofit/>
          </a:bodyPr>
          <a:lstStyle/>
          <a:p>
            <a:pPr marL="82550" indent="0">
              <a:lnSpc>
                <a:spcPct val="80000"/>
              </a:lnSpc>
              <a:buNone/>
            </a:pPr>
            <a:r>
              <a:rPr lang="en-US" altLang="zh-CN" sz="2000" b="1" dirty="0">
                <a:solidFill>
                  <a:srgbClr val="C00000"/>
                </a:solidFill>
                <a:latin typeface="Arial Black" panose="020B0A04020102020204" pitchFamily="34" charset="0"/>
              </a:rPr>
              <a:t>2</a:t>
            </a:r>
            <a:r>
              <a:rPr lang="en-US" altLang="zh-CN" sz="2000" b="1" dirty="0" smtClean="0">
                <a:solidFill>
                  <a:srgbClr val="C00000"/>
                </a:solidFill>
                <a:latin typeface="Arial Black" panose="020B0A04020102020204" pitchFamily="34" charset="0"/>
              </a:rPr>
              <a:t>. bzip</a:t>
            </a:r>
            <a:r>
              <a:rPr lang="en-US" altLang="zh-CN" sz="2000" b="1" dirty="0" smtClean="0">
                <a:solidFill>
                  <a:srgbClr val="C00000"/>
                </a:solidFill>
                <a:ea typeface="宋体" panose="02010600030101010101" pitchFamily="2" charset="-122"/>
              </a:rPr>
              <a:t>2</a:t>
            </a:r>
            <a:endParaRPr lang="en-US" altLang="zh-CN" sz="2000" b="1" dirty="0">
              <a:solidFill>
                <a:srgbClr val="C00000"/>
              </a:solidFill>
              <a:latin typeface="Arial Black" panose="020B0A04020102020204" pitchFamily="34" charset="0"/>
            </a:endParaRPr>
          </a:p>
          <a:p>
            <a:pPr marL="82550" indent="0">
              <a:buNone/>
            </a:pPr>
            <a:r>
              <a:rPr lang="zh-CN" altLang="fr-FR" sz="2000" b="1" dirty="0" smtClean="0"/>
              <a:t>功能：</a:t>
            </a:r>
            <a:r>
              <a:rPr lang="zh-CN" altLang="en-US" sz="2000" b="1" dirty="0">
                <a:solidFill>
                  <a:srgbClr val="FF0000"/>
                </a:solidFill>
              </a:rPr>
              <a:t>文件</a:t>
            </a:r>
            <a:r>
              <a:rPr lang="zh-CN" altLang="en-US" sz="2000" b="1" dirty="0" smtClean="0">
                <a:solidFill>
                  <a:srgbClr val="FF0000"/>
                </a:solidFill>
              </a:rPr>
              <a:t>压缩和解压缩，压缩时生成</a:t>
            </a:r>
            <a:r>
              <a:rPr lang="zh-CN" altLang="en-US" sz="2000" b="1" dirty="0">
                <a:solidFill>
                  <a:srgbClr val="FF0000"/>
                </a:solidFill>
              </a:rPr>
              <a:t>与原文件同名的</a:t>
            </a:r>
            <a:r>
              <a:rPr lang="en-US" altLang="zh-CN" sz="2000" b="1" dirty="0" smtClean="0">
                <a:solidFill>
                  <a:srgbClr val="FF0000"/>
                </a:solidFill>
              </a:rPr>
              <a:t>.bz2</a:t>
            </a:r>
            <a:r>
              <a:rPr lang="zh-CN" altLang="en-US" sz="2000" b="1" dirty="0" smtClean="0">
                <a:solidFill>
                  <a:srgbClr val="FF0000"/>
                </a:solidFill>
              </a:rPr>
              <a:t>压缩</a:t>
            </a:r>
            <a:r>
              <a:rPr lang="zh-CN" altLang="en-US" sz="2000" b="1" dirty="0">
                <a:solidFill>
                  <a:srgbClr val="FF0000"/>
                </a:solidFill>
              </a:rPr>
              <a:t>文件并覆盖原文件。 </a:t>
            </a:r>
            <a:r>
              <a:rPr lang="zh-CN" altLang="en-US" sz="2000" b="1" dirty="0"/>
              <a:t> </a:t>
            </a:r>
            <a:r>
              <a:rPr lang="zh-CN" altLang="en-US" sz="2000" dirty="0"/>
              <a:t> </a:t>
            </a:r>
            <a:endParaRPr lang="en-US" altLang="zh-CN" sz="2000" dirty="0" smtClean="0"/>
          </a:p>
          <a:p>
            <a:pPr marL="82550" indent="0">
              <a:buNone/>
            </a:pPr>
            <a:r>
              <a:rPr lang="zh-CN" altLang="fr-FR" sz="2000" dirty="0" smtClean="0"/>
              <a:t>语法</a:t>
            </a:r>
            <a:r>
              <a:rPr lang="zh-CN" altLang="fr-FR" sz="2000" b="1" dirty="0" smtClean="0">
                <a:solidFill>
                  <a:srgbClr val="FF0000"/>
                </a:solidFill>
              </a:rPr>
              <a:t>：</a:t>
            </a:r>
            <a:r>
              <a:rPr lang="en-US" altLang="zh-CN" sz="2000" b="1" dirty="0">
                <a:solidFill>
                  <a:srgbClr val="FF0000"/>
                </a:solidFill>
              </a:rPr>
              <a:t> </a:t>
            </a:r>
            <a:r>
              <a:rPr lang="en-US" altLang="zh-CN" sz="2000" b="1" dirty="0" smtClean="0">
                <a:solidFill>
                  <a:srgbClr val="FF0000"/>
                </a:solidFill>
              </a:rPr>
              <a:t>bzip2  </a:t>
            </a:r>
            <a:r>
              <a:rPr lang="en-US" altLang="zh-CN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选项</a:t>
            </a:r>
            <a:r>
              <a:rPr lang="en-US" altLang="zh-CN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] 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文件名</a:t>
            </a:r>
            <a:r>
              <a:rPr lang="zh-CN" altLang="en-US" sz="2000" b="1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列表</a:t>
            </a:r>
            <a:endParaRPr lang="en-US" altLang="zh-CN" sz="2000" b="1" dirty="0" smtClean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82550" indent="0">
              <a:buNone/>
            </a:pPr>
            <a:r>
              <a:rPr lang="zh-CN" altLang="en-US" sz="2000" dirty="0"/>
              <a:t>选项： </a:t>
            </a:r>
            <a:r>
              <a:rPr lang="en-US" altLang="zh-CN" sz="2000" dirty="0">
                <a:solidFill>
                  <a:srgbClr val="FF0000"/>
                </a:solidFill>
              </a:rPr>
              <a:t>-d</a:t>
            </a:r>
            <a:r>
              <a:rPr lang="zh-CN" altLang="en-US" sz="2000" dirty="0">
                <a:solidFill>
                  <a:srgbClr val="FF0000"/>
                </a:solidFill>
              </a:rPr>
              <a:t>：解压缩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 marL="82550" indent="0">
              <a:buNone/>
            </a:pPr>
            <a:r>
              <a:rPr lang="en-US" altLang="zh-CN" sz="2000" b="1" dirty="0" smtClean="0"/>
              <a:t>              </a:t>
            </a:r>
            <a:r>
              <a:rPr lang="en-US" altLang="zh-CN" sz="2000" dirty="0" smtClean="0">
                <a:solidFill>
                  <a:srgbClr val="FF0000"/>
                </a:solidFill>
              </a:rPr>
              <a:t>-z</a:t>
            </a:r>
            <a:r>
              <a:rPr lang="zh-CN" altLang="en-US" sz="2000" dirty="0" smtClean="0">
                <a:solidFill>
                  <a:srgbClr val="FF0000"/>
                </a:solidFill>
              </a:rPr>
              <a:t>：压缩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 marL="82550" indent="0">
              <a:buNone/>
            </a:pPr>
            <a:r>
              <a:rPr lang="zh-CN" altLang="en-US" sz="2000" b="1" dirty="0" smtClean="0"/>
              <a:t>例子：</a:t>
            </a:r>
            <a:endParaRPr lang="en-US" altLang="zh-CN" sz="2000" b="1" dirty="0"/>
          </a:p>
          <a:p>
            <a:pPr marL="82550" indent="0">
              <a:buNone/>
            </a:pPr>
            <a:r>
              <a:rPr lang="en-US" altLang="zh-CN" sz="2000" dirty="0" smtClean="0"/>
              <a:t>    bzip2  -z file1</a:t>
            </a:r>
            <a:endParaRPr lang="en-US" altLang="zh-CN" sz="2000" dirty="0"/>
          </a:p>
          <a:p>
            <a:pPr marL="82550" indent="0">
              <a:buNone/>
            </a:pPr>
            <a:r>
              <a:rPr lang="zh-CN" altLang="en-US" sz="2000" dirty="0"/>
              <a:t>　　</a:t>
            </a:r>
            <a:r>
              <a:rPr lang="zh-CN" altLang="en-US" sz="2000" dirty="0">
                <a:solidFill>
                  <a:srgbClr val="009900"/>
                </a:solidFill>
              </a:rPr>
              <a:t>压缩当前目录下的</a:t>
            </a:r>
            <a:r>
              <a:rPr lang="en-US" altLang="zh-CN" sz="2000" dirty="0">
                <a:solidFill>
                  <a:srgbClr val="009900"/>
                </a:solidFill>
              </a:rPr>
              <a:t>file1</a:t>
            </a:r>
            <a:r>
              <a:rPr lang="zh-CN" altLang="en-US" sz="2000" dirty="0">
                <a:solidFill>
                  <a:srgbClr val="009900"/>
                </a:solidFill>
              </a:rPr>
              <a:t>文件，生成</a:t>
            </a:r>
            <a:r>
              <a:rPr lang="en-US" altLang="zh-CN" sz="2000" dirty="0" smtClean="0">
                <a:solidFill>
                  <a:srgbClr val="009900"/>
                </a:solidFill>
              </a:rPr>
              <a:t>file1.bz2</a:t>
            </a:r>
            <a:endParaRPr lang="en-US" altLang="zh-CN" sz="2000" dirty="0">
              <a:solidFill>
                <a:srgbClr val="009900"/>
              </a:solidFill>
            </a:endParaRPr>
          </a:p>
          <a:p>
            <a:pPr marL="82550" indent="0">
              <a:buNone/>
            </a:pPr>
            <a:r>
              <a:rPr lang="en-US" altLang="zh-CN" sz="2000" dirty="0"/>
              <a:t>    </a:t>
            </a:r>
            <a:r>
              <a:rPr lang="en-US" altLang="zh-CN" sz="2000" dirty="0" smtClean="0"/>
              <a:t>bzip2  -d  file1.bz2</a:t>
            </a:r>
            <a:endParaRPr lang="en-US" altLang="zh-CN" sz="2000" dirty="0"/>
          </a:p>
          <a:p>
            <a:pPr marL="82550" indent="0">
              <a:buNone/>
            </a:pPr>
            <a:r>
              <a:rPr lang="zh-CN" altLang="en-US" sz="2000" dirty="0"/>
              <a:t>　　</a:t>
            </a:r>
            <a:r>
              <a:rPr lang="zh-CN" altLang="en-US" sz="2000" dirty="0">
                <a:solidFill>
                  <a:srgbClr val="009900"/>
                </a:solidFill>
              </a:rPr>
              <a:t>解压</a:t>
            </a:r>
            <a:r>
              <a:rPr lang="zh-CN" altLang="en-US" sz="2000" dirty="0" smtClean="0">
                <a:solidFill>
                  <a:srgbClr val="009900"/>
                </a:solidFill>
              </a:rPr>
              <a:t>缩</a:t>
            </a:r>
            <a:r>
              <a:rPr lang="zh-CN" altLang="en-US" sz="2000" dirty="0">
                <a:solidFill>
                  <a:srgbClr val="009900"/>
                </a:solidFill>
              </a:rPr>
              <a:t>当前目录下</a:t>
            </a:r>
            <a:r>
              <a:rPr lang="zh-CN" altLang="en-US" sz="2000" dirty="0" smtClean="0">
                <a:solidFill>
                  <a:srgbClr val="009900"/>
                </a:solidFill>
              </a:rPr>
              <a:t>的</a:t>
            </a:r>
            <a:r>
              <a:rPr lang="en-US" altLang="zh-CN" sz="2000" dirty="0" smtClean="0">
                <a:solidFill>
                  <a:srgbClr val="009900"/>
                </a:solidFill>
              </a:rPr>
              <a:t>file1.bz2</a:t>
            </a:r>
            <a:r>
              <a:rPr lang="zh-CN" altLang="en-US" sz="2000" dirty="0" smtClean="0">
                <a:solidFill>
                  <a:srgbClr val="009900"/>
                </a:solidFill>
              </a:rPr>
              <a:t>文件</a:t>
            </a:r>
            <a:endParaRPr lang="en-US" altLang="zh-CN" sz="2000" dirty="0">
              <a:solidFill>
                <a:schemeClr val="hlink"/>
              </a:solidFill>
            </a:endParaRPr>
          </a:p>
          <a:p>
            <a:pPr marL="82550" indent="0">
              <a:buNone/>
            </a:pPr>
            <a:endParaRPr lang="zh-CN" altLang="en-US" sz="2400" dirty="0"/>
          </a:p>
          <a:p>
            <a:pPr marL="82550" indent="0">
              <a:lnSpc>
                <a:spcPct val="90000"/>
              </a:lnSpc>
              <a:buNone/>
            </a:pPr>
            <a:endParaRPr lang="zh-CN" altLang="en-US" sz="2400" b="1" dirty="0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>
          <a:xfrm>
            <a:off x="323528" y="771550"/>
            <a:ext cx="8352928" cy="4320480"/>
          </a:xfrm>
        </p:spPr>
        <p:txBody>
          <a:bodyPr>
            <a:normAutofit/>
          </a:bodyPr>
          <a:lstStyle/>
          <a:p>
            <a:pPr marL="82550" indent="0">
              <a:lnSpc>
                <a:spcPct val="80000"/>
              </a:lnSpc>
              <a:buNone/>
            </a:pPr>
            <a:r>
              <a:rPr lang="en-US" altLang="zh-CN" sz="2000" b="1" dirty="0" smtClean="0">
                <a:solidFill>
                  <a:srgbClr val="C00000"/>
                </a:solidFill>
                <a:latin typeface="Arial Black" panose="020B0A04020102020204" pitchFamily="34" charset="0"/>
              </a:rPr>
              <a:t>3. </a:t>
            </a:r>
            <a:r>
              <a:rPr lang="en-US" altLang="zh-CN" sz="2000" b="1" dirty="0" err="1" smtClean="0">
                <a:solidFill>
                  <a:srgbClr val="C00000"/>
                </a:solidFill>
                <a:latin typeface="Arial Black" panose="020B0A04020102020204" pitchFamily="34" charset="0"/>
              </a:rPr>
              <a:t>gzip</a:t>
            </a:r>
            <a:endParaRPr lang="en-US" altLang="zh-CN" sz="2000" b="1" dirty="0" smtClean="0">
              <a:solidFill>
                <a:srgbClr val="C00000"/>
              </a:solidFill>
              <a:ea typeface="宋体" panose="02010600030101010101" pitchFamily="2" charset="-122"/>
            </a:endParaRPr>
          </a:p>
          <a:p>
            <a:pPr marL="82550" indent="0">
              <a:buNone/>
            </a:pPr>
            <a:r>
              <a:rPr lang="zh-CN" altLang="fr-FR" sz="2000" dirty="0" smtClean="0"/>
              <a:t>功能：</a:t>
            </a:r>
            <a:r>
              <a:rPr lang="zh-CN" altLang="en-US" sz="2000" b="1" dirty="0">
                <a:solidFill>
                  <a:srgbClr val="FF0000"/>
                </a:solidFill>
              </a:rPr>
              <a:t>文件</a:t>
            </a:r>
            <a:r>
              <a:rPr lang="zh-CN" altLang="en-US" sz="2000" b="1" dirty="0" smtClean="0">
                <a:solidFill>
                  <a:srgbClr val="FF0000"/>
                </a:solidFill>
              </a:rPr>
              <a:t>压缩和解压缩，压缩时生成</a:t>
            </a:r>
            <a:r>
              <a:rPr lang="zh-CN" altLang="en-US" sz="2000" b="1" dirty="0">
                <a:solidFill>
                  <a:srgbClr val="FF0000"/>
                </a:solidFill>
              </a:rPr>
              <a:t>与原文件同名的</a:t>
            </a:r>
            <a:r>
              <a:rPr lang="en-US" altLang="zh-CN" sz="2000" b="1" dirty="0">
                <a:solidFill>
                  <a:srgbClr val="FF0000"/>
                </a:solidFill>
              </a:rPr>
              <a:t>.</a:t>
            </a:r>
            <a:r>
              <a:rPr lang="en-US" altLang="zh-CN" sz="2000" b="1" dirty="0" err="1">
                <a:solidFill>
                  <a:srgbClr val="FF0000"/>
                </a:solidFill>
              </a:rPr>
              <a:t>gz</a:t>
            </a:r>
            <a:r>
              <a:rPr lang="zh-CN" altLang="en-US" sz="2000" b="1" dirty="0">
                <a:solidFill>
                  <a:srgbClr val="FF0000"/>
                </a:solidFill>
              </a:rPr>
              <a:t>压缩文件并覆盖原文件。 </a:t>
            </a:r>
            <a:r>
              <a:rPr lang="zh-CN" altLang="en-US" sz="2000" b="1" dirty="0"/>
              <a:t>  </a:t>
            </a:r>
            <a:endParaRPr lang="en-US" altLang="zh-CN" sz="2000" b="1" dirty="0" smtClean="0"/>
          </a:p>
          <a:p>
            <a:pPr marL="82550" indent="0">
              <a:buNone/>
            </a:pPr>
            <a:r>
              <a:rPr lang="zh-CN" altLang="fr-FR" sz="2000" dirty="0" smtClean="0"/>
              <a:t>语法</a:t>
            </a:r>
            <a:r>
              <a:rPr lang="zh-CN" altLang="fr-FR" sz="2000" b="1" dirty="0" smtClean="0">
                <a:solidFill>
                  <a:srgbClr val="FF0000"/>
                </a:solidFill>
              </a:rPr>
              <a:t>：</a:t>
            </a:r>
            <a:r>
              <a:rPr lang="en-US" altLang="zh-CN" sz="2000" b="1" dirty="0">
                <a:solidFill>
                  <a:srgbClr val="FF0000"/>
                </a:solidFill>
              </a:rPr>
              <a:t> </a:t>
            </a:r>
            <a:r>
              <a:rPr lang="en-US" altLang="zh-CN" sz="2000" b="1" dirty="0" err="1">
                <a:solidFill>
                  <a:srgbClr val="FF0000"/>
                </a:solidFill>
              </a:rPr>
              <a:t>gzip</a:t>
            </a:r>
            <a:r>
              <a:rPr lang="en-US" altLang="zh-CN" sz="2000" b="1" dirty="0">
                <a:solidFill>
                  <a:srgbClr val="FF0000"/>
                </a:solidFill>
              </a:rPr>
              <a:t>  </a:t>
            </a:r>
            <a:r>
              <a:rPr lang="en-US" altLang="zh-CN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选项</a:t>
            </a:r>
            <a:r>
              <a:rPr lang="en-US" altLang="zh-CN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] 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文件名</a:t>
            </a:r>
            <a:r>
              <a:rPr lang="zh-CN" altLang="en-US" sz="2000" b="1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列表</a:t>
            </a:r>
            <a:endParaRPr lang="en-US" altLang="zh-CN" sz="2000" b="1" dirty="0" smtClean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82550" indent="0">
              <a:buNone/>
            </a:pPr>
            <a:r>
              <a:rPr lang="zh-CN" altLang="en-US" sz="2000" dirty="0" smtClean="0"/>
              <a:t>选项： </a:t>
            </a:r>
            <a:r>
              <a:rPr lang="en-US" altLang="zh-CN" sz="2000" dirty="0" smtClean="0">
                <a:solidFill>
                  <a:srgbClr val="FF0000"/>
                </a:solidFill>
              </a:rPr>
              <a:t>-d</a:t>
            </a:r>
            <a:r>
              <a:rPr lang="zh-CN" altLang="en-US" sz="2000" dirty="0">
                <a:solidFill>
                  <a:srgbClr val="FF0000"/>
                </a:solidFill>
              </a:rPr>
              <a:t>：解</a:t>
            </a:r>
            <a:r>
              <a:rPr lang="zh-CN" altLang="en-US" sz="2000" dirty="0" smtClean="0">
                <a:solidFill>
                  <a:srgbClr val="FF0000"/>
                </a:solidFill>
              </a:rPr>
              <a:t>压缩</a:t>
            </a:r>
            <a:endParaRPr lang="en-US" altLang="zh-CN" sz="2000" dirty="0" smtClean="0">
              <a:solidFill>
                <a:srgbClr val="FF0000"/>
              </a:solidFill>
            </a:endParaRPr>
          </a:p>
          <a:p>
            <a:pPr marL="82550" indent="0">
              <a:buNone/>
            </a:pPr>
            <a:r>
              <a:rPr lang="zh-CN" altLang="en-US" sz="2000" b="1" dirty="0" smtClean="0"/>
              <a:t>例子：</a:t>
            </a:r>
            <a:endParaRPr lang="en-US" altLang="zh-CN" sz="2000" b="1" dirty="0"/>
          </a:p>
          <a:p>
            <a:pPr marL="82550" indent="0">
              <a:buNone/>
            </a:pPr>
            <a:r>
              <a:rPr lang="en-US" altLang="zh-CN" sz="2000" dirty="0" smtClean="0"/>
              <a:t>    </a:t>
            </a:r>
            <a:r>
              <a:rPr lang="en-US" altLang="zh-CN" sz="2000" dirty="0" err="1" smtClean="0"/>
              <a:t>gzip</a:t>
            </a:r>
            <a:r>
              <a:rPr lang="en-US" altLang="zh-CN" sz="2000" dirty="0" smtClean="0"/>
              <a:t>  </a:t>
            </a:r>
            <a:r>
              <a:rPr lang="en-US" altLang="zh-CN" sz="2000" dirty="0"/>
              <a:t>file1</a:t>
            </a:r>
            <a:endParaRPr lang="en-US" altLang="zh-CN" sz="2000" dirty="0"/>
          </a:p>
          <a:p>
            <a:pPr marL="82550" indent="0">
              <a:buNone/>
            </a:pPr>
            <a:r>
              <a:rPr lang="zh-CN" altLang="en-US" sz="2000" dirty="0"/>
              <a:t>　　</a:t>
            </a:r>
            <a:r>
              <a:rPr lang="zh-CN" altLang="en-US" sz="2000" dirty="0">
                <a:solidFill>
                  <a:srgbClr val="009900"/>
                </a:solidFill>
              </a:rPr>
              <a:t>压缩当前目录下的</a:t>
            </a:r>
            <a:r>
              <a:rPr lang="en-US" altLang="zh-CN" sz="2000" dirty="0">
                <a:solidFill>
                  <a:srgbClr val="009900"/>
                </a:solidFill>
              </a:rPr>
              <a:t>file1</a:t>
            </a:r>
            <a:r>
              <a:rPr lang="zh-CN" altLang="en-US" sz="2000" dirty="0">
                <a:solidFill>
                  <a:srgbClr val="009900"/>
                </a:solidFill>
              </a:rPr>
              <a:t>文件，生成</a:t>
            </a:r>
            <a:r>
              <a:rPr lang="en-US" altLang="zh-CN" sz="2000" dirty="0">
                <a:solidFill>
                  <a:srgbClr val="009900"/>
                </a:solidFill>
              </a:rPr>
              <a:t>file1.gz</a:t>
            </a:r>
            <a:endParaRPr lang="en-US" altLang="zh-CN" sz="2000" dirty="0">
              <a:solidFill>
                <a:srgbClr val="009900"/>
              </a:solidFill>
            </a:endParaRPr>
          </a:p>
          <a:p>
            <a:pPr marL="82550" indent="0">
              <a:buNone/>
            </a:pPr>
            <a:r>
              <a:rPr lang="en-US" altLang="zh-CN" sz="2000" dirty="0"/>
              <a:t>    </a:t>
            </a:r>
            <a:r>
              <a:rPr lang="en-US" altLang="zh-CN" sz="2000" dirty="0" err="1" smtClean="0"/>
              <a:t>gzip</a:t>
            </a:r>
            <a:r>
              <a:rPr lang="en-US" altLang="zh-CN" sz="2000" dirty="0" smtClean="0"/>
              <a:t>  -d  file1.gz</a:t>
            </a:r>
            <a:endParaRPr lang="en-US" altLang="zh-CN" sz="2000" dirty="0" smtClean="0"/>
          </a:p>
          <a:p>
            <a:pPr marL="82550" indent="0">
              <a:buNone/>
            </a:pPr>
            <a:r>
              <a:rPr lang="zh-CN" altLang="en-US" sz="2000" dirty="0"/>
              <a:t>　　</a:t>
            </a:r>
            <a:r>
              <a:rPr lang="zh-CN" altLang="en-US" sz="2000" dirty="0" smtClean="0"/>
              <a:t>解</a:t>
            </a:r>
            <a:r>
              <a:rPr lang="zh-CN" altLang="en-US" sz="2000" dirty="0" smtClean="0">
                <a:solidFill>
                  <a:srgbClr val="009900"/>
                </a:solidFill>
              </a:rPr>
              <a:t>压缩</a:t>
            </a:r>
            <a:r>
              <a:rPr lang="zh-CN" altLang="en-US" sz="2000" dirty="0">
                <a:solidFill>
                  <a:srgbClr val="009900"/>
                </a:solidFill>
              </a:rPr>
              <a:t>当前目录</a:t>
            </a:r>
            <a:r>
              <a:rPr lang="zh-CN" altLang="en-US" sz="2000" dirty="0" smtClean="0">
                <a:solidFill>
                  <a:srgbClr val="009900"/>
                </a:solidFill>
              </a:rPr>
              <a:t>下</a:t>
            </a:r>
            <a:r>
              <a:rPr lang="en-US" altLang="zh-CN" sz="2000" dirty="0" smtClean="0">
                <a:solidFill>
                  <a:srgbClr val="009900"/>
                </a:solidFill>
              </a:rPr>
              <a:t>file1.gz</a:t>
            </a:r>
            <a:endParaRPr lang="en-US" altLang="zh-CN" sz="2000" dirty="0" smtClean="0">
              <a:solidFill>
                <a:srgbClr val="009900"/>
              </a:solidFill>
            </a:endParaRPr>
          </a:p>
          <a:p>
            <a:pPr marL="82550" indent="0">
              <a:buNone/>
            </a:pPr>
            <a:r>
              <a:rPr lang="zh-CN" altLang="en-US" sz="2000" dirty="0" smtClean="0"/>
              <a:t>    </a:t>
            </a:r>
            <a:r>
              <a:rPr lang="en-US" altLang="zh-CN" sz="2000" dirty="0" err="1" smtClean="0">
                <a:solidFill>
                  <a:srgbClr val="FF0000"/>
                </a:solidFill>
              </a:rPr>
              <a:t>gzip</a:t>
            </a:r>
            <a:r>
              <a:rPr lang="en-US" altLang="zh-CN" sz="2000" dirty="0" smtClean="0">
                <a:solidFill>
                  <a:srgbClr val="FF0000"/>
                </a:solidFill>
              </a:rPr>
              <a:t>  </a:t>
            </a:r>
            <a:r>
              <a:rPr lang="en-US" altLang="zh-CN" sz="2000" dirty="0">
                <a:solidFill>
                  <a:srgbClr val="FF0000"/>
                </a:solidFill>
              </a:rPr>
              <a:t>-r  dir1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 marL="82550" indent="0">
              <a:buNone/>
            </a:pPr>
            <a:r>
              <a:rPr lang="en-US" altLang="zh-CN" sz="2000" dirty="0"/>
              <a:t>       </a:t>
            </a:r>
            <a:r>
              <a:rPr lang="zh-CN" altLang="en-US" sz="2000" dirty="0">
                <a:solidFill>
                  <a:srgbClr val="009900"/>
                </a:solidFill>
              </a:rPr>
              <a:t>递归压缩</a:t>
            </a:r>
            <a:r>
              <a:rPr lang="en-US" altLang="zh-CN" sz="2000" dirty="0">
                <a:solidFill>
                  <a:srgbClr val="009900"/>
                </a:solidFill>
              </a:rPr>
              <a:t>dir1</a:t>
            </a:r>
            <a:r>
              <a:rPr lang="zh-CN" altLang="en-US" sz="2000" dirty="0">
                <a:solidFill>
                  <a:srgbClr val="009900"/>
                </a:solidFill>
              </a:rPr>
              <a:t>目录下的所有文件，生成各自的</a:t>
            </a:r>
            <a:r>
              <a:rPr lang="en-US" altLang="zh-CN" sz="2000" dirty="0">
                <a:solidFill>
                  <a:srgbClr val="009900"/>
                </a:solidFill>
              </a:rPr>
              <a:t>.</a:t>
            </a:r>
            <a:r>
              <a:rPr lang="en-US" altLang="zh-CN" sz="2000" dirty="0" err="1">
                <a:solidFill>
                  <a:srgbClr val="009900"/>
                </a:solidFill>
              </a:rPr>
              <a:t>gz</a:t>
            </a:r>
            <a:r>
              <a:rPr lang="zh-CN" altLang="en-US" sz="2000" dirty="0" smtClean="0">
                <a:solidFill>
                  <a:srgbClr val="009900"/>
                </a:solidFill>
              </a:rPr>
              <a:t>文件</a:t>
            </a:r>
            <a:endParaRPr lang="en-US" altLang="zh-CN" sz="2000" dirty="0">
              <a:solidFill>
                <a:schemeClr val="hlink"/>
              </a:solidFill>
            </a:endParaRPr>
          </a:p>
          <a:p>
            <a:pPr marL="82550" indent="0">
              <a:buNone/>
            </a:pPr>
            <a:endParaRPr lang="zh-CN" altLang="en-US" sz="2400" dirty="0"/>
          </a:p>
          <a:p>
            <a:pPr marL="82550" indent="0">
              <a:lnSpc>
                <a:spcPct val="90000"/>
              </a:lnSpc>
              <a:buNone/>
            </a:pPr>
            <a:endParaRPr lang="zh-CN" altLang="en-US" sz="2400" b="1" dirty="0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771550"/>
            <a:ext cx="8352928" cy="4104456"/>
          </a:xfrm>
        </p:spPr>
        <p:txBody>
          <a:bodyPr>
            <a:normAutofit/>
          </a:bodyPr>
          <a:lstStyle/>
          <a:p>
            <a:pPr marL="82550" indent="0">
              <a:buNone/>
            </a:pPr>
            <a:r>
              <a:rPr lang="zh-CN" altLang="en-US" sz="1800" dirty="0" smtClean="0"/>
              <a:t>练习</a:t>
            </a:r>
            <a:r>
              <a:rPr lang="zh-CN" altLang="en-US" sz="1800" dirty="0"/>
              <a:t>三</a:t>
            </a:r>
            <a:r>
              <a:rPr lang="zh-CN" altLang="en-US" sz="1800" dirty="0" smtClean="0"/>
              <a:t>    打包压缩命令的练习</a:t>
            </a:r>
            <a:endParaRPr lang="en-US" altLang="zh-CN" sz="1800" dirty="0" smtClean="0"/>
          </a:p>
          <a:p>
            <a:pPr marL="82550" indent="0">
              <a:lnSpc>
                <a:spcPct val="110000"/>
              </a:lnSpc>
              <a:buNone/>
            </a:pPr>
            <a:r>
              <a:rPr lang="zh-CN" altLang="zh-CN" sz="1800" dirty="0" smtClean="0"/>
              <a:t>以</a:t>
            </a:r>
            <a:r>
              <a:rPr lang="en-US" altLang="zh-CN" sz="1800" dirty="0"/>
              <a:t>root</a:t>
            </a:r>
            <a:r>
              <a:rPr lang="zh-CN" altLang="zh-CN" sz="1800" dirty="0"/>
              <a:t>用户名登录</a:t>
            </a:r>
            <a:r>
              <a:rPr lang="en-US" altLang="zh-CN" sz="1800" dirty="0" err="1"/>
              <a:t>linux</a:t>
            </a:r>
            <a:r>
              <a:rPr lang="zh-CN" altLang="zh-CN" sz="1800" dirty="0"/>
              <a:t>系统，进行以下操作</a:t>
            </a:r>
            <a:r>
              <a:rPr lang="zh-CN" altLang="zh-CN" sz="1800" dirty="0" smtClean="0"/>
              <a:t>：</a:t>
            </a:r>
            <a:endParaRPr lang="en-US" altLang="zh-CN" sz="1800" dirty="0" smtClean="0"/>
          </a:p>
          <a:p>
            <a:pPr marL="82550" indent="0">
              <a:buNone/>
            </a:pPr>
            <a:r>
              <a:rPr lang="zh-CN" altLang="en-US" sz="1800" dirty="0"/>
              <a:t>一</a:t>
            </a:r>
            <a:r>
              <a:rPr lang="zh-CN" altLang="en-US" sz="1800" dirty="0" smtClean="0"/>
              <a:t>、</a:t>
            </a:r>
            <a:r>
              <a:rPr lang="en-US" altLang="zh-CN" sz="1800" dirty="0" smtClean="0"/>
              <a:t>tar</a:t>
            </a:r>
            <a:r>
              <a:rPr lang="zh-CN" altLang="en-US" sz="1800" dirty="0" smtClean="0"/>
              <a:t>命令</a:t>
            </a:r>
            <a:endParaRPr lang="en-US" altLang="zh-CN" sz="1800" dirty="0" smtClean="0"/>
          </a:p>
          <a:p>
            <a:pPr marL="82550" indent="0">
              <a:buNone/>
            </a:pPr>
            <a:r>
              <a:rPr lang="en-US" altLang="zh-CN" sz="1800" dirty="0" smtClean="0"/>
              <a:t>1</a:t>
            </a:r>
            <a:r>
              <a:rPr lang="zh-CN" altLang="en-US" sz="1800" dirty="0" smtClean="0"/>
              <a:t>、在</a:t>
            </a:r>
            <a:r>
              <a:rPr lang="zh-CN" altLang="en-US" sz="1800" dirty="0"/>
              <a:t>当前目录下建立目录</a:t>
            </a:r>
            <a:r>
              <a:rPr lang="en-US" altLang="zh-CN" sz="1800" dirty="0"/>
              <a:t>test</a:t>
            </a:r>
            <a:r>
              <a:rPr lang="zh-CN" altLang="en-US" sz="1800" dirty="0"/>
              <a:t>，在</a:t>
            </a:r>
            <a:r>
              <a:rPr lang="en-US" altLang="zh-CN" sz="1800" dirty="0"/>
              <a:t>test</a:t>
            </a:r>
            <a:r>
              <a:rPr lang="zh-CN" altLang="en-US" sz="1800" dirty="0"/>
              <a:t>下建立文件</a:t>
            </a:r>
            <a:r>
              <a:rPr lang="en-US" altLang="zh-CN" sz="1800" dirty="0" err="1"/>
              <a:t>fa</a:t>
            </a:r>
            <a:r>
              <a:rPr lang="zh-CN" altLang="en-US" sz="1800" dirty="0"/>
              <a:t>、</a:t>
            </a:r>
            <a:r>
              <a:rPr lang="en-US" altLang="zh-CN" sz="1800" dirty="0" err="1"/>
              <a:t>fb</a:t>
            </a:r>
            <a:r>
              <a:rPr lang="en-US" altLang="zh-CN" sz="1800" dirty="0" smtClean="0"/>
              <a:t>;</a:t>
            </a:r>
            <a:endParaRPr lang="en-US" altLang="zh-CN" sz="1800" dirty="0" smtClean="0"/>
          </a:p>
          <a:p>
            <a:pPr marL="82550" indent="0">
              <a:buNone/>
            </a:pPr>
            <a:r>
              <a:rPr lang="en-US" altLang="zh-CN" sz="1800" dirty="0" smtClean="0"/>
              <a:t>2</a:t>
            </a:r>
            <a:r>
              <a:rPr lang="zh-CN" altLang="en-US" sz="1800" dirty="0" smtClean="0"/>
              <a:t>、将目录</a:t>
            </a:r>
            <a:r>
              <a:rPr lang="en-US" altLang="zh-CN" sz="1800" dirty="0" smtClean="0"/>
              <a:t>test</a:t>
            </a:r>
            <a:r>
              <a:rPr lang="zh-CN" altLang="en-US" sz="1800" dirty="0" smtClean="0"/>
              <a:t>打包压缩为</a:t>
            </a:r>
            <a:r>
              <a:rPr lang="en-US" altLang="zh-CN" sz="1800" dirty="0" smtClean="0"/>
              <a:t>test.tar.bz2</a:t>
            </a:r>
            <a:r>
              <a:rPr lang="zh-CN" altLang="en-US" sz="1800" dirty="0" smtClean="0"/>
              <a:t>，删除原</a:t>
            </a:r>
            <a:r>
              <a:rPr lang="en-US" altLang="zh-CN" sz="1800" dirty="0" smtClean="0"/>
              <a:t>test</a:t>
            </a:r>
            <a:r>
              <a:rPr lang="zh-CN" altLang="en-US" sz="1800" dirty="0" smtClean="0"/>
              <a:t>目录，再解压缩</a:t>
            </a:r>
            <a:r>
              <a:rPr lang="en-US" altLang="zh-CN" sz="1800" dirty="0" smtClean="0"/>
              <a:t>test.tar.bz2</a:t>
            </a:r>
            <a:r>
              <a:rPr lang="zh-CN" altLang="en-US" sz="1800" dirty="0" smtClean="0"/>
              <a:t>文件。</a:t>
            </a:r>
            <a:endParaRPr lang="en-US" altLang="zh-CN" sz="1800" dirty="0" smtClean="0"/>
          </a:p>
          <a:p>
            <a:pPr marL="82550" indent="0">
              <a:buNone/>
            </a:pPr>
            <a:r>
              <a:rPr lang="en-US" altLang="zh-CN" sz="1800" dirty="0" smtClean="0"/>
              <a:t>3</a:t>
            </a:r>
            <a:r>
              <a:rPr lang="zh-CN" altLang="en-US" sz="1800" dirty="0" smtClean="0"/>
              <a:t>、</a:t>
            </a:r>
            <a:r>
              <a:rPr lang="zh-CN" altLang="en-US" sz="1800" dirty="0"/>
              <a:t>将目录</a:t>
            </a:r>
            <a:r>
              <a:rPr lang="en-US" altLang="zh-CN" sz="1800" dirty="0"/>
              <a:t>test</a:t>
            </a:r>
            <a:r>
              <a:rPr lang="zh-CN" altLang="en-US" sz="1800" dirty="0"/>
              <a:t>打包压缩为</a:t>
            </a:r>
            <a:r>
              <a:rPr lang="en-US" altLang="zh-CN" sz="1800" dirty="0" smtClean="0"/>
              <a:t>test.tar.gz</a:t>
            </a:r>
            <a:r>
              <a:rPr lang="zh-CN" altLang="en-US" sz="1800" dirty="0" smtClean="0"/>
              <a:t>，</a:t>
            </a:r>
            <a:r>
              <a:rPr lang="zh-CN" altLang="en-US" sz="1800" dirty="0"/>
              <a:t>删除原</a:t>
            </a:r>
            <a:r>
              <a:rPr lang="en-US" altLang="zh-CN" sz="1800" dirty="0"/>
              <a:t>test</a:t>
            </a:r>
            <a:r>
              <a:rPr lang="zh-CN" altLang="en-US" sz="1800" dirty="0"/>
              <a:t>目录，再解压缩</a:t>
            </a:r>
            <a:r>
              <a:rPr lang="en-US" altLang="zh-CN" sz="1800" dirty="0" smtClean="0"/>
              <a:t>test.tar.gz</a:t>
            </a:r>
            <a:r>
              <a:rPr lang="zh-CN" altLang="en-US" sz="1800" dirty="0" smtClean="0"/>
              <a:t>文件。</a:t>
            </a:r>
            <a:endParaRPr lang="en-US" altLang="zh-CN" sz="1800" dirty="0" smtClean="0"/>
          </a:p>
          <a:p>
            <a:pPr marL="82550" indent="0">
              <a:buNone/>
            </a:pPr>
            <a:endParaRPr lang="en-US" altLang="zh-CN" sz="1800" dirty="0" smtClean="0"/>
          </a:p>
          <a:p>
            <a:pPr marL="82550" indent="0">
              <a:buNone/>
            </a:pPr>
            <a:r>
              <a:rPr lang="zh-CN" altLang="en-US" sz="1800" dirty="0" smtClean="0"/>
              <a:t>二、</a:t>
            </a:r>
            <a:r>
              <a:rPr lang="en-US" altLang="zh-CN" sz="1800" dirty="0" err="1" smtClean="0"/>
              <a:t>gzip</a:t>
            </a:r>
            <a:r>
              <a:rPr lang="zh-CN" altLang="en-US" sz="1800" dirty="0" smtClean="0"/>
              <a:t>和</a:t>
            </a:r>
            <a:r>
              <a:rPr lang="en-US" altLang="zh-CN" sz="1800" dirty="0" smtClean="0"/>
              <a:t>bzip2</a:t>
            </a:r>
            <a:r>
              <a:rPr lang="zh-CN" altLang="en-US" sz="1800" dirty="0" smtClean="0"/>
              <a:t>命令</a:t>
            </a:r>
            <a:endParaRPr lang="en-US" altLang="zh-CN" sz="1800" dirty="0" smtClean="0"/>
          </a:p>
          <a:p>
            <a:pPr marL="82550" indent="0">
              <a:buNone/>
            </a:pPr>
            <a:r>
              <a:rPr lang="en-US" altLang="zh-CN" sz="1800" dirty="0" smtClean="0"/>
              <a:t>1</a:t>
            </a:r>
            <a:r>
              <a:rPr lang="zh-CN" altLang="en-US" sz="1800" dirty="0" smtClean="0"/>
              <a:t>、</a:t>
            </a:r>
            <a:r>
              <a:rPr lang="zh-CN" altLang="en-US" sz="1800" dirty="0"/>
              <a:t>将文件</a:t>
            </a:r>
            <a:r>
              <a:rPr lang="en-US" altLang="zh-CN" sz="1800" dirty="0" err="1"/>
              <a:t>fa</a:t>
            </a:r>
            <a:r>
              <a:rPr lang="zh-CN" altLang="en-US" sz="1800" dirty="0"/>
              <a:t>、</a:t>
            </a:r>
            <a:r>
              <a:rPr lang="en-US" altLang="zh-CN" sz="1800" dirty="0" err="1"/>
              <a:t>fb</a:t>
            </a:r>
            <a:r>
              <a:rPr lang="zh-CN" altLang="en-US" sz="1800" dirty="0"/>
              <a:t>分别进行压缩为</a:t>
            </a:r>
            <a:r>
              <a:rPr lang="en-US" altLang="zh-CN" sz="1800" dirty="0"/>
              <a:t>.</a:t>
            </a:r>
            <a:r>
              <a:rPr lang="en-US" altLang="zh-CN" sz="1800" dirty="0" err="1"/>
              <a:t>gz</a:t>
            </a:r>
            <a:r>
              <a:rPr lang="zh-CN" altLang="en-US" sz="1800" dirty="0"/>
              <a:t>文件</a:t>
            </a:r>
            <a:r>
              <a:rPr lang="zh-CN" altLang="en-US" sz="1800" dirty="0" smtClean="0"/>
              <a:t>；删除原</a:t>
            </a:r>
            <a:r>
              <a:rPr lang="en-US" altLang="zh-CN" sz="1800" dirty="0" err="1" smtClean="0"/>
              <a:t>fa</a:t>
            </a:r>
            <a:r>
              <a:rPr lang="zh-CN" altLang="en-US" sz="1800" dirty="0" smtClean="0"/>
              <a:t>，</a:t>
            </a:r>
            <a:r>
              <a:rPr lang="en-US" altLang="zh-CN" sz="1800" dirty="0" err="1" smtClean="0"/>
              <a:t>fb</a:t>
            </a:r>
            <a:r>
              <a:rPr lang="zh-CN" altLang="en-US" sz="1800" dirty="0" smtClean="0"/>
              <a:t>文件；</a:t>
            </a:r>
            <a:endParaRPr lang="en-US" altLang="zh-CN" sz="1800" dirty="0" smtClean="0"/>
          </a:p>
          <a:p>
            <a:pPr marL="82550" indent="0">
              <a:buNone/>
            </a:pPr>
            <a:r>
              <a:rPr lang="en-US" altLang="zh-CN" sz="1800" dirty="0" smtClean="0"/>
              <a:t>2</a:t>
            </a:r>
            <a:r>
              <a:rPr lang="zh-CN" altLang="en-US" sz="1800" dirty="0" smtClean="0"/>
              <a:t>、解压缩</a:t>
            </a:r>
            <a:r>
              <a:rPr lang="en-US" altLang="zh-CN" sz="1800" dirty="0" smtClean="0"/>
              <a:t>fa.gz</a:t>
            </a:r>
            <a:r>
              <a:rPr lang="zh-CN" altLang="en-US" sz="1800" dirty="0" smtClean="0"/>
              <a:t>和</a:t>
            </a:r>
            <a:r>
              <a:rPr lang="en-US" altLang="zh-CN" sz="1800" dirty="0" smtClean="0"/>
              <a:t>fb.gz</a:t>
            </a:r>
            <a:r>
              <a:rPr lang="zh-CN" altLang="en-US" sz="1800" dirty="0" smtClean="0"/>
              <a:t>文件；</a:t>
            </a:r>
            <a:endParaRPr lang="zh-CN" altLang="en-US" sz="1800" dirty="0"/>
          </a:p>
          <a:p>
            <a:pPr marL="82550" indent="0">
              <a:buNone/>
            </a:pPr>
            <a:r>
              <a:rPr lang="en-US" altLang="zh-CN" sz="1800" dirty="0" smtClean="0"/>
              <a:t>3</a:t>
            </a:r>
            <a:r>
              <a:rPr lang="zh-CN" altLang="en-US" sz="1800" dirty="0" smtClean="0"/>
              <a:t>、</a:t>
            </a:r>
            <a:r>
              <a:rPr lang="zh-CN" altLang="en-US" sz="1800" dirty="0"/>
              <a:t>将文件</a:t>
            </a:r>
            <a:r>
              <a:rPr lang="en-US" altLang="zh-CN" sz="1800" dirty="0" err="1"/>
              <a:t>fa</a:t>
            </a:r>
            <a:r>
              <a:rPr lang="zh-CN" altLang="en-US" sz="1800" dirty="0"/>
              <a:t>、</a:t>
            </a:r>
            <a:r>
              <a:rPr lang="en-US" altLang="zh-CN" sz="1800" dirty="0" err="1"/>
              <a:t>fb</a:t>
            </a:r>
            <a:r>
              <a:rPr lang="zh-CN" altLang="en-US" sz="1800" dirty="0"/>
              <a:t>分别进行压缩为</a:t>
            </a:r>
            <a:r>
              <a:rPr lang="en-US" altLang="zh-CN" sz="1800" dirty="0" smtClean="0"/>
              <a:t>.bz2</a:t>
            </a:r>
            <a:r>
              <a:rPr lang="zh-CN" altLang="en-US" sz="1800" dirty="0" smtClean="0"/>
              <a:t>文件</a:t>
            </a:r>
            <a:r>
              <a:rPr lang="zh-CN" altLang="en-US" sz="1800" dirty="0"/>
              <a:t>；删除原</a:t>
            </a:r>
            <a:r>
              <a:rPr lang="en-US" altLang="zh-CN" sz="1800" dirty="0" err="1"/>
              <a:t>fa</a:t>
            </a:r>
            <a:r>
              <a:rPr lang="zh-CN" altLang="en-US" sz="1800" dirty="0"/>
              <a:t>，</a:t>
            </a:r>
            <a:r>
              <a:rPr lang="en-US" altLang="zh-CN" sz="1800" dirty="0" err="1"/>
              <a:t>fb</a:t>
            </a:r>
            <a:r>
              <a:rPr lang="zh-CN" altLang="en-US" sz="1800" dirty="0"/>
              <a:t>文件；</a:t>
            </a:r>
            <a:endParaRPr lang="en-US" altLang="zh-CN" sz="1800" dirty="0"/>
          </a:p>
          <a:p>
            <a:pPr marL="82550" indent="0">
              <a:buNone/>
            </a:pPr>
            <a:r>
              <a:rPr lang="en-US" altLang="zh-CN" sz="1800" dirty="0" smtClean="0"/>
              <a:t>4</a:t>
            </a:r>
            <a:r>
              <a:rPr lang="zh-CN" altLang="en-US" sz="1800" dirty="0" smtClean="0"/>
              <a:t>、</a:t>
            </a:r>
            <a:r>
              <a:rPr lang="zh-CN" altLang="en-US" sz="1800" dirty="0"/>
              <a:t>解压缩</a:t>
            </a:r>
            <a:r>
              <a:rPr lang="en-US" altLang="zh-CN" sz="1800" dirty="0" smtClean="0"/>
              <a:t>fa.bz2</a:t>
            </a:r>
            <a:r>
              <a:rPr lang="zh-CN" altLang="en-US" sz="1800" dirty="0" smtClean="0"/>
              <a:t>和</a:t>
            </a:r>
            <a:r>
              <a:rPr lang="en-US" altLang="zh-CN" sz="1800" dirty="0" smtClean="0"/>
              <a:t>fb.bz2</a:t>
            </a:r>
            <a:r>
              <a:rPr lang="zh-CN" altLang="en-US" sz="1800" dirty="0" smtClean="0"/>
              <a:t>文件；</a:t>
            </a:r>
            <a:endParaRPr lang="en-US" altLang="zh-CN" sz="1800" dirty="0"/>
          </a:p>
          <a:p>
            <a:pPr marL="82550" indent="0">
              <a:buNone/>
            </a:pPr>
            <a:endParaRPr lang="zh-CN" altLang="zh-CN" sz="2400" dirty="0"/>
          </a:p>
          <a:p>
            <a:pPr marL="82550" indent="0">
              <a:buNone/>
            </a:pPr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>
          <a:xfrm>
            <a:off x="1259632" y="3489853"/>
            <a:ext cx="7658818" cy="1368152"/>
          </a:xfrm>
        </p:spPr>
        <p:txBody>
          <a:bodyPr>
            <a:normAutofit/>
          </a:bodyPr>
          <a:lstStyle/>
          <a:p>
            <a:pPr marL="82550" indent="0">
              <a:buNone/>
            </a:pPr>
            <a:r>
              <a:rPr lang="zh-CN" altLang="en-US" sz="1800" dirty="0" smtClean="0"/>
              <a:t>     </a:t>
            </a:r>
            <a:endParaRPr lang="zh-CN" altLang="en-US" sz="1800" b="1" dirty="0" smtClean="0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  <p:sp>
        <p:nvSpPr>
          <p:cNvPr id="5" name="内容占位符 2"/>
          <p:cNvSpPr txBox="1"/>
          <p:nvPr/>
        </p:nvSpPr>
        <p:spPr>
          <a:xfrm>
            <a:off x="791580" y="339502"/>
            <a:ext cx="7543800" cy="576064"/>
          </a:xfrm>
          <a:prstGeom prst="rect">
            <a:avLst/>
          </a:prstGeom>
        </p:spPr>
        <p:txBody>
          <a:bodyPr>
            <a:normAutofit/>
          </a:bodyPr>
          <a:lstStyle>
            <a:lvl1pPr marL="365760" indent="-28321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/>
              <a:buChar char="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37490" algn="l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 panose="020B0604030504040204"/>
              <a:buChar char="◦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87095" indent="-22860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 panose="05020102010507070707"/>
              <a:buChar char="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17399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575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0876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8945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425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/>
              <a:buNone/>
            </a:pPr>
            <a:r>
              <a:rPr lang="en-US" altLang="zh-CN" sz="20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2.5 </a:t>
            </a:r>
            <a:r>
              <a:rPr lang="zh-CN" altLang="en-US" sz="20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权限管理操作</a:t>
            </a:r>
            <a:endParaRPr lang="zh-CN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827584" y="987574"/>
            <a:ext cx="7471792" cy="1457325"/>
          </a:xfrm>
          <a:prstGeom prst="rect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 marL="365760" indent="-28321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/>
              <a:buChar char="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37490" algn="l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 panose="020B0604030504040204"/>
              <a:buChar char="◦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87095" indent="-22860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 panose="05020102010507070707"/>
              <a:buChar char="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17399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575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0876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8945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425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2550" indent="0">
              <a:buNone/>
            </a:pPr>
            <a:r>
              <a:rPr lang="en-US" altLang="zh-CN" sz="1800" b="1" dirty="0" smtClean="0"/>
              <a:t> </a:t>
            </a:r>
            <a:r>
              <a:rPr lang="zh-CN" altLang="en-US" sz="1800" b="1" dirty="0" smtClean="0"/>
              <a:t>所有用户划分为三种身份：</a:t>
            </a:r>
            <a:endParaRPr lang="zh-CN" altLang="en-US" sz="1800" b="1" dirty="0" smtClean="0"/>
          </a:p>
          <a:p>
            <a:pPr marL="82550" indent="0">
              <a:buNone/>
            </a:pPr>
            <a:r>
              <a:rPr lang="zh-CN" altLang="en-US" sz="1800" b="1" dirty="0" smtClean="0"/>
              <a:t>　　　■文件主（</a:t>
            </a:r>
            <a:r>
              <a:rPr lang="en-US" altLang="zh-CN" sz="1800" b="1" dirty="0" smtClean="0">
                <a:solidFill>
                  <a:schemeClr val="hlink"/>
                </a:solidFill>
              </a:rPr>
              <a:t>u</a:t>
            </a:r>
            <a:r>
              <a:rPr lang="en-US" altLang="zh-CN" sz="1800" b="1" dirty="0" smtClean="0"/>
              <a:t>ser</a:t>
            </a:r>
            <a:r>
              <a:rPr lang="zh-CN" altLang="en-US" sz="1800" b="1" dirty="0" smtClean="0"/>
              <a:t>）、</a:t>
            </a:r>
            <a:endParaRPr lang="zh-CN" altLang="en-US" sz="1800" b="1" dirty="0" smtClean="0"/>
          </a:p>
          <a:p>
            <a:pPr marL="82550" indent="0">
              <a:buNone/>
            </a:pPr>
            <a:r>
              <a:rPr lang="zh-CN" altLang="en-US" sz="1800" b="1" dirty="0" smtClean="0"/>
              <a:t>　　　■同组用户（</a:t>
            </a:r>
            <a:r>
              <a:rPr lang="en-US" altLang="zh-CN" sz="1800" b="1" dirty="0" smtClean="0">
                <a:solidFill>
                  <a:schemeClr val="hlink"/>
                </a:solidFill>
              </a:rPr>
              <a:t>g</a:t>
            </a:r>
            <a:r>
              <a:rPr lang="en-US" altLang="zh-CN" sz="1800" b="1" dirty="0" smtClean="0"/>
              <a:t>roup</a:t>
            </a:r>
            <a:r>
              <a:rPr lang="zh-CN" altLang="en-US" sz="1800" b="1" dirty="0" smtClean="0"/>
              <a:t>）、</a:t>
            </a:r>
            <a:endParaRPr lang="zh-CN" altLang="en-US" sz="1800" b="1" dirty="0" smtClean="0"/>
          </a:p>
          <a:p>
            <a:pPr marL="82550" indent="0">
              <a:buNone/>
            </a:pPr>
            <a:r>
              <a:rPr lang="zh-CN" altLang="en-US" sz="1800" b="1" dirty="0" smtClean="0"/>
              <a:t>　　　■其他用户（</a:t>
            </a:r>
            <a:r>
              <a:rPr lang="en-US" altLang="zh-CN" sz="1800" b="1" dirty="0" smtClean="0">
                <a:solidFill>
                  <a:schemeClr val="hlink"/>
                </a:solidFill>
              </a:rPr>
              <a:t>o</a:t>
            </a:r>
            <a:r>
              <a:rPr lang="en-US" altLang="zh-CN" sz="1800" b="1" dirty="0" smtClean="0"/>
              <a:t>ther</a:t>
            </a:r>
            <a:r>
              <a:rPr lang="zh-CN" altLang="en-US" sz="1800" b="1" dirty="0" smtClean="0"/>
              <a:t>）。</a:t>
            </a:r>
            <a:endParaRPr lang="zh-CN" altLang="en-US" sz="1800" b="1" dirty="0" smtClean="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683568" y="2615485"/>
            <a:ext cx="8135938" cy="432197"/>
          </a:xfrm>
          <a:prstGeom prst="rect">
            <a:avLst/>
          </a:prstGeom>
          <a:solidFill>
            <a:srgbClr val="FFFF00"/>
          </a:solidFill>
        </p:spPr>
        <p:txBody>
          <a:bodyPr>
            <a:normAutofit/>
          </a:bodyPr>
          <a:lstStyle>
            <a:lvl1pPr marL="365760" indent="-28321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/>
              <a:buChar char="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37490" algn="l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 panose="020B0604030504040204"/>
              <a:buChar char="◦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87095" indent="-22860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 panose="05020102010507070707"/>
              <a:buChar char="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17399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575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0876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8945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425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2550" indent="0">
              <a:buNone/>
            </a:pPr>
            <a:r>
              <a:rPr lang="zh-CN" altLang="en-US" sz="2000" dirty="0" smtClean="0"/>
              <a:t>每种用户对一个文件可拥有读、写和执行的权限。</a:t>
            </a:r>
            <a:r>
              <a:rPr lang="zh-CN" altLang="da-DK" sz="2000" dirty="0" smtClean="0"/>
              <a:t>　　</a:t>
            </a:r>
            <a:endParaRPr lang="zh-CN" altLang="en-US" sz="2000" dirty="0" smtClean="0"/>
          </a:p>
        </p:txBody>
      </p:sp>
      <p:sp>
        <p:nvSpPr>
          <p:cNvPr id="2" name="矩形 1"/>
          <p:cNvSpPr/>
          <p:nvPr/>
        </p:nvSpPr>
        <p:spPr>
          <a:xfrm>
            <a:off x="611560" y="3219822"/>
            <a:ext cx="7507796" cy="11375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da-DK" dirty="0">
                <a:latin typeface="+mj-ea"/>
                <a:ea typeface="+mj-ea"/>
              </a:rPr>
              <a:t>用</a:t>
            </a:r>
            <a:r>
              <a:rPr lang="da-DK" altLang="zh-CN" dirty="0">
                <a:latin typeface="+mj-ea"/>
                <a:ea typeface="+mj-ea"/>
              </a:rPr>
              <a:t>3</a:t>
            </a:r>
            <a:r>
              <a:rPr lang="zh-CN" altLang="da-DK" dirty="0">
                <a:latin typeface="+mj-ea"/>
                <a:ea typeface="+mj-ea"/>
              </a:rPr>
              <a:t>组每组</a:t>
            </a:r>
            <a:r>
              <a:rPr lang="da-DK" altLang="zh-CN" dirty="0">
                <a:latin typeface="+mj-ea"/>
                <a:ea typeface="+mj-ea"/>
              </a:rPr>
              <a:t>3</a:t>
            </a:r>
            <a:r>
              <a:rPr lang="zh-CN" altLang="da-DK" dirty="0">
                <a:latin typeface="+mj-ea"/>
                <a:ea typeface="+mj-ea"/>
              </a:rPr>
              <a:t>个共</a:t>
            </a:r>
            <a:r>
              <a:rPr lang="da-DK" altLang="zh-CN" dirty="0">
                <a:latin typeface="+mj-ea"/>
                <a:ea typeface="+mj-ea"/>
              </a:rPr>
              <a:t>9</a:t>
            </a:r>
            <a:r>
              <a:rPr lang="zh-CN" altLang="da-DK" dirty="0">
                <a:latin typeface="+mj-ea"/>
                <a:ea typeface="+mj-ea"/>
              </a:rPr>
              <a:t>个二进制位（</a:t>
            </a:r>
            <a:r>
              <a:rPr lang="da-DK" altLang="zh-CN" dirty="0">
                <a:latin typeface="+mj-ea"/>
                <a:ea typeface="+mj-ea"/>
              </a:rPr>
              <a:t>bit</a:t>
            </a:r>
            <a:r>
              <a:rPr lang="zh-CN" altLang="da-DK" dirty="0">
                <a:latin typeface="+mj-ea"/>
                <a:ea typeface="+mj-ea"/>
              </a:rPr>
              <a:t>）表示文件的存取控制方式，依次是：</a:t>
            </a:r>
            <a:r>
              <a:rPr lang="zh-CN" altLang="da-DK" dirty="0">
                <a:solidFill>
                  <a:srgbClr val="FF0000"/>
                </a:solidFill>
                <a:latin typeface="+mj-ea"/>
                <a:ea typeface="+mj-ea"/>
              </a:rPr>
              <a:t>文件主存取控制方式、同组用户存取控制方式、其他用户存取控制方式。</a:t>
            </a:r>
            <a:r>
              <a:rPr lang="zh-CN" altLang="da-DK" dirty="0">
                <a:latin typeface="+mj-ea"/>
                <a:ea typeface="+mj-ea"/>
              </a:rPr>
              <a:t>每组中的顺序依次是：</a:t>
            </a:r>
            <a:r>
              <a:rPr lang="zh-CN" altLang="da-DK" dirty="0">
                <a:solidFill>
                  <a:srgbClr val="FF0000"/>
                </a:solidFill>
                <a:latin typeface="+mj-ea"/>
                <a:ea typeface="+mj-ea"/>
              </a:rPr>
              <a:t>读、写、执行。</a:t>
            </a:r>
            <a:endParaRPr lang="en-US" altLang="zh-CN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8" name="圆角矩形 7"/>
          <p:cNvSpPr>
            <a:spLocks noChangeArrowheads="1"/>
          </p:cNvSpPr>
          <p:nvPr/>
        </p:nvSpPr>
        <p:spPr bwMode="auto">
          <a:xfrm>
            <a:off x="683568" y="699542"/>
            <a:ext cx="7632700" cy="252028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9525" algn="ctr">
            <a:solidFill>
              <a:schemeClr val="tx1"/>
            </a:solidFill>
            <a:round/>
          </a:ln>
        </p:spPr>
        <p:txBody>
          <a:bodyPr/>
          <a:lstStyle/>
          <a:p>
            <a:pPr eaLnBrk="1" hangingPunct="1"/>
            <a:r>
              <a:rPr lang="zh-CN" altLang="en-US" b="1" dirty="0"/>
              <a:t>例如，某文件的存取控制方式设置为：</a:t>
            </a:r>
            <a:endParaRPr lang="zh-CN" altLang="en-US" b="1" dirty="0"/>
          </a:p>
          <a:p>
            <a:pPr eaLnBrk="1" hangingPunct="1"/>
            <a:r>
              <a:rPr lang="zh-CN" altLang="en-US" b="1" dirty="0"/>
              <a:t>　　　</a:t>
            </a:r>
            <a:r>
              <a:rPr lang="en-US" altLang="zh-CN" b="1" dirty="0">
                <a:solidFill>
                  <a:srgbClr val="FF0000"/>
                </a:solidFill>
              </a:rPr>
              <a:t>111</a:t>
            </a:r>
            <a:r>
              <a:rPr lang="en-US" altLang="zh-CN" b="1" dirty="0">
                <a:solidFill>
                  <a:srgbClr val="FF00FF"/>
                </a:solidFill>
              </a:rPr>
              <a:t>101</a:t>
            </a:r>
            <a:r>
              <a:rPr lang="en-US" altLang="zh-CN" b="1" dirty="0">
                <a:solidFill>
                  <a:srgbClr val="0000FF"/>
                </a:solidFill>
              </a:rPr>
              <a:t>100 </a:t>
            </a:r>
            <a:r>
              <a:rPr lang="zh-CN" altLang="en-US" b="1" dirty="0"/>
              <a:t>（对应的八进制数表示为</a:t>
            </a:r>
            <a:r>
              <a:rPr lang="en-US" altLang="zh-CN" b="1" dirty="0"/>
              <a:t>754 </a:t>
            </a:r>
            <a:r>
              <a:rPr lang="zh-CN" altLang="en-US" b="1" dirty="0"/>
              <a:t>）</a:t>
            </a:r>
            <a:endParaRPr lang="zh-CN" altLang="en-US" b="1" dirty="0"/>
          </a:p>
          <a:p>
            <a:pPr eaLnBrk="1" hangingPunct="1"/>
            <a:r>
              <a:rPr lang="zh-CN" altLang="en-US" b="1" dirty="0"/>
              <a:t>　表示文件主对该文件可读、可写、可执行</a:t>
            </a:r>
            <a:r>
              <a:rPr lang="zh-CN" altLang="en-US" b="1" dirty="0" smtClean="0"/>
              <a:t>；</a:t>
            </a:r>
            <a:endParaRPr lang="en-US" altLang="zh-CN" b="1" dirty="0" smtClean="0"/>
          </a:p>
          <a:p>
            <a:pPr eaLnBrk="1" hangingPunct="1"/>
            <a:r>
              <a:rPr lang="zh-CN" altLang="en-US" b="1" dirty="0" smtClean="0"/>
              <a:t>           同</a:t>
            </a:r>
            <a:r>
              <a:rPr lang="zh-CN" altLang="en-US" b="1" dirty="0"/>
              <a:t>组用户可读、可执行</a:t>
            </a:r>
            <a:r>
              <a:rPr lang="zh-CN" altLang="en-US" b="1" dirty="0" smtClean="0"/>
              <a:t>；</a:t>
            </a:r>
            <a:endParaRPr lang="en-US" altLang="zh-CN" b="1" dirty="0" smtClean="0"/>
          </a:p>
          <a:p>
            <a:pPr eaLnBrk="1" hangingPunct="1"/>
            <a:r>
              <a:rPr lang="en-US" altLang="zh-CN" b="1" dirty="0"/>
              <a:t> </a:t>
            </a:r>
            <a:r>
              <a:rPr lang="en-US" altLang="zh-CN" b="1" dirty="0" smtClean="0"/>
              <a:t>         </a:t>
            </a:r>
            <a:r>
              <a:rPr lang="zh-CN" altLang="en-US" b="1" dirty="0" smtClean="0"/>
              <a:t>其他</a:t>
            </a:r>
            <a:r>
              <a:rPr lang="zh-CN" altLang="en-US" b="1" dirty="0"/>
              <a:t>用户只可读。</a:t>
            </a:r>
            <a:endParaRPr lang="zh-CN" altLang="en-US" b="1" dirty="0"/>
          </a:p>
          <a:p>
            <a:pPr eaLnBrk="1" hangingPunct="1"/>
            <a:r>
              <a:rPr lang="zh-CN" altLang="en-US" b="1" dirty="0"/>
              <a:t>　</a:t>
            </a:r>
            <a:endParaRPr lang="en-US" altLang="zh-CN" b="1" dirty="0" smtClean="0"/>
          </a:p>
          <a:p>
            <a:pPr eaLnBrk="1" hangingPunct="1"/>
            <a:r>
              <a:rPr lang="zh-CN" altLang="en-US" b="1" dirty="0" smtClean="0"/>
              <a:t>用</a:t>
            </a:r>
            <a:r>
              <a:rPr lang="zh-CN" altLang="en-US" b="1" dirty="0"/>
              <a:t>字符形式表示上述文件存取控制方式，就是</a:t>
            </a:r>
            <a:endParaRPr lang="zh-CN" altLang="en-US" b="1" dirty="0"/>
          </a:p>
          <a:p>
            <a:pPr eaLnBrk="1" hangingPunct="1"/>
            <a:r>
              <a:rPr lang="zh-CN" altLang="en-US" b="1" dirty="0"/>
              <a:t>　　　</a:t>
            </a:r>
            <a:r>
              <a:rPr lang="en-US" altLang="zh-CN" b="1" dirty="0" err="1">
                <a:solidFill>
                  <a:srgbClr val="FF0000"/>
                </a:solidFill>
              </a:rPr>
              <a:t>rwx</a:t>
            </a:r>
            <a:r>
              <a:rPr lang="en-US" altLang="zh-CN" b="1" dirty="0" err="1">
                <a:solidFill>
                  <a:srgbClr val="FF00FF"/>
                </a:solidFill>
              </a:rPr>
              <a:t>r</a:t>
            </a:r>
            <a:r>
              <a:rPr lang="en-US" altLang="zh-CN" b="1" dirty="0">
                <a:solidFill>
                  <a:srgbClr val="FF00FF"/>
                </a:solidFill>
              </a:rPr>
              <a:t>-</a:t>
            </a:r>
            <a:r>
              <a:rPr lang="en-US" altLang="zh-CN" b="1" dirty="0" err="1">
                <a:solidFill>
                  <a:srgbClr val="FF00FF"/>
                </a:solidFill>
              </a:rPr>
              <a:t>x</a:t>
            </a:r>
            <a:r>
              <a:rPr lang="en-US" altLang="zh-CN" b="1" dirty="0" err="1">
                <a:solidFill>
                  <a:srgbClr val="0000FF"/>
                </a:solidFill>
              </a:rPr>
              <a:t>r</a:t>
            </a:r>
            <a:r>
              <a:rPr lang="en-US" altLang="zh-CN" b="1" dirty="0">
                <a:solidFill>
                  <a:srgbClr val="0000FF"/>
                </a:solidFill>
              </a:rPr>
              <a:t>--</a:t>
            </a:r>
            <a:endParaRPr lang="en-US" altLang="zh-CN" b="1" dirty="0">
              <a:solidFill>
                <a:srgbClr val="0000FF"/>
              </a:solidFill>
            </a:endParaRPr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sz="1800" b="0" i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>
          <a:xfrm>
            <a:off x="251520" y="699542"/>
            <a:ext cx="7497762" cy="4320480"/>
          </a:xfrm>
        </p:spPr>
        <p:txBody>
          <a:bodyPr>
            <a:normAutofit/>
          </a:bodyPr>
          <a:lstStyle/>
          <a:p>
            <a:pPr marL="82550" indent="0">
              <a:lnSpc>
                <a:spcPct val="80000"/>
              </a:lnSpc>
              <a:buNone/>
            </a:pPr>
            <a:r>
              <a:rPr lang="en-US" altLang="zh-CN" sz="2000" b="1" dirty="0" smtClean="0">
                <a:solidFill>
                  <a:srgbClr val="C00000"/>
                </a:solidFill>
                <a:latin typeface="Arial Black" panose="020B0A04020102020204" pitchFamily="34" charset="0"/>
              </a:rPr>
              <a:t>1. </a:t>
            </a:r>
            <a:r>
              <a:rPr lang="en-US" altLang="zh-CN" sz="2000" b="1" dirty="0" err="1" smtClean="0">
                <a:solidFill>
                  <a:srgbClr val="C00000"/>
                </a:solidFill>
                <a:ea typeface="宋体" panose="02010600030101010101" pitchFamily="2" charset="-122"/>
              </a:rPr>
              <a:t>chmod</a:t>
            </a:r>
            <a:r>
              <a:rPr lang="zh-CN" altLang="en-US" sz="2000" b="1" dirty="0" smtClean="0">
                <a:solidFill>
                  <a:srgbClr val="C00000"/>
                </a:solidFill>
                <a:ea typeface="宋体" panose="02010600030101010101" pitchFamily="2" charset="-122"/>
              </a:rPr>
              <a:t>命令</a:t>
            </a:r>
            <a:endParaRPr lang="en-US" altLang="zh-CN" sz="2000" b="1" dirty="0">
              <a:solidFill>
                <a:srgbClr val="C00000"/>
              </a:solidFill>
              <a:latin typeface="Arial Black" panose="020B0A04020102020204" pitchFamily="34" charset="0"/>
            </a:endParaRPr>
          </a:p>
          <a:p>
            <a:pPr marL="82550" indent="0">
              <a:buNone/>
            </a:pPr>
            <a:r>
              <a:rPr lang="zh-CN" altLang="fr-FR" sz="2000" dirty="0" smtClean="0"/>
              <a:t>功能：</a:t>
            </a:r>
            <a:r>
              <a:rPr lang="zh-CN" altLang="en-US" sz="2000" b="1" dirty="0">
                <a:solidFill>
                  <a:srgbClr val="FF0000"/>
                </a:solidFill>
              </a:rPr>
              <a:t>设置文件的访问</a:t>
            </a:r>
            <a:r>
              <a:rPr lang="zh-CN" altLang="en-US" sz="2000" b="1" dirty="0" smtClean="0">
                <a:solidFill>
                  <a:srgbClr val="FF0000"/>
                </a:solidFill>
              </a:rPr>
              <a:t>权限</a:t>
            </a:r>
            <a:r>
              <a:rPr lang="zh-CN" altLang="en-US" sz="2000" b="1" dirty="0"/>
              <a:t>  </a:t>
            </a:r>
            <a:endParaRPr lang="en-US" altLang="zh-CN" sz="2000" b="1" dirty="0" smtClean="0"/>
          </a:p>
          <a:p>
            <a:pPr marL="82550" indent="0">
              <a:buNone/>
            </a:pPr>
            <a:r>
              <a:rPr lang="zh-CN" altLang="fr-FR" sz="2000" dirty="0" smtClean="0"/>
              <a:t>语法</a:t>
            </a:r>
            <a:r>
              <a:rPr lang="zh-CN" altLang="en-US" sz="2000" dirty="0" smtClean="0"/>
              <a:t>：</a:t>
            </a:r>
            <a:r>
              <a:rPr lang="en-US" altLang="zh-CN" sz="2000" b="1" dirty="0" err="1" smtClean="0">
                <a:solidFill>
                  <a:srgbClr val="FF0000"/>
                </a:solidFill>
              </a:rPr>
              <a:t>chmod</a:t>
            </a:r>
            <a:r>
              <a:rPr lang="en-US" altLang="zh-CN" sz="2000" b="1" dirty="0" smtClean="0">
                <a:solidFill>
                  <a:srgbClr val="FF0000"/>
                </a:solidFill>
              </a:rPr>
              <a:t>  </a:t>
            </a:r>
            <a:r>
              <a:rPr lang="en-US" altLang="zh-CN" sz="2000" b="1" dirty="0">
                <a:solidFill>
                  <a:srgbClr val="FF0000"/>
                </a:solidFill>
              </a:rPr>
              <a:t>mode  </a:t>
            </a:r>
            <a:r>
              <a:rPr lang="zh-CN" altLang="en-US" sz="2000" b="1" dirty="0">
                <a:solidFill>
                  <a:srgbClr val="FF0000"/>
                </a:solidFill>
                <a:ea typeface="黑体" panose="02010609060101010101" pitchFamily="49" charset="-122"/>
              </a:rPr>
              <a:t>文件名</a:t>
            </a:r>
            <a:endParaRPr lang="zh-CN" altLang="en-US" sz="2000" b="1" dirty="0">
              <a:solidFill>
                <a:srgbClr val="FF0000"/>
              </a:solidFill>
              <a:ea typeface="黑体" panose="02010609060101010101" pitchFamily="49" charset="-122"/>
            </a:endParaRPr>
          </a:p>
          <a:p>
            <a:pPr marL="82550" indent="0">
              <a:buNone/>
            </a:pPr>
            <a:r>
              <a:rPr lang="zh-CN" altLang="en-US" sz="2000" dirty="0"/>
              <a:t>其中，</a:t>
            </a:r>
            <a:r>
              <a:rPr lang="en-US" altLang="zh-CN" sz="2000" dirty="0"/>
              <a:t>mode</a:t>
            </a:r>
            <a:r>
              <a:rPr lang="zh-CN" altLang="en-US" sz="2000" dirty="0"/>
              <a:t>为权限的三位八进制数表示</a:t>
            </a:r>
            <a:endParaRPr lang="zh-CN" altLang="en-US" sz="2000" dirty="0"/>
          </a:p>
          <a:p>
            <a:pPr marL="82550" indent="0">
              <a:buNone/>
            </a:pPr>
            <a:r>
              <a:rPr lang="zh-CN" altLang="en-US" sz="2000" dirty="0"/>
              <a:t>　例如，</a:t>
            </a:r>
            <a:r>
              <a:rPr lang="en-US" altLang="zh-CN" sz="2000" dirty="0"/>
              <a:t>754 </a:t>
            </a:r>
            <a:r>
              <a:rPr lang="zh-CN" altLang="en-US" sz="2000" dirty="0"/>
              <a:t>表示 </a:t>
            </a:r>
            <a:r>
              <a:rPr lang="en-US" altLang="zh-CN" sz="2000" dirty="0" err="1"/>
              <a:t>rwxr</a:t>
            </a:r>
            <a:r>
              <a:rPr lang="en-US" altLang="zh-CN" sz="2000" dirty="0"/>
              <a:t>-</a:t>
            </a:r>
            <a:r>
              <a:rPr lang="en-US" altLang="zh-CN" sz="2000" dirty="0" err="1"/>
              <a:t>wr</a:t>
            </a:r>
            <a:r>
              <a:rPr lang="en-US" altLang="zh-CN" sz="2000" dirty="0"/>
              <a:t>--</a:t>
            </a:r>
            <a:endParaRPr lang="en-US" altLang="zh-CN" sz="2000" dirty="0"/>
          </a:p>
          <a:p>
            <a:pPr marL="82550" indent="0">
              <a:buNone/>
            </a:pPr>
            <a:r>
              <a:rPr lang="zh-CN" altLang="en-US" sz="2000" dirty="0"/>
              <a:t>　　　　</a:t>
            </a:r>
            <a:r>
              <a:rPr lang="en-US" altLang="zh-CN" sz="2000" dirty="0"/>
              <a:t>644 </a:t>
            </a:r>
            <a:r>
              <a:rPr lang="zh-CN" altLang="en-US" sz="2000" dirty="0"/>
              <a:t>表示 </a:t>
            </a:r>
            <a:r>
              <a:rPr lang="en-US" altLang="zh-CN" sz="2000" dirty="0" err="1"/>
              <a:t>rw</a:t>
            </a:r>
            <a:r>
              <a:rPr lang="en-US" altLang="zh-CN" sz="2000" dirty="0"/>
              <a:t>-r--r-</a:t>
            </a:r>
            <a:r>
              <a:rPr lang="en-US" altLang="zh-CN" sz="2000" dirty="0" smtClean="0"/>
              <a:t>-</a:t>
            </a:r>
            <a:endParaRPr lang="en-US" altLang="zh-CN" sz="2000" b="1" dirty="0" smtClean="0"/>
          </a:p>
          <a:p>
            <a:pPr marL="82550" indent="0">
              <a:buNone/>
            </a:pPr>
            <a:r>
              <a:rPr lang="zh-CN" altLang="en-US" sz="2000" b="1" dirty="0" smtClean="0">
                <a:solidFill>
                  <a:srgbClr val="0000FF"/>
                </a:solidFill>
              </a:rPr>
              <a:t>例子：</a:t>
            </a:r>
            <a:endParaRPr lang="en-US" altLang="zh-CN" sz="2000" b="1" dirty="0">
              <a:solidFill>
                <a:srgbClr val="0000FF"/>
              </a:solidFill>
            </a:endParaRPr>
          </a:p>
          <a:p>
            <a:pPr marL="82550" indent="0">
              <a:lnSpc>
                <a:spcPct val="80000"/>
              </a:lnSpc>
              <a:buNone/>
              <a:defRPr/>
            </a:pPr>
            <a:r>
              <a:rPr lang="zh-CN" altLang="en-US" sz="2000" dirty="0">
                <a:solidFill>
                  <a:srgbClr val="0000FF"/>
                </a:solidFill>
              </a:rPr>
              <a:t>　　</a:t>
            </a:r>
            <a:r>
              <a:rPr lang="en-US" altLang="zh-CN" sz="2000" dirty="0" err="1">
                <a:solidFill>
                  <a:srgbClr val="0000FF"/>
                </a:solidFill>
              </a:rPr>
              <a:t>chmod</a:t>
            </a:r>
            <a:r>
              <a:rPr lang="en-US" altLang="zh-CN" sz="2000" dirty="0">
                <a:solidFill>
                  <a:srgbClr val="0000FF"/>
                </a:solidFill>
              </a:rPr>
              <a:t>  754 file1 </a:t>
            </a:r>
            <a:r>
              <a:rPr lang="zh-CN" altLang="en-US" sz="2000" dirty="0">
                <a:solidFill>
                  <a:srgbClr val="0000FF"/>
                </a:solidFill>
              </a:rPr>
              <a:t>　</a:t>
            </a:r>
            <a:endParaRPr lang="en-US" altLang="zh-CN" sz="2000" dirty="0">
              <a:solidFill>
                <a:srgbClr val="0000FF"/>
              </a:solidFill>
            </a:endParaRPr>
          </a:p>
          <a:p>
            <a:pPr marL="82550" indent="0">
              <a:lnSpc>
                <a:spcPct val="80000"/>
              </a:lnSpc>
              <a:buNone/>
              <a:defRPr/>
            </a:pPr>
            <a:r>
              <a:rPr lang="zh-CN" altLang="en-US" sz="2000" dirty="0">
                <a:solidFill>
                  <a:srgbClr val="0000FF"/>
                </a:solidFill>
              </a:rPr>
              <a:t>　　</a:t>
            </a:r>
            <a:r>
              <a:rPr lang="en-US" altLang="zh-CN" sz="2000" dirty="0" err="1">
                <a:solidFill>
                  <a:srgbClr val="0000FF"/>
                </a:solidFill>
              </a:rPr>
              <a:t>chmod</a:t>
            </a:r>
            <a:r>
              <a:rPr lang="en-US" altLang="zh-CN" sz="2000" dirty="0">
                <a:solidFill>
                  <a:srgbClr val="0000FF"/>
                </a:solidFill>
              </a:rPr>
              <a:t>  644 </a:t>
            </a:r>
            <a:r>
              <a:rPr lang="en-US" altLang="zh-CN" sz="2000" dirty="0" smtClean="0">
                <a:solidFill>
                  <a:srgbClr val="0000FF"/>
                </a:solidFill>
              </a:rPr>
              <a:t>dir1</a:t>
            </a:r>
            <a:endParaRPr lang="en-US" altLang="zh-CN" sz="2000" b="1" dirty="0">
              <a:solidFill>
                <a:srgbClr val="0000FF"/>
              </a:solidFill>
              <a:ea typeface="黑体" panose="02010609060101010101" pitchFamily="49" charset="-122"/>
            </a:endParaRPr>
          </a:p>
          <a:p>
            <a:pPr marL="82550" indent="0">
              <a:buNone/>
            </a:pPr>
            <a:endParaRPr lang="en-US" altLang="zh-CN" sz="2400" dirty="0">
              <a:solidFill>
                <a:schemeClr val="hlink"/>
              </a:solidFill>
            </a:endParaRPr>
          </a:p>
          <a:p>
            <a:pPr marL="82550" indent="0">
              <a:buNone/>
            </a:pPr>
            <a:endParaRPr lang="zh-CN" altLang="en-US" sz="2400" dirty="0"/>
          </a:p>
          <a:p>
            <a:pPr marL="82550" indent="0">
              <a:lnSpc>
                <a:spcPct val="90000"/>
              </a:lnSpc>
              <a:buNone/>
            </a:pPr>
            <a:endParaRPr lang="zh-CN" altLang="en-US" sz="2400" b="1" dirty="0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>
          <a:xfrm>
            <a:off x="251520" y="699542"/>
            <a:ext cx="7497762" cy="4320480"/>
          </a:xfrm>
        </p:spPr>
        <p:txBody>
          <a:bodyPr>
            <a:normAutofit/>
          </a:bodyPr>
          <a:lstStyle/>
          <a:p>
            <a:pPr marL="82550" indent="0">
              <a:lnSpc>
                <a:spcPct val="80000"/>
              </a:lnSpc>
              <a:buNone/>
            </a:pPr>
            <a:r>
              <a:rPr lang="en-US" altLang="zh-CN" sz="2000" b="1" dirty="0">
                <a:solidFill>
                  <a:srgbClr val="C00000"/>
                </a:solidFill>
                <a:latin typeface="Arial Black" panose="020B0A04020102020204" pitchFamily="34" charset="0"/>
              </a:rPr>
              <a:t>2</a:t>
            </a:r>
            <a:r>
              <a:rPr lang="en-US" altLang="zh-CN" sz="2000" b="1" dirty="0" smtClean="0">
                <a:solidFill>
                  <a:srgbClr val="C00000"/>
                </a:solidFill>
                <a:latin typeface="Arial Black" panose="020B0A04020102020204" pitchFamily="34" charset="0"/>
              </a:rPr>
              <a:t>. </a:t>
            </a:r>
            <a:r>
              <a:rPr lang="en-US" altLang="zh-CN" sz="2000" b="1" dirty="0" err="1" smtClean="0">
                <a:solidFill>
                  <a:srgbClr val="C00000"/>
                </a:solidFill>
                <a:ea typeface="宋体" panose="02010600030101010101" pitchFamily="2" charset="-122"/>
              </a:rPr>
              <a:t>chown</a:t>
            </a:r>
            <a:r>
              <a:rPr lang="zh-CN" altLang="en-US" sz="2000" b="1" dirty="0" smtClean="0">
                <a:solidFill>
                  <a:srgbClr val="C00000"/>
                </a:solidFill>
                <a:ea typeface="宋体" panose="02010600030101010101" pitchFamily="2" charset="-122"/>
              </a:rPr>
              <a:t>命令</a:t>
            </a:r>
            <a:endParaRPr lang="en-US" altLang="zh-CN" sz="2000" b="1" dirty="0">
              <a:solidFill>
                <a:srgbClr val="C00000"/>
              </a:solidFill>
              <a:latin typeface="Arial Black" panose="020B0A04020102020204" pitchFamily="34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2000" dirty="0" smtClean="0"/>
              <a:t>    功能</a:t>
            </a:r>
            <a:r>
              <a:rPr lang="zh-CN" altLang="en-US" sz="2000" dirty="0"/>
              <a:t>：</a:t>
            </a:r>
            <a:r>
              <a:rPr lang="zh-CN" altLang="en-US" sz="2000" b="1" dirty="0">
                <a:solidFill>
                  <a:srgbClr val="FF0000"/>
                </a:solidFill>
              </a:rPr>
              <a:t>改变文件的属主（所有者） </a:t>
            </a:r>
            <a:endParaRPr lang="zh-CN" altLang="en-US" sz="2000" b="1" dirty="0">
              <a:solidFill>
                <a:srgbClr val="FF0000"/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2000" dirty="0"/>
              <a:t>　</a:t>
            </a:r>
            <a:r>
              <a:rPr lang="zh-CN" altLang="en-US" sz="2000" dirty="0" smtClean="0"/>
              <a:t>执行</a:t>
            </a:r>
            <a:r>
              <a:rPr lang="zh-CN" altLang="en-US" sz="2000" dirty="0"/>
              <a:t>权限：</a:t>
            </a:r>
            <a:r>
              <a:rPr lang="en-US" altLang="zh-CN" sz="2000" dirty="0">
                <a:solidFill>
                  <a:srgbClr val="FF0000"/>
                </a:solidFill>
              </a:rPr>
              <a:t>root</a:t>
            </a:r>
            <a:r>
              <a:rPr lang="zh-CN" altLang="en-US" sz="2000" dirty="0">
                <a:solidFill>
                  <a:srgbClr val="FF0000"/>
                </a:solidFill>
              </a:rPr>
              <a:t>用户、文件的原属主</a:t>
            </a:r>
            <a:endParaRPr lang="zh-CN" altLang="en-US" sz="2000" dirty="0">
              <a:solidFill>
                <a:srgbClr val="FF0000"/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2000" dirty="0"/>
              <a:t>　</a:t>
            </a:r>
            <a:r>
              <a:rPr lang="zh-CN" altLang="en-US" sz="2000" dirty="0" smtClean="0"/>
              <a:t>语法</a:t>
            </a:r>
            <a:r>
              <a:rPr lang="zh-CN" altLang="en-US" sz="2000" dirty="0"/>
              <a:t>：</a:t>
            </a:r>
            <a:r>
              <a:rPr lang="en-US" altLang="zh-CN" sz="2000" b="1" dirty="0" err="1">
                <a:solidFill>
                  <a:srgbClr val="FF0000"/>
                </a:solidFill>
                <a:ea typeface="黑体" panose="02010609060101010101" pitchFamily="49" charset="-122"/>
              </a:rPr>
              <a:t>chown</a:t>
            </a:r>
            <a:r>
              <a:rPr lang="en-US" altLang="zh-CN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用户名</a:t>
            </a:r>
            <a:r>
              <a:rPr lang="en-US" altLang="zh-CN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[: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组名</a:t>
            </a:r>
            <a:r>
              <a:rPr lang="en-US" altLang="zh-CN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]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　文件名</a:t>
            </a:r>
            <a:endParaRPr lang="zh-CN" altLang="en-US" sz="20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2000" dirty="0">
                <a:solidFill>
                  <a:schemeClr val="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　</a:t>
            </a:r>
            <a:r>
              <a:rPr lang="zh-CN" altLang="en-US" sz="2000" i="1" dirty="0"/>
              <a:t>注意：新的属主必须是系统中已注册的账户！</a:t>
            </a:r>
            <a:endParaRPr lang="zh-CN" altLang="en-US" sz="2000" i="1" dirty="0"/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2000" dirty="0"/>
              <a:t>　</a:t>
            </a:r>
            <a:endParaRPr lang="en-US" altLang="zh-CN" sz="2000" dirty="0" smtClean="0"/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2000" dirty="0" smtClean="0"/>
              <a:t>例如</a:t>
            </a:r>
            <a:r>
              <a:rPr lang="zh-CN" altLang="en-US" sz="2000" dirty="0"/>
              <a:t>：</a:t>
            </a:r>
            <a:endParaRPr lang="zh-CN" altLang="en-US" sz="2000" dirty="0"/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2000" dirty="0"/>
              <a:t>　　　</a:t>
            </a:r>
            <a:r>
              <a:rPr lang="en-US" altLang="zh-CN" sz="2000" dirty="0">
                <a:solidFill>
                  <a:srgbClr val="0000FF"/>
                </a:solidFill>
              </a:rPr>
              <a:t>$</a:t>
            </a:r>
            <a:r>
              <a:rPr lang="en-US" altLang="zh-CN" sz="2000" dirty="0" err="1">
                <a:solidFill>
                  <a:srgbClr val="0000FF"/>
                </a:solidFill>
              </a:rPr>
              <a:t>chown</a:t>
            </a:r>
            <a:r>
              <a:rPr lang="en-US" altLang="zh-CN" sz="2000" dirty="0">
                <a:solidFill>
                  <a:srgbClr val="0000FF"/>
                </a:solidFill>
              </a:rPr>
              <a:t>  </a:t>
            </a:r>
            <a:r>
              <a:rPr lang="en-US" altLang="zh-CN" sz="2000" dirty="0" err="1">
                <a:solidFill>
                  <a:srgbClr val="0000FF"/>
                </a:solidFill>
              </a:rPr>
              <a:t>zhang</a:t>
            </a:r>
            <a:r>
              <a:rPr lang="en-US" altLang="zh-CN" sz="2000" dirty="0">
                <a:solidFill>
                  <a:srgbClr val="0000FF"/>
                </a:solidFill>
              </a:rPr>
              <a:t>  wfile1</a:t>
            </a:r>
            <a:endParaRPr lang="en-US" altLang="zh-CN" sz="2000" dirty="0">
              <a:solidFill>
                <a:srgbClr val="0000FF"/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000" dirty="0">
                <a:solidFill>
                  <a:srgbClr val="0000FF"/>
                </a:solidFill>
              </a:rPr>
              <a:t>          </a:t>
            </a:r>
            <a:r>
              <a:rPr lang="en-US" altLang="zh-CN" sz="2000" dirty="0" smtClean="0">
                <a:solidFill>
                  <a:srgbClr val="0000FF"/>
                </a:solidFill>
              </a:rPr>
              <a:t> $ </a:t>
            </a:r>
            <a:r>
              <a:rPr lang="en-US" altLang="zh-CN" sz="2000" dirty="0" err="1">
                <a:solidFill>
                  <a:srgbClr val="0000FF"/>
                </a:solidFill>
              </a:rPr>
              <a:t>chown</a:t>
            </a:r>
            <a:r>
              <a:rPr lang="en-US" altLang="zh-CN" sz="2000" dirty="0">
                <a:solidFill>
                  <a:srgbClr val="0000FF"/>
                </a:solidFill>
              </a:rPr>
              <a:t>  nobody  wfile2</a:t>
            </a:r>
            <a:endParaRPr lang="en-US" altLang="zh-CN" sz="2000" dirty="0">
              <a:solidFill>
                <a:srgbClr val="0000FF"/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2000" dirty="0"/>
              <a:t>　注：</a:t>
            </a:r>
            <a:r>
              <a:rPr lang="en-US" altLang="zh-CN" sz="2000" dirty="0"/>
              <a:t>nobody</a:t>
            </a:r>
            <a:r>
              <a:rPr lang="zh-CN" altLang="en-US" sz="2000" dirty="0"/>
              <a:t>是系统的一个默认账户，相当于</a:t>
            </a:r>
            <a:r>
              <a:rPr lang="en-US" altLang="zh-CN" sz="2000" dirty="0"/>
              <a:t>guest</a:t>
            </a:r>
            <a:endParaRPr lang="en-US" altLang="zh-CN" sz="2400" dirty="0">
              <a:solidFill>
                <a:schemeClr val="hlink"/>
              </a:solidFill>
            </a:endParaRPr>
          </a:p>
          <a:p>
            <a:pPr marL="82550" indent="0">
              <a:buNone/>
            </a:pPr>
            <a:endParaRPr lang="zh-CN" altLang="en-US" sz="2400" dirty="0"/>
          </a:p>
          <a:p>
            <a:pPr marL="82550" indent="0">
              <a:lnSpc>
                <a:spcPct val="90000"/>
              </a:lnSpc>
              <a:buNone/>
            </a:pPr>
            <a:endParaRPr lang="zh-CN" altLang="en-US" sz="2400" b="1" dirty="0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43608" y="555526"/>
            <a:ext cx="6552728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 smtClean="0">
                <a:latin typeface="+mj-ea"/>
                <a:ea typeface="+mj-ea"/>
              </a:rPr>
              <a:t>3 vi</a:t>
            </a:r>
            <a:r>
              <a:rPr lang="zh-CN" altLang="en-US" sz="2800" dirty="0" smtClean="0">
                <a:latin typeface="+mj-ea"/>
                <a:ea typeface="+mj-ea"/>
              </a:rPr>
              <a:t>编辑器</a:t>
            </a:r>
            <a:endParaRPr lang="en-US" altLang="zh-CN" sz="2800" dirty="0" smtClean="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endParaRPr lang="en-US" altLang="zh-CN" sz="2800" dirty="0" smtClean="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en-US" altLang="zh-CN" sz="2800" dirty="0" smtClean="0">
                <a:latin typeface="+mj-ea"/>
                <a:ea typeface="+mj-ea"/>
              </a:rPr>
              <a:t>3.1 vi</a:t>
            </a:r>
            <a:r>
              <a:rPr lang="zh-CN" altLang="en-US" sz="2800" dirty="0" smtClean="0">
                <a:latin typeface="+mj-ea"/>
                <a:ea typeface="+mj-ea"/>
              </a:rPr>
              <a:t>是什么</a:t>
            </a:r>
            <a:endParaRPr lang="en-US" altLang="zh-CN" sz="2800" dirty="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en-US" altLang="zh-CN" sz="2800" dirty="0" smtClean="0">
                <a:latin typeface="+mj-ea"/>
                <a:ea typeface="+mj-ea"/>
              </a:rPr>
              <a:t>3.2 vi</a:t>
            </a:r>
            <a:r>
              <a:rPr lang="zh-CN" altLang="en-US" sz="2800" dirty="0" smtClean="0">
                <a:latin typeface="+mj-ea"/>
                <a:ea typeface="+mj-ea"/>
              </a:rPr>
              <a:t>怎么用</a:t>
            </a:r>
            <a:endParaRPr lang="en-US" altLang="zh-CN" sz="2800" dirty="0" smtClean="0">
              <a:latin typeface="+mj-ea"/>
              <a:ea typeface="+mj-ea"/>
            </a:endParaRPr>
          </a:p>
          <a:p>
            <a:pPr marL="342900" indent="-342900">
              <a:lnSpc>
                <a:spcPct val="150000"/>
              </a:lnSpc>
              <a:buAutoNum type="arabicPlain"/>
            </a:pPr>
            <a:endParaRPr lang="zh-CN" altLang="en-US" sz="2800" dirty="0">
              <a:latin typeface="+mj-ea"/>
              <a:ea typeface="+mj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55576" y="869680"/>
            <a:ext cx="7776864" cy="20928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zh-CN" sz="2000" b="1" dirty="0" smtClean="0"/>
              <a:t>   vi</a:t>
            </a:r>
            <a:r>
              <a:rPr lang="zh-CN" altLang="en-US" sz="2000" b="1" dirty="0"/>
              <a:t>（</a:t>
            </a:r>
            <a:r>
              <a:rPr lang="en-US" altLang="zh-CN" sz="2000" b="1" dirty="0"/>
              <a:t>visual interface</a:t>
            </a:r>
            <a:r>
              <a:rPr lang="zh-CN" altLang="en-US" sz="2000" b="1" dirty="0"/>
              <a:t>）是个功能齐全的全屏幕文本编辑器，可以执行输入、插入、删除、查找、替换等</a:t>
            </a:r>
            <a:r>
              <a:rPr lang="zh-CN" altLang="en-US" sz="2000" b="1" dirty="0" smtClean="0"/>
              <a:t>各种</a:t>
            </a:r>
            <a:r>
              <a:rPr lang="zh-CN" altLang="en-US" sz="2000" b="1" dirty="0"/>
              <a:t>文本编辑操作。</a:t>
            </a:r>
            <a:endParaRPr lang="en-US" altLang="zh-CN" sz="2000" b="1" dirty="0"/>
          </a:p>
          <a:p>
            <a:pPr>
              <a:lnSpc>
                <a:spcPct val="130000"/>
              </a:lnSpc>
              <a:defRPr/>
            </a:pPr>
            <a:r>
              <a:rPr lang="en-US" altLang="zh-CN" sz="2000" b="1" dirty="0"/>
              <a:t>    </a:t>
            </a:r>
            <a:r>
              <a:rPr lang="zh-CN" altLang="en-US" sz="2000" b="1" dirty="0"/>
              <a:t>但是</a:t>
            </a:r>
            <a:r>
              <a:rPr lang="en-US" altLang="zh-CN" sz="2000" b="1" dirty="0"/>
              <a:t>vi</a:t>
            </a:r>
            <a:r>
              <a:rPr lang="zh-CN" altLang="en-US" sz="2000" b="1" dirty="0"/>
              <a:t>不是一个排版软件，它不像</a:t>
            </a:r>
            <a:r>
              <a:rPr lang="en-US" altLang="zh-CN" sz="2000" b="1" dirty="0"/>
              <a:t>Office Word</a:t>
            </a:r>
            <a:r>
              <a:rPr lang="zh-CN" altLang="en-US" sz="2000" b="1" dirty="0"/>
              <a:t>那样可以对字体、格式、段落等属性进行编排，它只是一个文本编辑器（相当于</a:t>
            </a:r>
            <a:r>
              <a:rPr lang="en-US" altLang="zh-CN" sz="2000" b="1" dirty="0"/>
              <a:t>windows</a:t>
            </a:r>
            <a:r>
              <a:rPr lang="zh-CN" altLang="en-US" sz="2000" b="1" dirty="0"/>
              <a:t>中的笔记事本），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而且</a:t>
            </a:r>
            <a:r>
              <a:rPr lang="en-US" altLang="zh-CN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vi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只有命令，没有菜单</a:t>
            </a:r>
            <a:r>
              <a:rPr lang="zh-CN" altLang="en-US" sz="2000" b="1" dirty="0">
                <a:solidFill>
                  <a:schemeClr val="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！</a:t>
            </a:r>
            <a:endParaRPr lang="zh-CN" altLang="en-US" sz="2000" b="1" dirty="0">
              <a:solidFill>
                <a:schemeClr val="hlin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内容占位符 2"/>
          <p:cNvSpPr txBox="1"/>
          <p:nvPr/>
        </p:nvSpPr>
        <p:spPr>
          <a:xfrm>
            <a:off x="1187624" y="303498"/>
            <a:ext cx="7543800" cy="576064"/>
          </a:xfrm>
          <a:prstGeom prst="rect">
            <a:avLst/>
          </a:prstGeom>
        </p:spPr>
        <p:txBody>
          <a:bodyPr>
            <a:normAutofit/>
          </a:bodyPr>
          <a:lstStyle>
            <a:lvl1pPr marL="365760" indent="-28321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/>
              <a:buChar char="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37490" algn="l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 panose="020B0604030504040204"/>
              <a:buChar char="◦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87095" indent="-22860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 panose="05020102010507070707"/>
              <a:buChar char="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17399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575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0876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8945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425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/>
              <a:buNone/>
            </a:pPr>
            <a:r>
              <a:rPr lang="en-US" altLang="zh-CN" sz="26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3.1 vi</a:t>
            </a:r>
            <a:r>
              <a:rPr lang="zh-CN" altLang="en-US" sz="26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是什么</a:t>
            </a:r>
            <a:endParaRPr lang="zh-CN" altLang="zh-CN" sz="2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83568" y="789552"/>
            <a:ext cx="804785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/>
              <a:t>vi</a:t>
            </a:r>
            <a:r>
              <a:rPr lang="zh-CN" altLang="en-US" sz="2000" b="1" dirty="0"/>
              <a:t>有三种基本工作模式：</a:t>
            </a:r>
            <a:r>
              <a:rPr lang="zh-CN" altLang="en-US" sz="2000" b="1" dirty="0">
                <a:solidFill>
                  <a:srgbClr val="FF0000"/>
                </a:solidFill>
              </a:rPr>
              <a:t>命令模式、文本输入模式和末行模式。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  <p:sp>
        <p:nvSpPr>
          <p:cNvPr id="3" name="内容占位符 2"/>
          <p:cNvSpPr txBox="1"/>
          <p:nvPr/>
        </p:nvSpPr>
        <p:spPr>
          <a:xfrm>
            <a:off x="1187624" y="303498"/>
            <a:ext cx="7543800" cy="576064"/>
          </a:xfrm>
          <a:prstGeom prst="rect">
            <a:avLst/>
          </a:prstGeom>
        </p:spPr>
        <p:txBody>
          <a:bodyPr>
            <a:normAutofit/>
          </a:bodyPr>
          <a:lstStyle>
            <a:lvl1pPr marL="365760" indent="-28321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/>
              <a:buChar char="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37490" algn="l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 panose="020B0604030504040204"/>
              <a:buChar char="◦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87095" indent="-22860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 panose="05020102010507070707"/>
              <a:buChar char="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17399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575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0876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8945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425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/>
              <a:buNone/>
            </a:pPr>
            <a:r>
              <a:rPr lang="en-US" altLang="zh-CN" sz="26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3.2 vi</a:t>
            </a:r>
            <a:r>
              <a:rPr lang="zh-CN" altLang="en-US" sz="26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怎么用</a:t>
            </a:r>
            <a:endParaRPr lang="zh-CN" altLang="zh-CN" sz="2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635375" y="1923157"/>
            <a:ext cx="2376488" cy="432197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 eaLnBrk="1" hangingPunct="1"/>
            <a:r>
              <a:rPr lang="zh-CN" altLang="en-US" sz="2400" b="1" i="0" dirty="0">
                <a:ea typeface="黑体" panose="02010609060101010101" pitchFamily="49" charset="-122"/>
              </a:rPr>
              <a:t>命令模式</a:t>
            </a:r>
            <a:endParaRPr lang="zh-CN" altLang="en-US" sz="2400" b="1" i="0" dirty="0">
              <a:ea typeface="黑体" panose="02010609060101010101" pitchFamily="49" charset="-122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187450" y="3328095"/>
            <a:ext cx="2808288" cy="432197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 eaLnBrk="1" hangingPunct="1"/>
            <a:r>
              <a:rPr lang="zh-CN" altLang="en-US" sz="2400" b="1" i="0">
                <a:ea typeface="黑体" panose="02010609060101010101" pitchFamily="49" charset="-122"/>
              </a:rPr>
              <a:t>文本输入模式</a:t>
            </a:r>
            <a:endParaRPr lang="zh-CN" altLang="en-US" sz="2400" b="1" i="0">
              <a:ea typeface="黑体" panose="02010609060101010101" pitchFamily="49" charset="-122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5651500" y="3328095"/>
            <a:ext cx="2305050" cy="432197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 eaLnBrk="1" hangingPunct="1"/>
            <a:r>
              <a:rPr lang="zh-CN" altLang="en-US" sz="2400" b="1" i="0">
                <a:ea typeface="黑体" panose="02010609060101010101" pitchFamily="49" charset="-122"/>
              </a:rPr>
              <a:t>末行命令模式</a:t>
            </a:r>
            <a:endParaRPr lang="zh-CN" altLang="en-US" sz="2400" b="1" i="0">
              <a:ea typeface="黑体" panose="02010609060101010101" pitchFamily="49" charset="-122"/>
            </a:endParaRPr>
          </a:p>
        </p:txBody>
      </p:sp>
      <p:sp>
        <p:nvSpPr>
          <p:cNvPr id="8" name="Line 7"/>
          <p:cNvSpPr>
            <a:spLocks noChangeShapeType="1"/>
          </p:cNvSpPr>
          <p:nvPr/>
        </p:nvSpPr>
        <p:spPr bwMode="auto">
          <a:xfrm>
            <a:off x="1187450" y="1707654"/>
            <a:ext cx="35290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Line 8"/>
          <p:cNvSpPr>
            <a:spLocks noChangeShapeType="1"/>
          </p:cNvSpPr>
          <p:nvPr/>
        </p:nvSpPr>
        <p:spPr bwMode="auto">
          <a:xfrm>
            <a:off x="4716463" y="1707654"/>
            <a:ext cx="0" cy="21550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Line 9"/>
          <p:cNvSpPr>
            <a:spLocks noChangeShapeType="1"/>
          </p:cNvSpPr>
          <p:nvPr/>
        </p:nvSpPr>
        <p:spPr bwMode="auto">
          <a:xfrm flipH="1">
            <a:off x="2124075" y="2355355"/>
            <a:ext cx="2159000" cy="97274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" name="Line 10"/>
          <p:cNvSpPr>
            <a:spLocks noChangeShapeType="1"/>
          </p:cNvSpPr>
          <p:nvPr/>
        </p:nvSpPr>
        <p:spPr bwMode="auto">
          <a:xfrm flipV="1">
            <a:off x="2627314" y="2355355"/>
            <a:ext cx="2016125" cy="97274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Line 11"/>
          <p:cNvSpPr>
            <a:spLocks noChangeShapeType="1"/>
          </p:cNvSpPr>
          <p:nvPr/>
        </p:nvSpPr>
        <p:spPr bwMode="auto">
          <a:xfrm>
            <a:off x="5003800" y="2355355"/>
            <a:ext cx="1657350" cy="97274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" name="Line 12"/>
          <p:cNvSpPr>
            <a:spLocks noChangeShapeType="1"/>
          </p:cNvSpPr>
          <p:nvPr/>
        </p:nvSpPr>
        <p:spPr bwMode="auto">
          <a:xfrm flipH="1" flipV="1">
            <a:off x="5292726" y="2355355"/>
            <a:ext cx="1655763" cy="97274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Line 13"/>
          <p:cNvSpPr>
            <a:spLocks noChangeShapeType="1"/>
          </p:cNvSpPr>
          <p:nvPr/>
        </p:nvSpPr>
        <p:spPr bwMode="auto">
          <a:xfrm>
            <a:off x="6804025" y="3759101"/>
            <a:ext cx="0" cy="97274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Text Box 14"/>
          <p:cNvSpPr txBox="1">
            <a:spLocks noChangeArrowheads="1"/>
          </p:cNvSpPr>
          <p:nvPr/>
        </p:nvSpPr>
        <p:spPr bwMode="auto">
          <a:xfrm>
            <a:off x="1403350" y="1416652"/>
            <a:ext cx="237648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dirty="0">
                <a:solidFill>
                  <a:srgbClr val="FF0000"/>
                </a:solidFill>
              </a:rPr>
              <a:t>vi  filename </a:t>
            </a:r>
            <a:r>
              <a:rPr lang="zh-CN" altLang="en-US" sz="2000" dirty="0"/>
              <a:t>进入</a:t>
            </a:r>
            <a:endParaRPr lang="zh-CN" altLang="en-US" sz="2000" dirty="0"/>
          </a:p>
        </p:txBody>
      </p:sp>
      <p:sp>
        <p:nvSpPr>
          <p:cNvPr id="16" name="Text Box 15"/>
          <p:cNvSpPr txBox="1">
            <a:spLocks noChangeArrowheads="1"/>
          </p:cNvSpPr>
          <p:nvPr/>
        </p:nvSpPr>
        <p:spPr bwMode="auto">
          <a:xfrm>
            <a:off x="1474789" y="2625626"/>
            <a:ext cx="158432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dirty="0"/>
              <a:t> </a:t>
            </a:r>
            <a:r>
              <a:rPr lang="zh-CN" altLang="en-US" sz="2000" dirty="0"/>
              <a:t>输入 </a:t>
            </a:r>
            <a:r>
              <a:rPr lang="en-US" altLang="zh-CN" sz="2000" dirty="0">
                <a:solidFill>
                  <a:srgbClr val="FF0000"/>
                </a:solidFill>
              </a:rPr>
              <a:t>i  a o  </a:t>
            </a:r>
            <a:endParaRPr lang="en-US" altLang="zh-CN" sz="2000" dirty="0">
              <a:solidFill>
                <a:srgbClr val="FF0000"/>
              </a:solidFill>
            </a:endParaRPr>
          </a:p>
        </p:txBody>
      </p:sp>
      <p:sp>
        <p:nvSpPr>
          <p:cNvPr id="17" name="Text Box 16"/>
          <p:cNvSpPr txBox="1">
            <a:spLocks noChangeArrowheads="1"/>
          </p:cNvSpPr>
          <p:nvPr/>
        </p:nvSpPr>
        <p:spPr bwMode="auto">
          <a:xfrm>
            <a:off x="3492500" y="2787551"/>
            <a:ext cx="129698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dirty="0"/>
              <a:t> </a:t>
            </a:r>
            <a:r>
              <a:rPr lang="zh-CN" altLang="en-US" sz="2000" dirty="0"/>
              <a:t>按</a:t>
            </a:r>
            <a:r>
              <a:rPr lang="en-US" altLang="zh-CN" sz="2000" dirty="0">
                <a:solidFill>
                  <a:srgbClr val="FF0000"/>
                </a:solidFill>
              </a:rPr>
              <a:t>Esc</a:t>
            </a:r>
            <a:r>
              <a:rPr lang="zh-CN" altLang="en-US" sz="2000" dirty="0"/>
              <a:t>键</a:t>
            </a:r>
            <a:endParaRPr lang="zh-CN" altLang="en-US" sz="2000" dirty="0"/>
          </a:p>
        </p:txBody>
      </p:sp>
      <p:sp>
        <p:nvSpPr>
          <p:cNvPr id="18" name="Text Box 17"/>
          <p:cNvSpPr txBox="1">
            <a:spLocks noChangeArrowheads="1"/>
          </p:cNvSpPr>
          <p:nvPr/>
        </p:nvSpPr>
        <p:spPr bwMode="auto">
          <a:xfrm>
            <a:off x="4932364" y="2733973"/>
            <a:ext cx="86518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dirty="0"/>
              <a:t> </a:t>
            </a:r>
            <a:r>
              <a:rPr lang="zh-CN" altLang="en-US" sz="2000" dirty="0"/>
              <a:t>输入</a:t>
            </a:r>
            <a:r>
              <a:rPr lang="zh-CN" altLang="en-US" sz="2000" dirty="0">
                <a:solidFill>
                  <a:srgbClr val="FF0000"/>
                </a:solidFill>
              </a:rPr>
              <a:t>：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sp>
        <p:nvSpPr>
          <p:cNvPr id="19" name="Text Box 18"/>
          <p:cNvSpPr txBox="1">
            <a:spLocks noChangeArrowheads="1"/>
          </p:cNvSpPr>
          <p:nvPr/>
        </p:nvSpPr>
        <p:spPr bwMode="auto">
          <a:xfrm>
            <a:off x="6372225" y="2517280"/>
            <a:ext cx="17272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/>
              <a:t> </a:t>
            </a:r>
            <a:r>
              <a:rPr lang="zh-CN" altLang="en-US" sz="2000"/>
              <a:t>显式命令按回车键结束</a:t>
            </a:r>
            <a:endParaRPr lang="zh-CN" altLang="en-US" sz="2000"/>
          </a:p>
        </p:txBody>
      </p:sp>
      <p:sp>
        <p:nvSpPr>
          <p:cNvPr id="20" name="Text Box 19"/>
          <p:cNvSpPr txBox="1">
            <a:spLocks noChangeArrowheads="1"/>
          </p:cNvSpPr>
          <p:nvPr/>
        </p:nvSpPr>
        <p:spPr bwMode="auto">
          <a:xfrm>
            <a:off x="5940425" y="3867448"/>
            <a:ext cx="7191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75000"/>
              </a:lnSpc>
            </a:pPr>
            <a:r>
              <a:rPr lang="zh-CN" altLang="en-US" sz="2000" dirty="0"/>
              <a:t>输入</a:t>
            </a:r>
            <a:endParaRPr lang="zh-CN" altLang="en-US" sz="2000" dirty="0"/>
          </a:p>
          <a:p>
            <a:pPr eaLnBrk="1" hangingPunct="1">
              <a:lnSpc>
                <a:spcPct val="75000"/>
              </a:lnSpc>
            </a:pPr>
            <a:r>
              <a:rPr lang="en-US" altLang="zh-CN" sz="2000" dirty="0" err="1">
                <a:solidFill>
                  <a:srgbClr val="FF0000"/>
                </a:solidFill>
              </a:rPr>
              <a:t>wq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 eaLnBrk="1" hangingPunct="1">
              <a:lnSpc>
                <a:spcPct val="75000"/>
              </a:lnSpc>
            </a:pPr>
            <a:r>
              <a:rPr lang="en-US" altLang="zh-CN" sz="2000" dirty="0">
                <a:solidFill>
                  <a:srgbClr val="FF0000"/>
                </a:solidFill>
              </a:rPr>
              <a:t>q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 eaLnBrk="1" hangingPunct="1">
              <a:lnSpc>
                <a:spcPct val="75000"/>
              </a:lnSpc>
            </a:pPr>
            <a:endParaRPr lang="en-US" altLang="zh-CN" sz="2000" dirty="0">
              <a:solidFill>
                <a:schemeClr val="hlink"/>
              </a:solidFill>
            </a:endParaRPr>
          </a:p>
        </p:txBody>
      </p:sp>
      <p:sp>
        <p:nvSpPr>
          <p:cNvPr id="21" name="Text Box 20"/>
          <p:cNvSpPr txBox="1">
            <a:spLocks noChangeArrowheads="1"/>
          </p:cNvSpPr>
          <p:nvPr/>
        </p:nvSpPr>
        <p:spPr bwMode="auto">
          <a:xfrm>
            <a:off x="6875464" y="3975795"/>
            <a:ext cx="719137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75000"/>
              </a:lnSpc>
            </a:pPr>
            <a:r>
              <a:rPr lang="zh-CN" altLang="en-US" sz="2000"/>
              <a:t>退出</a:t>
            </a:r>
            <a:endParaRPr lang="zh-CN" altLang="en-US" sz="2000"/>
          </a:p>
          <a:p>
            <a:pPr eaLnBrk="1" hangingPunct="1">
              <a:lnSpc>
                <a:spcPct val="75000"/>
              </a:lnSpc>
            </a:pPr>
            <a:endParaRPr lang="en-US" altLang="zh-CN" sz="2000"/>
          </a:p>
        </p:txBody>
      </p:sp>
      <p:sp>
        <p:nvSpPr>
          <p:cNvPr id="23" name="灯片编号占位符 20"/>
          <p:cNvSpPr>
            <a:spLocks noGrp="1"/>
          </p:cNvSpPr>
          <p:nvPr>
            <p:ph type="sldNum" sz="quarter" idx="12"/>
          </p:nvPr>
        </p:nvSpPr>
        <p:spPr>
          <a:xfrm>
            <a:off x="6826250" y="4682729"/>
            <a:ext cx="1905000" cy="3429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D4975557-B5D4-4D2A-969D-B7C7E40AA7AA}" type="slidenum">
              <a:rPr lang="en-US" altLang="zh-CN" sz="1400" b="0"/>
            </a:fld>
            <a:endParaRPr lang="en-US" altLang="zh-CN" sz="14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标题 1"/>
          <p:cNvSpPr>
            <a:spLocks noGrp="1"/>
          </p:cNvSpPr>
          <p:nvPr>
            <p:ph type="title"/>
          </p:nvPr>
        </p:nvSpPr>
        <p:spPr>
          <a:xfrm>
            <a:off x="329298" y="195486"/>
            <a:ext cx="6781800" cy="504056"/>
          </a:xfrm>
        </p:spPr>
        <p:txBody>
          <a:bodyPr>
            <a:noAutofit/>
          </a:bodyPr>
          <a:lstStyle/>
          <a:p>
            <a:r>
              <a:rPr lang="en-US" altLang="zh-CN" sz="2000" dirty="0" smtClean="0">
                <a:solidFill>
                  <a:srgbClr val="CC0099"/>
                </a:solidFill>
              </a:rPr>
              <a:t>1. </a:t>
            </a:r>
            <a:r>
              <a:rPr lang="zh-CN" altLang="en-US" sz="2000" dirty="0" smtClean="0">
                <a:solidFill>
                  <a:srgbClr val="CC0099"/>
                </a:solidFill>
              </a:rPr>
              <a:t>命令模式</a:t>
            </a:r>
            <a:endParaRPr lang="zh-CN" altLang="en-US" sz="2000" dirty="0" smtClean="0"/>
          </a:p>
        </p:txBody>
      </p:sp>
      <p:sp>
        <p:nvSpPr>
          <p:cNvPr id="68611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i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9FE339E2-9E63-44F0-AB8C-8E82F634C5D3}" type="slidenum">
              <a:rPr lang="en-US" altLang="zh-CN" i="0"/>
            </a:fld>
            <a:endParaRPr lang="en-US" altLang="zh-CN" i="0"/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341090" y="699542"/>
            <a:ext cx="8424936" cy="1172629"/>
          </a:xfrm>
          <a:prstGeom prst="rect">
            <a:avLst/>
          </a:prstGeom>
          <a:gradFill rotWithShape="1">
            <a:gsLst>
              <a:gs pos="0">
                <a:srgbClr val="80FFFF"/>
              </a:gs>
              <a:gs pos="50000">
                <a:srgbClr val="B3FFFF"/>
              </a:gs>
              <a:gs pos="100000">
                <a:srgbClr val="DA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lnSpc>
                <a:spcPct val="130000"/>
              </a:lnSpc>
            </a:pPr>
            <a:r>
              <a:rPr lang="zh-CN" altLang="en-US" b="1" i="0" dirty="0" smtClean="0"/>
              <a:t>       进入</a:t>
            </a:r>
            <a:r>
              <a:rPr lang="en-US" altLang="zh-CN" b="1" i="0" dirty="0"/>
              <a:t>vi</a:t>
            </a:r>
            <a:r>
              <a:rPr lang="zh-CN" altLang="en-US" b="1" i="0" dirty="0"/>
              <a:t>编辑器时的默认工作模式</a:t>
            </a:r>
            <a:r>
              <a:rPr lang="zh-CN" altLang="en-US" b="1" i="0" dirty="0" smtClean="0"/>
              <a:t>。该</a:t>
            </a:r>
            <a:r>
              <a:rPr lang="zh-CN" altLang="en-US" b="1" i="0" dirty="0"/>
              <a:t>模式下用户可以输入</a:t>
            </a:r>
            <a:r>
              <a:rPr lang="zh-CN" altLang="en-US" b="1" i="0" dirty="0" smtClean="0"/>
              <a:t>各种</a:t>
            </a:r>
            <a:r>
              <a:rPr lang="en-US" altLang="zh-CN" b="1" i="0" dirty="0" smtClean="0"/>
              <a:t>vi</a:t>
            </a:r>
            <a:r>
              <a:rPr lang="zh-CN" altLang="en-US" b="1" i="0" dirty="0"/>
              <a:t>编辑命令，</a:t>
            </a:r>
            <a:r>
              <a:rPr lang="zh-CN" altLang="en-US" b="1" i="0" dirty="0">
                <a:solidFill>
                  <a:srgbClr val="FF0000"/>
                </a:solidFill>
              </a:rPr>
              <a:t>此时从键盘上输入的任何字符都被当作编辑命令来解释</a:t>
            </a:r>
            <a:r>
              <a:rPr lang="zh-CN" altLang="en-US" b="1" i="0" dirty="0" smtClean="0">
                <a:solidFill>
                  <a:srgbClr val="FF0000"/>
                </a:solidFill>
              </a:rPr>
              <a:t>。</a:t>
            </a:r>
            <a:r>
              <a:rPr lang="zh-CN" altLang="en-US" b="1" i="0" dirty="0" smtClean="0"/>
              <a:t>需</a:t>
            </a:r>
            <a:r>
              <a:rPr lang="zh-CN" altLang="en-US" b="1" i="0" dirty="0"/>
              <a:t>注意的是</a:t>
            </a:r>
            <a:r>
              <a:rPr lang="zh-CN" altLang="en-US" b="1" i="0" dirty="0" smtClean="0"/>
              <a:t>，所</a:t>
            </a:r>
            <a:r>
              <a:rPr lang="zh-CN" altLang="en-US" b="1" i="0" dirty="0"/>
              <a:t>输入的命令并不在屏幕上显示</a:t>
            </a:r>
            <a:r>
              <a:rPr lang="zh-CN" altLang="en-US" b="1" i="0" dirty="0" smtClean="0"/>
              <a:t>出来。 </a:t>
            </a:r>
            <a:endParaRPr lang="zh-CN" altLang="en-US" b="1" i="0" dirty="0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343422" y="1923678"/>
            <a:ext cx="7498080" cy="49721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altLang="zh-CN" sz="2000" dirty="0" smtClean="0">
                <a:solidFill>
                  <a:srgbClr val="CC0099"/>
                </a:solidFill>
              </a:rPr>
              <a:t>2. </a:t>
            </a:r>
            <a:r>
              <a:rPr lang="zh-CN" altLang="en-US" sz="2000" dirty="0" smtClean="0">
                <a:solidFill>
                  <a:srgbClr val="CC0099"/>
                </a:solidFill>
              </a:rPr>
              <a:t>文本输入模式</a:t>
            </a:r>
            <a:endParaRPr lang="zh-CN" altLang="zh-CN" sz="2000" dirty="0" smtClean="0"/>
          </a:p>
        </p:txBody>
      </p:sp>
      <p:sp>
        <p:nvSpPr>
          <p:cNvPr id="7" name="Rectangle 3"/>
          <p:cNvSpPr>
            <a:spLocks noGrp="1" noChangeArrowheads="1"/>
          </p:cNvSpPr>
          <p:nvPr>
            <p:ph idx="1"/>
          </p:nvPr>
        </p:nvSpPr>
        <p:spPr>
          <a:xfrm>
            <a:off x="355606" y="2420888"/>
            <a:ext cx="8568952" cy="634741"/>
          </a:xfrm>
          <a:gradFill flip="none" rotWithShape="1">
            <a:gsLst>
              <a:gs pos="0">
                <a:srgbClr val="FFC000">
                  <a:tint val="66000"/>
                  <a:satMod val="160000"/>
                </a:srgbClr>
              </a:gs>
              <a:gs pos="50000">
                <a:srgbClr val="FFC000">
                  <a:tint val="44500"/>
                  <a:satMod val="160000"/>
                </a:srgbClr>
              </a:gs>
              <a:gs pos="100000">
                <a:srgbClr val="FFC000">
                  <a:tint val="23500"/>
                  <a:satMod val="160000"/>
                </a:srgbClr>
              </a:gs>
            </a:gsLst>
            <a:lin ang="8100000" scaled="1"/>
            <a:tileRect/>
          </a:gradFill>
        </p:spPr>
        <p:txBody>
          <a:bodyPr>
            <a:noAutofit/>
          </a:bodyPr>
          <a:lstStyle/>
          <a:p>
            <a:pPr marL="0" indent="0" eaLnBrk="1" hangingPunct="1">
              <a:lnSpc>
                <a:spcPct val="130000"/>
              </a:lnSpc>
              <a:spcBef>
                <a:spcPts val="0"/>
              </a:spcBef>
              <a:buNone/>
              <a:defRPr/>
            </a:pPr>
            <a:r>
              <a:rPr lang="zh-CN" altLang="en-US" sz="1800" b="1" dirty="0" smtClean="0"/>
              <a:t>在该模式下，用户输入的任何字符都被</a:t>
            </a:r>
            <a:r>
              <a:rPr lang="en-US" altLang="zh-CN" sz="1800" b="1" dirty="0" smtClean="0"/>
              <a:t>vi</a:t>
            </a:r>
            <a:r>
              <a:rPr lang="zh-CN" altLang="en-US" sz="1800" b="1" dirty="0" smtClean="0"/>
              <a:t>当作文件内容保存起来，并将其显示在屏幕上。</a:t>
            </a:r>
            <a:endParaRPr lang="zh-CN" altLang="en-US" sz="1800" b="1" dirty="0" smtClean="0"/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343422" y="3115233"/>
            <a:ext cx="7498080" cy="49721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300" kern="120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000" dirty="0" smtClean="0">
                <a:solidFill>
                  <a:srgbClr val="CC0099"/>
                </a:solidFill>
              </a:rPr>
              <a:t>3. </a:t>
            </a:r>
            <a:r>
              <a:rPr lang="zh-CN" altLang="en-US" sz="2000" dirty="0" smtClean="0">
                <a:solidFill>
                  <a:srgbClr val="CC0099"/>
                </a:solidFill>
              </a:rPr>
              <a:t>末行命令模式</a:t>
            </a:r>
            <a:endParaRPr lang="zh-CN" altLang="zh-CN" sz="2000" dirty="0" smtClean="0"/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343422" y="3602702"/>
            <a:ext cx="8496944" cy="1187686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  <a:tint val="66000"/>
                  <a:satMod val="160000"/>
                </a:schemeClr>
              </a:gs>
              <a:gs pos="50000">
                <a:schemeClr val="accent1">
                  <a:lumMod val="40000"/>
                  <a:lumOff val="60000"/>
                  <a:tint val="44500"/>
                  <a:satMod val="160000"/>
                </a:schemeClr>
              </a:gs>
              <a:gs pos="100000">
                <a:schemeClr val="accent1">
                  <a:lumMod val="40000"/>
                  <a:lumOff val="60000"/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>
            <a:normAutofit/>
          </a:bodyPr>
          <a:lstStyle>
            <a:lvl1pPr marL="365760" indent="-28321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/>
              <a:buChar char="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37490" algn="l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 panose="020B0604030504040204"/>
              <a:buChar char="◦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87095" indent="-22860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 panose="05020102010507070707"/>
              <a:buChar char="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17399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575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0876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8945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425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spcBef>
                <a:spcPts val="0"/>
              </a:spcBef>
              <a:buNone/>
              <a:defRPr/>
            </a:pPr>
            <a:r>
              <a:rPr lang="zh-CN" altLang="en-US" sz="1800" b="1" dirty="0"/>
              <a:t> </a:t>
            </a:r>
            <a:r>
              <a:rPr lang="zh-CN" altLang="en-US" sz="1800" b="1" dirty="0" smtClean="0"/>
              <a:t>    在命令模式下输入冒号</a:t>
            </a:r>
            <a:r>
              <a:rPr lang="zh-CN" altLang="en-US" sz="1800" b="1" dirty="0" smtClean="0">
                <a:latin typeface="Arial" panose="020B0604020202020204" pitchFamily="34" charset="0"/>
              </a:rPr>
              <a:t>“</a:t>
            </a:r>
            <a:r>
              <a:rPr lang="zh-CN" altLang="en-US" sz="1800" b="1" dirty="0" smtClean="0">
                <a:solidFill>
                  <a:srgbClr val="0000FF"/>
                </a:solidFill>
              </a:rPr>
              <a:t>：</a:t>
            </a:r>
            <a:r>
              <a:rPr lang="zh-CN" altLang="en-US" sz="1800" b="1" dirty="0" smtClean="0">
                <a:latin typeface="Arial" panose="020B0604020202020204" pitchFamily="34" charset="0"/>
              </a:rPr>
              <a:t>”</a:t>
            </a:r>
            <a:r>
              <a:rPr lang="zh-CN" altLang="en-US" sz="1800" b="1" dirty="0" smtClean="0"/>
              <a:t>便进入末行命令模式，主要用于</a:t>
            </a:r>
            <a:r>
              <a:rPr lang="zh-CN" altLang="en-US" sz="1800" b="1" dirty="0" smtClean="0">
                <a:solidFill>
                  <a:srgbClr val="0000FF"/>
                </a:solidFill>
              </a:rPr>
              <a:t>输入保存和退出命令。</a:t>
            </a:r>
            <a:r>
              <a:rPr lang="zh-CN" altLang="en-US" sz="1800" b="1" dirty="0" smtClean="0"/>
              <a:t>与命令模式下的隐式命令不同的是，末行命令是</a:t>
            </a:r>
            <a:r>
              <a:rPr lang="zh-CN" altLang="en-US" sz="1800" b="1" dirty="0" smtClean="0">
                <a:solidFill>
                  <a:srgbClr val="0000FF"/>
                </a:solidFill>
              </a:rPr>
              <a:t>显式命令，且按回车键结束。</a:t>
            </a:r>
            <a:r>
              <a:rPr lang="zh-CN" altLang="en-US" sz="1800" b="1" dirty="0" smtClean="0"/>
              <a:t>末行命令执行完后，</a:t>
            </a:r>
            <a:r>
              <a:rPr lang="en-US" altLang="zh-CN" sz="1800" b="1" dirty="0" smtClean="0"/>
              <a:t>vi</a:t>
            </a:r>
            <a:r>
              <a:rPr lang="zh-CN" altLang="en-US" sz="1800" b="1" dirty="0" smtClean="0"/>
              <a:t>自动回到命令模式。 </a:t>
            </a:r>
            <a:endParaRPr lang="zh-CN" altLang="en-US" sz="1800" b="1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 build="p"/>
      <p:bldP spid="9" grpId="0" animBg="1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>
          <a:xfrm>
            <a:off x="539552" y="483518"/>
            <a:ext cx="7793037" cy="448493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sz="2000" dirty="0" smtClean="0"/>
              <a:t>文本输入命令</a:t>
            </a:r>
            <a:r>
              <a:rPr lang="zh-CN" altLang="en-US" sz="2000" dirty="0" smtClean="0">
                <a:solidFill>
                  <a:srgbClr val="CC0099"/>
                </a:solidFill>
              </a:rPr>
              <a:t>（隐式命令）</a:t>
            </a:r>
            <a:endParaRPr lang="zh-CN" altLang="en-US" sz="2000" dirty="0" smtClean="0">
              <a:solidFill>
                <a:srgbClr val="CC0099"/>
              </a:solidFill>
            </a:endParaRPr>
          </a:p>
        </p:txBody>
      </p:sp>
      <p:graphicFrame>
        <p:nvGraphicFramePr>
          <p:cNvPr id="678952" name="Group 40"/>
          <p:cNvGraphicFramePr>
            <a:graphicFrameLocks noGrp="1"/>
          </p:cNvGraphicFramePr>
          <p:nvPr>
            <p:ph type="tbl" idx="1"/>
          </p:nvPr>
        </p:nvGraphicFramePr>
        <p:xfrm>
          <a:off x="1907704" y="1059582"/>
          <a:ext cx="5040312" cy="2753918"/>
        </p:xfrm>
        <a:graphic>
          <a:graphicData uri="http://schemas.openxmlformats.org/drawingml/2006/table">
            <a:tbl>
              <a:tblPr/>
              <a:tblGrid>
                <a:gridCol w="1238250"/>
                <a:gridCol w="3802062"/>
              </a:tblGrid>
              <a:tr h="38695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1" u="none" strike="noStrike" cap="none" normalizeH="0" baseline="0" smtClean="0">
                          <a:ln>
                            <a:noFill/>
                          </a:ln>
                          <a:solidFill>
                            <a:srgbClr val="FF00FF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命令</a:t>
                      </a:r>
                      <a:endParaRPr kumimoji="0" lang="zh-CN" altLang="en-US" sz="1800" b="1" i="1" u="none" strike="noStrike" cap="none" normalizeH="0" baseline="0" smtClean="0">
                        <a:ln>
                          <a:noFill/>
                        </a:ln>
                        <a:solidFill>
                          <a:srgbClr val="FF00FF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1" u="none" strike="noStrike" cap="none" normalizeH="0" baseline="0" smtClean="0">
                          <a:ln>
                            <a:noFill/>
                          </a:ln>
                          <a:solidFill>
                            <a:srgbClr val="FF00FF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功　能</a:t>
                      </a:r>
                      <a:endParaRPr kumimoji="0" lang="zh-CN" altLang="en-US" sz="1800" b="1" i="1" u="none" strike="noStrike" cap="none" normalizeH="0" baseline="0" smtClean="0">
                        <a:ln>
                          <a:noFill/>
                        </a:ln>
                        <a:solidFill>
                          <a:srgbClr val="FF00FF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290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CC0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CC00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在光标后附加文本</a:t>
                      </a: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52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在本行行末附加文本</a:t>
                      </a: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52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CC0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i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CC00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在光标前插入文本</a:t>
                      </a: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52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I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在本行行首插入文本</a:t>
                      </a: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290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o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在光标下插入新行</a:t>
                      </a: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52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O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在光标上插入新行</a:t>
                      </a:r>
                      <a:endParaRPr kumimoji="0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4782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15E515F4-5CD3-4B99-A014-957C25A85986}" type="slidenum">
              <a:rPr lang="en-US" altLang="zh-CN" sz="1400" b="0"/>
            </a:fld>
            <a:endParaRPr lang="en-US" altLang="zh-CN" sz="1400" b="0"/>
          </a:p>
        </p:txBody>
      </p:sp>
      <p:sp>
        <p:nvSpPr>
          <p:cNvPr id="74781" name="Text Box 41"/>
          <p:cNvSpPr txBox="1">
            <a:spLocks noChangeArrowheads="1"/>
          </p:cNvSpPr>
          <p:nvPr/>
        </p:nvSpPr>
        <p:spPr bwMode="auto">
          <a:xfrm>
            <a:off x="1331640" y="3939902"/>
            <a:ext cx="59055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dirty="0">
                <a:ea typeface="楷体_GB2312" pitchFamily="49" charset="-122"/>
              </a:rPr>
              <a:t>★</a:t>
            </a:r>
            <a:r>
              <a:rPr lang="zh-CN" altLang="en-US" dirty="0">
                <a:ea typeface="楷体_GB2312" pitchFamily="49" charset="-122"/>
              </a:rPr>
              <a:t>输入这些命令将进入文本输入模式</a:t>
            </a:r>
            <a:endParaRPr lang="zh-CN" altLang="en-US" dirty="0">
              <a:ea typeface="楷体_GB2312" pitchFamily="49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>
          <a:xfrm>
            <a:off x="1043608" y="483518"/>
            <a:ext cx="7793037" cy="557758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sz="2000" dirty="0" smtClean="0"/>
              <a:t>搜索命令</a:t>
            </a:r>
            <a:endParaRPr lang="zh-CN" altLang="en-US" sz="2000" dirty="0" smtClean="0"/>
          </a:p>
        </p:txBody>
      </p:sp>
      <p:graphicFrame>
        <p:nvGraphicFramePr>
          <p:cNvPr id="709658" name="Group 26"/>
          <p:cNvGraphicFramePr>
            <a:graphicFrameLocks noGrp="1"/>
          </p:cNvGraphicFramePr>
          <p:nvPr>
            <p:ph type="tbl" idx="1"/>
          </p:nvPr>
        </p:nvGraphicFramePr>
        <p:xfrm>
          <a:off x="1043608" y="1203598"/>
          <a:ext cx="6702425" cy="2743326"/>
        </p:xfrm>
        <a:graphic>
          <a:graphicData uri="http://schemas.openxmlformats.org/drawingml/2006/table">
            <a:tbl>
              <a:tblPr/>
              <a:tblGrid>
                <a:gridCol w="1416050"/>
                <a:gridCol w="5286375"/>
              </a:tblGrid>
              <a:tr h="41068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1" u="none" strike="noStrike" cap="none" normalizeH="0" baseline="0" smtClean="0">
                          <a:ln>
                            <a:noFill/>
                          </a:ln>
                          <a:solidFill>
                            <a:srgbClr val="FF00FF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命令</a:t>
                      </a:r>
                      <a:endParaRPr kumimoji="0" lang="zh-CN" altLang="en-US" sz="1800" b="1" i="1" u="none" strike="noStrike" cap="none" normalizeH="0" baseline="0" smtClean="0">
                        <a:ln>
                          <a:noFill/>
                        </a:ln>
                        <a:solidFill>
                          <a:srgbClr val="FF00FF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34283" marB="3428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1" u="none" strike="noStrike" cap="none" normalizeH="0" baseline="0" smtClean="0">
                          <a:ln>
                            <a:noFill/>
                          </a:ln>
                          <a:solidFill>
                            <a:srgbClr val="FF00FF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功　能</a:t>
                      </a:r>
                      <a:endParaRPr kumimoji="0" lang="zh-CN" altLang="en-US" sz="1800" b="1" i="1" u="none" strike="noStrike" cap="none" normalizeH="0" baseline="0" smtClean="0">
                        <a:ln>
                          <a:noFill/>
                        </a:ln>
                        <a:solidFill>
                          <a:srgbClr val="FF00FF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34283" marB="342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306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/</a:t>
                      </a: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str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34283" marB="3428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从光标处向后搜索字符串</a:t>
                      </a: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str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34283" marB="342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949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?</a:t>
                      </a: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str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34283" marB="3428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从光标处向前搜索字符串</a:t>
                      </a: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str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34283" marB="342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2069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n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34283" marB="3428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重复上一搜索操作</a:t>
                      </a: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34283" marB="342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9012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N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34283" marB="3428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反方向重复上一搜索操作</a:t>
                      </a: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34283" marB="342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9012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\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34283" marB="3428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转义特殊字符*</a:t>
                      </a: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^$[ /\|</a:t>
                      </a:r>
                      <a:endParaRPr kumimoji="0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34283" marB="342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6826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2B07CE6B-B4E8-4AB3-9FCC-7E6140C8EA97}" type="slidenum">
              <a:rPr lang="en-US" altLang="zh-CN" sz="1400" b="0"/>
            </a:fld>
            <a:endParaRPr lang="en-US" altLang="zh-CN" sz="1400" b="0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30"/>
          <p:cNvSpPr>
            <a:spLocks noGrp="1" noChangeArrowheads="1"/>
          </p:cNvSpPr>
          <p:nvPr>
            <p:ph type="title"/>
          </p:nvPr>
        </p:nvSpPr>
        <p:spPr>
          <a:xfrm>
            <a:off x="1115616" y="483518"/>
            <a:ext cx="7793037" cy="557758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sz="2000" dirty="0" smtClean="0"/>
              <a:t>删除命令</a:t>
            </a:r>
            <a:endParaRPr lang="zh-CN" altLang="en-US" sz="2000" dirty="0" smtClean="0"/>
          </a:p>
        </p:txBody>
      </p:sp>
      <p:graphicFrame>
        <p:nvGraphicFramePr>
          <p:cNvPr id="681988" name="Group 4"/>
          <p:cNvGraphicFramePr>
            <a:graphicFrameLocks noGrp="1"/>
          </p:cNvGraphicFramePr>
          <p:nvPr>
            <p:ph type="tbl" idx="1"/>
          </p:nvPr>
        </p:nvGraphicFramePr>
        <p:xfrm>
          <a:off x="1182688" y="1513285"/>
          <a:ext cx="6773862" cy="3086101"/>
        </p:xfrm>
        <a:graphic>
          <a:graphicData uri="http://schemas.openxmlformats.org/drawingml/2006/table">
            <a:tbl>
              <a:tblPr/>
              <a:tblGrid>
                <a:gridCol w="2039937"/>
                <a:gridCol w="4733925"/>
              </a:tblGrid>
              <a:tr h="44172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1" u="none" strike="noStrike" cap="none" normalizeH="0" baseline="0" smtClean="0">
                          <a:ln>
                            <a:noFill/>
                          </a:ln>
                          <a:solidFill>
                            <a:srgbClr val="FF00FF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命令</a:t>
                      </a:r>
                      <a:endParaRPr kumimoji="0" lang="zh-CN" altLang="en-US" sz="1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1" u="none" strike="noStrike" cap="none" normalizeH="0" baseline="0" smtClean="0">
                          <a:ln>
                            <a:noFill/>
                          </a:ln>
                          <a:solidFill>
                            <a:srgbClr val="FF00FF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功　能</a:t>
                      </a:r>
                      <a:endParaRPr kumimoji="0" lang="zh-CN" altLang="en-US" sz="1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93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、</a:t>
                      </a: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x</a:t>
                      </a:r>
                      <a:endParaRPr kumimoji="0" lang="en-US" altLang="zh-CN" sz="1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前／后删除一个字符</a:t>
                      </a:r>
                      <a:endParaRPr kumimoji="0" lang="zh-CN" altLang="en-US" sz="1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172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n</a:t>
                      </a: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x</a:t>
                      </a:r>
                      <a:endParaRPr kumimoji="0" lang="en-US" altLang="zh-CN" sz="1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删除光标所在处后</a:t>
                      </a: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n</a:t>
                      </a: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个字符</a:t>
                      </a: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053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dd</a:t>
                      </a:r>
                      <a:endParaRPr kumimoji="0" lang="en-US" altLang="zh-CN" sz="1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删除光标所在行，</a:t>
                      </a: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n</a:t>
                      </a: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dd</a:t>
                      </a: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删除</a:t>
                      </a: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n</a:t>
                      </a: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行</a:t>
                      </a: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172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dG</a:t>
                      </a:r>
                      <a:endParaRPr kumimoji="0" lang="en-US" altLang="zh-CN" sz="1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删除光标所在行到末尾</a:t>
                      </a: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93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1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删除光标所在处到行末的内容</a:t>
                      </a: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172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DDDDDD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:n1,n2d</a:t>
                      </a:r>
                      <a:endParaRPr kumimoji="0" lang="en-US" altLang="zh-CN" sz="1400" b="0" i="1" u="none" strike="noStrike" cap="none" normalizeH="0" baseline="0" smtClean="0">
                        <a:ln>
                          <a:noFill/>
                        </a:ln>
                        <a:solidFill>
                          <a:srgbClr val="DDDDDD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DDDDDD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删除指定范围的内容</a:t>
                      </a: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DDDDDD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1949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A828C2E8-DC25-430A-9F85-5EB37F8FAC1B}" type="slidenum">
              <a:rPr lang="en-US" altLang="zh-CN" sz="1400" b="0"/>
            </a:fld>
            <a:endParaRPr lang="en-US" altLang="zh-CN" sz="1400" b="0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>
          <a:xfrm>
            <a:off x="971600" y="339502"/>
            <a:ext cx="7793037" cy="629766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sz="2000" dirty="0" smtClean="0"/>
              <a:t>复制与剪切命令</a:t>
            </a:r>
            <a:endParaRPr lang="zh-CN" altLang="en-US" sz="2000" dirty="0" smtClean="0"/>
          </a:p>
        </p:txBody>
      </p:sp>
      <p:graphicFrame>
        <p:nvGraphicFramePr>
          <p:cNvPr id="680994" name="Group 34"/>
          <p:cNvGraphicFramePr>
            <a:graphicFrameLocks noGrp="1"/>
          </p:cNvGraphicFramePr>
          <p:nvPr>
            <p:ph type="tbl" idx="1"/>
          </p:nvPr>
        </p:nvGraphicFramePr>
        <p:xfrm>
          <a:off x="1187624" y="1203598"/>
          <a:ext cx="6557963" cy="3086101"/>
        </p:xfrm>
        <a:graphic>
          <a:graphicData uri="http://schemas.openxmlformats.org/drawingml/2006/table">
            <a:tbl>
              <a:tblPr/>
              <a:tblGrid>
                <a:gridCol w="1655763"/>
                <a:gridCol w="4902200"/>
              </a:tblGrid>
              <a:tr h="44172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1" u="none" strike="noStrike" cap="none" normalizeH="0" baseline="0" smtClean="0">
                          <a:ln>
                            <a:noFill/>
                          </a:ln>
                          <a:solidFill>
                            <a:srgbClr val="FF00FF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命令</a:t>
                      </a:r>
                      <a:endParaRPr kumimoji="0" lang="zh-CN" altLang="en-US" sz="1800" b="1" i="1" u="none" strike="noStrike" cap="none" normalizeH="0" baseline="0" smtClean="0">
                        <a:ln>
                          <a:noFill/>
                        </a:ln>
                        <a:solidFill>
                          <a:srgbClr val="FF00FF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1" u="none" strike="noStrike" cap="none" normalizeH="0" baseline="0" smtClean="0">
                          <a:ln>
                            <a:noFill/>
                          </a:ln>
                          <a:solidFill>
                            <a:srgbClr val="FF00FF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功　能</a:t>
                      </a:r>
                      <a:endParaRPr kumimoji="0" lang="zh-CN" altLang="en-US" sz="1800" b="1" i="1" u="none" strike="noStrike" cap="none" normalizeH="0" baseline="0" smtClean="0">
                        <a:ln>
                          <a:noFill/>
                        </a:ln>
                        <a:solidFill>
                          <a:srgbClr val="FF00FF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934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yy</a:t>
                      </a: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、</a:t>
                      </a: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Y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复制当前行</a:t>
                      </a: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172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n</a:t>
                      </a: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yy</a:t>
                      </a: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、</a:t>
                      </a: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n</a:t>
                      </a: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Y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复制当前行以下</a:t>
                      </a: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n</a:t>
                      </a: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行</a:t>
                      </a: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05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dd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剪切当前行</a:t>
                      </a: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172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n</a:t>
                      </a: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dd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剪切当前行以下</a:t>
                      </a: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n</a:t>
                      </a: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行</a:t>
                      </a: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934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p</a:t>
                      </a: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、</a:t>
                      </a: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P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粘贴在当前光标所在行下或行上</a:t>
                      </a: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172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5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2973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59644DF8-F8B5-42DE-AA17-F850EBCAB8E4}" type="slidenum">
              <a:rPr lang="en-US" altLang="zh-CN" sz="1400" b="0"/>
            </a:fld>
            <a:endParaRPr lang="en-US" altLang="zh-CN" sz="1400" b="0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>
          <a:xfrm>
            <a:off x="1043608" y="483518"/>
            <a:ext cx="7793037" cy="557758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sz="2000" dirty="0" smtClean="0"/>
              <a:t>保存与退出命令</a:t>
            </a:r>
            <a:r>
              <a:rPr lang="zh-CN" altLang="en-US" sz="2000" dirty="0" smtClean="0">
                <a:solidFill>
                  <a:srgbClr val="CC0099"/>
                </a:solidFill>
              </a:rPr>
              <a:t>（末行命令）</a:t>
            </a:r>
            <a:endParaRPr lang="zh-CN" altLang="en-US" sz="2000" dirty="0" smtClean="0">
              <a:solidFill>
                <a:srgbClr val="CC0099"/>
              </a:solidFill>
            </a:endParaRPr>
          </a:p>
        </p:txBody>
      </p:sp>
      <p:graphicFrame>
        <p:nvGraphicFramePr>
          <p:cNvPr id="695334" name="Group 38"/>
          <p:cNvGraphicFramePr>
            <a:graphicFrameLocks noGrp="1"/>
          </p:cNvGraphicFramePr>
          <p:nvPr>
            <p:ph type="tbl" idx="1"/>
          </p:nvPr>
        </p:nvGraphicFramePr>
        <p:xfrm>
          <a:off x="1187450" y="1491854"/>
          <a:ext cx="7488238" cy="2471739"/>
        </p:xfrm>
        <a:graphic>
          <a:graphicData uri="http://schemas.openxmlformats.org/drawingml/2006/table">
            <a:tbl>
              <a:tblPr/>
              <a:tblGrid>
                <a:gridCol w="2160588"/>
                <a:gridCol w="5327650"/>
              </a:tblGrid>
              <a:tr h="441722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1" u="none" strike="noStrike" cap="none" normalizeH="0" baseline="0" smtClean="0">
                          <a:ln>
                            <a:noFill/>
                          </a:ln>
                          <a:solidFill>
                            <a:srgbClr val="FF00FF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命令</a:t>
                      </a:r>
                      <a:endParaRPr kumimoji="0" lang="zh-CN" altLang="en-US" sz="1800" b="1" i="1" u="none" strike="noStrike" cap="none" normalizeH="0" baseline="0" smtClean="0">
                        <a:ln>
                          <a:noFill/>
                        </a:ln>
                        <a:solidFill>
                          <a:srgbClr val="FF00FF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1" u="none" strike="noStrike" cap="none" normalizeH="0" baseline="0" smtClean="0">
                          <a:ln>
                            <a:noFill/>
                          </a:ln>
                          <a:solidFill>
                            <a:srgbClr val="FF00FF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功　能</a:t>
                      </a:r>
                      <a:endParaRPr kumimoji="0" lang="zh-CN" altLang="en-US" sz="1800" b="1" i="1" u="none" strike="noStrike" cap="none" normalizeH="0" baseline="0" smtClean="0">
                        <a:ln>
                          <a:noFill/>
                        </a:ln>
                        <a:solidFill>
                          <a:srgbClr val="FF00FF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790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w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保存修改</a:t>
                      </a: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076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w</a:t>
                      </a: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 filename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另存为</a:t>
                      </a: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053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wq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保存并退出</a:t>
                      </a: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1722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q!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放弃修改并退出</a:t>
                      </a: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91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Ctrl+Z</a:t>
                      </a:r>
                      <a:endParaRPr kumimoji="0" lang="en-US" altLang="zh-CN" sz="1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（快捷键）保存并退出</a:t>
                      </a: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5018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45E6EBB4-70A2-4327-AE07-DC72770E738E}" type="slidenum">
              <a:rPr lang="en-US" altLang="zh-CN" sz="1400" b="0"/>
            </a:fld>
            <a:endParaRPr lang="en-US" altLang="zh-CN" sz="1400" b="0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 txBox="1"/>
          <p:nvPr/>
        </p:nvSpPr>
        <p:spPr>
          <a:xfrm>
            <a:off x="480874" y="483518"/>
            <a:ext cx="8352928" cy="3456384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365760" indent="-28321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/>
              <a:buChar char="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37490" algn="l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 panose="020B0604030504040204"/>
              <a:buChar char="◦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87095" indent="-22860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 panose="05020102010507070707"/>
              <a:buChar char="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17399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575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0876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8945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425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2550" indent="0">
              <a:buFont typeface="Wingdings 2" panose="05020102010507070707"/>
              <a:buNone/>
            </a:pPr>
            <a:r>
              <a:rPr lang="zh-CN" altLang="en-US" dirty="0" smtClean="0"/>
              <a:t>练习四     </a:t>
            </a:r>
            <a:r>
              <a:rPr lang="en-US" altLang="zh-CN" dirty="0" smtClean="0"/>
              <a:t>vi</a:t>
            </a:r>
            <a:r>
              <a:rPr lang="zh-CN" altLang="en-US" dirty="0" smtClean="0"/>
              <a:t>练习</a:t>
            </a:r>
            <a:endParaRPr lang="en-US" altLang="zh-CN" dirty="0" smtClean="0"/>
          </a:p>
          <a:p>
            <a:pPr marL="82550" indent="0">
              <a:buFont typeface="Wingdings 2" panose="05020102010507070707"/>
              <a:buNone/>
            </a:pPr>
            <a:endParaRPr lang="en-US" altLang="zh-CN" dirty="0" smtClean="0"/>
          </a:p>
          <a:p>
            <a:pPr marL="82550" indent="0">
              <a:lnSpc>
                <a:spcPct val="110000"/>
              </a:lnSpc>
              <a:buFont typeface="Wingdings 2" panose="05020102010507070707"/>
              <a:buNone/>
            </a:pPr>
            <a:r>
              <a:rPr lang="zh-CN" altLang="zh-CN" sz="2400" dirty="0" smtClean="0"/>
              <a:t>以</a:t>
            </a:r>
            <a:r>
              <a:rPr lang="en-US" altLang="zh-CN" sz="2400" dirty="0" smtClean="0"/>
              <a:t>root</a:t>
            </a:r>
            <a:r>
              <a:rPr lang="zh-CN" altLang="zh-CN" sz="2400" dirty="0" smtClean="0"/>
              <a:t>用户名登录</a:t>
            </a:r>
            <a:r>
              <a:rPr lang="en-US" altLang="zh-CN" sz="2400" dirty="0" err="1" smtClean="0"/>
              <a:t>linux</a:t>
            </a:r>
            <a:r>
              <a:rPr lang="zh-CN" altLang="zh-CN" sz="2400" dirty="0" smtClean="0"/>
              <a:t>系统，进行以下操作：</a:t>
            </a:r>
            <a:endParaRPr lang="en-US" altLang="zh-CN" sz="2400" dirty="0" smtClean="0"/>
          </a:p>
          <a:p>
            <a:pPr marL="82550" indent="0">
              <a:lnSpc>
                <a:spcPct val="110000"/>
              </a:lnSpc>
              <a:buFont typeface="Wingdings 2" panose="05020102010507070707"/>
              <a:buNone/>
            </a:pPr>
            <a:endParaRPr lang="en-US" altLang="zh-CN" sz="2400" dirty="0" smtClean="0"/>
          </a:p>
          <a:p>
            <a:pPr marL="0" indent="0">
              <a:lnSpc>
                <a:spcPct val="140000"/>
              </a:lnSpc>
              <a:buNone/>
            </a:pPr>
            <a:r>
              <a:rPr lang="en-US" altLang="zh-CN" sz="2400" dirty="0"/>
              <a:t>(</a:t>
            </a:r>
            <a:r>
              <a:rPr lang="en-US" altLang="zh-CN" sz="2400" dirty="0" smtClean="0"/>
              <a:t>1). </a:t>
            </a:r>
            <a:r>
              <a:rPr lang="zh-CN" altLang="en-US" sz="2400" dirty="0" smtClean="0"/>
              <a:t>用</a:t>
            </a:r>
            <a:r>
              <a:rPr lang="en-US" altLang="zh-CN" sz="2400" dirty="0"/>
              <a:t>vi</a:t>
            </a:r>
            <a:r>
              <a:rPr lang="zh-CN" altLang="en-US" sz="2400" dirty="0"/>
              <a:t>编辑器新建一个文件，并输入一些内容，保存并关闭文件。</a:t>
            </a:r>
            <a:endParaRPr lang="zh-CN" altLang="en-US" sz="2400" dirty="0"/>
          </a:p>
          <a:p>
            <a:pPr marL="0" indent="0">
              <a:lnSpc>
                <a:spcPct val="140000"/>
              </a:lnSpc>
              <a:buNone/>
            </a:pPr>
            <a:r>
              <a:rPr lang="en-US" altLang="zh-CN" sz="2400" dirty="0" smtClean="0"/>
              <a:t>(2). </a:t>
            </a:r>
            <a:r>
              <a:rPr lang="zh-CN" altLang="en-US" sz="2400" dirty="0" smtClean="0"/>
              <a:t>用</a:t>
            </a:r>
            <a:r>
              <a:rPr lang="en-US" altLang="zh-CN" sz="2400" dirty="0"/>
              <a:t>vi</a:t>
            </a:r>
            <a:r>
              <a:rPr lang="zh-CN" altLang="en-US" sz="2400" dirty="0"/>
              <a:t>编辑器打开刚才保存的文件</a:t>
            </a:r>
            <a:r>
              <a:rPr lang="zh-CN" altLang="en-US" sz="2400" dirty="0" smtClean="0"/>
              <a:t>，并</a:t>
            </a:r>
            <a:r>
              <a:rPr lang="zh-CN" altLang="en-US" sz="2400" dirty="0"/>
              <a:t>修改其中的一些内容，保存并关闭文件。</a:t>
            </a:r>
            <a:endParaRPr lang="zh-CN" altLang="en-US" sz="2400" dirty="0"/>
          </a:p>
          <a:p>
            <a:pPr marL="0" indent="0">
              <a:lnSpc>
                <a:spcPct val="140000"/>
              </a:lnSpc>
              <a:buNone/>
            </a:pPr>
            <a:r>
              <a:rPr lang="en-US" altLang="zh-CN" sz="2400" dirty="0" smtClean="0"/>
              <a:t>(3</a:t>
            </a:r>
            <a:r>
              <a:rPr lang="zh-CN" altLang="en-US" sz="2400" dirty="0" smtClean="0"/>
              <a:t>）用</a:t>
            </a:r>
            <a:r>
              <a:rPr lang="en-US" altLang="zh-CN" sz="2400" dirty="0"/>
              <a:t>vi</a:t>
            </a:r>
            <a:r>
              <a:rPr lang="zh-CN" altLang="en-US" sz="2400" dirty="0"/>
              <a:t>编辑器打开刚才保存的文件，将其中的一行内容复制到另一行的上面；再将其中连续两行内容剪切到另一行的下面，保存并关闭文件。</a:t>
            </a:r>
            <a:endParaRPr lang="zh-CN" altLang="en-US" sz="2400" dirty="0"/>
          </a:p>
          <a:p>
            <a:pPr marL="82550" indent="0">
              <a:buFont typeface="Wingdings 2" panose="05020102010507070707"/>
              <a:buNone/>
            </a:pPr>
            <a:endParaRPr lang="en-US" altLang="zh-CN" sz="2400" dirty="0" smtClean="0"/>
          </a:p>
          <a:p>
            <a:pPr marL="82550" indent="0">
              <a:buFont typeface="Wingdings 2" panose="05020102010507070707"/>
              <a:buNone/>
            </a:pPr>
            <a:endParaRPr lang="zh-CN" altLang="zh-CN" sz="2400" dirty="0" smtClean="0"/>
          </a:p>
          <a:p>
            <a:pPr marL="82550" indent="0">
              <a:buFont typeface="Wingdings 2" panose="05020102010507070707"/>
              <a:buNone/>
            </a:pPr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NewsPrint">
  <a:themeElements>
    <a:clrScheme name="NewsPrint">
      <a:dk1>
        <a:sysClr val="windowText" lastClr="000000"/>
      </a:dk1>
      <a:lt1>
        <a:sysClr val="window" lastClr="FFFFFF"/>
      </a:lt1>
      <a:dk2>
        <a:srgbClr val="303030"/>
      </a:dk2>
      <a:lt2>
        <a:srgbClr val="DEDEE0"/>
      </a:lt2>
      <a:accent1>
        <a:srgbClr val="AD0101"/>
      </a:accent1>
      <a:accent2>
        <a:srgbClr val="726056"/>
      </a:accent2>
      <a:accent3>
        <a:srgbClr val="AC956E"/>
      </a:accent3>
      <a:accent4>
        <a:srgbClr val="808DA9"/>
      </a:accent4>
      <a:accent5>
        <a:srgbClr val="424E5B"/>
      </a:accent5>
      <a:accent6>
        <a:srgbClr val="730E00"/>
      </a:accent6>
      <a:hlink>
        <a:srgbClr val="D26900"/>
      </a:hlink>
      <a:folHlink>
        <a:srgbClr val="D89243"/>
      </a:folHlink>
    </a:clrScheme>
    <a:fontScheme name="NewsPrint">
      <a:majorFont>
        <a:latin typeface="Impact"/>
        <a:ea typeface=""/>
        <a:cs typeface=""/>
        <a:font script="Jpan" typeface="HGP創英角ｺﾞｼｯｸUB"/>
        <a:font script="Hang" typeface="HY견고딕"/>
        <a:font script="Hans" typeface="微软雅黑"/>
        <a:font script="Hant" typeface="微軟正黑體"/>
        <a:font script="Arab" typeface="Tahoma"/>
        <a:font script="Hebr" typeface="To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NewsPrint">
      <a:fillStyleLst>
        <a:solidFill>
          <a:schemeClr val="phClr"/>
        </a:solidFill>
        <a:gradFill rotWithShape="1">
          <a:gsLst>
            <a:gs pos="0">
              <a:schemeClr val="phClr">
                <a:tint val="37000"/>
                <a:hueMod val="100000"/>
                <a:satMod val="200000"/>
                <a:lumMod val="88000"/>
              </a:schemeClr>
            </a:gs>
            <a:gs pos="100000">
              <a:schemeClr val="phClr">
                <a:tint val="53000"/>
                <a:shade val="100000"/>
                <a:hueMod val="100000"/>
                <a:satMod val="350000"/>
                <a:lumMod val="79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83000"/>
                <a:shade val="100000"/>
                <a:alpha val="100000"/>
                <a:hueMod val="100000"/>
                <a:satMod val="220000"/>
                <a:lumMod val="90000"/>
              </a:schemeClr>
            </a:gs>
            <a:gs pos="76000">
              <a:schemeClr val="phClr">
                <a:shade val="100000"/>
              </a:schemeClr>
            </a:gs>
            <a:gs pos="100000">
              <a:schemeClr val="phClr">
                <a:shade val="93000"/>
                <a:alpha val="100000"/>
                <a:satMod val="100000"/>
                <a:lumMod val="93000"/>
              </a:schemeClr>
            </a:gs>
          </a:gsLst>
          <a:path path="circle">
            <a:fillToRect l="15000" t="15000" r="100000" b="100000"/>
          </a:path>
        </a:gradFill>
      </a:fillStyleLst>
      <a:lnStyleLst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12700" dir="528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2700">
            <a:bevelT w="31750" h="127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3000"/>
              </a:schemeClr>
            </a:gs>
            <a:gs pos="100000">
              <a:schemeClr val="phClr">
                <a:shade val="55000"/>
              </a:schemeClr>
            </a:gs>
          </a:gsLst>
          <a:lin ang="5400000" scaled="1"/>
        </a:gradFill>
        <a:blipFill rotWithShape="1">
          <a:blip xmlns:r="http://schemas.openxmlformats.org/officeDocument/2006/relationships" r:embed="rId1">
            <a:duotone>
              <a:schemeClr val="phClr">
                <a:shade val="20000"/>
                <a:satMod val="350000"/>
                <a:lumMod val="125000"/>
              </a:schemeClr>
              <a:schemeClr val="phClr">
                <a:tint val="90000"/>
                <a:satMod val="250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Newsprint</Template>
  <TotalTime>0</TotalTime>
  <Words>9568</Words>
  <Application>WPS 演示</Application>
  <PresentationFormat>全屏显示(16:9)</PresentationFormat>
  <Paragraphs>743</Paragraphs>
  <Slides>58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58</vt:i4>
      </vt:variant>
    </vt:vector>
  </HeadingPairs>
  <TitlesOfParts>
    <vt:vector size="77" baseType="lpstr">
      <vt:lpstr>Arial</vt:lpstr>
      <vt:lpstr>宋体</vt:lpstr>
      <vt:lpstr>Wingdings</vt:lpstr>
      <vt:lpstr>黑体</vt:lpstr>
      <vt:lpstr>Wingdings 2</vt:lpstr>
      <vt:lpstr>Verdana</vt:lpstr>
      <vt:lpstr>华文隶书</vt:lpstr>
      <vt:lpstr>Times New Roman</vt:lpstr>
      <vt:lpstr>Impact</vt:lpstr>
      <vt:lpstr>微软雅黑</vt:lpstr>
      <vt:lpstr>Arial Unicode MS</vt:lpstr>
      <vt:lpstr>Calibri</vt:lpstr>
      <vt:lpstr>Arial Black</vt:lpstr>
      <vt:lpstr>楷体_GB2312</vt:lpstr>
      <vt:lpstr>新宋体</vt:lpstr>
      <vt:lpstr>Tahoma</vt:lpstr>
      <vt:lpstr>楷体_GB2312</vt:lpstr>
      <vt:lpstr>楷体_GB2312</vt:lpstr>
      <vt:lpstr>NewsPrint</vt:lpstr>
      <vt:lpstr>Linux操作系统基础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ls –l 显示的长格式说明：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1. 命令模式</vt:lpstr>
      <vt:lpstr>文本输入命令（隐式命令）</vt:lpstr>
      <vt:lpstr>搜索命令</vt:lpstr>
      <vt:lpstr>删除命令</vt:lpstr>
      <vt:lpstr>复制与剪切命令</vt:lpstr>
      <vt:lpstr>保存与退出命令（末行命令）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Linux操作系统基础</dc:title>
  <dc:creator>mabel</dc:creator>
  <cp:lastModifiedBy>hlw</cp:lastModifiedBy>
  <cp:revision>60</cp:revision>
  <dcterms:created xsi:type="dcterms:W3CDTF">2017-12-13T09:40:00Z</dcterms:created>
  <dcterms:modified xsi:type="dcterms:W3CDTF">2020-01-03T00:11:38Z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2052-11.1.0.9305</vt:lpwstr>
  </property>
</Properties>
</file>