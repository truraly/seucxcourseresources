
<file path=[Content_Types].xml><?xml version="1.0" encoding="utf-8"?>
<Types xmlns="http://schemas.openxmlformats.org/package/2006/content-types">
  <Default Extension="jpeg" ContentType="image/jpeg"/>
  <Default Extension="JPG" ContentType="image/.jpg"/>
  <Default Extension="vml" ContentType="application/vnd.openxmlformats-officedocument.vmlDrawing"/>
  <Default Extension="bin" ContentType="application/vnd.openxmlformats-officedocument.oleObject"/>
  <Default Extension="png" ContentType="image/png"/>
  <Default Extension="wmf" ContentType="image/x-wmf"/>
  <Default Extension="emf" ContentType="image/x-emf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tags/tag13.xml" ContentType="application/vnd.openxmlformats-officedocument.presentationml.tags+xml"/>
  <Override PartName="/ppt/tags/tag130.xml" ContentType="application/vnd.openxmlformats-officedocument.presentationml.tags+xml"/>
  <Override PartName="/ppt/tags/tag131.xml" ContentType="application/vnd.openxmlformats-officedocument.presentationml.tags+xml"/>
  <Override PartName="/ppt/tags/tag132.xml" ContentType="application/vnd.openxmlformats-officedocument.presentationml.tags+xml"/>
  <Override PartName="/ppt/tags/tag13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5"/>
  </p:notesMasterIdLst>
  <p:handoutMasterIdLst>
    <p:handoutMasterId r:id="rId88"/>
  </p:handoutMasterIdLst>
  <p:sldIdLst>
    <p:sldId id="257" r:id="rId3"/>
    <p:sldId id="258" r:id="rId4"/>
    <p:sldId id="330" r:id="rId5"/>
    <p:sldId id="331" r:id="rId6"/>
    <p:sldId id="332" r:id="rId7"/>
    <p:sldId id="333" r:id="rId8"/>
    <p:sldId id="334" r:id="rId9"/>
    <p:sldId id="335" r:id="rId10"/>
    <p:sldId id="260" r:id="rId11"/>
    <p:sldId id="336" r:id="rId12"/>
    <p:sldId id="438" r:id="rId13"/>
    <p:sldId id="259" r:id="rId14"/>
    <p:sldId id="261" r:id="rId16"/>
    <p:sldId id="433" r:id="rId17"/>
    <p:sldId id="262" r:id="rId18"/>
    <p:sldId id="263" r:id="rId19"/>
    <p:sldId id="264" r:id="rId20"/>
    <p:sldId id="443" r:id="rId21"/>
    <p:sldId id="265" r:id="rId22"/>
    <p:sldId id="266" r:id="rId23"/>
    <p:sldId id="267" r:id="rId24"/>
    <p:sldId id="275" r:id="rId25"/>
    <p:sldId id="273" r:id="rId26"/>
    <p:sldId id="434" r:id="rId27"/>
    <p:sldId id="268" r:id="rId28"/>
    <p:sldId id="274" r:id="rId29"/>
    <p:sldId id="270" r:id="rId30"/>
    <p:sldId id="281" r:id="rId31"/>
    <p:sldId id="271" r:id="rId32"/>
    <p:sldId id="276" r:id="rId33"/>
    <p:sldId id="292" r:id="rId34"/>
    <p:sldId id="444" r:id="rId35"/>
    <p:sldId id="269" r:id="rId36"/>
    <p:sldId id="280" r:id="rId37"/>
    <p:sldId id="448" r:id="rId38"/>
    <p:sldId id="279" r:id="rId39"/>
    <p:sldId id="304" r:id="rId40"/>
    <p:sldId id="305" r:id="rId41"/>
    <p:sldId id="337" r:id="rId42"/>
    <p:sldId id="445" r:id="rId43"/>
    <p:sldId id="446" r:id="rId44"/>
    <p:sldId id="447" r:id="rId45"/>
    <p:sldId id="277" r:id="rId46"/>
    <p:sldId id="435" r:id="rId47"/>
    <p:sldId id="291" r:id="rId48"/>
    <p:sldId id="439" r:id="rId49"/>
    <p:sldId id="285" r:id="rId50"/>
    <p:sldId id="384" r:id="rId51"/>
    <p:sldId id="405" r:id="rId52"/>
    <p:sldId id="409" r:id="rId53"/>
    <p:sldId id="455" r:id="rId54"/>
    <p:sldId id="406" r:id="rId55"/>
    <p:sldId id="407" r:id="rId56"/>
    <p:sldId id="410" r:id="rId57"/>
    <p:sldId id="289" r:id="rId58"/>
    <p:sldId id="290" r:id="rId59"/>
    <p:sldId id="440" r:id="rId60"/>
    <p:sldId id="288" r:id="rId61"/>
    <p:sldId id="287" r:id="rId62"/>
    <p:sldId id="441" r:id="rId63"/>
    <p:sldId id="286" r:id="rId64"/>
    <p:sldId id="284" r:id="rId65"/>
    <p:sldId id="449" r:id="rId66"/>
    <p:sldId id="283" r:id="rId67"/>
    <p:sldId id="295" r:id="rId68"/>
    <p:sldId id="442" r:id="rId69"/>
    <p:sldId id="296" r:id="rId70"/>
    <p:sldId id="453" r:id="rId71"/>
    <p:sldId id="294" r:id="rId72"/>
    <p:sldId id="454" r:id="rId73"/>
    <p:sldId id="297" r:id="rId74"/>
    <p:sldId id="301" r:id="rId75"/>
    <p:sldId id="303" r:id="rId76"/>
    <p:sldId id="300" r:id="rId77"/>
    <p:sldId id="450" r:id="rId78"/>
    <p:sldId id="451" r:id="rId79"/>
    <p:sldId id="282" r:id="rId80"/>
    <p:sldId id="298" r:id="rId81"/>
    <p:sldId id="299" r:id="rId82"/>
    <p:sldId id="452" r:id="rId83"/>
    <p:sldId id="306" r:id="rId84"/>
    <p:sldId id="310" r:id="rId85"/>
    <p:sldId id="437" r:id="rId86"/>
    <p:sldId id="307" r:id="rId87"/>
  </p:sldIdLst>
  <p:sldSz cx="12192000" cy="6858000"/>
  <p:notesSz cx="6889750" cy="10021570"/>
  <p:custDataLst>
    <p:tags r:id="rId92"/>
  </p:custData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254" userDrawn="1">
          <p15:clr>
            <a:srgbClr val="A4A3A4"/>
          </p15:clr>
        </p15:guide>
        <p15:guide id="2" pos="377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 showGuides="1">
      <p:cViewPr varScale="1">
        <p:scale>
          <a:sx n="110" d="100"/>
          <a:sy n="110" d="100"/>
        </p:scale>
        <p:origin x="630" y="102"/>
      </p:cViewPr>
      <p:guideLst>
        <p:guide orient="horz" pos="2254"/>
        <p:guide pos="3770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2" Type="http://schemas.openxmlformats.org/officeDocument/2006/relationships/tags" Target="tags/tag133.xml"/><Relationship Id="rId91" Type="http://schemas.openxmlformats.org/officeDocument/2006/relationships/tableStyles" Target="tableStyles.xml"/><Relationship Id="rId90" Type="http://schemas.openxmlformats.org/officeDocument/2006/relationships/viewProps" Target="viewProps.xml"/><Relationship Id="rId9" Type="http://schemas.openxmlformats.org/officeDocument/2006/relationships/slide" Target="slides/slide7.xml"/><Relationship Id="rId89" Type="http://schemas.openxmlformats.org/officeDocument/2006/relationships/presProps" Target="presProps.xml"/><Relationship Id="rId88" Type="http://schemas.openxmlformats.org/officeDocument/2006/relationships/handoutMaster" Target="handoutMasters/handoutMaster1.xml"/><Relationship Id="rId87" Type="http://schemas.openxmlformats.org/officeDocument/2006/relationships/slide" Target="slides/slide84.xml"/><Relationship Id="rId86" Type="http://schemas.openxmlformats.org/officeDocument/2006/relationships/slide" Target="slides/slide83.xml"/><Relationship Id="rId85" Type="http://schemas.openxmlformats.org/officeDocument/2006/relationships/slide" Target="slides/slide82.xml"/><Relationship Id="rId84" Type="http://schemas.openxmlformats.org/officeDocument/2006/relationships/slide" Target="slides/slide81.xml"/><Relationship Id="rId83" Type="http://schemas.openxmlformats.org/officeDocument/2006/relationships/slide" Target="slides/slide80.xml"/><Relationship Id="rId82" Type="http://schemas.openxmlformats.org/officeDocument/2006/relationships/slide" Target="slides/slide79.xml"/><Relationship Id="rId81" Type="http://schemas.openxmlformats.org/officeDocument/2006/relationships/slide" Target="slides/slide78.xml"/><Relationship Id="rId80" Type="http://schemas.openxmlformats.org/officeDocument/2006/relationships/slide" Target="slides/slide77.xml"/><Relationship Id="rId8" Type="http://schemas.openxmlformats.org/officeDocument/2006/relationships/slide" Target="slides/slide6.xml"/><Relationship Id="rId79" Type="http://schemas.openxmlformats.org/officeDocument/2006/relationships/slide" Target="slides/slide76.xml"/><Relationship Id="rId78" Type="http://schemas.openxmlformats.org/officeDocument/2006/relationships/slide" Target="slides/slide75.xml"/><Relationship Id="rId77" Type="http://schemas.openxmlformats.org/officeDocument/2006/relationships/slide" Target="slides/slide74.xml"/><Relationship Id="rId76" Type="http://schemas.openxmlformats.org/officeDocument/2006/relationships/slide" Target="slides/slide73.xml"/><Relationship Id="rId75" Type="http://schemas.openxmlformats.org/officeDocument/2006/relationships/slide" Target="slides/slide72.xml"/><Relationship Id="rId74" Type="http://schemas.openxmlformats.org/officeDocument/2006/relationships/slide" Target="slides/slide71.xml"/><Relationship Id="rId73" Type="http://schemas.openxmlformats.org/officeDocument/2006/relationships/slide" Target="slides/slide70.xml"/><Relationship Id="rId72" Type="http://schemas.openxmlformats.org/officeDocument/2006/relationships/slide" Target="slides/slide69.xml"/><Relationship Id="rId71" Type="http://schemas.openxmlformats.org/officeDocument/2006/relationships/slide" Target="slides/slide68.xml"/><Relationship Id="rId70" Type="http://schemas.openxmlformats.org/officeDocument/2006/relationships/slide" Target="slides/slide67.xml"/><Relationship Id="rId7" Type="http://schemas.openxmlformats.org/officeDocument/2006/relationships/slide" Target="slides/slide5.xml"/><Relationship Id="rId69" Type="http://schemas.openxmlformats.org/officeDocument/2006/relationships/slide" Target="slides/slide66.xml"/><Relationship Id="rId68" Type="http://schemas.openxmlformats.org/officeDocument/2006/relationships/slide" Target="slides/slide65.xml"/><Relationship Id="rId67" Type="http://schemas.openxmlformats.org/officeDocument/2006/relationships/slide" Target="slides/slide64.xml"/><Relationship Id="rId66" Type="http://schemas.openxmlformats.org/officeDocument/2006/relationships/slide" Target="slides/slide63.xml"/><Relationship Id="rId65" Type="http://schemas.openxmlformats.org/officeDocument/2006/relationships/slide" Target="slides/slide62.xml"/><Relationship Id="rId64" Type="http://schemas.openxmlformats.org/officeDocument/2006/relationships/slide" Target="slides/slide61.xml"/><Relationship Id="rId63" Type="http://schemas.openxmlformats.org/officeDocument/2006/relationships/slide" Target="slides/slide60.xml"/><Relationship Id="rId62" Type="http://schemas.openxmlformats.org/officeDocument/2006/relationships/slide" Target="slides/slide59.xml"/><Relationship Id="rId61" Type="http://schemas.openxmlformats.org/officeDocument/2006/relationships/slide" Target="slides/slide58.xml"/><Relationship Id="rId60" Type="http://schemas.openxmlformats.org/officeDocument/2006/relationships/slide" Target="slides/slide57.xml"/><Relationship Id="rId6" Type="http://schemas.openxmlformats.org/officeDocument/2006/relationships/slide" Target="slides/slide4.xml"/><Relationship Id="rId59" Type="http://schemas.openxmlformats.org/officeDocument/2006/relationships/slide" Target="slides/slide56.xml"/><Relationship Id="rId58" Type="http://schemas.openxmlformats.org/officeDocument/2006/relationships/slide" Target="slides/slide55.xml"/><Relationship Id="rId57" Type="http://schemas.openxmlformats.org/officeDocument/2006/relationships/slide" Target="slides/slide54.xml"/><Relationship Id="rId56" Type="http://schemas.openxmlformats.org/officeDocument/2006/relationships/slide" Target="slides/slide53.xml"/><Relationship Id="rId55" Type="http://schemas.openxmlformats.org/officeDocument/2006/relationships/slide" Target="slides/slide52.xml"/><Relationship Id="rId54" Type="http://schemas.openxmlformats.org/officeDocument/2006/relationships/slide" Target="slides/slide51.xml"/><Relationship Id="rId53" Type="http://schemas.openxmlformats.org/officeDocument/2006/relationships/slide" Target="slides/slide50.xml"/><Relationship Id="rId52" Type="http://schemas.openxmlformats.org/officeDocument/2006/relationships/slide" Target="slides/slide49.xml"/><Relationship Id="rId51" Type="http://schemas.openxmlformats.org/officeDocument/2006/relationships/slide" Target="slides/slide48.xml"/><Relationship Id="rId50" Type="http://schemas.openxmlformats.org/officeDocument/2006/relationships/slide" Target="slides/slide47.xml"/><Relationship Id="rId5" Type="http://schemas.openxmlformats.org/officeDocument/2006/relationships/slide" Target="slides/slide3.xml"/><Relationship Id="rId49" Type="http://schemas.openxmlformats.org/officeDocument/2006/relationships/slide" Target="slides/slide46.xml"/><Relationship Id="rId48" Type="http://schemas.openxmlformats.org/officeDocument/2006/relationships/slide" Target="slides/slide45.xml"/><Relationship Id="rId47" Type="http://schemas.openxmlformats.org/officeDocument/2006/relationships/slide" Target="slides/slide44.xml"/><Relationship Id="rId46" Type="http://schemas.openxmlformats.org/officeDocument/2006/relationships/slide" Target="slides/slide43.xml"/><Relationship Id="rId45" Type="http://schemas.openxmlformats.org/officeDocument/2006/relationships/slide" Target="slides/slide42.xml"/><Relationship Id="rId44" Type="http://schemas.openxmlformats.org/officeDocument/2006/relationships/slide" Target="slides/slide41.xml"/><Relationship Id="rId43" Type="http://schemas.openxmlformats.org/officeDocument/2006/relationships/slide" Target="slides/slide40.xml"/><Relationship Id="rId42" Type="http://schemas.openxmlformats.org/officeDocument/2006/relationships/slide" Target="slides/slide39.xml"/><Relationship Id="rId41" Type="http://schemas.openxmlformats.org/officeDocument/2006/relationships/slide" Target="slides/slide38.xml"/><Relationship Id="rId40" Type="http://schemas.openxmlformats.org/officeDocument/2006/relationships/slide" Target="slides/slide37.xml"/><Relationship Id="rId4" Type="http://schemas.openxmlformats.org/officeDocument/2006/relationships/slide" Target="slides/slide2.xml"/><Relationship Id="rId39" Type="http://schemas.openxmlformats.org/officeDocument/2006/relationships/slide" Target="slides/slide36.xml"/><Relationship Id="rId38" Type="http://schemas.openxmlformats.org/officeDocument/2006/relationships/slide" Target="slides/slide35.xml"/><Relationship Id="rId37" Type="http://schemas.openxmlformats.org/officeDocument/2006/relationships/slide" Target="slides/slide34.xml"/><Relationship Id="rId36" Type="http://schemas.openxmlformats.org/officeDocument/2006/relationships/slide" Target="slides/slide33.xml"/><Relationship Id="rId35" Type="http://schemas.openxmlformats.org/officeDocument/2006/relationships/slide" Target="slides/slide32.xml"/><Relationship Id="rId34" Type="http://schemas.openxmlformats.org/officeDocument/2006/relationships/slide" Target="slides/slide31.xml"/><Relationship Id="rId33" Type="http://schemas.openxmlformats.org/officeDocument/2006/relationships/slide" Target="slides/slide30.xml"/><Relationship Id="rId32" Type="http://schemas.openxmlformats.org/officeDocument/2006/relationships/slide" Target="slides/slide29.xml"/><Relationship Id="rId31" Type="http://schemas.openxmlformats.org/officeDocument/2006/relationships/slide" Target="slides/slide28.xml"/><Relationship Id="rId30" Type="http://schemas.openxmlformats.org/officeDocument/2006/relationships/slide" Target="slides/slide27.xml"/><Relationship Id="rId3" Type="http://schemas.openxmlformats.org/officeDocument/2006/relationships/slide" Target="slides/slide1.xml"/><Relationship Id="rId29" Type="http://schemas.openxmlformats.org/officeDocument/2006/relationships/slide" Target="slides/slide26.xml"/><Relationship Id="rId28" Type="http://schemas.openxmlformats.org/officeDocument/2006/relationships/slide" Target="slides/slide25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drawings/_rels/vmlDrawing1.vml.rels><?xml version="1.0" encoding="UTF-8" standalone="yes"?>
<Relationships xmlns="http://schemas.openxmlformats.org/package/2006/relationships"><Relationship Id="rId9" Type="http://schemas.openxmlformats.org/officeDocument/2006/relationships/image" Target="../media/image13.wmf"/><Relationship Id="rId8" Type="http://schemas.openxmlformats.org/officeDocument/2006/relationships/image" Target="../media/image12.wmf"/><Relationship Id="rId7" Type="http://schemas.openxmlformats.org/officeDocument/2006/relationships/image" Target="../media/image11.wmf"/><Relationship Id="rId6" Type="http://schemas.openxmlformats.org/officeDocument/2006/relationships/image" Target="../media/image10.wmf"/><Relationship Id="rId5" Type="http://schemas.openxmlformats.org/officeDocument/2006/relationships/image" Target="../media/image9.wmf"/><Relationship Id="rId4" Type="http://schemas.openxmlformats.org/officeDocument/2006/relationships/image" Target="../media/image8.wmf"/><Relationship Id="rId3" Type="http://schemas.openxmlformats.org/officeDocument/2006/relationships/image" Target="../media/image7.wmf"/><Relationship Id="rId2" Type="http://schemas.openxmlformats.org/officeDocument/2006/relationships/image" Target="../media/image6.wmf"/><Relationship Id="rId1" Type="http://schemas.openxmlformats.org/officeDocument/2006/relationships/image" Target="../media/image5.wmf"/></Relationships>
</file>

<file path=ppt/drawings/_rels/vmlDrawing2.vml.rels><?xml version="1.0" encoding="UTF-8" standalone="yes"?>
<Relationships xmlns="http://schemas.openxmlformats.org/package/2006/relationships"><Relationship Id="rId2" Type="http://schemas.openxmlformats.org/officeDocument/2006/relationships/image" Target="../media/image43.wmf"/><Relationship Id="rId1" Type="http://schemas.openxmlformats.org/officeDocument/2006/relationships/image" Target="../media/image36.w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67.wmf"/></Relationships>
</file>

<file path=ppt/drawings/_rels/vmlDrawing4.vml.rels><?xml version="1.0" encoding="UTF-8" standalone="yes"?>
<Relationships xmlns="http://schemas.openxmlformats.org/package/2006/relationships"><Relationship Id="rId1" Type="http://schemas.openxmlformats.org/officeDocument/2006/relationships/image" Target="../media/image86.wmf"/></Relationships>
</file>

<file path=ppt/drawings/_rels/vmlDrawing5.vml.rels><?xml version="1.0" encoding="UTF-8" standalone="yes"?>
<Relationships xmlns="http://schemas.openxmlformats.org/package/2006/relationships"><Relationship Id="rId1" Type="http://schemas.openxmlformats.org/officeDocument/2006/relationships/image" Target="../media/image94.wmf"/></Relationships>
</file>

<file path=ppt/drawings/_rels/vmlDrawing6.vml.rels><?xml version="1.0" encoding="UTF-8" standalone="yes"?>
<Relationships xmlns="http://schemas.openxmlformats.org/package/2006/relationships"><Relationship Id="rId1" Type="http://schemas.openxmlformats.org/officeDocument/2006/relationships/image" Target="../media/image120.wmf"/></Relationships>
</file>

<file path=ppt/drawings/_rels/vmlDrawing7.vml.rels><?xml version="1.0" encoding="UTF-8" standalone="yes"?>
<Relationships xmlns="http://schemas.openxmlformats.org/package/2006/relationships"><Relationship Id="rId2" Type="http://schemas.openxmlformats.org/officeDocument/2006/relationships/image" Target="../media/image128.emf"/><Relationship Id="rId1" Type="http://schemas.openxmlformats.org/officeDocument/2006/relationships/image" Target="../media/image125.wmf"/></Relationships>
</file>

<file path=ppt/drawings/_rels/vmlDrawing8.vml.rels><?xml version="1.0" encoding="UTF-8" standalone="yes"?>
<Relationships xmlns="http://schemas.openxmlformats.org/package/2006/relationships"><Relationship Id="rId1" Type="http://schemas.openxmlformats.org/officeDocument/2006/relationships/image" Target="../media/image136.wmf"/></Relationships>
</file>

<file path=ppt/drawings/_rels/vmlDrawing9.vml.rels><?xml version="1.0" encoding="UTF-8" standalone="yes"?>
<Relationships xmlns="http://schemas.openxmlformats.org/package/2006/relationships"><Relationship Id="rId2" Type="http://schemas.openxmlformats.org/officeDocument/2006/relationships/image" Target="../media/image142.wmf"/><Relationship Id="rId1" Type="http://schemas.openxmlformats.org/officeDocument/2006/relationships/image" Target="../media/image141.wmf"/></Relationships>
</file>

<file path=ppt/drawings/_rels/vmlDrawing10.vml.rels><?xml version="1.0" encoding="UTF-8" standalone="yes"?>
<Relationships xmlns="http://schemas.openxmlformats.org/package/2006/relationships"><Relationship Id="rId1" Type="http://schemas.openxmlformats.org/officeDocument/2006/relationships/image" Target="../media/image154.wmf"/></Relationships>
</file>

<file path=ppt/drawings/_rels/vmlDrawing1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68.wmf"/></Relationships>
</file>

<file path=ppt/drawings/_rels/vmlDrawing12.vml.rels><?xml version="1.0" encoding="UTF-8" standalone="yes"?>
<Relationships xmlns="http://schemas.openxmlformats.org/package/2006/relationships"><Relationship Id="rId2" Type="http://schemas.openxmlformats.org/officeDocument/2006/relationships/image" Target="../media/image204.wmf"/><Relationship Id="rId1" Type="http://schemas.openxmlformats.org/officeDocument/2006/relationships/image" Target="../media/image203.wmf"/></Relationships>
</file>

<file path=ppt/drawings/_rels/vmlDrawing13.vml.rels><?xml version="1.0" encoding="UTF-8" standalone="yes"?>
<Relationships xmlns="http://schemas.openxmlformats.org/package/2006/relationships"><Relationship Id="rId1" Type="http://schemas.openxmlformats.org/officeDocument/2006/relationships/image" Target="../media/image232.wmf"/></Relationships>
</file>

<file path=ppt/drawings/_rels/vmlDrawing14.vml.rels><?xml version="1.0" encoding="UTF-8" standalone="yes"?>
<Relationships xmlns="http://schemas.openxmlformats.org/package/2006/relationships"><Relationship Id="rId5" Type="http://schemas.openxmlformats.org/officeDocument/2006/relationships/image" Target="../media/image247.wmf"/><Relationship Id="rId4" Type="http://schemas.openxmlformats.org/officeDocument/2006/relationships/image" Target="../media/image246.wmf"/><Relationship Id="rId3" Type="http://schemas.openxmlformats.org/officeDocument/2006/relationships/image" Target="../media/image245.wmf"/><Relationship Id="rId2" Type="http://schemas.openxmlformats.org/officeDocument/2006/relationships/image" Target="../media/image244.emf"/><Relationship Id="rId1" Type="http://schemas.openxmlformats.org/officeDocument/2006/relationships/image" Target="../media/image243.wmf"/></Relationships>
</file>

<file path=ppt/drawings/_rels/vmlDrawing15.vml.rels><?xml version="1.0" encoding="UTF-8" standalone="yes"?>
<Relationships xmlns="http://schemas.openxmlformats.org/package/2006/relationships"><Relationship Id="rId1" Type="http://schemas.openxmlformats.org/officeDocument/2006/relationships/image" Target="../media/image168.wmf"/></Relationships>
</file>

<file path=ppt/drawings/_rels/vmlDrawing16.vml.rels><?xml version="1.0" encoding="UTF-8" standalone="yes"?>
<Relationships xmlns="http://schemas.openxmlformats.org/package/2006/relationships"><Relationship Id="rId2" Type="http://schemas.openxmlformats.org/officeDocument/2006/relationships/image" Target="../media/image251.wmf"/><Relationship Id="rId1" Type="http://schemas.openxmlformats.org/officeDocument/2006/relationships/image" Target="../media/image250.emf"/></Relationships>
</file>

<file path=ppt/drawings/_rels/vmlDrawing17.vml.rels><?xml version="1.0" encoding="UTF-8" standalone="yes"?>
<Relationships xmlns="http://schemas.openxmlformats.org/package/2006/relationships"><Relationship Id="rId4" Type="http://schemas.openxmlformats.org/officeDocument/2006/relationships/image" Target="../media/image259.wmf"/><Relationship Id="rId3" Type="http://schemas.openxmlformats.org/officeDocument/2006/relationships/image" Target="../media/image257.wmf"/><Relationship Id="rId2" Type="http://schemas.openxmlformats.org/officeDocument/2006/relationships/image" Target="../media/image256.wmf"/><Relationship Id="rId1" Type="http://schemas.openxmlformats.org/officeDocument/2006/relationships/image" Target="../media/image255.wmf"/></Relationships>
</file>

<file path=ppt/drawings/_rels/vmlDrawing18.vml.rels><?xml version="1.0" encoding="UTF-8" standalone="yes"?>
<Relationships xmlns="http://schemas.openxmlformats.org/package/2006/relationships"><Relationship Id="rId2" Type="http://schemas.openxmlformats.org/officeDocument/2006/relationships/image" Target="../media/image274.wmf"/><Relationship Id="rId1" Type="http://schemas.openxmlformats.org/officeDocument/2006/relationships/image" Target="../media/image273.wmf"/></Relationships>
</file>

<file path=ppt/drawings/_rels/vmlDrawing19.vml.rels><?xml version="1.0" encoding="UTF-8" standalone="yes"?>
<Relationships xmlns="http://schemas.openxmlformats.org/package/2006/relationships"><Relationship Id="rId3" Type="http://schemas.openxmlformats.org/officeDocument/2006/relationships/image" Target="../media/image292.wmf"/><Relationship Id="rId2" Type="http://schemas.openxmlformats.org/officeDocument/2006/relationships/image" Target="../media/image291.wmf"/><Relationship Id="rId1" Type="http://schemas.openxmlformats.org/officeDocument/2006/relationships/image" Target="../media/image290.wmf"/></Relationships>
</file>

<file path=ppt/drawings/_rels/vmlDrawing20.vml.rels><?xml version="1.0" encoding="UTF-8" standalone="yes"?>
<Relationships xmlns="http://schemas.openxmlformats.org/package/2006/relationships"><Relationship Id="rId2" Type="http://schemas.openxmlformats.org/officeDocument/2006/relationships/image" Target="../media/image301.wmf"/><Relationship Id="rId1" Type="http://schemas.openxmlformats.org/officeDocument/2006/relationships/image" Target="../media/image300.wmf"/></Relationships>
</file>

<file path=ppt/drawings/_rels/vmlDrawing21.vml.rels><?xml version="1.0" encoding="UTF-8" standalone="yes"?>
<Relationships xmlns="http://schemas.openxmlformats.org/package/2006/relationships"><Relationship Id="rId2" Type="http://schemas.openxmlformats.org/officeDocument/2006/relationships/image" Target="../media/image313.wmf"/><Relationship Id="rId1" Type="http://schemas.openxmlformats.org/officeDocument/2006/relationships/image" Target="../media/image310.wmf"/></Relationships>
</file>

<file path=ppt/drawings/_rels/vmlDrawing22.vml.rels><?xml version="1.0" encoding="UTF-8" standalone="yes"?>
<Relationships xmlns="http://schemas.openxmlformats.org/package/2006/relationships"><Relationship Id="rId1" Type="http://schemas.openxmlformats.org/officeDocument/2006/relationships/image" Target="../media/image337.wmf"/></Relationships>
</file>

<file path=ppt/drawings/_rels/vmlDrawing23.vml.rels><?xml version="1.0" encoding="UTF-8" standalone="yes"?>
<Relationships xmlns="http://schemas.openxmlformats.org/package/2006/relationships"><Relationship Id="rId2" Type="http://schemas.openxmlformats.org/officeDocument/2006/relationships/image" Target="../media/image365.wmf"/><Relationship Id="rId1" Type="http://schemas.openxmlformats.org/officeDocument/2006/relationships/image" Target="../media/image364.wmf"/></Relationships>
</file>

<file path=ppt/drawings/_rels/vmlDrawing24.vml.rels><?xml version="1.0" encoding="UTF-8" standalone="yes"?>
<Relationships xmlns="http://schemas.openxmlformats.org/package/2006/relationships"><Relationship Id="rId1" Type="http://schemas.openxmlformats.org/officeDocument/2006/relationships/image" Target="../media/image376.wmf"/></Relationships>
</file>

<file path=ppt/drawings/_rels/vmlDrawing25.vml.rels><?xml version="1.0" encoding="UTF-8" standalone="yes"?>
<Relationships xmlns="http://schemas.openxmlformats.org/package/2006/relationships"><Relationship Id="rId2" Type="http://schemas.openxmlformats.org/officeDocument/2006/relationships/image" Target="../media/image406.wmf"/><Relationship Id="rId1" Type="http://schemas.openxmlformats.org/officeDocument/2006/relationships/image" Target="../media/image400.wmf"/></Relationships>
</file>

<file path=ppt/drawings/_rels/vmlDrawing26.vml.rels><?xml version="1.0" encoding="UTF-8" standalone="yes"?>
<Relationships xmlns="http://schemas.openxmlformats.org/package/2006/relationships"><Relationship Id="rId2" Type="http://schemas.openxmlformats.org/officeDocument/2006/relationships/image" Target="../media/image420.wmf"/><Relationship Id="rId1" Type="http://schemas.openxmlformats.org/officeDocument/2006/relationships/image" Target="../media/image413.w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85558" cy="502835"/>
          </a:xfrm>
          <a:prstGeom prst="rect">
            <a:avLst/>
          </a:prstGeom>
        </p:spPr>
        <p:txBody>
          <a:bodyPr vert="horz" lIns="96634" tIns="48317" rIns="96634" bIns="48317" rtlCol="0"/>
          <a:lstStyle>
            <a:lvl1pPr algn="l">
              <a:defRPr sz="13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902597" y="0"/>
            <a:ext cx="2985558" cy="502835"/>
          </a:xfrm>
          <a:prstGeom prst="rect">
            <a:avLst/>
          </a:prstGeom>
        </p:spPr>
        <p:txBody>
          <a:bodyPr vert="horz" lIns="96634" tIns="48317" rIns="96634" bIns="48317" rtlCol="0"/>
          <a:lstStyle>
            <a:lvl1pPr algn="r">
              <a:defRPr sz="1300"/>
            </a:lvl1pPr>
          </a:lstStyle>
          <a:p>
            <a:fld id="{05E839AD-4F0E-4565-8543-F586EC338D1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9519055"/>
            <a:ext cx="2985558" cy="502834"/>
          </a:xfrm>
          <a:prstGeom prst="rect">
            <a:avLst/>
          </a:prstGeom>
        </p:spPr>
        <p:txBody>
          <a:bodyPr vert="horz" lIns="96634" tIns="48317" rIns="96634" bIns="48317" rtlCol="0" anchor="b"/>
          <a:lstStyle>
            <a:lvl1pPr algn="l">
              <a:defRPr sz="13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902597" y="9519055"/>
            <a:ext cx="2985558" cy="502834"/>
          </a:xfrm>
          <a:prstGeom prst="rect">
            <a:avLst/>
          </a:prstGeom>
        </p:spPr>
        <p:txBody>
          <a:bodyPr vert="horz" lIns="96634" tIns="48317" rIns="96634" bIns="48317" rtlCol="0" anchor="b"/>
          <a:lstStyle>
            <a:lvl1pPr algn="r">
              <a:defRPr sz="1300"/>
            </a:lvl1pPr>
          </a:lstStyle>
          <a:p>
            <a:fld id="{5D3EB162-D109-4A18-9DBA-51AE8B9E3A1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85558" cy="502835"/>
          </a:xfrm>
          <a:prstGeom prst="rect">
            <a:avLst/>
          </a:prstGeom>
        </p:spPr>
        <p:txBody>
          <a:bodyPr vert="horz" lIns="96634" tIns="48317" rIns="96634" bIns="48317" rtlCol="0"/>
          <a:lstStyle>
            <a:lvl1pPr algn="l">
              <a:defRPr sz="13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902597" y="0"/>
            <a:ext cx="2985558" cy="502835"/>
          </a:xfrm>
          <a:prstGeom prst="rect">
            <a:avLst/>
          </a:prstGeom>
        </p:spPr>
        <p:txBody>
          <a:bodyPr vert="horz" lIns="96634" tIns="48317" rIns="96634" bIns="48317" rtlCol="0"/>
          <a:lstStyle>
            <a:lvl1pPr algn="r">
              <a:defRPr sz="1300"/>
            </a:lvl1pPr>
          </a:lstStyle>
          <a:p>
            <a:fld id="{9BB08370-A8B8-46B4-858A-C59D00A7121D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438150" y="1252538"/>
            <a:ext cx="6013450" cy="3382962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6634" tIns="48317" rIns="96634" bIns="48317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8975" y="4823034"/>
            <a:ext cx="5511800" cy="3946118"/>
          </a:xfrm>
          <a:prstGeom prst="rect">
            <a:avLst/>
          </a:prstGeom>
        </p:spPr>
        <p:txBody>
          <a:bodyPr vert="horz" lIns="96634" tIns="48317" rIns="96634" bIns="48317" rtlCol="0"/>
          <a:lstStyle/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9519055"/>
            <a:ext cx="2985558" cy="502834"/>
          </a:xfrm>
          <a:prstGeom prst="rect">
            <a:avLst/>
          </a:prstGeom>
        </p:spPr>
        <p:txBody>
          <a:bodyPr vert="horz" lIns="96634" tIns="48317" rIns="96634" bIns="48317" rtlCol="0" anchor="b"/>
          <a:lstStyle>
            <a:lvl1pPr algn="l">
              <a:defRPr sz="13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902597" y="9519055"/>
            <a:ext cx="2985558" cy="502834"/>
          </a:xfrm>
          <a:prstGeom prst="rect">
            <a:avLst/>
          </a:prstGeom>
        </p:spPr>
        <p:txBody>
          <a:bodyPr vert="horz" lIns="96634" tIns="48317" rIns="96634" bIns="48317" rtlCol="0" anchor="b"/>
          <a:lstStyle>
            <a:lvl1pPr algn="r">
              <a:defRPr sz="1300"/>
            </a:lvl1pPr>
          </a:lstStyle>
          <a:p>
            <a:fld id="{1DD4F426-D727-4167-8AFF-4E97BC9CD59C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单击以编辑母版副标题样式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35449B-91A2-42EC-AB9A-5A83E61D8A84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4A76EB-D3B9-486E-9E1A-9DF57B1FF1A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/>
        <p:txBody>
          <a:bodyPr/>
          <a:lstStyle/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35449B-91A2-42EC-AB9A-5A83E61D8A84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4A76EB-D3B9-486E-9E1A-9DF57B1FF1A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35449B-91A2-42EC-AB9A-5A83E61D8A84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4A76EB-D3B9-486E-9E1A-9DF57B1FF1A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 hasCustomPrompt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35449B-91A2-42EC-AB9A-5A83E61D8A84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4A76EB-D3B9-486E-9E1A-9DF57B1FF1A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 hasCustomPrompt="1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 hasCustomPrompt="1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35449B-91A2-42EC-AB9A-5A83E61D8A84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4A76EB-D3B9-486E-9E1A-9DF57B1FF1A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35449B-91A2-42EC-AB9A-5A83E61D8A84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4A76EB-D3B9-486E-9E1A-9DF57B1FF1A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35449B-91A2-42EC-AB9A-5A83E61D8A84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4A76EB-D3B9-486E-9E1A-9DF57B1FF1A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35449B-91A2-42EC-AB9A-5A83E61D8A84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4A76EB-D3B9-486E-9E1A-9DF57B1FF1A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 smtClean="0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35449B-91A2-42EC-AB9A-5A83E61D8A84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4A76EB-D3B9-486E-9E1A-9DF57B1FF1A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 hasCustomPrompt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35449B-91A2-42EC-AB9A-5A83E61D8A84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4A76EB-D3B9-486E-9E1A-9DF57B1FF1A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 hasCustomPrompt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35449B-91A2-42EC-AB9A-5A83E61D8A84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4A76EB-D3B9-486E-9E1A-9DF57B1FF1A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0"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E35449B-91A2-42EC-AB9A-5A83E61D8A84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74A76EB-D3B9-486E-9E1A-9DF57B1FF1A3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4.png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9" Type="http://schemas.openxmlformats.org/officeDocument/2006/relationships/tags" Target="../tags/tag5.xml"/><Relationship Id="rId8" Type="http://schemas.openxmlformats.org/officeDocument/2006/relationships/tags" Target="../tags/tag4.xml"/><Relationship Id="rId7" Type="http://schemas.openxmlformats.org/officeDocument/2006/relationships/image" Target="../media/image6.wmf"/><Relationship Id="rId6" Type="http://schemas.openxmlformats.org/officeDocument/2006/relationships/oleObject" Target="../embeddings/oleObject2.bin"/><Relationship Id="rId5" Type="http://schemas.openxmlformats.org/officeDocument/2006/relationships/tags" Target="../tags/tag3.xml"/><Relationship Id="rId4" Type="http://schemas.openxmlformats.org/officeDocument/2006/relationships/image" Target="../media/image5.wmf"/><Relationship Id="rId39" Type="http://schemas.openxmlformats.org/officeDocument/2006/relationships/vmlDrawing" Target="../drawings/vmlDrawing1.vml"/><Relationship Id="rId38" Type="http://schemas.openxmlformats.org/officeDocument/2006/relationships/slideLayout" Target="../slideLayouts/slideLayout2.xml"/><Relationship Id="rId37" Type="http://schemas.openxmlformats.org/officeDocument/2006/relationships/image" Target="../media/image13.wmf"/><Relationship Id="rId36" Type="http://schemas.openxmlformats.org/officeDocument/2006/relationships/oleObject" Target="../embeddings/oleObject10.bin"/><Relationship Id="rId35" Type="http://schemas.openxmlformats.org/officeDocument/2006/relationships/tags" Target="../tags/tag18.xml"/><Relationship Id="rId34" Type="http://schemas.openxmlformats.org/officeDocument/2006/relationships/tags" Target="../tags/tag17.xml"/><Relationship Id="rId33" Type="http://schemas.openxmlformats.org/officeDocument/2006/relationships/image" Target="../media/image12.wmf"/><Relationship Id="rId32" Type="http://schemas.openxmlformats.org/officeDocument/2006/relationships/oleObject" Target="../embeddings/oleObject9.bin"/><Relationship Id="rId31" Type="http://schemas.openxmlformats.org/officeDocument/2006/relationships/tags" Target="../tags/tag16.xml"/><Relationship Id="rId30" Type="http://schemas.openxmlformats.org/officeDocument/2006/relationships/tags" Target="../tags/tag15.xml"/><Relationship Id="rId3" Type="http://schemas.openxmlformats.org/officeDocument/2006/relationships/oleObject" Target="../embeddings/oleObject1.bin"/><Relationship Id="rId29" Type="http://schemas.openxmlformats.org/officeDocument/2006/relationships/image" Target="../media/image11.wmf"/><Relationship Id="rId28" Type="http://schemas.openxmlformats.org/officeDocument/2006/relationships/oleObject" Target="../embeddings/oleObject8.bin"/><Relationship Id="rId27" Type="http://schemas.openxmlformats.org/officeDocument/2006/relationships/tags" Target="../tags/tag14.xml"/><Relationship Id="rId26" Type="http://schemas.openxmlformats.org/officeDocument/2006/relationships/tags" Target="../tags/tag13.xml"/><Relationship Id="rId25" Type="http://schemas.openxmlformats.org/officeDocument/2006/relationships/image" Target="../media/image10.wmf"/><Relationship Id="rId24" Type="http://schemas.openxmlformats.org/officeDocument/2006/relationships/oleObject" Target="../embeddings/oleObject7.bin"/><Relationship Id="rId23" Type="http://schemas.openxmlformats.org/officeDocument/2006/relationships/tags" Target="../tags/tag12.xml"/><Relationship Id="rId22" Type="http://schemas.openxmlformats.org/officeDocument/2006/relationships/tags" Target="../tags/tag11.xml"/><Relationship Id="rId21" Type="http://schemas.openxmlformats.org/officeDocument/2006/relationships/image" Target="../media/image9.wmf"/><Relationship Id="rId20" Type="http://schemas.openxmlformats.org/officeDocument/2006/relationships/oleObject" Target="../embeddings/oleObject6.bin"/><Relationship Id="rId2" Type="http://schemas.openxmlformats.org/officeDocument/2006/relationships/tags" Target="../tags/tag2.xml"/><Relationship Id="rId19" Type="http://schemas.openxmlformats.org/officeDocument/2006/relationships/tags" Target="../tags/tag10.xml"/><Relationship Id="rId18" Type="http://schemas.openxmlformats.org/officeDocument/2006/relationships/tags" Target="../tags/tag9.xml"/><Relationship Id="rId17" Type="http://schemas.openxmlformats.org/officeDocument/2006/relationships/image" Target="../media/image8.wmf"/><Relationship Id="rId16" Type="http://schemas.openxmlformats.org/officeDocument/2006/relationships/oleObject" Target="../embeddings/oleObject5.bin"/><Relationship Id="rId15" Type="http://schemas.openxmlformats.org/officeDocument/2006/relationships/tags" Target="../tags/tag8.xml"/><Relationship Id="rId14" Type="http://schemas.openxmlformats.org/officeDocument/2006/relationships/tags" Target="../tags/tag7.xml"/><Relationship Id="rId13" Type="http://schemas.openxmlformats.org/officeDocument/2006/relationships/oleObject" Target="../embeddings/oleObject4.bin"/><Relationship Id="rId12" Type="http://schemas.openxmlformats.org/officeDocument/2006/relationships/tags" Target="../tags/tag6.xml"/><Relationship Id="rId11" Type="http://schemas.openxmlformats.org/officeDocument/2006/relationships/image" Target="../media/image7.wmf"/><Relationship Id="rId10" Type="http://schemas.openxmlformats.org/officeDocument/2006/relationships/oleObject" Target="../embeddings/oleObject3.bin"/><Relationship Id="rId1" Type="http://schemas.openxmlformats.org/officeDocument/2006/relationships/tags" Target="../tags/tag1.xml"/></Relationships>
</file>

<file path=ppt/slides/_rels/slide5.xml.rels><?xml version="1.0" encoding="UTF-8" standalone="yes"?>
<Relationships xmlns="http://schemas.openxmlformats.org/package/2006/relationships"><Relationship Id="rId9" Type="http://schemas.openxmlformats.org/officeDocument/2006/relationships/image" Target="../media/image16.png"/><Relationship Id="rId8" Type="http://schemas.openxmlformats.org/officeDocument/2006/relationships/tags" Target="../tags/tag24.xml"/><Relationship Id="rId7" Type="http://schemas.openxmlformats.org/officeDocument/2006/relationships/tags" Target="../tags/tag23.xml"/><Relationship Id="rId6" Type="http://schemas.openxmlformats.org/officeDocument/2006/relationships/image" Target="../media/image15.png"/><Relationship Id="rId5" Type="http://schemas.openxmlformats.org/officeDocument/2006/relationships/tags" Target="../tags/tag22.xml"/><Relationship Id="rId4" Type="http://schemas.openxmlformats.org/officeDocument/2006/relationships/tags" Target="../tags/tag21.xml"/><Relationship Id="rId3" Type="http://schemas.openxmlformats.org/officeDocument/2006/relationships/tags" Target="../tags/tag20.xml"/><Relationship Id="rId2" Type="http://schemas.openxmlformats.org/officeDocument/2006/relationships/image" Target="../media/image14.png"/><Relationship Id="rId17" Type="http://schemas.openxmlformats.org/officeDocument/2006/relationships/slideLayout" Target="../slideLayouts/slideLayout2.xml"/><Relationship Id="rId16" Type="http://schemas.openxmlformats.org/officeDocument/2006/relationships/image" Target="../media/image19.png"/><Relationship Id="rId15" Type="http://schemas.openxmlformats.org/officeDocument/2006/relationships/tags" Target="../tags/tag28.xml"/><Relationship Id="rId14" Type="http://schemas.openxmlformats.org/officeDocument/2006/relationships/image" Target="../media/image18.png"/><Relationship Id="rId13" Type="http://schemas.openxmlformats.org/officeDocument/2006/relationships/tags" Target="../tags/tag27.xml"/><Relationship Id="rId12" Type="http://schemas.openxmlformats.org/officeDocument/2006/relationships/tags" Target="../tags/tag26.xml"/><Relationship Id="rId11" Type="http://schemas.openxmlformats.org/officeDocument/2006/relationships/image" Target="../media/image17.png"/><Relationship Id="rId10" Type="http://schemas.openxmlformats.org/officeDocument/2006/relationships/tags" Target="../tags/tag25.xml"/><Relationship Id="rId1" Type="http://schemas.openxmlformats.org/officeDocument/2006/relationships/tags" Target="../tags/tag19.xml"/></Relationships>
</file>

<file path=ppt/slides/_rels/slide6.xml.rels><?xml version="1.0" encoding="UTF-8" standalone="yes"?>
<Relationships xmlns="http://schemas.openxmlformats.org/package/2006/relationships"><Relationship Id="rId9" Type="http://schemas.openxmlformats.org/officeDocument/2006/relationships/image" Target="../media/image28.png"/><Relationship Id="rId8" Type="http://schemas.openxmlformats.org/officeDocument/2006/relationships/image" Target="../media/image27.png"/><Relationship Id="rId7" Type="http://schemas.openxmlformats.org/officeDocument/2006/relationships/image" Target="../media/image26.png"/><Relationship Id="rId6" Type="http://schemas.openxmlformats.org/officeDocument/2006/relationships/image" Target="../media/image25.png"/><Relationship Id="rId5" Type="http://schemas.openxmlformats.org/officeDocument/2006/relationships/image" Target="../media/image24.png"/><Relationship Id="rId4" Type="http://schemas.openxmlformats.org/officeDocument/2006/relationships/image" Target="../media/image23.png"/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0" Type="http://schemas.openxmlformats.org/officeDocument/2006/relationships/slideLayout" Target="../slideLayouts/slideLayout2.xml"/><Relationship Id="rId1" Type="http://schemas.openxmlformats.org/officeDocument/2006/relationships/image" Target="../media/image20.png"/></Relationships>
</file>

<file path=ppt/slides/_rels/slide7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30.png"/><Relationship Id="rId3" Type="http://schemas.openxmlformats.org/officeDocument/2006/relationships/tags" Target="../tags/tag30.xml"/><Relationship Id="rId2" Type="http://schemas.openxmlformats.org/officeDocument/2006/relationships/image" Target="../media/image29.png"/><Relationship Id="rId1" Type="http://schemas.openxmlformats.org/officeDocument/2006/relationships/tags" Target="../tags/tag29.xml"/></Relationships>
</file>

<file path=ppt/slides/_rels/slide8.xml.rels><?xml version="1.0" encoding="UTF-8" standalone="yes"?>
<Relationships xmlns="http://schemas.openxmlformats.org/package/2006/relationships"><Relationship Id="rId9" Type="http://schemas.openxmlformats.org/officeDocument/2006/relationships/image" Target="../media/image35.png"/><Relationship Id="rId8" Type="http://schemas.openxmlformats.org/officeDocument/2006/relationships/image" Target="../media/image34.png"/><Relationship Id="rId7" Type="http://schemas.openxmlformats.org/officeDocument/2006/relationships/tags" Target="../tags/tag34.xml"/><Relationship Id="rId6" Type="http://schemas.openxmlformats.org/officeDocument/2006/relationships/image" Target="../media/image33.png"/><Relationship Id="rId5" Type="http://schemas.openxmlformats.org/officeDocument/2006/relationships/tags" Target="../tags/tag33.xml"/><Relationship Id="rId4" Type="http://schemas.openxmlformats.org/officeDocument/2006/relationships/image" Target="../media/image32.png"/><Relationship Id="rId3" Type="http://schemas.openxmlformats.org/officeDocument/2006/relationships/tags" Target="../tags/tag32.xml"/><Relationship Id="rId2" Type="http://schemas.openxmlformats.org/officeDocument/2006/relationships/image" Target="../media/image31.png"/><Relationship Id="rId10" Type="http://schemas.openxmlformats.org/officeDocument/2006/relationships/slideLayout" Target="../slideLayouts/slideLayout2.xml"/><Relationship Id="rId1" Type="http://schemas.openxmlformats.org/officeDocument/2006/relationships/tags" Target="../tags/tag31.xml"/></Relationships>
</file>

<file path=ppt/slides/_rels/slide9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12.bin"/><Relationship Id="rId8" Type="http://schemas.openxmlformats.org/officeDocument/2006/relationships/image" Target="../media/image42.png"/><Relationship Id="rId7" Type="http://schemas.openxmlformats.org/officeDocument/2006/relationships/image" Target="../media/image41.png"/><Relationship Id="rId6" Type="http://schemas.openxmlformats.org/officeDocument/2006/relationships/image" Target="../media/image40.png"/><Relationship Id="rId5" Type="http://schemas.openxmlformats.org/officeDocument/2006/relationships/image" Target="../media/image39.png"/><Relationship Id="rId4" Type="http://schemas.openxmlformats.org/officeDocument/2006/relationships/image" Target="../media/image38.png"/><Relationship Id="rId3" Type="http://schemas.openxmlformats.org/officeDocument/2006/relationships/image" Target="../media/image37.png"/><Relationship Id="rId2" Type="http://schemas.openxmlformats.org/officeDocument/2006/relationships/image" Target="../media/image36.wmf"/><Relationship Id="rId14" Type="http://schemas.openxmlformats.org/officeDocument/2006/relationships/vmlDrawing" Target="../drawings/vmlDrawing2.vml"/><Relationship Id="rId13" Type="http://schemas.openxmlformats.org/officeDocument/2006/relationships/slideLayout" Target="../slideLayouts/slideLayout1.xml"/><Relationship Id="rId12" Type="http://schemas.openxmlformats.org/officeDocument/2006/relationships/image" Target="../media/image45.png"/><Relationship Id="rId11" Type="http://schemas.openxmlformats.org/officeDocument/2006/relationships/image" Target="../media/image44.png"/><Relationship Id="rId10" Type="http://schemas.openxmlformats.org/officeDocument/2006/relationships/image" Target="../media/image43.wmf"/><Relationship Id="rId1" Type="http://schemas.openxmlformats.org/officeDocument/2006/relationships/oleObject" Target="../embeddings/oleObject11.bin"/></Relationships>
</file>

<file path=ppt/slides/_rels/slide10.xml.rels><?xml version="1.0" encoding="UTF-8" standalone="yes"?>
<Relationships xmlns="http://schemas.openxmlformats.org/package/2006/relationships"><Relationship Id="rId9" Type="http://schemas.openxmlformats.org/officeDocument/2006/relationships/tags" Target="../tags/tag39.xml"/><Relationship Id="rId8" Type="http://schemas.openxmlformats.org/officeDocument/2006/relationships/image" Target="../media/image49.png"/><Relationship Id="rId7" Type="http://schemas.openxmlformats.org/officeDocument/2006/relationships/tags" Target="../tags/tag38.xml"/><Relationship Id="rId6" Type="http://schemas.openxmlformats.org/officeDocument/2006/relationships/image" Target="../media/image48.png"/><Relationship Id="rId5" Type="http://schemas.openxmlformats.org/officeDocument/2006/relationships/tags" Target="../tags/tag37.xml"/><Relationship Id="rId4" Type="http://schemas.openxmlformats.org/officeDocument/2006/relationships/image" Target="../media/image47.png"/><Relationship Id="rId3" Type="http://schemas.openxmlformats.org/officeDocument/2006/relationships/tags" Target="../tags/tag36.xml"/><Relationship Id="rId21" Type="http://schemas.openxmlformats.org/officeDocument/2006/relationships/slideLayout" Target="../slideLayouts/slideLayout2.xml"/><Relationship Id="rId20" Type="http://schemas.openxmlformats.org/officeDocument/2006/relationships/image" Target="../media/image55.png"/><Relationship Id="rId2" Type="http://schemas.openxmlformats.org/officeDocument/2006/relationships/image" Target="../media/image46.png"/><Relationship Id="rId19" Type="http://schemas.openxmlformats.org/officeDocument/2006/relationships/tags" Target="../tags/tag44.xml"/><Relationship Id="rId18" Type="http://schemas.openxmlformats.org/officeDocument/2006/relationships/image" Target="../media/image54.png"/><Relationship Id="rId17" Type="http://schemas.openxmlformats.org/officeDocument/2006/relationships/tags" Target="../tags/tag43.xml"/><Relationship Id="rId16" Type="http://schemas.openxmlformats.org/officeDocument/2006/relationships/image" Target="../media/image53.png"/><Relationship Id="rId15" Type="http://schemas.openxmlformats.org/officeDocument/2006/relationships/tags" Target="../tags/tag42.xml"/><Relationship Id="rId14" Type="http://schemas.openxmlformats.org/officeDocument/2006/relationships/image" Target="../media/image52.png"/><Relationship Id="rId13" Type="http://schemas.openxmlformats.org/officeDocument/2006/relationships/tags" Target="../tags/tag41.xml"/><Relationship Id="rId12" Type="http://schemas.openxmlformats.org/officeDocument/2006/relationships/image" Target="../media/image51.png"/><Relationship Id="rId11" Type="http://schemas.openxmlformats.org/officeDocument/2006/relationships/tags" Target="../tags/tag40.xml"/><Relationship Id="rId10" Type="http://schemas.openxmlformats.org/officeDocument/2006/relationships/image" Target="../media/image50.png"/><Relationship Id="rId1" Type="http://schemas.openxmlformats.org/officeDocument/2006/relationships/tags" Target="../tags/tag35.xml"/></Relationships>
</file>

<file path=ppt/slides/_rels/slide1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.xml"/><Relationship Id="rId8" Type="http://schemas.openxmlformats.org/officeDocument/2006/relationships/image" Target="../media/image58.png"/><Relationship Id="rId7" Type="http://schemas.openxmlformats.org/officeDocument/2006/relationships/tags" Target="../tags/tag49.xml"/><Relationship Id="rId6" Type="http://schemas.openxmlformats.org/officeDocument/2006/relationships/tags" Target="../tags/tag48.xml"/><Relationship Id="rId5" Type="http://schemas.openxmlformats.org/officeDocument/2006/relationships/image" Target="../media/image57.png"/><Relationship Id="rId4" Type="http://schemas.openxmlformats.org/officeDocument/2006/relationships/tags" Target="../tags/tag47.xml"/><Relationship Id="rId3" Type="http://schemas.openxmlformats.org/officeDocument/2006/relationships/tags" Target="../tags/tag46.xml"/><Relationship Id="rId2" Type="http://schemas.openxmlformats.org/officeDocument/2006/relationships/image" Target="../media/image56.png"/><Relationship Id="rId1" Type="http://schemas.openxmlformats.org/officeDocument/2006/relationships/tags" Target="../tags/tag45.xml"/></Relationships>
</file>

<file path=ppt/slides/_rels/slide1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.xml"/><Relationship Id="rId8" Type="http://schemas.openxmlformats.org/officeDocument/2006/relationships/image" Target="../media/image66.png"/><Relationship Id="rId7" Type="http://schemas.openxmlformats.org/officeDocument/2006/relationships/image" Target="../media/image65.png"/><Relationship Id="rId6" Type="http://schemas.openxmlformats.org/officeDocument/2006/relationships/image" Target="../media/image64.png"/><Relationship Id="rId5" Type="http://schemas.openxmlformats.org/officeDocument/2006/relationships/image" Target="../media/image63.png"/><Relationship Id="rId4" Type="http://schemas.openxmlformats.org/officeDocument/2006/relationships/image" Target="../media/image62.png"/><Relationship Id="rId3" Type="http://schemas.openxmlformats.org/officeDocument/2006/relationships/image" Target="../media/image61.png"/><Relationship Id="rId2" Type="http://schemas.openxmlformats.org/officeDocument/2006/relationships/image" Target="../media/image60.png"/><Relationship Id="rId10" Type="http://schemas.openxmlformats.org/officeDocument/2006/relationships/notesSlide" Target="../notesSlides/notesSlide1.xml"/><Relationship Id="rId1" Type="http://schemas.openxmlformats.org/officeDocument/2006/relationships/image" Target="../media/image59.png"/></Relationships>
</file>

<file path=ppt/slides/_rels/slide13.xml.rels><?xml version="1.0" encoding="UTF-8" standalone="yes"?>
<Relationships xmlns="http://schemas.openxmlformats.org/package/2006/relationships"><Relationship Id="rId9" Type="http://schemas.openxmlformats.org/officeDocument/2006/relationships/image" Target="../media/image74.png"/><Relationship Id="rId8" Type="http://schemas.openxmlformats.org/officeDocument/2006/relationships/image" Target="../media/image73.png"/><Relationship Id="rId7" Type="http://schemas.openxmlformats.org/officeDocument/2006/relationships/image" Target="../media/image72.png"/><Relationship Id="rId6" Type="http://schemas.openxmlformats.org/officeDocument/2006/relationships/image" Target="../media/image71.png"/><Relationship Id="rId5" Type="http://schemas.openxmlformats.org/officeDocument/2006/relationships/image" Target="../media/image70.png"/><Relationship Id="rId4" Type="http://schemas.openxmlformats.org/officeDocument/2006/relationships/image" Target="../media/image69.png"/><Relationship Id="rId3" Type="http://schemas.openxmlformats.org/officeDocument/2006/relationships/image" Target="../media/image68.png"/><Relationship Id="rId2" Type="http://schemas.openxmlformats.org/officeDocument/2006/relationships/image" Target="../media/image67.wmf"/><Relationship Id="rId14" Type="http://schemas.openxmlformats.org/officeDocument/2006/relationships/vmlDrawing" Target="../drawings/vmlDrawing3.vml"/><Relationship Id="rId13" Type="http://schemas.openxmlformats.org/officeDocument/2006/relationships/slideLayout" Target="../slideLayouts/slideLayout1.xml"/><Relationship Id="rId12" Type="http://schemas.openxmlformats.org/officeDocument/2006/relationships/image" Target="../media/image77.png"/><Relationship Id="rId11" Type="http://schemas.openxmlformats.org/officeDocument/2006/relationships/image" Target="../media/image76.png"/><Relationship Id="rId10" Type="http://schemas.openxmlformats.org/officeDocument/2006/relationships/image" Target="../media/image75.png"/><Relationship Id="rId1" Type="http://schemas.openxmlformats.org/officeDocument/2006/relationships/oleObject" Target="../embeddings/oleObject13.bin"/></Relationships>
</file>

<file path=ppt/slides/_rels/slide14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1.xml"/><Relationship Id="rId5" Type="http://schemas.openxmlformats.org/officeDocument/2006/relationships/tags" Target="../tags/tag50.xml"/><Relationship Id="rId4" Type="http://schemas.openxmlformats.org/officeDocument/2006/relationships/image" Target="../media/image81.png"/><Relationship Id="rId3" Type="http://schemas.openxmlformats.org/officeDocument/2006/relationships/image" Target="../media/image80.png"/><Relationship Id="rId2" Type="http://schemas.openxmlformats.org/officeDocument/2006/relationships/image" Target="../media/image79.png"/><Relationship Id="rId1" Type="http://schemas.openxmlformats.org/officeDocument/2006/relationships/image" Target="../media/image78.png"/></Relationships>
</file>

<file path=ppt/slides/_rels/slide15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85.png"/><Relationship Id="rId3" Type="http://schemas.openxmlformats.org/officeDocument/2006/relationships/image" Target="../media/image84.png"/><Relationship Id="rId2" Type="http://schemas.openxmlformats.org/officeDocument/2006/relationships/image" Target="../media/image83.png"/><Relationship Id="rId1" Type="http://schemas.openxmlformats.org/officeDocument/2006/relationships/image" Target="../media/image82.png"/></Relationships>
</file>

<file path=ppt/slides/_rels/slide16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.xml"/><Relationship Id="rId8" Type="http://schemas.openxmlformats.org/officeDocument/2006/relationships/image" Target="../media/image92.png"/><Relationship Id="rId7" Type="http://schemas.openxmlformats.org/officeDocument/2006/relationships/image" Target="../media/image91.png"/><Relationship Id="rId6" Type="http://schemas.openxmlformats.org/officeDocument/2006/relationships/image" Target="../media/image90.png"/><Relationship Id="rId5" Type="http://schemas.openxmlformats.org/officeDocument/2006/relationships/image" Target="../media/image89.png"/><Relationship Id="rId4" Type="http://schemas.openxmlformats.org/officeDocument/2006/relationships/image" Target="../media/image88.png"/><Relationship Id="rId3" Type="http://schemas.openxmlformats.org/officeDocument/2006/relationships/image" Target="../media/image87.png"/><Relationship Id="rId2" Type="http://schemas.openxmlformats.org/officeDocument/2006/relationships/image" Target="../media/image86.wmf"/><Relationship Id="rId10" Type="http://schemas.openxmlformats.org/officeDocument/2006/relationships/vmlDrawing" Target="../drawings/vmlDrawing4.vml"/><Relationship Id="rId1" Type="http://schemas.openxmlformats.org/officeDocument/2006/relationships/oleObject" Target="../embeddings/oleObject14.bin"/></Relationships>
</file>

<file path=ppt/slides/_rels/slide17.xml.rels><?xml version="1.0" encoding="UTF-8" standalone="yes"?>
<Relationships xmlns="http://schemas.openxmlformats.org/package/2006/relationships"><Relationship Id="rId7" Type="http://schemas.openxmlformats.org/officeDocument/2006/relationships/vmlDrawing" Target="../drawings/vmlDrawing5.vml"/><Relationship Id="rId6" Type="http://schemas.openxmlformats.org/officeDocument/2006/relationships/slideLayout" Target="../slideLayouts/slideLayout1.xml"/><Relationship Id="rId5" Type="http://schemas.openxmlformats.org/officeDocument/2006/relationships/image" Target="../media/image96.png"/><Relationship Id="rId4" Type="http://schemas.openxmlformats.org/officeDocument/2006/relationships/image" Target="../media/image95.png"/><Relationship Id="rId3" Type="http://schemas.openxmlformats.org/officeDocument/2006/relationships/image" Target="../media/image94.wmf"/><Relationship Id="rId2" Type="http://schemas.openxmlformats.org/officeDocument/2006/relationships/oleObject" Target="../embeddings/oleObject15.bin"/><Relationship Id="rId1" Type="http://schemas.openxmlformats.org/officeDocument/2006/relationships/image" Target="../media/image93.png"/></Relationships>
</file>

<file path=ppt/slides/_rels/slide18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1.xml"/><Relationship Id="rId6" Type="http://schemas.openxmlformats.org/officeDocument/2006/relationships/tags" Target="../tags/tag51.xml"/><Relationship Id="rId5" Type="http://schemas.openxmlformats.org/officeDocument/2006/relationships/image" Target="../media/image101.png"/><Relationship Id="rId4" Type="http://schemas.openxmlformats.org/officeDocument/2006/relationships/image" Target="../media/image100.png"/><Relationship Id="rId3" Type="http://schemas.openxmlformats.org/officeDocument/2006/relationships/image" Target="../media/image99.png"/><Relationship Id="rId2" Type="http://schemas.openxmlformats.org/officeDocument/2006/relationships/image" Target="../media/image98.png"/><Relationship Id="rId1" Type="http://schemas.openxmlformats.org/officeDocument/2006/relationships/image" Target="../media/image97.png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.xml"/><Relationship Id="rId7" Type="http://schemas.openxmlformats.org/officeDocument/2006/relationships/tags" Target="../tags/tag52.xml"/><Relationship Id="rId6" Type="http://schemas.openxmlformats.org/officeDocument/2006/relationships/image" Target="../media/image107.png"/><Relationship Id="rId5" Type="http://schemas.openxmlformats.org/officeDocument/2006/relationships/image" Target="../media/image106.png"/><Relationship Id="rId4" Type="http://schemas.openxmlformats.org/officeDocument/2006/relationships/image" Target="../media/image105.png"/><Relationship Id="rId3" Type="http://schemas.openxmlformats.org/officeDocument/2006/relationships/image" Target="../media/image104.png"/><Relationship Id="rId2" Type="http://schemas.openxmlformats.org/officeDocument/2006/relationships/image" Target="../media/image103.png"/><Relationship Id="rId1" Type="http://schemas.openxmlformats.org/officeDocument/2006/relationships/image" Target="../media/image102.png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9" Type="http://schemas.openxmlformats.org/officeDocument/2006/relationships/image" Target="../media/image116.png"/><Relationship Id="rId8" Type="http://schemas.openxmlformats.org/officeDocument/2006/relationships/image" Target="../media/image115.png"/><Relationship Id="rId7" Type="http://schemas.openxmlformats.org/officeDocument/2006/relationships/image" Target="../media/image114.png"/><Relationship Id="rId6" Type="http://schemas.openxmlformats.org/officeDocument/2006/relationships/image" Target="../media/image113.png"/><Relationship Id="rId5" Type="http://schemas.openxmlformats.org/officeDocument/2006/relationships/image" Target="../media/image112.png"/><Relationship Id="rId4" Type="http://schemas.openxmlformats.org/officeDocument/2006/relationships/image" Target="../media/image111.png"/><Relationship Id="rId3" Type="http://schemas.openxmlformats.org/officeDocument/2006/relationships/image" Target="../media/image110.png"/><Relationship Id="rId2" Type="http://schemas.openxmlformats.org/officeDocument/2006/relationships/image" Target="../media/image109.png"/><Relationship Id="rId17" Type="http://schemas.openxmlformats.org/officeDocument/2006/relationships/slideLayout" Target="../slideLayouts/slideLayout1.xml"/><Relationship Id="rId16" Type="http://schemas.openxmlformats.org/officeDocument/2006/relationships/image" Target="../media/image119.png"/><Relationship Id="rId15" Type="http://schemas.openxmlformats.org/officeDocument/2006/relationships/tags" Target="../tags/tag56.xml"/><Relationship Id="rId14" Type="http://schemas.openxmlformats.org/officeDocument/2006/relationships/image" Target="../media/image118.png"/><Relationship Id="rId13" Type="http://schemas.openxmlformats.org/officeDocument/2006/relationships/tags" Target="../tags/tag55.xml"/><Relationship Id="rId12" Type="http://schemas.openxmlformats.org/officeDocument/2006/relationships/tags" Target="../tags/tag54.xml"/><Relationship Id="rId11" Type="http://schemas.openxmlformats.org/officeDocument/2006/relationships/tags" Target="../tags/tag53.xml"/><Relationship Id="rId10" Type="http://schemas.openxmlformats.org/officeDocument/2006/relationships/image" Target="../media/image117.png"/><Relationship Id="rId1" Type="http://schemas.openxmlformats.org/officeDocument/2006/relationships/image" Target="../media/image108.png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vmlDrawing" Target="../drawings/vmlDrawing6.vml"/><Relationship Id="rId7" Type="http://schemas.openxmlformats.org/officeDocument/2006/relationships/slideLayout" Target="../slideLayouts/slideLayout1.xml"/><Relationship Id="rId6" Type="http://schemas.openxmlformats.org/officeDocument/2006/relationships/image" Target="../media/image124.png"/><Relationship Id="rId5" Type="http://schemas.openxmlformats.org/officeDocument/2006/relationships/image" Target="../media/image123.png"/><Relationship Id="rId4" Type="http://schemas.openxmlformats.org/officeDocument/2006/relationships/image" Target="../media/image122.png"/><Relationship Id="rId3" Type="http://schemas.openxmlformats.org/officeDocument/2006/relationships/image" Target="../media/image121.png"/><Relationship Id="rId2" Type="http://schemas.openxmlformats.org/officeDocument/2006/relationships/image" Target="../media/image120.wmf"/><Relationship Id="rId1" Type="http://schemas.openxmlformats.org/officeDocument/2006/relationships/oleObject" Target="../embeddings/oleObject16.bin"/></Relationships>
</file>

<file path=ppt/slides/_rels/slide23.xml.rels><?xml version="1.0" encoding="UTF-8" standalone="yes"?>
<Relationships xmlns="http://schemas.openxmlformats.org/package/2006/relationships"><Relationship Id="rId9" Type="http://schemas.openxmlformats.org/officeDocument/2006/relationships/image" Target="../media/image131.png"/><Relationship Id="rId8" Type="http://schemas.openxmlformats.org/officeDocument/2006/relationships/image" Target="../media/image130.png"/><Relationship Id="rId7" Type="http://schemas.openxmlformats.org/officeDocument/2006/relationships/image" Target="../media/image129.png"/><Relationship Id="rId6" Type="http://schemas.openxmlformats.org/officeDocument/2006/relationships/image" Target="../media/image128.emf"/><Relationship Id="rId5" Type="http://schemas.openxmlformats.org/officeDocument/2006/relationships/oleObject" Target="../embeddings/oleObject18.bin"/><Relationship Id="rId4" Type="http://schemas.openxmlformats.org/officeDocument/2006/relationships/image" Target="../media/image127.png"/><Relationship Id="rId3" Type="http://schemas.openxmlformats.org/officeDocument/2006/relationships/image" Target="../media/image126.png"/><Relationship Id="rId2" Type="http://schemas.openxmlformats.org/officeDocument/2006/relationships/image" Target="../media/image125.wmf"/><Relationship Id="rId11" Type="http://schemas.openxmlformats.org/officeDocument/2006/relationships/vmlDrawing" Target="../drawings/vmlDrawing7.vml"/><Relationship Id="rId10" Type="http://schemas.openxmlformats.org/officeDocument/2006/relationships/slideLayout" Target="../slideLayouts/slideLayout1.xml"/><Relationship Id="rId1" Type="http://schemas.openxmlformats.org/officeDocument/2006/relationships/oleObject" Target="../embeddings/oleObject17.bin"/></Relationships>
</file>

<file path=ppt/slides/_rels/slide24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2.xml"/><Relationship Id="rId5" Type="http://schemas.openxmlformats.org/officeDocument/2006/relationships/tags" Target="../tags/tag57.xml"/><Relationship Id="rId4" Type="http://schemas.openxmlformats.org/officeDocument/2006/relationships/image" Target="../media/image135.png"/><Relationship Id="rId3" Type="http://schemas.openxmlformats.org/officeDocument/2006/relationships/image" Target="../media/image134.png"/><Relationship Id="rId2" Type="http://schemas.openxmlformats.org/officeDocument/2006/relationships/image" Target="../media/image133.png"/><Relationship Id="rId1" Type="http://schemas.openxmlformats.org/officeDocument/2006/relationships/image" Target="../media/image132.png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vmlDrawing" Target="../drawings/vmlDrawing8.vml"/><Relationship Id="rId7" Type="http://schemas.openxmlformats.org/officeDocument/2006/relationships/slideLayout" Target="../slideLayouts/slideLayout1.xml"/><Relationship Id="rId6" Type="http://schemas.openxmlformats.org/officeDocument/2006/relationships/image" Target="../media/image140.png"/><Relationship Id="rId5" Type="http://schemas.openxmlformats.org/officeDocument/2006/relationships/image" Target="../media/image139.png"/><Relationship Id="rId4" Type="http://schemas.openxmlformats.org/officeDocument/2006/relationships/image" Target="../media/image138.png"/><Relationship Id="rId3" Type="http://schemas.openxmlformats.org/officeDocument/2006/relationships/image" Target="../media/image137.png"/><Relationship Id="rId2" Type="http://schemas.openxmlformats.org/officeDocument/2006/relationships/image" Target="../media/image136.wmf"/><Relationship Id="rId1" Type="http://schemas.openxmlformats.org/officeDocument/2006/relationships/oleObject" Target="../embeddings/oleObject19.bin"/></Relationships>
</file>

<file path=ppt/slides/_rels/slide26.xml.rels><?xml version="1.0" encoding="UTF-8" standalone="yes"?>
<Relationships xmlns="http://schemas.openxmlformats.org/package/2006/relationships"><Relationship Id="rId9" Type="http://schemas.openxmlformats.org/officeDocument/2006/relationships/image" Target="../media/image147.png"/><Relationship Id="rId8" Type="http://schemas.openxmlformats.org/officeDocument/2006/relationships/image" Target="../media/image146.png"/><Relationship Id="rId7" Type="http://schemas.openxmlformats.org/officeDocument/2006/relationships/image" Target="../media/image145.png"/><Relationship Id="rId6" Type="http://schemas.openxmlformats.org/officeDocument/2006/relationships/image" Target="../media/image144.png"/><Relationship Id="rId5" Type="http://schemas.openxmlformats.org/officeDocument/2006/relationships/image" Target="../media/image143.png"/><Relationship Id="rId4" Type="http://schemas.openxmlformats.org/officeDocument/2006/relationships/image" Target="../media/image142.wmf"/><Relationship Id="rId3" Type="http://schemas.openxmlformats.org/officeDocument/2006/relationships/oleObject" Target="../embeddings/oleObject21.bin"/><Relationship Id="rId2" Type="http://schemas.openxmlformats.org/officeDocument/2006/relationships/image" Target="../media/image141.wmf"/><Relationship Id="rId12" Type="http://schemas.openxmlformats.org/officeDocument/2006/relationships/vmlDrawing" Target="../drawings/vmlDrawing9.vml"/><Relationship Id="rId11" Type="http://schemas.openxmlformats.org/officeDocument/2006/relationships/slideLayout" Target="../slideLayouts/slideLayout1.xml"/><Relationship Id="rId10" Type="http://schemas.openxmlformats.org/officeDocument/2006/relationships/image" Target="../media/image148.png"/><Relationship Id="rId1" Type="http://schemas.openxmlformats.org/officeDocument/2006/relationships/oleObject" Target="../embeddings/oleObject20.bin"/></Relationships>
</file>

<file path=ppt/slides/_rels/slide27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1.xml"/><Relationship Id="rId5" Type="http://schemas.openxmlformats.org/officeDocument/2006/relationships/image" Target="../media/image153.png"/><Relationship Id="rId4" Type="http://schemas.openxmlformats.org/officeDocument/2006/relationships/image" Target="../media/image152.png"/><Relationship Id="rId3" Type="http://schemas.openxmlformats.org/officeDocument/2006/relationships/image" Target="../media/image151.png"/><Relationship Id="rId2" Type="http://schemas.openxmlformats.org/officeDocument/2006/relationships/image" Target="../media/image150.png"/><Relationship Id="rId1" Type="http://schemas.openxmlformats.org/officeDocument/2006/relationships/image" Target="../media/image149.png"/></Relationships>
</file>

<file path=ppt/slides/_rels/slide28.xml.rels><?xml version="1.0" encoding="UTF-8" standalone="yes"?>
<Relationships xmlns="http://schemas.openxmlformats.org/package/2006/relationships"><Relationship Id="rId9" Type="http://schemas.openxmlformats.org/officeDocument/2006/relationships/vmlDrawing" Target="../drawings/vmlDrawing10.vml"/><Relationship Id="rId8" Type="http://schemas.openxmlformats.org/officeDocument/2006/relationships/slideLayout" Target="../slideLayouts/slideLayout1.xml"/><Relationship Id="rId7" Type="http://schemas.openxmlformats.org/officeDocument/2006/relationships/image" Target="../media/image159.png"/><Relationship Id="rId6" Type="http://schemas.openxmlformats.org/officeDocument/2006/relationships/image" Target="../media/image158.png"/><Relationship Id="rId5" Type="http://schemas.openxmlformats.org/officeDocument/2006/relationships/image" Target="../media/image157.png"/><Relationship Id="rId4" Type="http://schemas.openxmlformats.org/officeDocument/2006/relationships/image" Target="../media/image156.png"/><Relationship Id="rId3" Type="http://schemas.openxmlformats.org/officeDocument/2006/relationships/image" Target="../media/image155.png"/><Relationship Id="rId2" Type="http://schemas.openxmlformats.org/officeDocument/2006/relationships/image" Target="../media/image154.wmf"/><Relationship Id="rId1" Type="http://schemas.openxmlformats.org/officeDocument/2006/relationships/oleObject" Target="../embeddings/oleObject22.bin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60.png"/></Relationships>
</file>

<file path=ppt/slides/_rels/slide30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1.xml"/><Relationship Id="rId6" Type="http://schemas.openxmlformats.org/officeDocument/2006/relationships/image" Target="../media/image166.png"/><Relationship Id="rId5" Type="http://schemas.openxmlformats.org/officeDocument/2006/relationships/image" Target="../media/image165.png"/><Relationship Id="rId4" Type="http://schemas.openxmlformats.org/officeDocument/2006/relationships/image" Target="../media/image164.png"/><Relationship Id="rId3" Type="http://schemas.openxmlformats.org/officeDocument/2006/relationships/image" Target="../media/image163.png"/><Relationship Id="rId2" Type="http://schemas.openxmlformats.org/officeDocument/2006/relationships/image" Target="../media/image162.png"/><Relationship Id="rId1" Type="http://schemas.openxmlformats.org/officeDocument/2006/relationships/image" Target="../media/image161.png"/></Relationships>
</file>

<file path=ppt/slides/_rels/slide31.xml.rels><?xml version="1.0" encoding="UTF-8" standalone="yes"?>
<Relationships xmlns="http://schemas.openxmlformats.org/package/2006/relationships"><Relationship Id="rId5" Type="http://schemas.openxmlformats.org/officeDocument/2006/relationships/vmlDrawing" Target="../drawings/vmlDrawing11.v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168.wmf"/><Relationship Id="rId2" Type="http://schemas.openxmlformats.org/officeDocument/2006/relationships/oleObject" Target="../embeddings/oleObject23.bin"/><Relationship Id="rId1" Type="http://schemas.openxmlformats.org/officeDocument/2006/relationships/image" Target="../media/image167.png"/></Relationships>
</file>

<file path=ppt/slides/_rels/slide32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.xml"/><Relationship Id="rId4" Type="http://schemas.openxmlformats.org/officeDocument/2006/relationships/tags" Target="../tags/tag58.xml"/><Relationship Id="rId3" Type="http://schemas.openxmlformats.org/officeDocument/2006/relationships/image" Target="../media/image171.png"/><Relationship Id="rId2" Type="http://schemas.openxmlformats.org/officeDocument/2006/relationships/image" Target="../media/image170.png"/><Relationship Id="rId1" Type="http://schemas.openxmlformats.org/officeDocument/2006/relationships/image" Target="../media/image169.png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1.xml"/><Relationship Id="rId6" Type="http://schemas.openxmlformats.org/officeDocument/2006/relationships/image" Target="../media/image177.png"/><Relationship Id="rId5" Type="http://schemas.openxmlformats.org/officeDocument/2006/relationships/image" Target="../media/image176.png"/><Relationship Id="rId4" Type="http://schemas.openxmlformats.org/officeDocument/2006/relationships/image" Target="../media/image175.png"/><Relationship Id="rId3" Type="http://schemas.openxmlformats.org/officeDocument/2006/relationships/image" Target="../media/image174.png"/><Relationship Id="rId2" Type="http://schemas.openxmlformats.org/officeDocument/2006/relationships/image" Target="../media/image173.png"/><Relationship Id="rId1" Type="http://schemas.openxmlformats.org/officeDocument/2006/relationships/image" Target="../media/image172.png"/></Relationships>
</file>

<file path=ppt/slides/_rels/slide35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.xml"/><Relationship Id="rId4" Type="http://schemas.openxmlformats.org/officeDocument/2006/relationships/tags" Target="../tags/tag59.xml"/><Relationship Id="rId3" Type="http://schemas.openxmlformats.org/officeDocument/2006/relationships/image" Target="../media/image180.png"/><Relationship Id="rId2" Type="http://schemas.openxmlformats.org/officeDocument/2006/relationships/image" Target="../media/image179.png"/><Relationship Id="rId1" Type="http://schemas.openxmlformats.org/officeDocument/2006/relationships/image" Target="../media/image178.png"/></Relationships>
</file>

<file path=ppt/slides/_rels/slide36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184.png"/><Relationship Id="rId3" Type="http://schemas.openxmlformats.org/officeDocument/2006/relationships/image" Target="../media/image183.png"/><Relationship Id="rId2" Type="http://schemas.openxmlformats.org/officeDocument/2006/relationships/image" Target="../media/image182.png"/><Relationship Id="rId1" Type="http://schemas.openxmlformats.org/officeDocument/2006/relationships/image" Target="../media/image181.png"/></Relationships>
</file>

<file path=ppt/slides/_rels/slide37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1.xml"/><Relationship Id="rId6" Type="http://schemas.openxmlformats.org/officeDocument/2006/relationships/image" Target="../media/image188.png"/><Relationship Id="rId5" Type="http://schemas.openxmlformats.org/officeDocument/2006/relationships/image" Target="../media/image183.png"/><Relationship Id="rId4" Type="http://schemas.openxmlformats.org/officeDocument/2006/relationships/image" Target="../media/image182.png"/><Relationship Id="rId3" Type="http://schemas.openxmlformats.org/officeDocument/2006/relationships/image" Target="../media/image187.png"/><Relationship Id="rId2" Type="http://schemas.openxmlformats.org/officeDocument/2006/relationships/image" Target="../media/image186.png"/><Relationship Id="rId1" Type="http://schemas.openxmlformats.org/officeDocument/2006/relationships/image" Target="../media/image185.png"/></Relationships>
</file>

<file path=ppt/slides/_rels/slide38.xml.rels><?xml version="1.0" encoding="UTF-8" standalone="yes"?>
<Relationships xmlns="http://schemas.openxmlformats.org/package/2006/relationships"><Relationship Id="rId9" Type="http://schemas.openxmlformats.org/officeDocument/2006/relationships/image" Target="../media/image195.png"/><Relationship Id="rId8" Type="http://schemas.openxmlformats.org/officeDocument/2006/relationships/image" Target="../media/image194.png"/><Relationship Id="rId7" Type="http://schemas.openxmlformats.org/officeDocument/2006/relationships/image" Target="../media/image193.png"/><Relationship Id="rId6" Type="http://schemas.openxmlformats.org/officeDocument/2006/relationships/image" Target="../media/image192.png"/><Relationship Id="rId5" Type="http://schemas.openxmlformats.org/officeDocument/2006/relationships/image" Target="../media/image191.png"/><Relationship Id="rId4" Type="http://schemas.openxmlformats.org/officeDocument/2006/relationships/image" Target="../media/image190.png"/><Relationship Id="rId3" Type="http://schemas.openxmlformats.org/officeDocument/2006/relationships/image" Target="../media/image189.png"/><Relationship Id="rId2" Type="http://schemas.openxmlformats.org/officeDocument/2006/relationships/image" Target="../media/image183.png"/><Relationship Id="rId10" Type="http://schemas.openxmlformats.org/officeDocument/2006/relationships/slideLayout" Target="../slideLayouts/slideLayout1.xml"/><Relationship Id="rId1" Type="http://schemas.openxmlformats.org/officeDocument/2006/relationships/image" Target="../media/image182.pn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183.png"/><Relationship Id="rId1" Type="http://schemas.openxmlformats.org/officeDocument/2006/relationships/image" Target="../media/image182.png"/></Relationships>
</file>

<file path=ppt/slides/_rels/slide40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.xml"/><Relationship Id="rId4" Type="http://schemas.openxmlformats.org/officeDocument/2006/relationships/tags" Target="../tags/tag60.xml"/><Relationship Id="rId3" Type="http://schemas.openxmlformats.org/officeDocument/2006/relationships/image" Target="../media/image198.png"/><Relationship Id="rId2" Type="http://schemas.openxmlformats.org/officeDocument/2006/relationships/image" Target="../media/image197.png"/><Relationship Id="rId1" Type="http://schemas.openxmlformats.org/officeDocument/2006/relationships/image" Target="../media/image196.png"/></Relationships>
</file>

<file path=ppt/slides/_rels/slide41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200.png"/><Relationship Id="rId2" Type="http://schemas.openxmlformats.org/officeDocument/2006/relationships/image" Target="../media/image199.png"/><Relationship Id="rId1" Type="http://schemas.openxmlformats.org/officeDocument/2006/relationships/image" Target="../media/image196.png"/></Relationships>
</file>

<file path=ppt/slides/_rels/slide42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202.png"/><Relationship Id="rId2" Type="http://schemas.openxmlformats.org/officeDocument/2006/relationships/image" Target="../media/image201.png"/><Relationship Id="rId1" Type="http://schemas.openxmlformats.org/officeDocument/2006/relationships/image" Target="../media/image196.png"/></Relationships>
</file>

<file path=ppt/slides/_rels/slide43.xml.rels><?xml version="1.0" encoding="UTF-8" standalone="yes"?>
<Relationships xmlns="http://schemas.openxmlformats.org/package/2006/relationships"><Relationship Id="rId9" Type="http://schemas.openxmlformats.org/officeDocument/2006/relationships/image" Target="../media/image209.png"/><Relationship Id="rId8" Type="http://schemas.openxmlformats.org/officeDocument/2006/relationships/image" Target="../media/image208.png"/><Relationship Id="rId7" Type="http://schemas.openxmlformats.org/officeDocument/2006/relationships/image" Target="../media/image207.png"/><Relationship Id="rId6" Type="http://schemas.openxmlformats.org/officeDocument/2006/relationships/image" Target="../media/image206.png"/><Relationship Id="rId5" Type="http://schemas.openxmlformats.org/officeDocument/2006/relationships/image" Target="../media/image205.png"/><Relationship Id="rId4" Type="http://schemas.openxmlformats.org/officeDocument/2006/relationships/image" Target="../media/image204.wmf"/><Relationship Id="rId3" Type="http://schemas.openxmlformats.org/officeDocument/2006/relationships/oleObject" Target="../embeddings/oleObject25.bin"/><Relationship Id="rId20" Type="http://schemas.openxmlformats.org/officeDocument/2006/relationships/vmlDrawing" Target="../drawings/vmlDrawing12.vml"/><Relationship Id="rId2" Type="http://schemas.openxmlformats.org/officeDocument/2006/relationships/image" Target="../media/image203.wmf"/><Relationship Id="rId19" Type="http://schemas.openxmlformats.org/officeDocument/2006/relationships/slideLayout" Target="../slideLayouts/slideLayout1.xml"/><Relationship Id="rId18" Type="http://schemas.openxmlformats.org/officeDocument/2006/relationships/image" Target="../media/image218.png"/><Relationship Id="rId17" Type="http://schemas.openxmlformats.org/officeDocument/2006/relationships/image" Target="../media/image217.png"/><Relationship Id="rId16" Type="http://schemas.openxmlformats.org/officeDocument/2006/relationships/image" Target="../media/image216.png"/><Relationship Id="rId15" Type="http://schemas.openxmlformats.org/officeDocument/2006/relationships/image" Target="../media/image215.png"/><Relationship Id="rId14" Type="http://schemas.openxmlformats.org/officeDocument/2006/relationships/image" Target="../media/image214.png"/><Relationship Id="rId13" Type="http://schemas.openxmlformats.org/officeDocument/2006/relationships/image" Target="../media/image213.png"/><Relationship Id="rId12" Type="http://schemas.openxmlformats.org/officeDocument/2006/relationships/image" Target="../media/image212.png"/><Relationship Id="rId11" Type="http://schemas.openxmlformats.org/officeDocument/2006/relationships/image" Target="../media/image211.png"/><Relationship Id="rId10" Type="http://schemas.openxmlformats.org/officeDocument/2006/relationships/image" Target="../media/image210.png"/><Relationship Id="rId1" Type="http://schemas.openxmlformats.org/officeDocument/2006/relationships/oleObject" Target="../embeddings/oleObject24.bin"/></Relationships>
</file>

<file path=ppt/slides/_rels/slide44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1.xml"/><Relationship Id="rId6" Type="http://schemas.openxmlformats.org/officeDocument/2006/relationships/tags" Target="../tags/tag61.xml"/><Relationship Id="rId5" Type="http://schemas.openxmlformats.org/officeDocument/2006/relationships/image" Target="../media/image222.png"/><Relationship Id="rId4" Type="http://schemas.openxmlformats.org/officeDocument/2006/relationships/image" Target="../media/image221.png"/><Relationship Id="rId3" Type="http://schemas.openxmlformats.org/officeDocument/2006/relationships/image" Target="../media/image220.png"/><Relationship Id="rId2" Type="http://schemas.openxmlformats.org/officeDocument/2006/relationships/image" Target="../media/image160.png"/><Relationship Id="rId1" Type="http://schemas.openxmlformats.org/officeDocument/2006/relationships/image" Target="../media/image219.png"/></Relationships>
</file>

<file path=ppt/slides/_rels/slide45.xml.rels><?xml version="1.0" encoding="UTF-8" standalone="yes"?>
<Relationships xmlns="http://schemas.openxmlformats.org/package/2006/relationships"><Relationship Id="rId9" Type="http://schemas.openxmlformats.org/officeDocument/2006/relationships/image" Target="../media/image231.png"/><Relationship Id="rId8" Type="http://schemas.openxmlformats.org/officeDocument/2006/relationships/image" Target="../media/image230.png"/><Relationship Id="rId7" Type="http://schemas.openxmlformats.org/officeDocument/2006/relationships/image" Target="../media/image229.png"/><Relationship Id="rId6" Type="http://schemas.openxmlformats.org/officeDocument/2006/relationships/image" Target="../media/image228.png"/><Relationship Id="rId5" Type="http://schemas.openxmlformats.org/officeDocument/2006/relationships/image" Target="../media/image227.png"/><Relationship Id="rId4" Type="http://schemas.openxmlformats.org/officeDocument/2006/relationships/image" Target="../media/image226.png"/><Relationship Id="rId3" Type="http://schemas.openxmlformats.org/officeDocument/2006/relationships/image" Target="../media/image225.png"/><Relationship Id="rId2" Type="http://schemas.openxmlformats.org/officeDocument/2006/relationships/image" Target="../media/image224.png"/><Relationship Id="rId14" Type="http://schemas.openxmlformats.org/officeDocument/2006/relationships/vmlDrawing" Target="../drawings/vmlDrawing13.vml"/><Relationship Id="rId13" Type="http://schemas.openxmlformats.org/officeDocument/2006/relationships/slideLayout" Target="../slideLayouts/slideLayout1.xml"/><Relationship Id="rId12" Type="http://schemas.openxmlformats.org/officeDocument/2006/relationships/image" Target="../media/image233.png"/><Relationship Id="rId11" Type="http://schemas.openxmlformats.org/officeDocument/2006/relationships/image" Target="../media/image232.wmf"/><Relationship Id="rId10" Type="http://schemas.openxmlformats.org/officeDocument/2006/relationships/oleObject" Target="../embeddings/oleObject26.bin"/><Relationship Id="rId1" Type="http://schemas.openxmlformats.org/officeDocument/2006/relationships/image" Target="../media/image223.png"/></Relationships>
</file>

<file path=ppt/slides/_rels/slide46.xml.rels><?xml version="1.0" encoding="UTF-8" standalone="yes"?>
<Relationships xmlns="http://schemas.openxmlformats.org/package/2006/relationships"><Relationship Id="rId9" Type="http://schemas.openxmlformats.org/officeDocument/2006/relationships/tags" Target="../tags/tag67.xml"/><Relationship Id="rId8" Type="http://schemas.openxmlformats.org/officeDocument/2006/relationships/image" Target="../media/image236.png"/><Relationship Id="rId7" Type="http://schemas.openxmlformats.org/officeDocument/2006/relationships/tags" Target="../tags/tag66.xml"/><Relationship Id="rId6" Type="http://schemas.openxmlformats.org/officeDocument/2006/relationships/tags" Target="../tags/tag65.xml"/><Relationship Id="rId5" Type="http://schemas.openxmlformats.org/officeDocument/2006/relationships/image" Target="../media/image235.png"/><Relationship Id="rId4" Type="http://schemas.openxmlformats.org/officeDocument/2006/relationships/tags" Target="../tags/tag64.xml"/><Relationship Id="rId3" Type="http://schemas.openxmlformats.org/officeDocument/2006/relationships/tags" Target="../tags/tag63.xml"/><Relationship Id="rId2" Type="http://schemas.openxmlformats.org/officeDocument/2006/relationships/image" Target="../media/image234.png"/><Relationship Id="rId10" Type="http://schemas.openxmlformats.org/officeDocument/2006/relationships/slideLayout" Target="../slideLayouts/slideLayout2.xml"/><Relationship Id="rId1" Type="http://schemas.openxmlformats.org/officeDocument/2006/relationships/tags" Target="../tags/tag6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8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2.xml"/><Relationship Id="rId6" Type="http://schemas.openxmlformats.org/officeDocument/2006/relationships/image" Target="../media/image242.png"/><Relationship Id="rId5" Type="http://schemas.openxmlformats.org/officeDocument/2006/relationships/image" Target="../media/image241.png"/><Relationship Id="rId4" Type="http://schemas.openxmlformats.org/officeDocument/2006/relationships/image" Target="../media/image240.png"/><Relationship Id="rId3" Type="http://schemas.openxmlformats.org/officeDocument/2006/relationships/image" Target="../media/image239.png"/><Relationship Id="rId2" Type="http://schemas.openxmlformats.org/officeDocument/2006/relationships/image" Target="../media/image238.png"/><Relationship Id="rId1" Type="http://schemas.openxmlformats.org/officeDocument/2006/relationships/image" Target="../media/image237.png"/></Relationships>
</file>

<file path=ppt/slides/_rels/slide49.xml.rels><?xml version="1.0" encoding="UTF-8" standalone="yes"?>
<Relationships xmlns="http://schemas.openxmlformats.org/package/2006/relationships"><Relationship Id="rId9" Type="http://schemas.openxmlformats.org/officeDocument/2006/relationships/tags" Target="../tags/tag72.xml"/><Relationship Id="rId8" Type="http://schemas.openxmlformats.org/officeDocument/2006/relationships/image" Target="../media/image244.emf"/><Relationship Id="rId7" Type="http://schemas.openxmlformats.org/officeDocument/2006/relationships/oleObject" Target="../embeddings/oleObject28.bin"/><Relationship Id="rId6" Type="http://schemas.openxmlformats.org/officeDocument/2006/relationships/tags" Target="../tags/tag71.xml"/><Relationship Id="rId5" Type="http://schemas.openxmlformats.org/officeDocument/2006/relationships/tags" Target="../tags/tag70.xml"/><Relationship Id="rId4" Type="http://schemas.openxmlformats.org/officeDocument/2006/relationships/tags" Target="../tags/tag69.xml"/><Relationship Id="rId3" Type="http://schemas.openxmlformats.org/officeDocument/2006/relationships/image" Target="../media/image243.wmf"/><Relationship Id="rId23" Type="http://schemas.openxmlformats.org/officeDocument/2006/relationships/vmlDrawing" Target="../drawings/vmlDrawing14.vml"/><Relationship Id="rId22" Type="http://schemas.openxmlformats.org/officeDocument/2006/relationships/slideLayout" Target="../slideLayouts/slideLayout2.xml"/><Relationship Id="rId21" Type="http://schemas.openxmlformats.org/officeDocument/2006/relationships/tags" Target="../tags/tag78.xml"/><Relationship Id="rId20" Type="http://schemas.openxmlformats.org/officeDocument/2006/relationships/image" Target="../media/image247.wmf"/><Relationship Id="rId2" Type="http://schemas.openxmlformats.org/officeDocument/2006/relationships/oleObject" Target="../embeddings/oleObject27.bin"/><Relationship Id="rId19" Type="http://schemas.openxmlformats.org/officeDocument/2006/relationships/oleObject" Target="../embeddings/oleObject31.bin"/><Relationship Id="rId18" Type="http://schemas.openxmlformats.org/officeDocument/2006/relationships/tags" Target="../tags/tag77.xml"/><Relationship Id="rId17" Type="http://schemas.openxmlformats.org/officeDocument/2006/relationships/tags" Target="../tags/tag76.xml"/><Relationship Id="rId16" Type="http://schemas.openxmlformats.org/officeDocument/2006/relationships/image" Target="../media/image246.wmf"/><Relationship Id="rId15" Type="http://schemas.openxmlformats.org/officeDocument/2006/relationships/oleObject" Target="../embeddings/oleObject30.bin"/><Relationship Id="rId14" Type="http://schemas.openxmlformats.org/officeDocument/2006/relationships/tags" Target="../tags/tag75.xml"/><Relationship Id="rId13" Type="http://schemas.openxmlformats.org/officeDocument/2006/relationships/tags" Target="../tags/tag74.xml"/><Relationship Id="rId12" Type="http://schemas.openxmlformats.org/officeDocument/2006/relationships/tags" Target="../tags/tag73.xml"/><Relationship Id="rId11" Type="http://schemas.openxmlformats.org/officeDocument/2006/relationships/image" Target="../media/image245.wmf"/><Relationship Id="rId10" Type="http://schemas.openxmlformats.org/officeDocument/2006/relationships/oleObject" Target="../embeddings/oleObject29.bin"/><Relationship Id="rId1" Type="http://schemas.openxmlformats.org/officeDocument/2006/relationships/tags" Target="../tags/tag68.xml"/></Relationships>
</file>

<file path=ppt/slides/_rels/slide50.xml.rels><?xml version="1.0" encoding="UTF-8" standalone="yes"?>
<Relationships xmlns="http://schemas.openxmlformats.org/package/2006/relationships"><Relationship Id="rId6" Type="http://schemas.openxmlformats.org/officeDocument/2006/relationships/vmlDrawing" Target="../drawings/vmlDrawing15.vml"/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248.png"/><Relationship Id="rId3" Type="http://schemas.openxmlformats.org/officeDocument/2006/relationships/tags" Target="../tags/tag79.xml"/><Relationship Id="rId2" Type="http://schemas.openxmlformats.org/officeDocument/2006/relationships/image" Target="../media/image168.wmf"/><Relationship Id="rId1" Type="http://schemas.openxmlformats.org/officeDocument/2006/relationships/oleObject" Target="../embeddings/oleObject32.bin"/></Relationships>
</file>

<file path=ppt/slides/_rels/slide51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tags" Target="../tags/tag80.xml"/><Relationship Id="rId2" Type="http://schemas.openxmlformats.org/officeDocument/2006/relationships/image" Target="../media/image170.png"/><Relationship Id="rId1" Type="http://schemas.openxmlformats.org/officeDocument/2006/relationships/image" Target="../media/image249.png"/></Relationships>
</file>

<file path=ppt/slides/_rels/slide52.xml.rels><?xml version="1.0" encoding="UTF-8" standalone="yes"?>
<Relationships xmlns="http://schemas.openxmlformats.org/package/2006/relationships"><Relationship Id="rId9" Type="http://schemas.openxmlformats.org/officeDocument/2006/relationships/image" Target="../media/image254.png"/><Relationship Id="rId8" Type="http://schemas.openxmlformats.org/officeDocument/2006/relationships/image" Target="../media/image253.png"/><Relationship Id="rId7" Type="http://schemas.openxmlformats.org/officeDocument/2006/relationships/image" Target="../media/image252.png"/><Relationship Id="rId6" Type="http://schemas.openxmlformats.org/officeDocument/2006/relationships/image" Target="../media/image251.wmf"/><Relationship Id="rId5" Type="http://schemas.openxmlformats.org/officeDocument/2006/relationships/oleObject" Target="../embeddings/oleObject34.bin"/><Relationship Id="rId4" Type="http://schemas.openxmlformats.org/officeDocument/2006/relationships/tags" Target="../tags/tag82.xml"/><Relationship Id="rId3" Type="http://schemas.openxmlformats.org/officeDocument/2006/relationships/image" Target="../media/image250.emf"/><Relationship Id="rId2" Type="http://schemas.openxmlformats.org/officeDocument/2006/relationships/oleObject" Target="../embeddings/oleObject33.bin"/><Relationship Id="rId11" Type="http://schemas.openxmlformats.org/officeDocument/2006/relationships/vmlDrawing" Target="../drawings/vmlDrawing16.vml"/><Relationship Id="rId10" Type="http://schemas.openxmlformats.org/officeDocument/2006/relationships/slideLayout" Target="../slideLayouts/slideLayout2.xml"/><Relationship Id="rId1" Type="http://schemas.openxmlformats.org/officeDocument/2006/relationships/tags" Target="../tags/tag81.xml"/></Relationships>
</file>

<file path=ppt/slides/_rels/slide53.xml.rels><?xml version="1.0" encoding="UTF-8" standalone="yes"?>
<Relationships xmlns="http://schemas.openxmlformats.org/package/2006/relationships"><Relationship Id="rId9" Type="http://schemas.openxmlformats.org/officeDocument/2006/relationships/tags" Target="../tags/tag87.xml"/><Relationship Id="rId8" Type="http://schemas.openxmlformats.org/officeDocument/2006/relationships/tags" Target="../tags/tag86.xml"/><Relationship Id="rId7" Type="http://schemas.openxmlformats.org/officeDocument/2006/relationships/tags" Target="../tags/tag85.xml"/><Relationship Id="rId6" Type="http://schemas.openxmlformats.org/officeDocument/2006/relationships/image" Target="../media/image256.wmf"/><Relationship Id="rId5" Type="http://schemas.openxmlformats.org/officeDocument/2006/relationships/oleObject" Target="../embeddings/oleObject36.bin"/><Relationship Id="rId4" Type="http://schemas.openxmlformats.org/officeDocument/2006/relationships/tags" Target="../tags/tag84.xml"/><Relationship Id="rId3" Type="http://schemas.openxmlformats.org/officeDocument/2006/relationships/image" Target="../media/image255.wmf"/><Relationship Id="rId21" Type="http://schemas.openxmlformats.org/officeDocument/2006/relationships/vmlDrawing" Target="../drawings/vmlDrawing17.vml"/><Relationship Id="rId20" Type="http://schemas.openxmlformats.org/officeDocument/2006/relationships/slideLayout" Target="../slideLayouts/slideLayout2.xml"/><Relationship Id="rId2" Type="http://schemas.openxmlformats.org/officeDocument/2006/relationships/oleObject" Target="../embeddings/oleObject35.bin"/><Relationship Id="rId19" Type="http://schemas.openxmlformats.org/officeDocument/2006/relationships/image" Target="../media/image259.wmf"/><Relationship Id="rId18" Type="http://schemas.openxmlformats.org/officeDocument/2006/relationships/oleObject" Target="../embeddings/oleObject38.bin"/><Relationship Id="rId17" Type="http://schemas.openxmlformats.org/officeDocument/2006/relationships/tags" Target="../tags/tag92.xml"/><Relationship Id="rId16" Type="http://schemas.openxmlformats.org/officeDocument/2006/relationships/tags" Target="../tags/tag91.xml"/><Relationship Id="rId15" Type="http://schemas.openxmlformats.org/officeDocument/2006/relationships/image" Target="../media/image258.png"/><Relationship Id="rId14" Type="http://schemas.openxmlformats.org/officeDocument/2006/relationships/tags" Target="../tags/tag90.xml"/><Relationship Id="rId13" Type="http://schemas.openxmlformats.org/officeDocument/2006/relationships/tags" Target="../tags/tag89.xml"/><Relationship Id="rId12" Type="http://schemas.openxmlformats.org/officeDocument/2006/relationships/tags" Target="../tags/tag88.xml"/><Relationship Id="rId11" Type="http://schemas.openxmlformats.org/officeDocument/2006/relationships/image" Target="../media/image257.wmf"/><Relationship Id="rId10" Type="http://schemas.openxmlformats.org/officeDocument/2006/relationships/oleObject" Target="../embeddings/oleObject37.bin"/><Relationship Id="rId1" Type="http://schemas.openxmlformats.org/officeDocument/2006/relationships/tags" Target="../tags/tag83.xml"/></Relationships>
</file>

<file path=ppt/slides/_rels/slide54.xml.rels><?xml version="1.0" encoding="UTF-8" standalone="yes"?>
<Relationships xmlns="http://schemas.openxmlformats.org/package/2006/relationships"><Relationship Id="rId9" Type="http://schemas.openxmlformats.org/officeDocument/2006/relationships/tags" Target="../tags/tag101.xml"/><Relationship Id="rId8" Type="http://schemas.openxmlformats.org/officeDocument/2006/relationships/tags" Target="../tags/tag100.xml"/><Relationship Id="rId7" Type="http://schemas.openxmlformats.org/officeDocument/2006/relationships/tags" Target="../tags/tag99.xml"/><Relationship Id="rId6" Type="http://schemas.openxmlformats.org/officeDocument/2006/relationships/tags" Target="../tags/tag98.xml"/><Relationship Id="rId5" Type="http://schemas.openxmlformats.org/officeDocument/2006/relationships/tags" Target="../tags/tag97.xml"/><Relationship Id="rId4" Type="http://schemas.openxmlformats.org/officeDocument/2006/relationships/tags" Target="../tags/tag96.xml"/><Relationship Id="rId3" Type="http://schemas.openxmlformats.org/officeDocument/2006/relationships/tags" Target="../tags/tag95.xml"/><Relationship Id="rId2" Type="http://schemas.openxmlformats.org/officeDocument/2006/relationships/tags" Target="../tags/tag94.xml"/><Relationship Id="rId12" Type="http://schemas.openxmlformats.org/officeDocument/2006/relationships/slideLayout" Target="../slideLayouts/slideLayout2.xml"/><Relationship Id="rId11" Type="http://schemas.openxmlformats.org/officeDocument/2006/relationships/image" Target="../media/image260.png"/><Relationship Id="rId10" Type="http://schemas.openxmlformats.org/officeDocument/2006/relationships/tags" Target="../tags/tag102.xml"/><Relationship Id="rId1" Type="http://schemas.openxmlformats.org/officeDocument/2006/relationships/tags" Target="../tags/tag93.xml"/></Relationships>
</file>

<file path=ppt/slides/_rels/slide55.xml.rels><?xml version="1.0" encoding="UTF-8" standalone="yes"?>
<Relationships xmlns="http://schemas.openxmlformats.org/package/2006/relationships"><Relationship Id="rId9" Type="http://schemas.openxmlformats.org/officeDocument/2006/relationships/image" Target="../media/image260.png"/><Relationship Id="rId8" Type="http://schemas.openxmlformats.org/officeDocument/2006/relationships/image" Target="../media/image268.png"/><Relationship Id="rId7" Type="http://schemas.openxmlformats.org/officeDocument/2006/relationships/image" Target="../media/image267.png"/><Relationship Id="rId6" Type="http://schemas.openxmlformats.org/officeDocument/2006/relationships/image" Target="../media/image266.png"/><Relationship Id="rId5" Type="http://schemas.openxmlformats.org/officeDocument/2006/relationships/image" Target="../media/image265.png"/><Relationship Id="rId4" Type="http://schemas.openxmlformats.org/officeDocument/2006/relationships/image" Target="../media/image264.png"/><Relationship Id="rId3" Type="http://schemas.openxmlformats.org/officeDocument/2006/relationships/image" Target="../media/image263.png"/><Relationship Id="rId2" Type="http://schemas.openxmlformats.org/officeDocument/2006/relationships/image" Target="../media/image262.png"/><Relationship Id="rId13" Type="http://schemas.openxmlformats.org/officeDocument/2006/relationships/slideLayout" Target="../slideLayouts/slideLayout1.xml"/><Relationship Id="rId12" Type="http://schemas.openxmlformats.org/officeDocument/2006/relationships/image" Target="../media/image271.png"/><Relationship Id="rId11" Type="http://schemas.openxmlformats.org/officeDocument/2006/relationships/image" Target="../media/image270.png"/><Relationship Id="rId10" Type="http://schemas.openxmlformats.org/officeDocument/2006/relationships/image" Target="../media/image269.png"/><Relationship Id="rId1" Type="http://schemas.openxmlformats.org/officeDocument/2006/relationships/image" Target="../media/image261.png"/></Relationships>
</file>

<file path=ppt/slides/_rels/slide56.xml.rels><?xml version="1.0" encoding="UTF-8" standalone="yes"?>
<Relationships xmlns="http://schemas.openxmlformats.org/package/2006/relationships"><Relationship Id="rId9" Type="http://schemas.openxmlformats.org/officeDocument/2006/relationships/image" Target="../media/image278.png"/><Relationship Id="rId8" Type="http://schemas.openxmlformats.org/officeDocument/2006/relationships/image" Target="../media/image277.png"/><Relationship Id="rId7" Type="http://schemas.openxmlformats.org/officeDocument/2006/relationships/image" Target="../media/image276.png"/><Relationship Id="rId6" Type="http://schemas.openxmlformats.org/officeDocument/2006/relationships/image" Target="../media/image275.png"/><Relationship Id="rId5" Type="http://schemas.openxmlformats.org/officeDocument/2006/relationships/image" Target="../media/image274.wmf"/><Relationship Id="rId4" Type="http://schemas.openxmlformats.org/officeDocument/2006/relationships/oleObject" Target="../embeddings/oleObject40.bin"/><Relationship Id="rId3" Type="http://schemas.openxmlformats.org/officeDocument/2006/relationships/image" Target="../media/image273.wmf"/><Relationship Id="rId2" Type="http://schemas.openxmlformats.org/officeDocument/2006/relationships/oleObject" Target="../embeddings/oleObject39.bin"/><Relationship Id="rId15" Type="http://schemas.openxmlformats.org/officeDocument/2006/relationships/vmlDrawing" Target="../drawings/vmlDrawing18.vml"/><Relationship Id="rId14" Type="http://schemas.openxmlformats.org/officeDocument/2006/relationships/slideLayout" Target="../slideLayouts/slideLayout1.xml"/><Relationship Id="rId13" Type="http://schemas.openxmlformats.org/officeDocument/2006/relationships/image" Target="../media/image282.png"/><Relationship Id="rId12" Type="http://schemas.openxmlformats.org/officeDocument/2006/relationships/image" Target="../media/image281.png"/><Relationship Id="rId11" Type="http://schemas.openxmlformats.org/officeDocument/2006/relationships/image" Target="../media/image280.png"/><Relationship Id="rId10" Type="http://schemas.openxmlformats.org/officeDocument/2006/relationships/image" Target="../media/image279.png"/><Relationship Id="rId1" Type="http://schemas.openxmlformats.org/officeDocument/2006/relationships/image" Target="../media/image272.png"/></Relationships>
</file>

<file path=ppt/slides/_rels/slide57.xml.rels><?xml version="1.0" encoding="UTF-8" standalone="yes"?>
<Relationships xmlns="http://schemas.openxmlformats.org/package/2006/relationships"><Relationship Id="rId9" Type="http://schemas.openxmlformats.org/officeDocument/2006/relationships/tags" Target="../tags/tag108.xml"/><Relationship Id="rId8" Type="http://schemas.openxmlformats.org/officeDocument/2006/relationships/image" Target="../media/image285.png"/><Relationship Id="rId7" Type="http://schemas.openxmlformats.org/officeDocument/2006/relationships/tags" Target="../tags/tag107.xml"/><Relationship Id="rId6" Type="http://schemas.openxmlformats.org/officeDocument/2006/relationships/tags" Target="../tags/tag106.xml"/><Relationship Id="rId5" Type="http://schemas.openxmlformats.org/officeDocument/2006/relationships/image" Target="../media/image284.png"/><Relationship Id="rId4" Type="http://schemas.openxmlformats.org/officeDocument/2006/relationships/tags" Target="../tags/tag105.xml"/><Relationship Id="rId3" Type="http://schemas.openxmlformats.org/officeDocument/2006/relationships/tags" Target="../tags/tag104.xml"/><Relationship Id="rId2" Type="http://schemas.openxmlformats.org/officeDocument/2006/relationships/image" Target="../media/image283.png"/><Relationship Id="rId10" Type="http://schemas.openxmlformats.org/officeDocument/2006/relationships/slideLayout" Target="../slideLayouts/slideLayout2.xml"/><Relationship Id="rId1" Type="http://schemas.openxmlformats.org/officeDocument/2006/relationships/tags" Target="../tags/tag103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9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43.bin"/><Relationship Id="rId8" Type="http://schemas.openxmlformats.org/officeDocument/2006/relationships/image" Target="../media/image291.wmf"/><Relationship Id="rId7" Type="http://schemas.openxmlformats.org/officeDocument/2006/relationships/oleObject" Target="../embeddings/oleObject42.bin"/><Relationship Id="rId6" Type="http://schemas.openxmlformats.org/officeDocument/2006/relationships/image" Target="../media/image290.wmf"/><Relationship Id="rId5" Type="http://schemas.openxmlformats.org/officeDocument/2006/relationships/oleObject" Target="../embeddings/oleObject41.bin"/><Relationship Id="rId4" Type="http://schemas.openxmlformats.org/officeDocument/2006/relationships/image" Target="../media/image289.png"/><Relationship Id="rId3" Type="http://schemas.openxmlformats.org/officeDocument/2006/relationships/image" Target="../media/image288.png"/><Relationship Id="rId2" Type="http://schemas.openxmlformats.org/officeDocument/2006/relationships/image" Target="../media/image287.png"/><Relationship Id="rId14" Type="http://schemas.openxmlformats.org/officeDocument/2006/relationships/vmlDrawing" Target="../drawings/vmlDrawing19.vml"/><Relationship Id="rId13" Type="http://schemas.openxmlformats.org/officeDocument/2006/relationships/slideLayout" Target="../slideLayouts/slideLayout1.xml"/><Relationship Id="rId12" Type="http://schemas.openxmlformats.org/officeDocument/2006/relationships/image" Target="../media/image294.png"/><Relationship Id="rId11" Type="http://schemas.openxmlformats.org/officeDocument/2006/relationships/image" Target="../media/image293.png"/><Relationship Id="rId10" Type="http://schemas.openxmlformats.org/officeDocument/2006/relationships/image" Target="../media/image292.wmf"/><Relationship Id="rId1" Type="http://schemas.openxmlformats.org/officeDocument/2006/relationships/image" Target="../media/image286.png"/></Relationships>
</file>

<file path=ppt/slides/_rels/slide60.xml.rels><?xml version="1.0" encoding="UTF-8" standalone="yes"?>
<Relationships xmlns="http://schemas.openxmlformats.org/package/2006/relationships"><Relationship Id="rId9" Type="http://schemas.openxmlformats.org/officeDocument/2006/relationships/tags" Target="../tags/tag114.xml"/><Relationship Id="rId8" Type="http://schemas.openxmlformats.org/officeDocument/2006/relationships/image" Target="../media/image297.png"/><Relationship Id="rId7" Type="http://schemas.openxmlformats.org/officeDocument/2006/relationships/tags" Target="../tags/tag113.xml"/><Relationship Id="rId6" Type="http://schemas.openxmlformats.org/officeDocument/2006/relationships/tags" Target="../tags/tag112.xml"/><Relationship Id="rId5" Type="http://schemas.openxmlformats.org/officeDocument/2006/relationships/image" Target="../media/image296.png"/><Relationship Id="rId4" Type="http://schemas.openxmlformats.org/officeDocument/2006/relationships/tags" Target="../tags/tag111.xml"/><Relationship Id="rId3" Type="http://schemas.openxmlformats.org/officeDocument/2006/relationships/tags" Target="../tags/tag110.xml"/><Relationship Id="rId2" Type="http://schemas.openxmlformats.org/officeDocument/2006/relationships/image" Target="../media/image295.png"/><Relationship Id="rId16" Type="http://schemas.openxmlformats.org/officeDocument/2006/relationships/slideLayout" Target="../slideLayouts/slideLayout2.xml"/><Relationship Id="rId15" Type="http://schemas.openxmlformats.org/officeDocument/2006/relationships/tags" Target="../tags/tag118.xml"/><Relationship Id="rId14" Type="http://schemas.openxmlformats.org/officeDocument/2006/relationships/image" Target="../media/image299.png"/><Relationship Id="rId13" Type="http://schemas.openxmlformats.org/officeDocument/2006/relationships/tags" Target="../tags/tag117.xml"/><Relationship Id="rId12" Type="http://schemas.openxmlformats.org/officeDocument/2006/relationships/tags" Target="../tags/tag116.xml"/><Relationship Id="rId11" Type="http://schemas.openxmlformats.org/officeDocument/2006/relationships/image" Target="../media/image298.png"/><Relationship Id="rId10" Type="http://schemas.openxmlformats.org/officeDocument/2006/relationships/tags" Target="../tags/tag115.xml"/><Relationship Id="rId1" Type="http://schemas.openxmlformats.org/officeDocument/2006/relationships/tags" Target="../tags/tag109.xml"/></Relationships>
</file>

<file path=ppt/slides/_rels/slide61.xml.rels><?xml version="1.0" encoding="UTF-8" standalone="yes"?>
<Relationships xmlns="http://schemas.openxmlformats.org/package/2006/relationships"><Relationship Id="rId9" Type="http://schemas.openxmlformats.org/officeDocument/2006/relationships/image" Target="../media/image306.png"/><Relationship Id="rId8" Type="http://schemas.openxmlformats.org/officeDocument/2006/relationships/image" Target="../media/image305.png"/><Relationship Id="rId7" Type="http://schemas.openxmlformats.org/officeDocument/2006/relationships/image" Target="../media/image304.png"/><Relationship Id="rId6" Type="http://schemas.openxmlformats.org/officeDocument/2006/relationships/image" Target="../media/image303.png"/><Relationship Id="rId5" Type="http://schemas.openxmlformats.org/officeDocument/2006/relationships/image" Target="../media/image302.png"/><Relationship Id="rId4" Type="http://schemas.openxmlformats.org/officeDocument/2006/relationships/image" Target="../media/image301.wmf"/><Relationship Id="rId3" Type="http://schemas.openxmlformats.org/officeDocument/2006/relationships/oleObject" Target="../embeddings/oleObject45.bin"/><Relationship Id="rId2" Type="http://schemas.openxmlformats.org/officeDocument/2006/relationships/image" Target="../media/image300.wmf"/><Relationship Id="rId14" Type="http://schemas.openxmlformats.org/officeDocument/2006/relationships/vmlDrawing" Target="../drawings/vmlDrawing20.vml"/><Relationship Id="rId13" Type="http://schemas.openxmlformats.org/officeDocument/2006/relationships/slideLayout" Target="../slideLayouts/slideLayout1.xml"/><Relationship Id="rId12" Type="http://schemas.openxmlformats.org/officeDocument/2006/relationships/image" Target="../media/image309.png"/><Relationship Id="rId11" Type="http://schemas.openxmlformats.org/officeDocument/2006/relationships/image" Target="../media/image308.png"/><Relationship Id="rId10" Type="http://schemas.openxmlformats.org/officeDocument/2006/relationships/image" Target="../media/image307.png"/><Relationship Id="rId1" Type="http://schemas.openxmlformats.org/officeDocument/2006/relationships/oleObject" Target="../embeddings/oleObject44.bin"/></Relationships>
</file>

<file path=ppt/slides/_rels/slide62.xml.rels><?xml version="1.0" encoding="UTF-8" standalone="yes"?>
<Relationships xmlns="http://schemas.openxmlformats.org/package/2006/relationships"><Relationship Id="rId9" Type="http://schemas.openxmlformats.org/officeDocument/2006/relationships/image" Target="../media/image316.png"/><Relationship Id="rId8" Type="http://schemas.openxmlformats.org/officeDocument/2006/relationships/image" Target="../media/image315.png"/><Relationship Id="rId7" Type="http://schemas.openxmlformats.org/officeDocument/2006/relationships/image" Target="../media/image314.png"/><Relationship Id="rId6" Type="http://schemas.openxmlformats.org/officeDocument/2006/relationships/image" Target="../media/image313.wmf"/><Relationship Id="rId5" Type="http://schemas.openxmlformats.org/officeDocument/2006/relationships/oleObject" Target="../embeddings/oleObject47.bin"/><Relationship Id="rId4" Type="http://schemas.openxmlformats.org/officeDocument/2006/relationships/image" Target="../media/image312.png"/><Relationship Id="rId3" Type="http://schemas.openxmlformats.org/officeDocument/2006/relationships/image" Target="../media/image311.png"/><Relationship Id="rId2" Type="http://schemas.openxmlformats.org/officeDocument/2006/relationships/image" Target="../media/image310.wmf"/><Relationship Id="rId13" Type="http://schemas.openxmlformats.org/officeDocument/2006/relationships/vmlDrawing" Target="../drawings/vmlDrawing21.vml"/><Relationship Id="rId12" Type="http://schemas.openxmlformats.org/officeDocument/2006/relationships/slideLayout" Target="../slideLayouts/slideLayout1.xml"/><Relationship Id="rId11" Type="http://schemas.openxmlformats.org/officeDocument/2006/relationships/image" Target="../media/image318.png"/><Relationship Id="rId10" Type="http://schemas.openxmlformats.org/officeDocument/2006/relationships/image" Target="../media/image317.png"/><Relationship Id="rId1" Type="http://schemas.openxmlformats.org/officeDocument/2006/relationships/oleObject" Target="../embeddings/oleObject46.bin"/></Relationships>
</file>

<file path=ppt/slides/_rels/slide63.xml.rels><?xml version="1.0" encoding="UTF-8" standalone="yes"?>
<Relationships xmlns="http://schemas.openxmlformats.org/package/2006/relationships"><Relationship Id="rId9" Type="http://schemas.openxmlformats.org/officeDocument/2006/relationships/image" Target="../media/image327.png"/><Relationship Id="rId8" Type="http://schemas.openxmlformats.org/officeDocument/2006/relationships/image" Target="../media/image326.png"/><Relationship Id="rId7" Type="http://schemas.openxmlformats.org/officeDocument/2006/relationships/image" Target="../media/image325.png"/><Relationship Id="rId6" Type="http://schemas.openxmlformats.org/officeDocument/2006/relationships/image" Target="../media/image324.png"/><Relationship Id="rId5" Type="http://schemas.openxmlformats.org/officeDocument/2006/relationships/image" Target="../media/image323.png"/><Relationship Id="rId4" Type="http://schemas.openxmlformats.org/officeDocument/2006/relationships/image" Target="../media/image322.png"/><Relationship Id="rId3" Type="http://schemas.openxmlformats.org/officeDocument/2006/relationships/image" Target="../media/image321.png"/><Relationship Id="rId2" Type="http://schemas.openxmlformats.org/officeDocument/2006/relationships/image" Target="../media/image320.png"/><Relationship Id="rId11" Type="http://schemas.openxmlformats.org/officeDocument/2006/relationships/slideLayout" Target="../slideLayouts/slideLayout1.xml"/><Relationship Id="rId10" Type="http://schemas.openxmlformats.org/officeDocument/2006/relationships/tags" Target="../tags/tag119.xml"/><Relationship Id="rId1" Type="http://schemas.openxmlformats.org/officeDocument/2006/relationships/image" Target="../media/image319.png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5.xml.rels><?xml version="1.0" encoding="UTF-8" standalone="yes"?>
<Relationships xmlns="http://schemas.openxmlformats.org/package/2006/relationships"><Relationship Id="rId9" Type="http://schemas.openxmlformats.org/officeDocument/2006/relationships/image" Target="../media/image336.png"/><Relationship Id="rId8" Type="http://schemas.openxmlformats.org/officeDocument/2006/relationships/image" Target="../media/image335.png"/><Relationship Id="rId7" Type="http://schemas.openxmlformats.org/officeDocument/2006/relationships/image" Target="../media/image334.png"/><Relationship Id="rId6" Type="http://schemas.openxmlformats.org/officeDocument/2006/relationships/image" Target="../media/image333.png"/><Relationship Id="rId5" Type="http://schemas.openxmlformats.org/officeDocument/2006/relationships/image" Target="../media/image332.png"/><Relationship Id="rId4" Type="http://schemas.openxmlformats.org/officeDocument/2006/relationships/image" Target="../media/image331.png"/><Relationship Id="rId3" Type="http://schemas.openxmlformats.org/officeDocument/2006/relationships/image" Target="../media/image330.png"/><Relationship Id="rId2" Type="http://schemas.openxmlformats.org/officeDocument/2006/relationships/image" Target="../media/image329.png"/><Relationship Id="rId16" Type="http://schemas.openxmlformats.org/officeDocument/2006/relationships/vmlDrawing" Target="../drawings/vmlDrawing22.vml"/><Relationship Id="rId15" Type="http://schemas.openxmlformats.org/officeDocument/2006/relationships/slideLayout" Target="../slideLayouts/slideLayout1.xml"/><Relationship Id="rId14" Type="http://schemas.openxmlformats.org/officeDocument/2006/relationships/image" Target="../media/image340.png"/><Relationship Id="rId13" Type="http://schemas.openxmlformats.org/officeDocument/2006/relationships/image" Target="../media/image339.png"/><Relationship Id="rId12" Type="http://schemas.openxmlformats.org/officeDocument/2006/relationships/image" Target="../media/image338.png"/><Relationship Id="rId11" Type="http://schemas.openxmlformats.org/officeDocument/2006/relationships/image" Target="../media/image337.wmf"/><Relationship Id="rId10" Type="http://schemas.openxmlformats.org/officeDocument/2006/relationships/oleObject" Target="../embeddings/oleObject48.bin"/><Relationship Id="rId1" Type="http://schemas.openxmlformats.org/officeDocument/2006/relationships/image" Target="../media/image328.png"/></Relationships>
</file>

<file path=ppt/slides/_rels/slide66.xml.rels><?xml version="1.0" encoding="UTF-8" standalone="yes"?>
<Relationships xmlns="http://schemas.openxmlformats.org/package/2006/relationships"><Relationship Id="rId9" Type="http://schemas.openxmlformats.org/officeDocument/2006/relationships/tags" Target="../tags/tag125.xml"/><Relationship Id="rId8" Type="http://schemas.openxmlformats.org/officeDocument/2006/relationships/image" Target="../media/image343.png"/><Relationship Id="rId7" Type="http://schemas.openxmlformats.org/officeDocument/2006/relationships/tags" Target="../tags/tag124.xml"/><Relationship Id="rId6" Type="http://schemas.openxmlformats.org/officeDocument/2006/relationships/tags" Target="../tags/tag123.xml"/><Relationship Id="rId5" Type="http://schemas.openxmlformats.org/officeDocument/2006/relationships/image" Target="../media/image342.png"/><Relationship Id="rId4" Type="http://schemas.openxmlformats.org/officeDocument/2006/relationships/tags" Target="../tags/tag122.xml"/><Relationship Id="rId3" Type="http://schemas.openxmlformats.org/officeDocument/2006/relationships/tags" Target="../tags/tag121.xml"/><Relationship Id="rId2" Type="http://schemas.openxmlformats.org/officeDocument/2006/relationships/image" Target="../media/image341.png"/><Relationship Id="rId16" Type="http://schemas.openxmlformats.org/officeDocument/2006/relationships/slideLayout" Target="../slideLayouts/slideLayout2.xml"/><Relationship Id="rId15" Type="http://schemas.openxmlformats.org/officeDocument/2006/relationships/tags" Target="../tags/tag129.xml"/><Relationship Id="rId14" Type="http://schemas.openxmlformats.org/officeDocument/2006/relationships/image" Target="../media/image345.png"/><Relationship Id="rId13" Type="http://schemas.openxmlformats.org/officeDocument/2006/relationships/tags" Target="../tags/tag128.xml"/><Relationship Id="rId12" Type="http://schemas.openxmlformats.org/officeDocument/2006/relationships/tags" Target="../tags/tag127.xml"/><Relationship Id="rId11" Type="http://schemas.openxmlformats.org/officeDocument/2006/relationships/image" Target="../media/image344.png"/><Relationship Id="rId10" Type="http://schemas.openxmlformats.org/officeDocument/2006/relationships/tags" Target="../tags/tag126.xml"/><Relationship Id="rId1" Type="http://schemas.openxmlformats.org/officeDocument/2006/relationships/tags" Target="../tags/tag120.xml"/></Relationships>
</file>

<file path=ppt/slides/_rels/slide67.xml.rels><?xml version="1.0" encoding="UTF-8" standalone="yes"?>
<Relationships xmlns="http://schemas.openxmlformats.org/package/2006/relationships"><Relationship Id="rId9" Type="http://schemas.openxmlformats.org/officeDocument/2006/relationships/image" Target="../media/image354.png"/><Relationship Id="rId8" Type="http://schemas.openxmlformats.org/officeDocument/2006/relationships/image" Target="../media/image353.png"/><Relationship Id="rId7" Type="http://schemas.openxmlformats.org/officeDocument/2006/relationships/image" Target="../media/image352.png"/><Relationship Id="rId6" Type="http://schemas.openxmlformats.org/officeDocument/2006/relationships/image" Target="../media/image351.png"/><Relationship Id="rId5" Type="http://schemas.openxmlformats.org/officeDocument/2006/relationships/image" Target="../media/image350.png"/><Relationship Id="rId4" Type="http://schemas.openxmlformats.org/officeDocument/2006/relationships/image" Target="../media/image349.png"/><Relationship Id="rId3" Type="http://schemas.openxmlformats.org/officeDocument/2006/relationships/image" Target="../media/image348.png"/><Relationship Id="rId2" Type="http://schemas.openxmlformats.org/officeDocument/2006/relationships/image" Target="../media/image347.png"/><Relationship Id="rId10" Type="http://schemas.openxmlformats.org/officeDocument/2006/relationships/slideLayout" Target="../slideLayouts/slideLayout1.xml"/><Relationship Id="rId1" Type="http://schemas.openxmlformats.org/officeDocument/2006/relationships/image" Target="../media/image346.png"/></Relationships>
</file>

<file path=ppt/slides/_rels/slide68.xml.rels><?xml version="1.0" encoding="UTF-8" standalone="yes"?>
<Relationships xmlns="http://schemas.openxmlformats.org/package/2006/relationships"><Relationship Id="rId9" Type="http://schemas.openxmlformats.org/officeDocument/2006/relationships/image" Target="../media/image363.png"/><Relationship Id="rId8" Type="http://schemas.openxmlformats.org/officeDocument/2006/relationships/image" Target="../media/image362.png"/><Relationship Id="rId7" Type="http://schemas.openxmlformats.org/officeDocument/2006/relationships/image" Target="../media/image361.png"/><Relationship Id="rId6" Type="http://schemas.openxmlformats.org/officeDocument/2006/relationships/image" Target="../media/image360.png"/><Relationship Id="rId5" Type="http://schemas.openxmlformats.org/officeDocument/2006/relationships/image" Target="../media/image359.png"/><Relationship Id="rId4" Type="http://schemas.openxmlformats.org/officeDocument/2006/relationships/image" Target="../media/image358.png"/><Relationship Id="rId3" Type="http://schemas.openxmlformats.org/officeDocument/2006/relationships/image" Target="../media/image357.png"/><Relationship Id="rId2" Type="http://schemas.openxmlformats.org/officeDocument/2006/relationships/image" Target="../media/image356.png"/><Relationship Id="rId10" Type="http://schemas.openxmlformats.org/officeDocument/2006/relationships/slideLayout" Target="../slideLayouts/slideLayout1.xml"/><Relationship Id="rId1" Type="http://schemas.openxmlformats.org/officeDocument/2006/relationships/image" Target="../media/image355.png"/></Relationships>
</file>

<file path=ppt/slides/_rels/slide69.xml.rels><?xml version="1.0" encoding="UTF-8" standalone="yes"?>
<Relationships xmlns="http://schemas.openxmlformats.org/package/2006/relationships"><Relationship Id="rId9" Type="http://schemas.openxmlformats.org/officeDocument/2006/relationships/image" Target="../media/image370.png"/><Relationship Id="rId8" Type="http://schemas.openxmlformats.org/officeDocument/2006/relationships/image" Target="../media/image369.png"/><Relationship Id="rId7" Type="http://schemas.openxmlformats.org/officeDocument/2006/relationships/image" Target="../media/image368.png"/><Relationship Id="rId6" Type="http://schemas.openxmlformats.org/officeDocument/2006/relationships/image" Target="../media/image367.png"/><Relationship Id="rId5" Type="http://schemas.openxmlformats.org/officeDocument/2006/relationships/image" Target="../media/image366.png"/><Relationship Id="rId4" Type="http://schemas.openxmlformats.org/officeDocument/2006/relationships/image" Target="../media/image365.wmf"/><Relationship Id="rId3" Type="http://schemas.openxmlformats.org/officeDocument/2006/relationships/oleObject" Target="../embeddings/oleObject50.bin"/><Relationship Id="rId2" Type="http://schemas.openxmlformats.org/officeDocument/2006/relationships/image" Target="../media/image364.wmf"/><Relationship Id="rId13" Type="http://schemas.openxmlformats.org/officeDocument/2006/relationships/vmlDrawing" Target="../drawings/vmlDrawing23.vml"/><Relationship Id="rId12" Type="http://schemas.openxmlformats.org/officeDocument/2006/relationships/slideLayout" Target="../slideLayouts/slideLayout1.xml"/><Relationship Id="rId11" Type="http://schemas.openxmlformats.org/officeDocument/2006/relationships/image" Target="../media/image372.png"/><Relationship Id="rId10" Type="http://schemas.openxmlformats.org/officeDocument/2006/relationships/image" Target="../media/image371.png"/><Relationship Id="rId1" Type="http://schemas.openxmlformats.org/officeDocument/2006/relationships/oleObject" Target="../embeddings/oleObject49.bin"/></Relationships>
</file>

<file path=ppt/slides/_rels/slide70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375.png"/><Relationship Id="rId2" Type="http://schemas.openxmlformats.org/officeDocument/2006/relationships/image" Target="../media/image374.png"/><Relationship Id="rId1" Type="http://schemas.openxmlformats.org/officeDocument/2006/relationships/image" Target="../media/image373.png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2.xml.rels><?xml version="1.0" encoding="UTF-8" standalone="yes"?>
<Relationships xmlns="http://schemas.openxmlformats.org/package/2006/relationships"><Relationship Id="rId7" Type="http://schemas.openxmlformats.org/officeDocument/2006/relationships/vmlDrawing" Target="../drawings/vmlDrawing24.vml"/><Relationship Id="rId6" Type="http://schemas.openxmlformats.org/officeDocument/2006/relationships/slideLayout" Target="../slideLayouts/slideLayout1.xml"/><Relationship Id="rId5" Type="http://schemas.openxmlformats.org/officeDocument/2006/relationships/image" Target="../media/image379.png"/><Relationship Id="rId4" Type="http://schemas.openxmlformats.org/officeDocument/2006/relationships/image" Target="../media/image378.png"/><Relationship Id="rId3" Type="http://schemas.openxmlformats.org/officeDocument/2006/relationships/image" Target="../media/image377.png"/><Relationship Id="rId2" Type="http://schemas.openxmlformats.org/officeDocument/2006/relationships/image" Target="../media/image376.wmf"/><Relationship Id="rId1" Type="http://schemas.openxmlformats.org/officeDocument/2006/relationships/oleObject" Target="../embeddings/oleObject51.bin"/></Relationships>
</file>

<file path=ppt/slides/_rels/slide7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.xml"/><Relationship Id="rId7" Type="http://schemas.openxmlformats.org/officeDocument/2006/relationships/image" Target="../media/image386.png"/><Relationship Id="rId6" Type="http://schemas.openxmlformats.org/officeDocument/2006/relationships/image" Target="../media/image385.png"/><Relationship Id="rId5" Type="http://schemas.openxmlformats.org/officeDocument/2006/relationships/image" Target="../media/image384.png"/><Relationship Id="rId4" Type="http://schemas.openxmlformats.org/officeDocument/2006/relationships/image" Target="../media/image383.png"/><Relationship Id="rId3" Type="http://schemas.openxmlformats.org/officeDocument/2006/relationships/image" Target="../media/image382.png"/><Relationship Id="rId2" Type="http://schemas.openxmlformats.org/officeDocument/2006/relationships/image" Target="../media/image381.png"/><Relationship Id="rId1" Type="http://schemas.openxmlformats.org/officeDocument/2006/relationships/image" Target="../media/image380.png"/></Relationships>
</file>

<file path=ppt/slides/_rels/slide74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1.xml"/><Relationship Id="rId5" Type="http://schemas.openxmlformats.org/officeDocument/2006/relationships/image" Target="../media/image391.png"/><Relationship Id="rId4" Type="http://schemas.openxmlformats.org/officeDocument/2006/relationships/image" Target="../media/image390.png"/><Relationship Id="rId3" Type="http://schemas.openxmlformats.org/officeDocument/2006/relationships/image" Target="../media/image389.png"/><Relationship Id="rId2" Type="http://schemas.openxmlformats.org/officeDocument/2006/relationships/image" Target="../media/image388.png"/><Relationship Id="rId1" Type="http://schemas.openxmlformats.org/officeDocument/2006/relationships/image" Target="../media/image387.png"/></Relationships>
</file>

<file path=ppt/slides/_rels/slide75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1.xml"/><Relationship Id="rId5" Type="http://schemas.openxmlformats.org/officeDocument/2006/relationships/tags" Target="../tags/tag130.xml"/><Relationship Id="rId4" Type="http://schemas.openxmlformats.org/officeDocument/2006/relationships/image" Target="../media/image395.png"/><Relationship Id="rId3" Type="http://schemas.openxmlformats.org/officeDocument/2006/relationships/image" Target="../media/image394.png"/><Relationship Id="rId2" Type="http://schemas.openxmlformats.org/officeDocument/2006/relationships/image" Target="../media/image393.png"/><Relationship Id="rId1" Type="http://schemas.openxmlformats.org/officeDocument/2006/relationships/image" Target="../media/image392.png"/></Relationships>
</file>

<file path=ppt/slides/_rels/slide76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1.xml"/><Relationship Id="rId5" Type="http://schemas.openxmlformats.org/officeDocument/2006/relationships/image" Target="../media/image399.png"/><Relationship Id="rId4" Type="http://schemas.openxmlformats.org/officeDocument/2006/relationships/image" Target="../media/image398.png"/><Relationship Id="rId3" Type="http://schemas.openxmlformats.org/officeDocument/2006/relationships/image" Target="../media/image397.png"/><Relationship Id="rId2" Type="http://schemas.openxmlformats.org/officeDocument/2006/relationships/image" Target="../media/image396.png"/><Relationship Id="rId1" Type="http://schemas.openxmlformats.org/officeDocument/2006/relationships/image" Target="../media/image392.png"/></Relationships>
</file>

<file path=ppt/slides/_rels/slide77.xml.rels><?xml version="1.0" encoding="UTF-8" standalone="yes"?>
<Relationships xmlns="http://schemas.openxmlformats.org/package/2006/relationships"><Relationship Id="rId9" Type="http://schemas.openxmlformats.org/officeDocument/2006/relationships/image" Target="../media/image406.wmf"/><Relationship Id="rId8" Type="http://schemas.openxmlformats.org/officeDocument/2006/relationships/oleObject" Target="../embeddings/oleObject53.bin"/><Relationship Id="rId7" Type="http://schemas.openxmlformats.org/officeDocument/2006/relationships/image" Target="../media/image405.png"/><Relationship Id="rId6" Type="http://schemas.openxmlformats.org/officeDocument/2006/relationships/image" Target="../media/image404.png"/><Relationship Id="rId5" Type="http://schemas.openxmlformats.org/officeDocument/2006/relationships/image" Target="../media/image403.png"/><Relationship Id="rId4" Type="http://schemas.openxmlformats.org/officeDocument/2006/relationships/image" Target="../media/image402.png"/><Relationship Id="rId3" Type="http://schemas.openxmlformats.org/officeDocument/2006/relationships/image" Target="../media/image401.png"/><Relationship Id="rId2" Type="http://schemas.openxmlformats.org/officeDocument/2006/relationships/image" Target="../media/image400.wmf"/><Relationship Id="rId11" Type="http://schemas.openxmlformats.org/officeDocument/2006/relationships/vmlDrawing" Target="../drawings/vmlDrawing25.vml"/><Relationship Id="rId10" Type="http://schemas.openxmlformats.org/officeDocument/2006/relationships/slideLayout" Target="../slideLayouts/slideLayout1.xml"/><Relationship Id="rId1" Type="http://schemas.openxmlformats.org/officeDocument/2006/relationships/oleObject" Target="../embeddings/oleObject52.bin"/></Relationships>
</file>

<file path=ppt/slides/_rels/slide78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.xml"/><Relationship Id="rId7" Type="http://schemas.openxmlformats.org/officeDocument/2006/relationships/image" Target="../media/image412.png"/><Relationship Id="rId6" Type="http://schemas.openxmlformats.org/officeDocument/2006/relationships/image" Target="../media/image405.png"/><Relationship Id="rId5" Type="http://schemas.openxmlformats.org/officeDocument/2006/relationships/image" Target="../media/image411.png"/><Relationship Id="rId4" Type="http://schemas.openxmlformats.org/officeDocument/2006/relationships/image" Target="../media/image410.png"/><Relationship Id="rId3" Type="http://schemas.openxmlformats.org/officeDocument/2006/relationships/image" Target="../media/image409.png"/><Relationship Id="rId2" Type="http://schemas.openxmlformats.org/officeDocument/2006/relationships/image" Target="../media/image408.png"/><Relationship Id="rId1" Type="http://schemas.openxmlformats.org/officeDocument/2006/relationships/image" Target="../media/image407.png"/></Relationships>
</file>

<file path=ppt/slides/_rels/slide79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55.bin"/><Relationship Id="rId8" Type="http://schemas.openxmlformats.org/officeDocument/2006/relationships/image" Target="../media/image419.png"/><Relationship Id="rId7" Type="http://schemas.openxmlformats.org/officeDocument/2006/relationships/image" Target="../media/image418.png"/><Relationship Id="rId6" Type="http://schemas.openxmlformats.org/officeDocument/2006/relationships/image" Target="../media/image417.png"/><Relationship Id="rId5" Type="http://schemas.openxmlformats.org/officeDocument/2006/relationships/image" Target="../media/image416.png"/><Relationship Id="rId4" Type="http://schemas.openxmlformats.org/officeDocument/2006/relationships/image" Target="../media/image415.png"/><Relationship Id="rId3" Type="http://schemas.openxmlformats.org/officeDocument/2006/relationships/image" Target="../media/image414.png"/><Relationship Id="rId2" Type="http://schemas.openxmlformats.org/officeDocument/2006/relationships/image" Target="../media/image413.wmf"/><Relationship Id="rId12" Type="http://schemas.openxmlformats.org/officeDocument/2006/relationships/vmlDrawing" Target="../drawings/vmlDrawing26.vml"/><Relationship Id="rId11" Type="http://schemas.openxmlformats.org/officeDocument/2006/relationships/slideLayout" Target="../slideLayouts/slideLayout1.xml"/><Relationship Id="rId10" Type="http://schemas.openxmlformats.org/officeDocument/2006/relationships/image" Target="../media/image420.wmf"/><Relationship Id="rId1" Type="http://schemas.openxmlformats.org/officeDocument/2006/relationships/oleObject" Target="../embeddings/oleObject54.bin"/></Relationships>
</file>

<file path=ppt/slides/_rels/slide80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1.xml"/><Relationship Id="rId6" Type="http://schemas.openxmlformats.org/officeDocument/2006/relationships/tags" Target="../tags/tag131.xml"/><Relationship Id="rId5" Type="http://schemas.openxmlformats.org/officeDocument/2006/relationships/image" Target="../media/image425.png"/><Relationship Id="rId4" Type="http://schemas.openxmlformats.org/officeDocument/2006/relationships/image" Target="../media/image424.png"/><Relationship Id="rId3" Type="http://schemas.openxmlformats.org/officeDocument/2006/relationships/image" Target="../media/image423.png"/><Relationship Id="rId2" Type="http://schemas.openxmlformats.org/officeDocument/2006/relationships/image" Target="../media/image422.png"/><Relationship Id="rId1" Type="http://schemas.openxmlformats.org/officeDocument/2006/relationships/image" Target="../media/image421.png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.xml"/><Relationship Id="rId7" Type="http://schemas.openxmlformats.org/officeDocument/2006/relationships/image" Target="../media/image432.png"/><Relationship Id="rId6" Type="http://schemas.openxmlformats.org/officeDocument/2006/relationships/image" Target="../media/image431.png"/><Relationship Id="rId5" Type="http://schemas.openxmlformats.org/officeDocument/2006/relationships/image" Target="../media/image430.png"/><Relationship Id="rId4" Type="http://schemas.openxmlformats.org/officeDocument/2006/relationships/image" Target="../media/image429.png"/><Relationship Id="rId3" Type="http://schemas.openxmlformats.org/officeDocument/2006/relationships/image" Target="../media/image428.png"/><Relationship Id="rId2" Type="http://schemas.openxmlformats.org/officeDocument/2006/relationships/image" Target="../media/image427.png"/><Relationship Id="rId1" Type="http://schemas.openxmlformats.org/officeDocument/2006/relationships/image" Target="../media/image426.png"/></Relationships>
</file>

<file path=ppt/slides/_rels/slide83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.xml"/><Relationship Id="rId8" Type="http://schemas.openxmlformats.org/officeDocument/2006/relationships/tags" Target="../tags/tag132.xml"/><Relationship Id="rId7" Type="http://schemas.openxmlformats.org/officeDocument/2006/relationships/image" Target="../media/image439.png"/><Relationship Id="rId6" Type="http://schemas.openxmlformats.org/officeDocument/2006/relationships/image" Target="../media/image438.png"/><Relationship Id="rId5" Type="http://schemas.openxmlformats.org/officeDocument/2006/relationships/image" Target="../media/image437.png"/><Relationship Id="rId4" Type="http://schemas.openxmlformats.org/officeDocument/2006/relationships/image" Target="../media/image436.png"/><Relationship Id="rId3" Type="http://schemas.openxmlformats.org/officeDocument/2006/relationships/image" Target="../media/image435.png"/><Relationship Id="rId2" Type="http://schemas.openxmlformats.org/officeDocument/2006/relationships/image" Target="../media/image434.png"/><Relationship Id="rId1" Type="http://schemas.openxmlformats.org/officeDocument/2006/relationships/image" Target="../media/image433.png"/></Relationships>
</file>

<file path=ppt/slides/_rels/slide8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44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1248609" y="1128113"/>
            <a:ext cx="6096000" cy="3614900"/>
          </a:xfrm>
          <a:prstGeom prst="rect">
            <a:avLst/>
          </a:prstGeom>
        </p:spPr>
        <p:txBody>
          <a:bodyPr>
            <a:spAutoFit/>
          </a:bodyPr>
          <a:lstStyle/>
          <a:p>
            <a:pPr algn="just">
              <a:lnSpc>
                <a:spcPct val="200000"/>
              </a:lnSpc>
              <a:spcAft>
                <a:spcPts val="0"/>
              </a:spcAft>
            </a:pPr>
            <a:r>
              <a:rPr lang="zh-CN" altLang="zh-CN" sz="4000" b="1" kern="100" dirty="0">
                <a:latin typeface="等线" panose="02010600030101010101" pitchFamily="2" charset="-122"/>
                <a:cs typeface="Times New Roman" panose="02020603050405020304" pitchFamily="18" charset="0"/>
              </a:rPr>
              <a:t>第</a:t>
            </a:r>
            <a:r>
              <a:rPr lang="en-US" altLang="zh-CN" sz="4000" b="1" kern="100" dirty="0">
                <a:latin typeface="等线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zh-CN" altLang="zh-CN" sz="4000" b="1" kern="100" dirty="0">
                <a:latin typeface="等线" panose="02010600030101010101" pitchFamily="2" charset="-122"/>
                <a:cs typeface="Times New Roman" panose="02020603050405020304" pitchFamily="18" charset="0"/>
              </a:rPr>
              <a:t>章</a:t>
            </a:r>
            <a:r>
              <a:rPr lang="en-US" altLang="zh-CN" sz="4000" b="1" kern="100" dirty="0">
                <a:latin typeface="等线" panose="02010600030101010101" pitchFamily="2" charset="-122"/>
                <a:cs typeface="Times New Roman" panose="02020603050405020304" pitchFamily="18" charset="0"/>
              </a:rPr>
              <a:t>  </a:t>
            </a:r>
            <a:r>
              <a:rPr lang="zh-CN" altLang="zh-CN" sz="4000" b="1" kern="100" dirty="0">
                <a:latin typeface="等线" panose="02010600030101010101" pitchFamily="2" charset="-122"/>
                <a:cs typeface="Times New Roman" panose="02020603050405020304" pitchFamily="18" charset="0"/>
              </a:rPr>
              <a:t>预备知识</a:t>
            </a:r>
            <a:endParaRPr lang="zh-CN" altLang="zh-CN" sz="4000" b="1" kern="100" dirty="0">
              <a:latin typeface="等线" panose="02010600030101010101" pitchFamily="2" charset="-122"/>
              <a:cs typeface="Times New Roman" panose="02020603050405020304" pitchFamily="18" charset="0"/>
            </a:endParaRPr>
          </a:p>
          <a:p>
            <a:pPr algn="just">
              <a:lnSpc>
                <a:spcPct val="200000"/>
              </a:lnSpc>
              <a:spcAft>
                <a:spcPts val="0"/>
              </a:spcAft>
            </a:pPr>
            <a:r>
              <a:rPr lang="en-US" altLang="zh-CN" sz="4000" b="1" kern="100" dirty="0">
                <a:latin typeface="等线" panose="02010600030101010101" pitchFamily="2" charset="-122"/>
                <a:cs typeface="Times New Roman" panose="02020603050405020304" pitchFamily="18" charset="0"/>
              </a:rPr>
              <a:t>1.1</a:t>
            </a:r>
            <a:r>
              <a:rPr lang="zh-CN" altLang="zh-CN" sz="4000" b="1" kern="100" dirty="0">
                <a:latin typeface="等线" panose="02010600030101010101" pitchFamily="2" charset="-122"/>
                <a:cs typeface="Times New Roman" panose="02020603050405020304" pitchFamily="18" charset="0"/>
              </a:rPr>
              <a:t>排列与组合</a:t>
            </a:r>
            <a:endParaRPr lang="zh-CN" altLang="zh-CN" sz="4000" b="1" kern="100" dirty="0">
              <a:latin typeface="等线" panose="02010600030101010101" pitchFamily="2" charset="-122"/>
              <a:cs typeface="Times New Roman" panose="02020603050405020304" pitchFamily="18" charset="0"/>
            </a:endParaRPr>
          </a:p>
          <a:p>
            <a:pPr algn="just">
              <a:lnSpc>
                <a:spcPct val="200000"/>
              </a:lnSpc>
              <a:spcAft>
                <a:spcPts val="0"/>
              </a:spcAft>
            </a:pPr>
            <a:r>
              <a:rPr lang="en-US" altLang="zh-CN" sz="4000" b="1" kern="100" dirty="0">
                <a:latin typeface="等线" panose="02010600030101010101" pitchFamily="2" charset="-122"/>
                <a:cs typeface="Times New Roman" panose="02020603050405020304" pitchFamily="18" charset="0"/>
              </a:rPr>
              <a:t>1.2</a:t>
            </a:r>
            <a:r>
              <a:rPr lang="zh-CN" altLang="zh-CN" sz="4000" b="1" kern="100" dirty="0">
                <a:latin typeface="等线" panose="02010600030101010101" pitchFamily="2" charset="-122"/>
                <a:cs typeface="Times New Roman" panose="02020603050405020304" pitchFamily="18" charset="0"/>
              </a:rPr>
              <a:t>微积分的一些基本结论</a:t>
            </a:r>
            <a:endParaRPr lang="zh-CN" altLang="zh-CN" sz="4000" b="1" kern="100" dirty="0">
              <a:latin typeface="等线" panose="02010600030101010101" pitchFamily="2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1280160" y="697200"/>
            <a:ext cx="8839200" cy="504080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zh-CN" sz="4000" b="1" dirty="0"/>
              <a:t>第</a:t>
            </a:r>
            <a:r>
              <a:rPr lang="en-US" altLang="zh-CN" sz="4000" b="1" dirty="0"/>
              <a:t>2</a:t>
            </a:r>
            <a:r>
              <a:rPr lang="zh-CN" altLang="zh-CN" sz="4000" b="1" dirty="0"/>
              <a:t>章</a:t>
            </a:r>
            <a:r>
              <a:rPr lang="en-US" altLang="zh-CN" sz="4000" b="1" dirty="0"/>
              <a:t>  </a:t>
            </a:r>
            <a:r>
              <a:rPr lang="zh-CN" altLang="zh-CN" sz="4000" b="1" dirty="0"/>
              <a:t>随机事件及其概率</a:t>
            </a:r>
            <a:endParaRPr lang="zh-CN" altLang="zh-CN" sz="4000" b="1" dirty="0"/>
          </a:p>
          <a:p>
            <a:pPr>
              <a:lnSpc>
                <a:spcPct val="150000"/>
              </a:lnSpc>
            </a:pPr>
            <a:r>
              <a:rPr lang="en-US" altLang="zh-CN" sz="3600" b="1" dirty="0"/>
              <a:t>2.1</a:t>
            </a:r>
            <a:r>
              <a:rPr lang="zh-CN" altLang="zh-CN" sz="3600" b="1" dirty="0"/>
              <a:t>随机事件</a:t>
            </a:r>
            <a:endParaRPr lang="zh-CN" altLang="zh-CN" sz="3600" b="1" dirty="0"/>
          </a:p>
          <a:p>
            <a:pPr>
              <a:lnSpc>
                <a:spcPct val="150000"/>
              </a:lnSpc>
            </a:pPr>
            <a:r>
              <a:rPr lang="en-US" altLang="zh-CN" sz="3600" b="1" dirty="0"/>
              <a:t>2.2</a:t>
            </a:r>
            <a:r>
              <a:rPr lang="zh-CN" altLang="zh-CN" sz="3600" b="1" dirty="0"/>
              <a:t>随机事件的概率</a:t>
            </a:r>
            <a:endParaRPr lang="zh-CN" altLang="zh-CN" sz="3600" b="1" dirty="0"/>
          </a:p>
          <a:p>
            <a:pPr>
              <a:lnSpc>
                <a:spcPct val="150000"/>
              </a:lnSpc>
            </a:pPr>
            <a:r>
              <a:rPr lang="en-US" altLang="zh-CN" sz="3600" b="1" dirty="0"/>
              <a:t>2.3</a:t>
            </a:r>
            <a:r>
              <a:rPr lang="zh-CN" altLang="zh-CN" sz="3600" b="1" dirty="0"/>
              <a:t>古典概率模型</a:t>
            </a:r>
            <a:r>
              <a:rPr lang="en-US" altLang="zh-CN" sz="3600" b="1" dirty="0"/>
              <a:t>(</a:t>
            </a:r>
            <a:r>
              <a:rPr lang="zh-CN" altLang="zh-CN" sz="3600" b="1" dirty="0"/>
              <a:t>等概率模型</a:t>
            </a:r>
            <a:r>
              <a:rPr lang="en-US" altLang="zh-CN" sz="3600" b="1" dirty="0"/>
              <a:t>)</a:t>
            </a:r>
            <a:endParaRPr lang="zh-CN" altLang="zh-CN" sz="3600" b="1" dirty="0"/>
          </a:p>
          <a:p>
            <a:pPr>
              <a:lnSpc>
                <a:spcPct val="150000"/>
              </a:lnSpc>
            </a:pPr>
            <a:r>
              <a:rPr lang="en-US" altLang="zh-CN" sz="3600" b="1" dirty="0"/>
              <a:t>2.4</a:t>
            </a:r>
            <a:r>
              <a:rPr lang="zh-CN" altLang="zh-CN" sz="3600" b="1" dirty="0"/>
              <a:t>条件概率</a:t>
            </a:r>
            <a:endParaRPr lang="zh-CN" altLang="zh-CN" sz="3600" b="1" dirty="0"/>
          </a:p>
          <a:p>
            <a:pPr>
              <a:lnSpc>
                <a:spcPct val="150000"/>
              </a:lnSpc>
            </a:pPr>
            <a:r>
              <a:rPr lang="en-US" altLang="zh-CN" sz="3600" b="1" dirty="0"/>
              <a:t>2.5</a:t>
            </a:r>
            <a:r>
              <a:rPr lang="zh-CN" altLang="zh-CN" sz="3600" b="1" dirty="0"/>
              <a:t>随机事件的独立性</a:t>
            </a:r>
            <a:endParaRPr lang="zh-CN" altLang="zh-CN" sz="3600" b="1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1280160" y="598775"/>
            <a:ext cx="8839200" cy="9220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3600" b="1" dirty="0"/>
              <a:t>2.1</a:t>
            </a:r>
            <a:r>
              <a:rPr lang="zh-CN" altLang="zh-CN" sz="3600" b="1" dirty="0"/>
              <a:t>随机事件</a:t>
            </a:r>
            <a:endParaRPr lang="zh-CN" altLang="zh-CN" sz="3600" b="1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文本框 2"/>
              <p:cNvSpPr txBox="1"/>
              <p:nvPr/>
            </p:nvSpPr>
            <p:spPr>
              <a:xfrm>
                <a:off x="1784985" y="1663065"/>
                <a:ext cx="974725" cy="5835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3200" b="1" i="1">
                          <a:latin typeface="Cambria Math" panose="02040503050406030204" pitchFamily="18" charset="0"/>
                          <a:cs typeface="Cambria Math" panose="02040503050406030204" pitchFamily="18" charset="0"/>
                        </a:rPr>
                        <m:t>𝑬</m:t>
                      </m:r>
                      <m:r>
                        <a:rPr lang="en-US" altLang="zh-CN" sz="3200" b="1" i="1">
                          <a:latin typeface="Cambria Math" panose="02040503050406030204" pitchFamily="18" charset="0"/>
                          <a:cs typeface="Cambria Math" panose="02040503050406030204" pitchFamily="18" charset="0"/>
                        </a:rPr>
                        <m:t>   </m:t>
                      </m:r>
                    </m:oMath>
                  </m:oMathPara>
                </a14:m>
                <a:endParaRPr lang="zh-CN" altLang="en-US" sz="3200" b="1"/>
              </a:p>
            </p:txBody>
          </p:sp>
        </mc:Choice>
        <mc:Fallback>
          <p:sp>
            <p:nvSpPr>
              <p:cNvPr id="3" name="文本框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84985" y="1663065"/>
                <a:ext cx="974725" cy="583565"/>
              </a:xfrm>
              <a:prstGeom prst="rect">
                <a:avLst/>
              </a:prstGeom>
              <a:blipFill rotWithShape="1">
                <a:blip r:embed="rId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" name="文本框 3"/>
              <p:cNvSpPr txBox="1"/>
              <p:nvPr/>
            </p:nvSpPr>
            <p:spPr>
              <a:xfrm>
                <a:off x="2395220" y="1663065"/>
                <a:ext cx="1162685" cy="583565"/>
              </a:xfrm>
              <a:prstGeom prst="rect">
                <a:avLst/>
              </a:prstGeom>
              <a:noFill/>
            </p:spPr>
            <p:txBody>
              <a:bodyPr wrap="square" rtlCol="0" anchor="t">
                <a:spAutoFit/>
              </a:bodyPr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3200" b="1" i="1">
                          <a:latin typeface="Cambria Math" panose="02040503050406030204" pitchFamily="18" charset="0"/>
                          <a:cs typeface="Cambria Math" panose="02040503050406030204" pitchFamily="18" charset="0"/>
                        </a:rPr>
                        <m:t>𝜴</m:t>
                      </m:r>
                    </m:oMath>
                  </m:oMathPara>
                </a14:m>
                <a:endParaRPr lang="en-US" altLang="zh-CN" sz="3200" b="1" i="1">
                  <a:latin typeface="Cambria Math" panose="02040503050406030204" pitchFamily="18" charset="0"/>
                  <a:cs typeface="Cambria Math" panose="02040503050406030204" pitchFamily="18" charset="0"/>
                </a:endParaRPr>
              </a:p>
            </p:txBody>
          </p:sp>
        </mc:Choice>
        <mc:Fallback>
          <p:sp>
            <p:nvSpPr>
              <p:cNvPr id="4" name="文本框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95220" y="1663065"/>
                <a:ext cx="1162685" cy="583565"/>
              </a:xfrm>
              <a:prstGeom prst="rect">
                <a:avLst/>
              </a:prstGeom>
              <a:blipFill rotWithShape="1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" name="文本框 4"/>
              <p:cNvSpPr txBox="1"/>
              <p:nvPr/>
            </p:nvSpPr>
            <p:spPr>
              <a:xfrm>
                <a:off x="3449955" y="1663065"/>
                <a:ext cx="858520" cy="583565"/>
              </a:xfrm>
              <a:prstGeom prst="rect">
                <a:avLst/>
              </a:prstGeom>
              <a:noFill/>
            </p:spPr>
            <p:txBody>
              <a:bodyPr wrap="square" rtlCol="0" anchor="t">
                <a:spAutoFit/>
              </a:bodyPr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3200" b="1" i="1">
                          <a:latin typeface="Cambria Math" panose="02040503050406030204" pitchFamily="18" charset="0"/>
                          <a:cs typeface="Cambria Math" panose="02040503050406030204" pitchFamily="18" charset="0"/>
                        </a:rPr>
                        <m:t>𝑨</m:t>
                      </m:r>
                    </m:oMath>
                  </m:oMathPara>
                </a14:m>
                <a:endParaRPr lang="en-US" altLang="zh-CN" sz="3200" b="1" i="1">
                  <a:latin typeface="Cambria Math" panose="02040503050406030204" pitchFamily="18" charset="0"/>
                  <a:cs typeface="Cambria Math" panose="02040503050406030204" pitchFamily="18" charset="0"/>
                </a:endParaRPr>
              </a:p>
            </p:txBody>
          </p:sp>
        </mc:Choice>
        <mc:Fallback>
          <p:sp>
            <p:nvSpPr>
              <p:cNvPr id="5" name="文本框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49955" y="1663065"/>
                <a:ext cx="858520" cy="583565"/>
              </a:xfrm>
              <a:prstGeom prst="rect">
                <a:avLst/>
              </a:prstGeom>
              <a:blipFill rotWithShape="1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" name="文本框 5"/>
              <p:cNvSpPr txBox="1"/>
              <p:nvPr/>
            </p:nvSpPr>
            <p:spPr>
              <a:xfrm>
                <a:off x="4498975" y="1663065"/>
                <a:ext cx="1642745" cy="583565"/>
              </a:xfrm>
              <a:prstGeom prst="rect">
                <a:avLst/>
              </a:prstGeom>
              <a:noFill/>
            </p:spPr>
            <p:txBody>
              <a:bodyPr wrap="square" rtlCol="0" anchor="t">
                <a:spAutoFit/>
              </a:bodyPr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3200" b="1" i="1">
                          <a:latin typeface="Cambria Math" panose="02040503050406030204" pitchFamily="18" charset="0"/>
                          <a:cs typeface="Cambria Math" panose="02040503050406030204" pitchFamily="18" charset="0"/>
                        </a:rPr>
                        <m:t>𝑨</m:t>
                      </m:r>
                      <m:r>
                        <a:rPr lang="en-US" altLang="zh-CN" sz="3200" b="1" i="1">
                          <a:latin typeface="Cambria Math" panose="02040503050406030204" pitchFamily="18" charset="0"/>
                          <a:cs typeface="Cambria Math" panose="02040503050406030204" pitchFamily="18" charset="0"/>
                        </a:rPr>
                        <m:t>⊂</m:t>
                      </m:r>
                      <m:r>
                        <a:rPr lang="en-US" altLang="zh-CN" sz="3200" b="1" i="1">
                          <a:latin typeface="Cambria Math" panose="02040503050406030204" pitchFamily="18" charset="0"/>
                          <a:cs typeface="Cambria Math" panose="02040503050406030204" pitchFamily="18" charset="0"/>
                        </a:rPr>
                        <m:t>𝜴</m:t>
                      </m:r>
                    </m:oMath>
                  </m:oMathPara>
                </a14:m>
                <a:endParaRPr lang="en-US" altLang="zh-CN" sz="3200" b="1" i="1">
                  <a:latin typeface="Cambria Math" panose="02040503050406030204" pitchFamily="18" charset="0"/>
                  <a:cs typeface="Cambria Math" panose="02040503050406030204" pitchFamily="18" charset="0"/>
                </a:endParaRPr>
              </a:p>
            </p:txBody>
          </p:sp>
        </mc:Choice>
        <mc:Fallback>
          <p:sp>
            <p:nvSpPr>
              <p:cNvPr id="6" name="文本框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98975" y="1663065"/>
                <a:ext cx="1642745" cy="583565"/>
              </a:xfrm>
              <a:prstGeom prst="rect">
                <a:avLst/>
              </a:prstGeom>
              <a:blipFill rotWithShape="1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文本框 6"/>
          <p:cNvSpPr txBox="1"/>
          <p:nvPr/>
        </p:nvSpPr>
        <p:spPr>
          <a:xfrm>
            <a:off x="1725930" y="2428240"/>
            <a:ext cx="10174605" cy="13836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indent="0" fontAlgn="auto">
              <a:lnSpc>
                <a:spcPct val="150000"/>
              </a:lnSpc>
            </a:pPr>
            <a:r>
              <a:rPr lang="zh-CN" altLang="en-US" sz="2800" b="1"/>
              <a:t>子事件</a:t>
            </a:r>
            <a:r>
              <a:rPr lang="en-US" altLang="zh-CN" sz="2800" b="1"/>
              <a:t>   </a:t>
            </a:r>
            <a:r>
              <a:rPr lang="zh-CN" altLang="en-US" sz="2800" b="1"/>
              <a:t>相等事件</a:t>
            </a:r>
            <a:r>
              <a:rPr lang="en-US" altLang="zh-CN" sz="2800" b="1"/>
              <a:t>    </a:t>
            </a:r>
            <a:r>
              <a:rPr lang="zh-CN" altLang="en-US" sz="2800" b="1"/>
              <a:t>和事件</a:t>
            </a:r>
            <a:r>
              <a:rPr lang="en-US" altLang="zh-CN" sz="2800" b="1"/>
              <a:t>   </a:t>
            </a:r>
            <a:r>
              <a:rPr lang="zh-CN" altLang="en-US" sz="2800" b="1"/>
              <a:t>积事件</a:t>
            </a:r>
            <a:r>
              <a:rPr lang="en-US" altLang="zh-CN" sz="2800" b="1"/>
              <a:t>   </a:t>
            </a:r>
            <a:r>
              <a:rPr lang="zh-CN" altLang="en-US" sz="2800" b="1"/>
              <a:t>差事件</a:t>
            </a:r>
            <a:r>
              <a:rPr lang="en-US" altLang="zh-CN" sz="2800" b="1"/>
              <a:t>     </a:t>
            </a:r>
            <a:endParaRPr lang="en-US" altLang="zh-CN" sz="2800" b="1"/>
          </a:p>
          <a:p>
            <a:pPr indent="0" fontAlgn="auto">
              <a:lnSpc>
                <a:spcPct val="150000"/>
              </a:lnSpc>
            </a:pPr>
            <a:r>
              <a:rPr lang="zh-CN" altLang="en-US" sz="2800" b="1"/>
              <a:t>互不相容事件（互斥事件）对立事件</a:t>
            </a:r>
            <a:r>
              <a:rPr lang="en-US" altLang="zh-CN" sz="2800" b="1"/>
              <a:t>     </a:t>
            </a:r>
            <a:endParaRPr lang="en-US" altLang="zh-CN" sz="2800" b="1"/>
          </a:p>
        </p:txBody>
      </p:sp>
      <p:sp>
        <p:nvSpPr>
          <p:cNvPr id="8" name="文本框 7"/>
          <p:cNvSpPr txBox="1"/>
          <p:nvPr/>
        </p:nvSpPr>
        <p:spPr>
          <a:xfrm>
            <a:off x="1784985" y="4281805"/>
            <a:ext cx="942848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800" b="1"/>
              <a:t>事件之间满足：交换律</a:t>
            </a:r>
            <a:r>
              <a:rPr lang="en-US" altLang="zh-CN" sz="2800" b="1"/>
              <a:t>   </a:t>
            </a:r>
            <a:r>
              <a:rPr lang="zh-CN" altLang="en-US" sz="2800" b="1"/>
              <a:t>结合律</a:t>
            </a:r>
            <a:r>
              <a:rPr lang="en-US" altLang="zh-CN" sz="2800" b="1"/>
              <a:t>   </a:t>
            </a:r>
            <a:r>
              <a:rPr lang="zh-CN" altLang="en-US" sz="2800" b="1"/>
              <a:t>分配律</a:t>
            </a:r>
            <a:r>
              <a:rPr lang="en-US" altLang="zh-CN" sz="2800" b="1"/>
              <a:t>   </a:t>
            </a:r>
            <a:r>
              <a:rPr lang="zh-CN" altLang="en-US" sz="2800" b="1"/>
              <a:t>德摩根律</a:t>
            </a:r>
            <a:endParaRPr lang="zh-CN" altLang="en-US" sz="2800" b="1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4" grpId="0"/>
      <p:bldP spid="5" grpId="0"/>
      <p:bldP spid="6" grpId="0"/>
      <p:bldP spid="7" grpId="0"/>
      <p:bldP spid="8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pSp>
        <p:nvGrpSpPr>
          <p:cNvPr id="4" name="Group 2"/>
          <p:cNvGrpSpPr/>
          <p:nvPr/>
        </p:nvGrpSpPr>
        <p:grpSpPr>
          <a:xfrm>
            <a:off x="612775" y="765175"/>
            <a:ext cx="8531225" cy="1295400"/>
            <a:chOff x="386" y="482"/>
            <a:chExt cx="5374" cy="816"/>
          </a:xfrm>
        </p:grpSpPr>
        <p:sp>
          <p:nvSpPr>
            <p:cNvPr id="28690" name="Rectangle 3"/>
            <p:cNvSpPr/>
            <p:nvPr>
              <p:custDataLst>
                <p:tags r:id="rId1"/>
              </p:custDataLst>
            </p:nvPr>
          </p:nvSpPr>
          <p:spPr>
            <a:xfrm>
              <a:off x="523" y="501"/>
              <a:ext cx="5237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469900" indent="-469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o"/>
                <a:defRPr sz="30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08050" indent="-43688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n"/>
                <a:defRPr sz="26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304925" indent="-395605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o"/>
                <a:defRPr sz="23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94180" indent="-3873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94230" indent="-398780" algn="l" rtl="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zh-CN" altLang="en-US" sz="2800" b="1" dirty="0">
                  <a:solidFill>
                    <a:schemeClr val="folHlink"/>
                  </a:solidFill>
                  <a:latin typeface="宋体" panose="02010600030101010101" pitchFamily="2" charset="-122"/>
                </a:rPr>
                <a:t>某射手向目标射击三次，用   表示第  次</a:t>
              </a:r>
              <a:r>
                <a:rPr lang="zh-CN" altLang="en-US" sz="2800" b="1" dirty="0">
                  <a:solidFill>
                    <a:schemeClr val="folHlink"/>
                  </a:solidFill>
                  <a:latin typeface="Times New Roman" panose="02020603050405020304" pitchFamily="18" charset="0"/>
                </a:rPr>
                <a:t>击中目标</a:t>
              </a:r>
              <a:endParaRPr lang="zh-CN" altLang="en-US" sz="2800" b="1" dirty="0">
                <a:solidFill>
                  <a:schemeClr val="folHlink"/>
                </a:solidFill>
                <a:latin typeface="Times New Roman" panose="02020603050405020304" pitchFamily="18" charset="0"/>
              </a:endParaRPr>
            </a:p>
          </p:txBody>
        </p:sp>
        <p:graphicFrame>
          <p:nvGraphicFramePr>
            <p:cNvPr id="28691" name="Object 4"/>
            <p:cNvGraphicFramePr>
              <a:graphicFrameLocks noChangeAspect="1"/>
            </p:cNvGraphicFramePr>
            <p:nvPr>
              <p:custDataLst>
                <p:tags r:id="rId2"/>
              </p:custDataLst>
            </p:nvPr>
          </p:nvGraphicFramePr>
          <p:xfrm>
            <a:off x="3334" y="482"/>
            <a:ext cx="272" cy="38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23" name="" r:id="rId3" imgW="165100" imgH="228600" progId="Equation.DSMT4">
                    <p:embed/>
                  </p:oleObj>
                </mc:Choice>
                <mc:Fallback>
                  <p:oleObj name="" r:id="rId3" imgW="165100" imgH="228600" progId="Equation.DSMT4">
                    <p:embed/>
                    <p:pic>
                      <p:nvPicPr>
                        <p:cNvPr id="0" name="图片 3122"/>
                        <p:cNvPicPr/>
                        <p:nvPr/>
                      </p:nvPicPr>
                      <p:blipFill>
                        <a:blip r:embed="rId4"/>
                        <a:stretch>
                          <a:fillRect/>
                        </a:stretch>
                      </p:blipFill>
                      <p:spPr>
                        <a:xfrm>
                          <a:off x="3334" y="482"/>
                          <a:ext cx="272" cy="384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8692" name="Object 5"/>
            <p:cNvGraphicFramePr>
              <a:graphicFrameLocks noChangeAspect="1"/>
            </p:cNvGraphicFramePr>
            <p:nvPr>
              <p:custDataLst>
                <p:tags r:id="rId5"/>
              </p:custDataLst>
            </p:nvPr>
          </p:nvGraphicFramePr>
          <p:xfrm>
            <a:off x="4332" y="482"/>
            <a:ext cx="178" cy="33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28" name="" r:id="rId6" imgW="88900" imgH="164465" progId="Equation.DSMT4">
                    <p:embed/>
                  </p:oleObj>
                </mc:Choice>
                <mc:Fallback>
                  <p:oleObj name="" r:id="rId6" imgW="88900" imgH="164465" progId="Equation.DSMT4">
                    <p:embed/>
                    <p:pic>
                      <p:nvPicPr>
                        <p:cNvPr id="0" name="图片 3127"/>
                        <p:cNvPicPr/>
                        <p:nvPr/>
                      </p:nvPicPr>
                      <p:blipFill>
                        <a:blip r:embed="rId7"/>
                        <a:stretch>
                          <a:fillRect/>
                        </a:stretch>
                      </p:blipFill>
                      <p:spPr>
                        <a:xfrm>
                          <a:off x="4332" y="482"/>
                          <a:ext cx="178" cy="336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8693" name="Rectangle 6"/>
            <p:cNvSpPr/>
            <p:nvPr>
              <p:custDataLst>
                <p:tags r:id="rId8"/>
              </p:custDataLst>
            </p:nvPr>
          </p:nvSpPr>
          <p:spPr>
            <a:xfrm>
              <a:off x="1272" y="914"/>
              <a:ext cx="4195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469900" indent="-469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o"/>
                <a:defRPr sz="30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08050" indent="-43688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n"/>
                <a:defRPr sz="26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304925" indent="-395605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o"/>
                <a:defRPr sz="23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94180" indent="-3873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94230" indent="-398780" algn="l" rtl="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zh-CN" altLang="en-US" sz="2800" b="1" dirty="0">
                  <a:solidFill>
                    <a:schemeClr val="folHlink"/>
                  </a:solidFill>
                  <a:latin typeface="宋体" panose="02010600030101010101" pitchFamily="2" charset="-122"/>
                </a:rPr>
                <a:t>试用   及其运算符表示下列事件</a:t>
              </a:r>
              <a:r>
                <a:rPr lang="zh-CN" altLang="en-US" sz="2800" b="1" dirty="0">
                  <a:solidFill>
                    <a:srgbClr val="5C3CFA"/>
                  </a:solidFill>
                  <a:latin typeface="Times New Roman" panose="02020603050405020304" pitchFamily="18" charset="0"/>
                </a:rPr>
                <a:t>：</a:t>
              </a:r>
              <a:endParaRPr lang="zh-CN" altLang="en-US" sz="2800" b="1" dirty="0">
                <a:solidFill>
                  <a:srgbClr val="5C3CFA"/>
                </a:solidFill>
                <a:latin typeface="Times New Roman" panose="02020603050405020304" pitchFamily="18" charset="0"/>
              </a:endParaRPr>
            </a:p>
          </p:txBody>
        </p:sp>
        <p:graphicFrame>
          <p:nvGraphicFramePr>
            <p:cNvPr id="28694" name="Object 7"/>
            <p:cNvGraphicFramePr>
              <a:graphicFrameLocks noChangeAspect="1"/>
            </p:cNvGraphicFramePr>
            <p:nvPr>
              <p:custDataLst>
                <p:tags r:id="rId9"/>
              </p:custDataLst>
            </p:nvPr>
          </p:nvGraphicFramePr>
          <p:xfrm>
            <a:off x="386" y="988"/>
            <a:ext cx="770" cy="26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24" name="" r:id="rId10" imgW="584200" imgH="203200" progId="Equation.DSMT4">
                    <p:embed/>
                  </p:oleObj>
                </mc:Choice>
                <mc:Fallback>
                  <p:oleObj name="" r:id="rId10" imgW="584200" imgH="203200" progId="Equation.DSMT4">
                    <p:embed/>
                    <p:pic>
                      <p:nvPicPr>
                        <p:cNvPr id="0" name="图片 3123"/>
                        <p:cNvPicPr/>
                        <p:nvPr/>
                      </p:nvPicPr>
                      <p:blipFill>
                        <a:blip r:embed="rId11"/>
                        <a:stretch>
                          <a:fillRect/>
                        </a:stretch>
                      </p:blipFill>
                      <p:spPr>
                        <a:xfrm>
                          <a:off x="386" y="988"/>
                          <a:ext cx="770" cy="265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8695" name="Object 8"/>
            <p:cNvGraphicFramePr>
              <a:graphicFrameLocks noChangeAspect="1"/>
            </p:cNvGraphicFramePr>
            <p:nvPr>
              <p:custDataLst>
                <p:tags r:id="rId12"/>
              </p:custDataLst>
            </p:nvPr>
          </p:nvGraphicFramePr>
          <p:xfrm>
            <a:off x="1746" y="914"/>
            <a:ext cx="272" cy="38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31" name="" r:id="rId13" imgW="165100" imgH="228600" progId="Equation.DSMT4">
                    <p:embed/>
                  </p:oleObj>
                </mc:Choice>
                <mc:Fallback>
                  <p:oleObj name="" r:id="rId13" imgW="165100" imgH="228600" progId="Equation.DSMT4">
                    <p:embed/>
                    <p:pic>
                      <p:nvPicPr>
                        <p:cNvPr id="0" name="图片 3130"/>
                        <p:cNvPicPr/>
                        <p:nvPr/>
                      </p:nvPicPr>
                      <p:blipFill>
                        <a:blip r:embed="rId4"/>
                        <a:stretch>
                          <a:fillRect/>
                        </a:stretch>
                      </p:blipFill>
                      <p:spPr>
                        <a:xfrm>
                          <a:off x="1746" y="914"/>
                          <a:ext cx="272" cy="384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61449" name="Rectangle 9"/>
          <p:cNvSpPr/>
          <p:nvPr>
            <p:custDataLst>
              <p:tags r:id="rId14"/>
            </p:custDataLst>
          </p:nvPr>
        </p:nvSpPr>
        <p:spPr>
          <a:xfrm>
            <a:off x="468313" y="2133600"/>
            <a:ext cx="4608512" cy="51911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469900" indent="-469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08050" indent="-43688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n"/>
              <a:defRPr sz="2600">
                <a:solidFill>
                  <a:schemeClr val="tx1"/>
                </a:solidFill>
                <a:latin typeface="+mn-lt"/>
                <a:ea typeface="+mn-ea"/>
              </a:defRPr>
            </a:lvl2pPr>
            <a:lvl3pPr marL="1304925" indent="-39560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o"/>
              <a:defRPr sz="2300">
                <a:solidFill>
                  <a:schemeClr val="tx1"/>
                </a:solidFill>
                <a:latin typeface="+mn-lt"/>
                <a:ea typeface="+mn-ea"/>
              </a:defRPr>
            </a:lvl3pPr>
            <a:lvl4pPr marL="1694180" indent="-3873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94230" indent="-398780" algn="l" rtl="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sz="2800" b="1" dirty="0">
                <a:solidFill>
                  <a:srgbClr val="4E3CFA"/>
                </a:solidFill>
                <a:latin typeface="宋体" panose="02010600030101010101" pitchFamily="2" charset="-122"/>
              </a:rPr>
              <a:t>（</a:t>
            </a:r>
            <a:r>
              <a:rPr lang="en-US" altLang="zh-CN" sz="2800" b="1" dirty="0">
                <a:solidFill>
                  <a:srgbClr val="4E3CFA"/>
                </a:solidFill>
                <a:latin typeface="宋体" panose="02010600030101010101" pitchFamily="2" charset="-122"/>
              </a:rPr>
              <a:t>1</a:t>
            </a:r>
            <a:r>
              <a:rPr lang="zh-CN" altLang="en-US" sz="2800" b="1" dirty="0">
                <a:solidFill>
                  <a:srgbClr val="4E3CFA"/>
                </a:solidFill>
                <a:latin typeface="宋体" panose="02010600030101010101" pitchFamily="2" charset="-122"/>
              </a:rPr>
              <a:t>） </a:t>
            </a:r>
            <a:r>
              <a:rPr lang="zh-CN" altLang="en-US" sz="2800" b="1" dirty="0">
                <a:solidFill>
                  <a:schemeClr val="folHlink"/>
                </a:solidFill>
                <a:latin typeface="宋体" panose="02010600030101010101" pitchFamily="2" charset="-122"/>
              </a:rPr>
              <a:t>三次都击中目标： </a:t>
            </a:r>
            <a:endParaRPr lang="zh-CN" altLang="en-US" sz="2800" b="1" dirty="0">
              <a:solidFill>
                <a:schemeClr val="folHlink"/>
              </a:solidFill>
              <a:latin typeface="宋体" panose="02010600030101010101" pitchFamily="2" charset="-122"/>
            </a:endParaRPr>
          </a:p>
        </p:txBody>
      </p:sp>
      <p:graphicFrame>
        <p:nvGraphicFramePr>
          <p:cNvPr id="61450" name="Object 10"/>
          <p:cNvGraphicFramePr>
            <a:graphicFrameLocks noChangeAspect="1"/>
          </p:cNvGraphicFramePr>
          <p:nvPr>
            <p:custDataLst>
              <p:tags r:id="rId15"/>
            </p:custDataLst>
          </p:nvPr>
        </p:nvGraphicFramePr>
        <p:xfrm>
          <a:off x="5292725" y="2133600"/>
          <a:ext cx="1285875" cy="6429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25" name="" r:id="rId16" imgW="457200" imgH="228600" progId="Equation.DSMT4">
                  <p:embed/>
                </p:oleObj>
              </mc:Choice>
              <mc:Fallback>
                <p:oleObj name="" r:id="rId16" imgW="457200" imgH="228600" progId="Equation.DSMT4">
                  <p:embed/>
                  <p:pic>
                    <p:nvPicPr>
                      <p:cNvPr id="0" name="图片 3124"/>
                      <p:cNvPicPr/>
                      <p:nvPr/>
                    </p:nvPicPr>
                    <p:blipFill>
                      <a:blip r:embed="rId17"/>
                      <a:stretch>
                        <a:fillRect/>
                      </a:stretch>
                    </p:blipFill>
                    <p:spPr>
                      <a:xfrm>
                        <a:off x="5292725" y="2133600"/>
                        <a:ext cx="1285875" cy="642938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61451" name="Rectangle 11"/>
          <p:cNvSpPr/>
          <p:nvPr>
            <p:custDataLst>
              <p:tags r:id="rId18"/>
            </p:custDataLst>
          </p:nvPr>
        </p:nvSpPr>
        <p:spPr>
          <a:xfrm>
            <a:off x="468313" y="2852738"/>
            <a:ext cx="5473700" cy="51911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469900" indent="-469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08050" indent="-43688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n"/>
              <a:defRPr sz="2600">
                <a:solidFill>
                  <a:schemeClr val="tx1"/>
                </a:solidFill>
                <a:latin typeface="+mn-lt"/>
                <a:ea typeface="+mn-ea"/>
              </a:defRPr>
            </a:lvl2pPr>
            <a:lvl3pPr marL="1304925" indent="-39560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o"/>
              <a:defRPr sz="2300">
                <a:solidFill>
                  <a:schemeClr val="tx1"/>
                </a:solidFill>
                <a:latin typeface="+mn-lt"/>
                <a:ea typeface="+mn-ea"/>
              </a:defRPr>
            </a:lvl3pPr>
            <a:lvl4pPr marL="1694180" indent="-3873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94230" indent="-398780" algn="l" rtl="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sz="2800" b="1" dirty="0">
                <a:solidFill>
                  <a:srgbClr val="4E3CFA"/>
                </a:solidFill>
                <a:latin typeface="宋体" panose="02010600030101010101" pitchFamily="2" charset="-122"/>
              </a:rPr>
              <a:t>（</a:t>
            </a:r>
            <a:r>
              <a:rPr lang="en-US" altLang="zh-CN" sz="2800" b="1" dirty="0">
                <a:solidFill>
                  <a:srgbClr val="4E3CFA"/>
                </a:solidFill>
                <a:latin typeface="宋体" panose="02010600030101010101" pitchFamily="2" charset="-122"/>
              </a:rPr>
              <a:t>2</a:t>
            </a:r>
            <a:r>
              <a:rPr lang="zh-CN" altLang="en-US" sz="2800" b="1" dirty="0">
                <a:solidFill>
                  <a:srgbClr val="4E3CFA"/>
                </a:solidFill>
                <a:latin typeface="宋体" panose="02010600030101010101" pitchFamily="2" charset="-122"/>
              </a:rPr>
              <a:t>） </a:t>
            </a:r>
            <a:r>
              <a:rPr lang="zh-CN" altLang="en-US" sz="2800" b="1" dirty="0">
                <a:solidFill>
                  <a:schemeClr val="folHlink"/>
                </a:solidFill>
                <a:latin typeface="宋体" panose="02010600030101010101" pitchFamily="2" charset="-122"/>
              </a:rPr>
              <a:t>至少有一次击中目标</a:t>
            </a:r>
            <a:r>
              <a:rPr lang="zh-CN" altLang="en-US" sz="2800" b="1" dirty="0">
                <a:solidFill>
                  <a:srgbClr val="4E3CFA"/>
                </a:solidFill>
                <a:latin typeface="宋体" panose="02010600030101010101" pitchFamily="2" charset="-122"/>
              </a:rPr>
              <a:t>：</a:t>
            </a:r>
            <a:r>
              <a:rPr lang="zh-CN" altLang="en-US" sz="2400" dirty="0">
                <a:latin typeface="Times New Roman" panose="02020603050405020304" pitchFamily="18" charset="0"/>
              </a:rPr>
              <a:t> </a:t>
            </a:r>
            <a:endParaRPr lang="zh-CN" altLang="en-US" sz="2400" dirty="0">
              <a:latin typeface="Times New Roman" panose="02020603050405020304" pitchFamily="18" charset="0"/>
            </a:endParaRPr>
          </a:p>
        </p:txBody>
      </p:sp>
      <p:graphicFrame>
        <p:nvGraphicFramePr>
          <p:cNvPr id="61452" name="Object 12"/>
          <p:cNvGraphicFramePr>
            <a:graphicFrameLocks noChangeAspect="1"/>
          </p:cNvGraphicFramePr>
          <p:nvPr>
            <p:custDataLst>
              <p:tags r:id="rId19"/>
            </p:custDataLst>
          </p:nvPr>
        </p:nvGraphicFramePr>
        <p:xfrm>
          <a:off x="5364163" y="2852738"/>
          <a:ext cx="1820862" cy="5413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26" name="" r:id="rId20" imgW="774065" imgH="228600" progId="Equation.DSMT4">
                  <p:embed/>
                </p:oleObj>
              </mc:Choice>
              <mc:Fallback>
                <p:oleObj name="" r:id="rId20" imgW="774065" imgH="228600" progId="Equation.DSMT4">
                  <p:embed/>
                  <p:pic>
                    <p:nvPicPr>
                      <p:cNvPr id="0" name="图片 3125"/>
                      <p:cNvPicPr/>
                      <p:nvPr/>
                    </p:nvPicPr>
                    <p:blipFill>
                      <a:blip r:embed="rId21"/>
                      <a:stretch>
                        <a:fillRect/>
                      </a:stretch>
                    </p:blipFill>
                    <p:spPr>
                      <a:xfrm>
                        <a:off x="5364163" y="2852738"/>
                        <a:ext cx="1820862" cy="541337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61453" name="Rectangle 13"/>
          <p:cNvSpPr/>
          <p:nvPr>
            <p:custDataLst>
              <p:tags r:id="rId22"/>
            </p:custDataLst>
          </p:nvPr>
        </p:nvSpPr>
        <p:spPr>
          <a:xfrm>
            <a:off x="468313" y="3500438"/>
            <a:ext cx="5183187" cy="51911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469900" indent="-469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08050" indent="-43688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n"/>
              <a:defRPr sz="2600">
                <a:solidFill>
                  <a:schemeClr val="tx1"/>
                </a:solidFill>
                <a:latin typeface="+mn-lt"/>
                <a:ea typeface="+mn-ea"/>
              </a:defRPr>
            </a:lvl2pPr>
            <a:lvl3pPr marL="1304925" indent="-39560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o"/>
              <a:defRPr sz="2300">
                <a:solidFill>
                  <a:schemeClr val="tx1"/>
                </a:solidFill>
                <a:latin typeface="+mn-lt"/>
                <a:ea typeface="+mn-ea"/>
              </a:defRPr>
            </a:lvl3pPr>
            <a:lvl4pPr marL="1694180" indent="-3873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94230" indent="-398780" algn="l" rtl="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sz="2800" b="1" dirty="0">
                <a:solidFill>
                  <a:srgbClr val="4E3CFA"/>
                </a:solidFill>
                <a:latin typeface="宋体" panose="02010600030101010101" pitchFamily="2" charset="-122"/>
              </a:rPr>
              <a:t>（</a:t>
            </a:r>
            <a:r>
              <a:rPr lang="en-US" altLang="zh-CN" sz="2800" b="1" dirty="0">
                <a:solidFill>
                  <a:srgbClr val="4E3CFA"/>
                </a:solidFill>
                <a:latin typeface="宋体" panose="02010600030101010101" pitchFamily="2" charset="-122"/>
              </a:rPr>
              <a:t>3</a:t>
            </a:r>
            <a:r>
              <a:rPr lang="zh-CN" altLang="en-US" sz="2800" b="1" dirty="0">
                <a:solidFill>
                  <a:srgbClr val="4E3CFA"/>
                </a:solidFill>
                <a:latin typeface="宋体" panose="02010600030101010101" pitchFamily="2" charset="-122"/>
              </a:rPr>
              <a:t>） </a:t>
            </a:r>
            <a:r>
              <a:rPr lang="zh-CN" altLang="en-US" sz="2800" b="1" dirty="0">
                <a:solidFill>
                  <a:schemeClr val="folHlink"/>
                </a:solidFill>
                <a:latin typeface="宋体" panose="02010600030101010101" pitchFamily="2" charset="-122"/>
              </a:rPr>
              <a:t>恰好有两次击中目标： </a:t>
            </a:r>
            <a:endParaRPr lang="zh-CN" altLang="en-US" sz="2800" b="1" dirty="0">
              <a:solidFill>
                <a:schemeClr val="folHlink"/>
              </a:solidFill>
              <a:latin typeface="宋体" panose="02010600030101010101" pitchFamily="2" charset="-122"/>
            </a:endParaRPr>
          </a:p>
        </p:txBody>
      </p:sp>
      <p:graphicFrame>
        <p:nvGraphicFramePr>
          <p:cNvPr id="61455" name="Object 15"/>
          <p:cNvGraphicFramePr>
            <a:graphicFrameLocks noChangeAspect="1"/>
          </p:cNvGraphicFramePr>
          <p:nvPr>
            <p:custDataLst>
              <p:tags r:id="rId23"/>
            </p:custDataLst>
          </p:nvPr>
        </p:nvGraphicFramePr>
        <p:xfrm>
          <a:off x="5219700" y="3429000"/>
          <a:ext cx="3924300" cy="584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32" name="" r:id="rId24" imgW="1587500" imgH="241300" progId="Equation.DSMT4">
                  <p:embed/>
                </p:oleObj>
              </mc:Choice>
              <mc:Fallback>
                <p:oleObj name="" r:id="rId24" imgW="1587500" imgH="241300" progId="Equation.DSMT4">
                  <p:embed/>
                  <p:pic>
                    <p:nvPicPr>
                      <p:cNvPr id="0" name="图片 3131"/>
                      <p:cNvPicPr/>
                      <p:nvPr/>
                    </p:nvPicPr>
                    <p:blipFill>
                      <a:blip r:embed="rId25"/>
                      <a:stretch>
                        <a:fillRect/>
                      </a:stretch>
                    </p:blipFill>
                    <p:spPr>
                      <a:xfrm>
                        <a:off x="5219700" y="3429000"/>
                        <a:ext cx="3924300" cy="5842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61456" name="Rectangle 16"/>
          <p:cNvSpPr/>
          <p:nvPr>
            <p:custDataLst>
              <p:tags r:id="rId26"/>
            </p:custDataLst>
          </p:nvPr>
        </p:nvSpPr>
        <p:spPr>
          <a:xfrm>
            <a:off x="449263" y="4129088"/>
            <a:ext cx="4392612" cy="52197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469900" indent="-469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08050" indent="-43688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n"/>
              <a:defRPr sz="2600">
                <a:solidFill>
                  <a:schemeClr val="tx1"/>
                </a:solidFill>
                <a:latin typeface="+mn-lt"/>
                <a:ea typeface="+mn-ea"/>
              </a:defRPr>
            </a:lvl2pPr>
            <a:lvl3pPr marL="1304925" indent="-39560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o"/>
              <a:defRPr sz="2300">
                <a:solidFill>
                  <a:schemeClr val="tx1"/>
                </a:solidFill>
                <a:latin typeface="+mn-lt"/>
                <a:ea typeface="+mn-ea"/>
              </a:defRPr>
            </a:lvl3pPr>
            <a:lvl4pPr marL="1694180" indent="-3873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94230" indent="-398780" algn="l" rtl="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sz="2800" b="1" dirty="0">
                <a:solidFill>
                  <a:srgbClr val="4E3CFA"/>
                </a:solidFill>
                <a:latin typeface="宋体" panose="02010600030101010101" pitchFamily="2" charset="-122"/>
              </a:rPr>
              <a:t>（</a:t>
            </a:r>
            <a:r>
              <a:rPr lang="en-US" altLang="zh-CN" sz="2800" b="1" dirty="0">
                <a:solidFill>
                  <a:srgbClr val="4E3CFA"/>
                </a:solidFill>
                <a:latin typeface="宋体" panose="02010600030101010101" pitchFamily="2" charset="-122"/>
              </a:rPr>
              <a:t>4</a:t>
            </a:r>
            <a:r>
              <a:rPr lang="zh-CN" altLang="en-US" sz="2800" b="1" dirty="0">
                <a:solidFill>
                  <a:srgbClr val="4E3CFA"/>
                </a:solidFill>
                <a:latin typeface="宋体" panose="02010600030101010101" pitchFamily="2" charset="-122"/>
              </a:rPr>
              <a:t>） </a:t>
            </a:r>
            <a:r>
              <a:rPr lang="zh-CN" altLang="en-US" sz="2800" b="1" dirty="0">
                <a:solidFill>
                  <a:schemeClr val="folHlink"/>
                </a:solidFill>
                <a:latin typeface="宋体" panose="02010600030101010101" pitchFamily="2" charset="-122"/>
              </a:rPr>
              <a:t>最多击中一次： </a:t>
            </a:r>
            <a:endParaRPr lang="zh-CN" altLang="en-US" sz="2800" b="1" dirty="0">
              <a:solidFill>
                <a:schemeClr val="folHlink"/>
              </a:solidFill>
              <a:latin typeface="宋体" panose="02010600030101010101" pitchFamily="2" charset="-122"/>
            </a:endParaRPr>
          </a:p>
        </p:txBody>
      </p:sp>
      <p:graphicFrame>
        <p:nvGraphicFramePr>
          <p:cNvPr id="61458" name="Object 18"/>
          <p:cNvGraphicFramePr>
            <a:graphicFrameLocks noChangeAspect="1"/>
          </p:cNvGraphicFramePr>
          <p:nvPr>
            <p:custDataLst>
              <p:tags r:id="rId27"/>
            </p:custDataLst>
          </p:nvPr>
        </p:nvGraphicFramePr>
        <p:xfrm>
          <a:off x="5219700" y="4076700"/>
          <a:ext cx="3098800" cy="625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36" name="" r:id="rId28" imgW="1180465" imgH="241300" progId="Equation.DSMT4">
                  <p:embed/>
                </p:oleObj>
              </mc:Choice>
              <mc:Fallback>
                <p:oleObj name="" r:id="rId28" imgW="1180465" imgH="241300" progId="Equation.DSMT4">
                  <p:embed/>
                  <p:pic>
                    <p:nvPicPr>
                      <p:cNvPr id="0" name="图片 3135"/>
                      <p:cNvPicPr/>
                      <p:nvPr/>
                    </p:nvPicPr>
                    <p:blipFill>
                      <a:blip r:embed="rId29"/>
                      <a:stretch>
                        <a:fillRect/>
                      </a:stretch>
                    </p:blipFill>
                    <p:spPr>
                      <a:xfrm>
                        <a:off x="5219700" y="4076700"/>
                        <a:ext cx="3098800" cy="62547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61459" name="Rectangle 19"/>
          <p:cNvSpPr/>
          <p:nvPr>
            <p:custDataLst>
              <p:tags r:id="rId30"/>
            </p:custDataLst>
          </p:nvPr>
        </p:nvSpPr>
        <p:spPr>
          <a:xfrm>
            <a:off x="396875" y="4781550"/>
            <a:ext cx="5543550" cy="51911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469900" indent="-469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08050" indent="-43688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n"/>
              <a:defRPr sz="2600">
                <a:solidFill>
                  <a:schemeClr val="tx1"/>
                </a:solidFill>
                <a:latin typeface="+mn-lt"/>
                <a:ea typeface="+mn-ea"/>
              </a:defRPr>
            </a:lvl2pPr>
            <a:lvl3pPr marL="1304925" indent="-39560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o"/>
              <a:defRPr sz="2300">
                <a:solidFill>
                  <a:schemeClr val="tx1"/>
                </a:solidFill>
                <a:latin typeface="+mn-lt"/>
                <a:ea typeface="+mn-ea"/>
              </a:defRPr>
            </a:lvl3pPr>
            <a:lvl4pPr marL="1694180" indent="-3873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94230" indent="-398780" algn="l" rtl="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sz="2800" b="1" dirty="0">
                <a:solidFill>
                  <a:srgbClr val="4E3CFA"/>
                </a:solidFill>
                <a:latin typeface="宋体" panose="02010600030101010101" pitchFamily="2" charset="-122"/>
              </a:rPr>
              <a:t>（</a:t>
            </a:r>
            <a:r>
              <a:rPr lang="en-US" altLang="zh-CN" sz="2800" b="1" dirty="0">
                <a:solidFill>
                  <a:srgbClr val="4E3CFA"/>
                </a:solidFill>
                <a:latin typeface="宋体" panose="02010600030101010101" pitchFamily="2" charset="-122"/>
              </a:rPr>
              <a:t>5</a:t>
            </a:r>
            <a:r>
              <a:rPr lang="zh-CN" altLang="en-US" sz="2800" b="1" dirty="0">
                <a:solidFill>
                  <a:srgbClr val="4E3CFA"/>
                </a:solidFill>
                <a:latin typeface="宋体" panose="02010600030101010101" pitchFamily="2" charset="-122"/>
              </a:rPr>
              <a:t>）</a:t>
            </a:r>
            <a:r>
              <a:rPr lang="zh-CN" altLang="en-US" sz="2800" b="1" dirty="0">
                <a:solidFill>
                  <a:schemeClr val="folHlink"/>
                </a:solidFill>
                <a:latin typeface="宋体" panose="02010600030101010101" pitchFamily="2" charset="-122"/>
              </a:rPr>
              <a:t>至少有一次没有击中目标： </a:t>
            </a:r>
            <a:endParaRPr lang="zh-CN" altLang="en-US" sz="2800" b="1" dirty="0">
              <a:solidFill>
                <a:schemeClr val="folHlink"/>
              </a:solidFill>
              <a:latin typeface="宋体" panose="02010600030101010101" pitchFamily="2" charset="-122"/>
            </a:endParaRPr>
          </a:p>
        </p:txBody>
      </p:sp>
      <p:graphicFrame>
        <p:nvGraphicFramePr>
          <p:cNvPr id="61460" name="Object 20"/>
          <p:cNvGraphicFramePr>
            <a:graphicFrameLocks noChangeAspect="1"/>
          </p:cNvGraphicFramePr>
          <p:nvPr>
            <p:custDataLst>
              <p:tags r:id="rId31"/>
            </p:custDataLst>
          </p:nvPr>
        </p:nvGraphicFramePr>
        <p:xfrm>
          <a:off x="5435600" y="4797425"/>
          <a:ext cx="3335338" cy="628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34" name="" r:id="rId32" imgW="1358265" imgH="254000" progId="Equation.DSMT4">
                  <p:embed/>
                </p:oleObj>
              </mc:Choice>
              <mc:Fallback>
                <p:oleObj name="" r:id="rId32" imgW="1358265" imgH="254000" progId="Equation.DSMT4">
                  <p:embed/>
                  <p:pic>
                    <p:nvPicPr>
                      <p:cNvPr id="0" name="图片 3133"/>
                      <p:cNvPicPr/>
                      <p:nvPr/>
                    </p:nvPicPr>
                    <p:blipFill>
                      <a:blip r:embed="rId33"/>
                      <a:stretch>
                        <a:fillRect/>
                      </a:stretch>
                    </p:blipFill>
                    <p:spPr>
                      <a:xfrm>
                        <a:off x="5435600" y="4797425"/>
                        <a:ext cx="3335338" cy="62865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61461" name="Rectangle 21"/>
          <p:cNvSpPr/>
          <p:nvPr>
            <p:custDataLst>
              <p:tags r:id="rId34"/>
            </p:custDataLst>
          </p:nvPr>
        </p:nvSpPr>
        <p:spPr>
          <a:xfrm>
            <a:off x="395288" y="5661025"/>
            <a:ext cx="4752975" cy="51911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469900" indent="-469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08050" indent="-43688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n"/>
              <a:defRPr sz="2600">
                <a:solidFill>
                  <a:schemeClr val="tx1"/>
                </a:solidFill>
                <a:latin typeface="+mn-lt"/>
                <a:ea typeface="+mn-ea"/>
              </a:defRPr>
            </a:lvl2pPr>
            <a:lvl3pPr marL="1304925" indent="-39560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o"/>
              <a:defRPr sz="2300">
                <a:solidFill>
                  <a:schemeClr val="tx1"/>
                </a:solidFill>
                <a:latin typeface="+mn-lt"/>
                <a:ea typeface="+mn-ea"/>
              </a:defRPr>
            </a:lvl3pPr>
            <a:lvl4pPr marL="1694180" indent="-3873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94230" indent="-398780" algn="l" rtl="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sz="2800" b="1" dirty="0">
                <a:solidFill>
                  <a:srgbClr val="4E3CFA"/>
                </a:solidFill>
                <a:latin typeface="宋体" panose="02010600030101010101" pitchFamily="2" charset="-122"/>
              </a:rPr>
              <a:t>（</a:t>
            </a:r>
            <a:r>
              <a:rPr lang="en-US" altLang="zh-CN" sz="2800" b="1" dirty="0">
                <a:solidFill>
                  <a:srgbClr val="4E3CFA"/>
                </a:solidFill>
                <a:latin typeface="宋体" panose="02010600030101010101" pitchFamily="2" charset="-122"/>
              </a:rPr>
              <a:t>6</a:t>
            </a:r>
            <a:r>
              <a:rPr lang="zh-CN" altLang="en-US" sz="2800" b="1" dirty="0">
                <a:solidFill>
                  <a:srgbClr val="4E3CFA"/>
                </a:solidFill>
                <a:latin typeface="宋体" panose="02010600030101010101" pitchFamily="2" charset="-122"/>
              </a:rPr>
              <a:t>）</a:t>
            </a:r>
            <a:r>
              <a:rPr lang="zh-CN" altLang="en-US" sz="2800" b="1" dirty="0">
                <a:solidFill>
                  <a:schemeClr val="folHlink"/>
                </a:solidFill>
                <a:latin typeface="宋体" panose="02010600030101010101" pitchFamily="2" charset="-122"/>
              </a:rPr>
              <a:t>三次都没有击中目标： </a:t>
            </a:r>
            <a:endParaRPr lang="zh-CN" altLang="en-US" sz="2800" b="1" dirty="0">
              <a:solidFill>
                <a:schemeClr val="folHlink"/>
              </a:solidFill>
              <a:latin typeface="宋体" panose="02010600030101010101" pitchFamily="2" charset="-122"/>
            </a:endParaRPr>
          </a:p>
        </p:txBody>
      </p:sp>
      <p:graphicFrame>
        <p:nvGraphicFramePr>
          <p:cNvPr id="61462" name="Object 22"/>
          <p:cNvGraphicFramePr>
            <a:graphicFrameLocks noChangeAspect="1"/>
          </p:cNvGraphicFramePr>
          <p:nvPr>
            <p:custDataLst>
              <p:tags r:id="rId35"/>
            </p:custDataLst>
          </p:nvPr>
        </p:nvGraphicFramePr>
        <p:xfrm>
          <a:off x="5435600" y="5734050"/>
          <a:ext cx="3263900" cy="6175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35" name="" r:id="rId36" imgW="1358265" imgH="254000" progId="Equation.DSMT4">
                  <p:embed/>
                </p:oleObj>
              </mc:Choice>
              <mc:Fallback>
                <p:oleObj name="" r:id="rId36" imgW="1358265" imgH="254000" progId="Equation.DSMT4">
                  <p:embed/>
                  <p:pic>
                    <p:nvPicPr>
                      <p:cNvPr id="0" name="图片 3134"/>
                      <p:cNvPicPr/>
                      <p:nvPr/>
                    </p:nvPicPr>
                    <p:blipFill>
                      <a:blip r:embed="rId37"/>
                      <a:stretch>
                        <a:fillRect/>
                      </a:stretch>
                    </p:blipFill>
                    <p:spPr>
                      <a:xfrm>
                        <a:off x="5435600" y="5734050"/>
                        <a:ext cx="3263900" cy="617538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4" presetClass="entr" presetSubtype="0" accel="10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6144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6144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6144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614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614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54" presetClass="entr" presetSubtype="0" accel="10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6145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6145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6145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614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614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54" presetClass="entr" presetSubtype="0" accel="10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6145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6145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6145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614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614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54" presetClass="entr" presetSubtype="0" accel="10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6145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6145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6145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6145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614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54" presetClass="entr" presetSubtype="0" accel="10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8" dur="500" fill="hold"/>
                                        <p:tgtEl>
                                          <p:spTgt spid="6145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6145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6145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500" fill="hold"/>
                                        <p:tgtEl>
                                          <p:spTgt spid="6145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614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54" presetClass="entr" presetSubtype="0" accel="10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7" dur="500" fill="hold"/>
                                        <p:tgtEl>
                                          <p:spTgt spid="6146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500" fill="hold"/>
                                        <p:tgtEl>
                                          <p:spTgt spid="6146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500" fill="hold"/>
                                        <p:tgtEl>
                                          <p:spTgt spid="6146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500" fill="hold"/>
                                        <p:tgtEl>
                                          <p:spTgt spid="6146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614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6" dur="500"/>
                                        <p:tgtEl>
                                          <p:spTgt spid="614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1" dur="500"/>
                                        <p:tgtEl>
                                          <p:spTgt spid="614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6" dur="500"/>
                                        <p:tgtEl>
                                          <p:spTgt spid="614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1" dur="500"/>
                                        <p:tgtEl>
                                          <p:spTgt spid="614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>
                      <p:stCondLst>
                        <p:cond delay="indefinite"/>
                      </p:stCondLst>
                      <p:childTnLst>
                        <p:par>
                          <p:cTn id="83" fill="hold">
                            <p:stCondLst>
                              <p:cond delay="0"/>
                            </p:stCondLst>
                            <p:childTnLst>
                              <p:par>
                                <p:cTn id="84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6" dur="500"/>
                                        <p:tgtEl>
                                          <p:spTgt spid="614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1" dur="500"/>
                                        <p:tgtEl>
                                          <p:spTgt spid="614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1449" grpId="0"/>
      <p:bldP spid="61451" grpId="0"/>
      <p:bldP spid="61453" grpId="0"/>
      <p:bldP spid="61456" grpId="0"/>
      <p:bldP spid="61459" grpId="0"/>
      <p:bldP spid="61461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文本框 3"/>
          <p:cNvSpPr txBox="1"/>
          <p:nvPr/>
        </p:nvSpPr>
        <p:spPr>
          <a:xfrm>
            <a:off x="732790" y="773430"/>
            <a:ext cx="6096000" cy="5835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zh-CN" sz="3200" b="1" dirty="0">
                <a:sym typeface="+mn-ea"/>
              </a:rPr>
              <a:t>2.2</a:t>
            </a:r>
            <a:r>
              <a:rPr lang="zh-CN" altLang="zh-CN" sz="3200" b="1" dirty="0">
                <a:sym typeface="+mn-ea"/>
              </a:rPr>
              <a:t>随机事件的概率</a:t>
            </a:r>
            <a:endParaRPr lang="zh-CN" altLang="zh-CN" sz="3200" b="1" dirty="0">
              <a:sym typeface="+mn-ea"/>
            </a:endParaRPr>
          </a:p>
        </p:txBody>
      </p:sp>
      <p:grpSp>
        <p:nvGrpSpPr>
          <p:cNvPr id="5" name="Group 2"/>
          <p:cNvGrpSpPr/>
          <p:nvPr/>
        </p:nvGrpSpPr>
        <p:grpSpPr>
          <a:xfrm>
            <a:off x="1349375" y="1446530"/>
            <a:ext cx="8208963" cy="1533525"/>
            <a:chOff x="158" y="356"/>
            <a:chExt cx="5171" cy="966"/>
          </a:xfrm>
        </p:grpSpPr>
        <p:sp>
          <p:nvSpPr>
            <p:cNvPr id="10254" name="Rectangle 3"/>
            <p:cNvSpPr>
              <a:spLocks noRot="1" noChangeAspect="1" noMove="1" noResize="1" noEditPoints="1" noAdjustHandles="1" noChangeArrowheads="1" noChangeShapeType="1" noTextEdit="1"/>
            </p:cNvSpPr>
            <p:nvPr>
              <p:custDataLst>
                <p:tags r:id="rId1"/>
              </p:custDataLst>
            </p:nvPr>
          </p:nvSpPr>
          <p:spPr bwMode="auto">
            <a:xfrm>
              <a:off x="158" y="356"/>
              <a:ext cx="5171" cy="614"/>
            </a:xfrm>
            <a:prstGeom prst="rect">
              <a:avLst/>
            </a:prstGeom>
            <a:blipFill>
              <a:blip r:embed="rId2"/>
              <a:stretch>
                <a:fillRect l="-1485" t="-6875" b="-13750"/>
              </a:stretch>
            </a:blip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2800" b="1" i="0" u="none" strike="noStrike" kern="1200" cap="none" spc="0" normalizeH="0" baseline="0" noProof="0">
                  <a:ln>
                    <a:noFill/>
                  </a:ln>
                  <a:noFill/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 </a:t>
              </a:r>
              <a:endParaRPr kumimoji="0" lang="zh-CN" altLang="en-US" sz="2800" b="1" i="0" u="none" strike="noStrike" kern="1200" cap="none" spc="0" normalizeH="0" baseline="0" noProof="0">
                <a:ln>
                  <a:noFill/>
                </a:ln>
                <a:noFill/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3325" name="Rectangle 7"/>
            <p:cNvSpPr/>
            <p:nvPr>
              <p:custDataLst>
                <p:tags r:id="rId3"/>
              </p:custDataLst>
            </p:nvPr>
          </p:nvSpPr>
          <p:spPr>
            <a:xfrm>
              <a:off x="167" y="992"/>
              <a:ext cx="2161" cy="330"/>
            </a:xfrm>
            <a:prstGeom prst="rect">
              <a:avLst/>
            </a:prstGeom>
            <a:noFill/>
            <a:ln w="12700">
              <a:noFill/>
            </a:ln>
          </p:spPr>
          <p:txBody>
            <a:bodyPr wrap="none" anchor="ctr" anchorCtr="0">
              <a:spAutoFit/>
            </a:bodyPr>
            <a:lstStyle>
              <a:lvl1pPr marL="469900" indent="-469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o"/>
                <a:defRPr sz="3000" b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08050" indent="-43688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n"/>
                <a:defRPr sz="26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304925" indent="-395605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o"/>
                <a:defRPr sz="23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94180" indent="-3873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94230" indent="-398780" algn="l" rtl="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zh-CN" altLang="en-US" sz="2800" b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满足下列三条公理，</a:t>
              </a:r>
              <a:endParaRPr lang="zh-CN" altLang="en-US" sz="2800" b="1" dirty="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</p:grpSp>
      <p:sp>
        <p:nvSpPr>
          <p:cNvPr id="76808" name="Rectangle 8"/>
          <p:cNvSpPr/>
          <p:nvPr>
            <p:custDataLst>
              <p:tags r:id="rId4"/>
            </p:custDataLst>
          </p:nvPr>
        </p:nvSpPr>
        <p:spPr>
          <a:xfrm>
            <a:off x="1062038" y="3169127"/>
            <a:ext cx="2282190" cy="521970"/>
          </a:xfrm>
          <a:prstGeom prst="rect">
            <a:avLst/>
          </a:prstGeom>
          <a:noFill/>
          <a:ln w="12700">
            <a:noFill/>
          </a:ln>
        </p:spPr>
        <p:txBody>
          <a:bodyPr wrap="none" anchor="ctr" anchorCtr="0">
            <a:spAutoFit/>
          </a:bodyPr>
          <a:lstStyle>
            <a:lvl1pPr marL="469900" indent="-469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o"/>
              <a:defRPr sz="30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08050" indent="-43688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n"/>
              <a:defRPr sz="2600">
                <a:solidFill>
                  <a:schemeClr val="tx1"/>
                </a:solidFill>
                <a:latin typeface="+mn-lt"/>
                <a:ea typeface="+mn-ea"/>
              </a:defRPr>
            </a:lvl2pPr>
            <a:lvl3pPr marL="1304925" indent="-39560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o"/>
              <a:defRPr sz="2300">
                <a:solidFill>
                  <a:schemeClr val="tx1"/>
                </a:solidFill>
                <a:latin typeface="+mn-lt"/>
                <a:ea typeface="+mn-ea"/>
              </a:defRPr>
            </a:lvl3pPr>
            <a:lvl4pPr marL="1694180" indent="-3873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94230" indent="-398780" algn="l" rtl="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914400" lvl="1" indent="-457200" eaLnBrk="1" hangingPunct="1">
              <a:spcBef>
                <a:spcPct val="0"/>
              </a:spcBef>
              <a:buClr>
                <a:srgbClr val="4E3CFA"/>
              </a:buClr>
              <a:buSzPct val="90000"/>
              <a:buFont typeface="Wingdings" panose="05000000000000000000" pitchFamily="2" charset="2"/>
              <a:buChar char="u"/>
            </a:pPr>
            <a:r>
              <a:rPr lang="zh-CN" altLang="en-US" sz="2800" b="1" dirty="0">
                <a:solidFill>
                  <a:srgbClr val="FF0000"/>
                </a:solidFill>
                <a:latin typeface="Times New Roman" panose="02020603050405020304" pitchFamily="18" charset="0"/>
              </a:rPr>
              <a:t>非负性</a:t>
            </a:r>
            <a:r>
              <a:rPr lang="en-US" altLang="zh-CN" sz="2800" b="1" dirty="0">
                <a:solidFill>
                  <a:srgbClr val="FF0000"/>
                </a:solidFill>
                <a:latin typeface="Times New Roman" panose="02020603050405020304" pitchFamily="18" charset="0"/>
              </a:rPr>
              <a:t>:</a:t>
            </a:r>
            <a:endParaRPr lang="en-US" altLang="zh-CN" sz="2800" b="1" dirty="0">
              <a:solidFill>
                <a:srgbClr val="FF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76809" name="Rectangle 9"/>
          <p:cNvSpPr>
            <a:spLocks noRot="1" noChangeAspect="1" noMove="1" noResize="1" noEditPoints="1" noAdjustHandles="1" noChangeArrowheads="1" noChangeShapeType="1" noTextEdit="1"/>
          </p:cNvSpPr>
          <p:nvPr>
            <p:custDataLst>
              <p:tags r:id="rId5"/>
            </p:custDataLst>
          </p:nvPr>
        </p:nvSpPr>
        <p:spPr bwMode="auto">
          <a:xfrm>
            <a:off x="1588110" y="3927935"/>
            <a:ext cx="6335712" cy="954108"/>
          </a:xfrm>
          <a:prstGeom prst="rect">
            <a:avLst/>
          </a:prstGeom>
          <a:blipFill>
            <a:blip r:embed="rId6"/>
            <a:stretch>
              <a:fillRect l="-1442" t="-8333"/>
            </a:stretch>
          </a:blip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1" i="0" u="none" strike="noStrike" kern="1200" cap="none" spc="0" normalizeH="0" baseline="0" noProof="0">
                <a:ln>
                  <a:noFill/>
                </a:ln>
                <a:noFill/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 </a:t>
            </a:r>
            <a:endParaRPr kumimoji="0" lang="zh-CN" altLang="en-US" sz="2800" b="1" i="0" u="none" strike="noStrike" kern="1200" cap="none" spc="0" normalizeH="0" baseline="0" noProof="0">
              <a:ln>
                <a:noFill/>
              </a:ln>
              <a:noFill/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6810" name="Rectangle 10"/>
          <p:cNvSpPr/>
          <p:nvPr>
            <p:custDataLst>
              <p:tags r:id="rId7"/>
            </p:custDataLst>
          </p:nvPr>
        </p:nvSpPr>
        <p:spPr>
          <a:xfrm>
            <a:off x="1566863" y="4755039"/>
            <a:ext cx="2879725" cy="521970"/>
          </a:xfrm>
          <a:prstGeom prst="rect">
            <a:avLst/>
          </a:prstGeom>
          <a:noFill/>
          <a:ln w="12700">
            <a:noFill/>
          </a:ln>
        </p:spPr>
        <p:txBody>
          <a:bodyPr anchor="ctr" anchorCtr="0">
            <a:spAutoFit/>
          </a:bodyPr>
          <a:lstStyle>
            <a:lvl1pPr marL="469900" indent="-469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o"/>
              <a:defRPr sz="30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08050" indent="-43688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n"/>
              <a:defRPr sz="2600">
                <a:solidFill>
                  <a:schemeClr val="tx1"/>
                </a:solidFill>
                <a:latin typeface="+mn-lt"/>
                <a:ea typeface="+mn-ea"/>
              </a:defRPr>
            </a:lvl2pPr>
            <a:lvl3pPr marL="1304925" indent="-39560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o"/>
              <a:defRPr sz="2300">
                <a:solidFill>
                  <a:schemeClr val="tx1"/>
                </a:solidFill>
                <a:latin typeface="+mn-lt"/>
                <a:ea typeface="+mn-ea"/>
              </a:defRPr>
            </a:lvl3pPr>
            <a:lvl4pPr marL="1694180" indent="-3873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94230" indent="-398780" algn="l" rtl="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266700" eaLnBrk="1" hangingPunct="1">
              <a:spcBef>
                <a:spcPct val="0"/>
              </a:spcBef>
              <a:buClr>
                <a:srgbClr val="4E3CFA"/>
              </a:buClr>
              <a:buSzPct val="90000"/>
              <a:buFont typeface="Wingdings" panose="05000000000000000000" pitchFamily="2" charset="2"/>
              <a:buChar char="u"/>
            </a:pPr>
            <a:r>
              <a:rPr lang="en-US" altLang="zh-CN" sz="2800" b="1" dirty="0">
                <a:solidFill>
                  <a:srgbClr val="FF0000"/>
                </a:solidFill>
                <a:latin typeface="Times New Roman" panose="02020603050405020304" pitchFamily="18" charset="0"/>
              </a:rPr>
              <a:t>  </a:t>
            </a:r>
            <a:r>
              <a:rPr lang="zh-CN" altLang="en-US" sz="2800" b="1" dirty="0">
                <a:solidFill>
                  <a:srgbClr val="FF0000"/>
                </a:solidFill>
                <a:latin typeface="Times New Roman" panose="02020603050405020304" pitchFamily="18" charset="0"/>
              </a:rPr>
              <a:t>可列可加性：</a:t>
            </a:r>
            <a:endParaRPr lang="zh-CN" altLang="en-US" sz="2800" dirty="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10252" name="Rectangle 13"/>
          <p:cNvSpPr>
            <a:spLocks noRot="1" noChangeAspect="1" noMove="1" noResize="1" noEditPoints="1" noAdjustHandles="1" noChangeArrowheads="1" noChangeShapeType="1" noTextEdit="1"/>
          </p:cNvSpPr>
          <p:nvPr>
            <p:custDataLst>
              <p:tags r:id="rId8"/>
            </p:custDataLst>
          </p:nvPr>
        </p:nvSpPr>
        <p:spPr bwMode="auto">
          <a:xfrm>
            <a:off x="4446588" y="2418930"/>
            <a:ext cx="7200899" cy="519114"/>
          </a:xfrm>
          <a:prstGeom prst="rect">
            <a:avLst/>
          </a:prstGeom>
          <a:blipFill>
            <a:blip r:embed="rId9"/>
            <a:stretch>
              <a:fillRect l="-1693" t="-15294" b="-29412"/>
            </a:stretch>
          </a:blip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1" i="0" u="none" strike="noStrike" kern="1200" cap="none" spc="0" normalizeH="0" baseline="0" noProof="0">
                <a:ln>
                  <a:noFill/>
                </a:ln>
                <a:noFill/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 </a:t>
            </a:r>
            <a:endParaRPr kumimoji="0" lang="zh-CN" altLang="en-US" sz="2800" b="1" i="0" u="none" strike="noStrike" kern="1200" cap="none" spc="0" normalizeH="0" baseline="0" noProof="0">
              <a:ln>
                <a:noFill/>
              </a:ln>
              <a:noFill/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6816" name="Rectangle 16"/>
          <p:cNvSpPr>
            <a:spLocks noRot="1" noChangeAspect="1" noMove="1" noResize="1" noEditPoints="1" noAdjustHandles="1" noChangeArrowheads="1" noChangeShapeType="1" noTextEdit="1"/>
          </p:cNvSpPr>
          <p:nvPr>
            <p:custDataLst>
              <p:tags r:id="rId10"/>
            </p:custDataLst>
          </p:nvPr>
        </p:nvSpPr>
        <p:spPr bwMode="auto">
          <a:xfrm>
            <a:off x="4374406" y="3151517"/>
            <a:ext cx="2274405" cy="523220"/>
          </a:xfrm>
          <a:prstGeom prst="rect">
            <a:avLst/>
          </a:prstGeom>
          <a:blipFill>
            <a:blip r:embed="rId11"/>
            <a:stretch>
              <a:fillRect t="-14118" r="-4558" b="-31765"/>
            </a:stretch>
          </a:blipFill>
          <a:ln>
            <a:noFill/>
          </a:ln>
          <a:extLs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1" i="0" u="none" strike="noStrike" kern="1200" cap="none" spc="0" normalizeH="0" baseline="0" noProof="0">
                <a:ln>
                  <a:noFill/>
                </a:ln>
                <a:noFill/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 </a:t>
            </a:r>
            <a:endParaRPr kumimoji="0" lang="zh-CN" altLang="en-US" sz="2800" b="1" i="0" u="none" strike="noStrike" kern="1200" cap="none" spc="0" normalizeH="0" baseline="0" noProof="0">
              <a:ln>
                <a:noFill/>
              </a:ln>
              <a:noFill/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6817" name="Rectangle 17"/>
          <p:cNvSpPr/>
          <p:nvPr>
            <p:custDataLst>
              <p:tags r:id="rId12"/>
            </p:custDataLst>
          </p:nvPr>
        </p:nvSpPr>
        <p:spPr>
          <a:xfrm>
            <a:off x="7083425" y="4719955"/>
            <a:ext cx="2673350" cy="519113"/>
          </a:xfrm>
          <a:prstGeom prst="rect">
            <a:avLst/>
          </a:prstGeom>
          <a:noFill/>
          <a:ln w="38100">
            <a:noFill/>
          </a:ln>
        </p:spPr>
        <p:txBody>
          <a:bodyPr wrap="none">
            <a:spAutoFit/>
          </a:bodyPr>
          <a:lstStyle>
            <a:lvl1pPr marL="469900" indent="-469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o"/>
              <a:defRPr sz="30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08050" indent="-43688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n"/>
              <a:defRPr sz="2600">
                <a:solidFill>
                  <a:schemeClr val="tx1"/>
                </a:solidFill>
                <a:latin typeface="+mn-lt"/>
                <a:ea typeface="+mn-ea"/>
              </a:defRPr>
            </a:lvl2pPr>
            <a:lvl3pPr marL="1304925" indent="-39560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o"/>
              <a:defRPr sz="2300">
                <a:solidFill>
                  <a:schemeClr val="tx1"/>
                </a:solidFill>
                <a:latin typeface="+mn-lt"/>
                <a:ea typeface="+mn-ea"/>
              </a:defRPr>
            </a:lvl3pPr>
            <a:lvl4pPr marL="1694180" indent="-3873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94230" indent="-398780" algn="l" rtl="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sz="2800" dirty="0">
                <a:solidFill>
                  <a:srgbClr val="000000"/>
                </a:solidFill>
                <a:latin typeface="Times New Roman" panose="02020603050405020304" pitchFamily="18" charset="0"/>
              </a:rPr>
              <a:t>两两互不相容时</a:t>
            </a:r>
            <a:endParaRPr lang="zh-CN" altLang="en-US" sz="2800" dirty="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6" name="矩形 5"/>
          <p:cNvSpPr>
            <a:spLocks noRot="1" noChangeAspect="1" noMove="1" noResize="1" noEditPoints="1" noAdjustHandles="1" noChangeArrowheads="1" noChangeShapeType="1" noTextEdit="1"/>
          </p:cNvSpPr>
          <p:nvPr>
            <p:custDataLst>
              <p:tags r:id="rId13"/>
            </p:custDataLst>
          </p:nvPr>
        </p:nvSpPr>
        <p:spPr>
          <a:xfrm>
            <a:off x="4383108" y="4719240"/>
            <a:ext cx="2699970" cy="523220"/>
          </a:xfrm>
          <a:prstGeom prst="rect">
            <a:avLst/>
          </a:prstGeom>
          <a:blipFill>
            <a:blip r:embed="rId14"/>
            <a:stretch>
              <a:fillRect t="-11628" b="-31395"/>
            </a:stretch>
          </a:blipFill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1" i="0" u="none" strike="noStrike" kern="1200" cap="none" spc="0" normalizeH="0" baseline="0" noProof="0">
                <a:ln>
                  <a:noFill/>
                </a:ln>
                <a:noFill/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 </a:t>
            </a:r>
            <a:endParaRPr kumimoji="0" lang="zh-CN" altLang="en-US" sz="2800" b="1" i="0" u="none" strike="noStrike" kern="1200" cap="none" spc="0" normalizeH="0" baseline="0" noProof="0">
              <a:ln>
                <a:noFill/>
              </a:ln>
              <a:noFill/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矩形 6"/>
          <p:cNvSpPr>
            <a:spLocks noRot="1" noChangeAspect="1" noMove="1" noResize="1" noEditPoints="1" noAdjustHandles="1" noChangeArrowheads="1" noChangeShapeType="1" noTextEdit="1"/>
          </p:cNvSpPr>
          <p:nvPr>
            <p:custDataLst>
              <p:tags r:id="rId15"/>
            </p:custDataLst>
          </p:nvPr>
        </p:nvSpPr>
        <p:spPr>
          <a:xfrm>
            <a:off x="4178269" y="5248512"/>
            <a:ext cx="3835922" cy="1324273"/>
          </a:xfrm>
          <a:prstGeom prst="rect">
            <a:avLst/>
          </a:prstGeom>
          <a:blipFill>
            <a:blip r:embed="rId16"/>
            <a:stretch>
              <a:fillRect/>
            </a:stretch>
          </a:blipFill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1" i="0" u="none" strike="noStrike" kern="1200" cap="none" spc="0" normalizeH="0" baseline="0" noProof="0">
                <a:ln>
                  <a:noFill/>
                </a:ln>
                <a:noFill/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 </a:t>
            </a:r>
            <a:endParaRPr kumimoji="0" lang="zh-CN" altLang="en-US" sz="2800" b="1" i="0" u="none" strike="noStrike" kern="1200" cap="none" spc="0" normalizeH="0" baseline="0" noProof="0">
              <a:ln>
                <a:noFill/>
              </a:ln>
              <a:noFill/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54" presetClass="entr" presetSubtype="0" accel="10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8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7680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7680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7680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7680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768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8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768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768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54" presetClass="entr" presetSubtype="0" accel="10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8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7680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7680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7680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7680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768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54" presetClass="entr" presetSubtype="0" accel="10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8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768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768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768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768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768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8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6808" grpId="0"/>
      <p:bldP spid="76810" grpId="0"/>
      <p:bldP spid="76817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矩形 3"/>
          <p:cNvSpPr>
            <a:spLocks noRot="1" noChangeAspect="1" noMove="1" noResize="1" noEditPoints="1" noAdjustHandles="1" noChangeArrowheads="1" noChangeShapeType="1" noTextEdit="1"/>
          </p:cNvSpPr>
          <p:nvPr/>
        </p:nvSpPr>
        <p:spPr>
          <a:xfrm>
            <a:off x="1933305" y="410332"/>
            <a:ext cx="1580433" cy="584776"/>
          </a:xfrm>
          <a:prstGeom prst="rect">
            <a:avLst/>
          </a:prstGeom>
          <a:blipFill>
            <a:blip r:embed="rId1"/>
            <a:stretch>
              <a:fillRect t="-13684" r="-8846" b="-34737"/>
            </a:stretch>
          </a:blipFill>
        </p:spPr>
        <p:txBody>
          <a:bodyPr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3200" i="0" u="none" strike="noStrike" kern="1200" cap="none" spc="0" normalizeH="0" baseline="0" noProof="0">
                <a:ln>
                  <a:noFill/>
                </a:ln>
                <a:noFill/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 </a:t>
            </a:r>
            <a:endParaRPr kumimoji="0" lang="zh-CN" altLang="en-US" sz="3200" i="0" u="none" strike="noStrike" kern="1200" cap="none" spc="0" normalizeH="0" baseline="0" noProof="0">
              <a:ln>
                <a:noFill/>
              </a:ln>
              <a:noFill/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Text Box 2"/>
          <p:cNvSpPr txBox="1">
            <a:spLocks noRot="1" noChangeAspect="1" noMove="1" noResize="1" noEditPoints="1" noAdjustHandles="1" noChangeArrowheads="1" noChangeShapeType="1" noTextEdit="1"/>
          </p:cNvSpPr>
          <p:nvPr/>
        </p:nvSpPr>
        <p:spPr bwMode="auto">
          <a:xfrm>
            <a:off x="1914208" y="1137865"/>
            <a:ext cx="6408737" cy="543354"/>
          </a:xfrm>
          <a:prstGeom prst="rect">
            <a:avLst/>
          </a:prstGeom>
          <a:blipFill>
            <a:blip r:embed="rId2"/>
            <a:stretch>
              <a:fillRect l="-1998" t="-14607" b="-23596"/>
            </a:stretch>
          </a:blip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p>
            <a:pPr marR="0" defTabSz="914400">
              <a:buClrTx/>
              <a:buSzTx/>
              <a:buFontTx/>
              <a:buNone/>
              <a:defRPr/>
            </a:pPr>
            <a:r>
              <a:rPr kumimoji="0" lang="zh-CN" altLang="en-US" sz="3200" kern="1200" cap="none" spc="0" normalizeH="0" baseline="0" noProof="0">
                <a:noFill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 </a:t>
            </a:r>
            <a:endParaRPr kumimoji="0" lang="zh-CN" altLang="en-US" sz="3200" kern="1200" cap="none" spc="0" normalizeH="0" baseline="0" noProof="0">
              <a:noFill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文本框 5"/>
          <p:cNvSpPr txBox="1">
            <a:spLocks noRot="1" noChangeAspect="1" noMove="1" noResize="1" noEditPoints="1" noAdjustHandles="1" noChangeArrowheads="1" noChangeShapeType="1" noTextEdit="1"/>
          </p:cNvSpPr>
          <p:nvPr/>
        </p:nvSpPr>
        <p:spPr>
          <a:xfrm>
            <a:off x="1412930" y="2076549"/>
            <a:ext cx="7776865" cy="523220"/>
          </a:xfrm>
          <a:prstGeom prst="rect">
            <a:avLst/>
          </a:prstGeom>
          <a:blipFill>
            <a:blip r:embed="rId3"/>
            <a:stretch>
              <a:fillRect l="-1567" t="-15116" b="-31395"/>
            </a:stretch>
          </a:blipFill>
        </p:spPr>
        <p:txBody>
          <a:bodyPr/>
          <a:p>
            <a:pPr marR="0" defTabSz="914400">
              <a:buClrTx/>
              <a:buSzTx/>
              <a:buFontTx/>
              <a:buNone/>
              <a:defRPr/>
            </a:pPr>
            <a:r>
              <a:rPr kumimoji="0" lang="zh-CN" altLang="en-US" sz="3200" kern="1200" cap="none" spc="0" normalizeH="0" baseline="0" noProof="0">
                <a:noFill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 </a:t>
            </a:r>
            <a:endParaRPr kumimoji="0" lang="zh-CN" altLang="en-US" sz="3200" kern="1200" cap="none" spc="0" normalizeH="0" baseline="0" noProof="0">
              <a:noFill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矩形 6"/>
          <p:cNvSpPr>
            <a:spLocks noRot="1" noChangeAspect="1" noMove="1" noResize="1" noEditPoints="1" noAdjustHandles="1" noChangeArrowheads="1" noChangeShapeType="1" noTextEdit="1"/>
          </p:cNvSpPr>
          <p:nvPr/>
        </p:nvSpPr>
        <p:spPr>
          <a:xfrm>
            <a:off x="2845471" y="2706523"/>
            <a:ext cx="3827073" cy="523219"/>
          </a:xfrm>
          <a:prstGeom prst="rect">
            <a:avLst/>
          </a:prstGeom>
          <a:blipFill>
            <a:blip r:embed="rId4"/>
            <a:stretch>
              <a:fillRect t="-12941" b="-32941"/>
            </a:stretch>
          </a:blipFill>
        </p:spPr>
        <p:txBody>
          <a:bodyPr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3200" i="0" u="none" strike="noStrike" kern="1200" cap="none" spc="0" normalizeH="0" baseline="0" noProof="0">
                <a:ln>
                  <a:noFill/>
                </a:ln>
                <a:noFill/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 </a:t>
            </a:r>
            <a:endParaRPr kumimoji="0" lang="zh-CN" altLang="en-US" sz="3200" i="0" u="none" strike="noStrike" kern="1200" cap="none" spc="0" normalizeH="0" baseline="0" noProof="0">
              <a:ln>
                <a:noFill/>
              </a:ln>
              <a:noFill/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" name="矩形 7"/>
          <p:cNvSpPr>
            <a:spLocks noRot="1" noChangeAspect="1" noMove="1" noResize="1" noEditPoints="1" noAdjustHandles="1" noChangeArrowheads="1" noChangeShapeType="1" noTextEdit="1"/>
          </p:cNvSpPr>
          <p:nvPr/>
        </p:nvSpPr>
        <p:spPr>
          <a:xfrm>
            <a:off x="7203440" y="761723"/>
            <a:ext cx="3835922" cy="1273490"/>
          </a:xfrm>
          <a:prstGeom prst="rect">
            <a:avLst/>
          </a:prstGeom>
          <a:blipFill>
            <a:blip r:embed="rId5"/>
            <a:stretch>
              <a:fillRect/>
            </a:stretch>
          </a:blipFill>
        </p:spPr>
        <p:txBody>
          <a:bodyPr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3200" i="0" u="none" strike="noStrike" kern="1200" cap="none" spc="0" normalizeH="0" baseline="0" noProof="0">
                <a:ln>
                  <a:noFill/>
                </a:ln>
                <a:noFill/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 </a:t>
            </a:r>
            <a:endParaRPr kumimoji="0" lang="zh-CN" altLang="en-US" sz="3200" i="0" u="none" strike="noStrike" kern="1200" cap="none" spc="0" normalizeH="0" baseline="0" noProof="0">
              <a:ln>
                <a:noFill/>
              </a:ln>
              <a:noFill/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" name="Rectangle 2"/>
          <p:cNvSpPr>
            <a:spLocks noRot="1" noChangeAspect="1" noMove="1" noResize="1" noEditPoints="1" noAdjustHandles="1" noChangeArrowheads="1" noChangeShapeType="1" noTextEdit="1"/>
          </p:cNvSpPr>
          <p:nvPr/>
        </p:nvSpPr>
        <p:spPr bwMode="auto">
          <a:xfrm>
            <a:off x="1996017" y="3484879"/>
            <a:ext cx="7344023" cy="523220"/>
          </a:xfrm>
          <a:prstGeom prst="rect">
            <a:avLst/>
          </a:prstGeom>
          <a:blipFill>
            <a:blip r:embed="rId6"/>
            <a:stretch>
              <a:fillRect l="-1574" t="-13636" b="-27273"/>
            </a:stretch>
          </a:blipFill>
          <a:ln w="12700" cap="rnd" algn="ctr">
            <a:solidFill>
              <a:srgbClr val="FF33CC"/>
            </a:solidFill>
            <a:prstDash val="sysDot"/>
            <a:miter lim="800000"/>
          </a:ln>
        </p:spPr>
        <p:txBody>
          <a:bodyPr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3200" i="0" u="none" strike="noStrike" kern="1200" cap="none" spc="0" normalizeH="0" baseline="0" noProof="0">
                <a:ln>
                  <a:noFill/>
                </a:ln>
                <a:noFill/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 </a:t>
            </a:r>
            <a:endParaRPr kumimoji="0" lang="zh-CN" altLang="en-US" sz="3200" i="0" u="none" strike="noStrike" kern="1200" cap="none" spc="0" normalizeH="0" baseline="0" noProof="0">
              <a:ln>
                <a:noFill/>
              </a:ln>
              <a:noFill/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" name="文本框 9"/>
          <p:cNvSpPr txBox="1">
            <a:spLocks noRot="1" noChangeAspect="1" noMove="1" noResize="1" noEditPoints="1" noAdjustHandles="1" noChangeArrowheads="1" noChangeShapeType="1" noTextEdit="1"/>
          </p:cNvSpPr>
          <p:nvPr/>
        </p:nvSpPr>
        <p:spPr>
          <a:xfrm>
            <a:off x="1568882" y="4192971"/>
            <a:ext cx="4426981" cy="861774"/>
          </a:xfrm>
          <a:prstGeom prst="rect">
            <a:avLst/>
          </a:prstGeom>
          <a:blipFill>
            <a:blip r:embed="rId7"/>
            <a:stretch>
              <a:fillRect t="-14894" r="-3444"/>
            </a:stretch>
          </a:blipFill>
        </p:spPr>
        <p:txBody>
          <a:bodyPr/>
          <a:p>
            <a:pPr marR="0" defTabSz="914400">
              <a:buClrTx/>
              <a:buSzTx/>
              <a:buFontTx/>
              <a:buNone/>
              <a:defRPr/>
            </a:pPr>
            <a:r>
              <a:rPr kumimoji="0" lang="zh-CN" altLang="en-US" sz="3200" kern="1200" cap="none" spc="0" normalizeH="0" baseline="0" noProof="0">
                <a:noFill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 </a:t>
            </a:r>
            <a:endParaRPr kumimoji="0" lang="zh-CN" altLang="en-US" sz="3200" kern="1200" cap="none" spc="0" normalizeH="0" baseline="0" noProof="0">
              <a:noFill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1254760" y="403860"/>
            <a:ext cx="678815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3200">
                <a:solidFill>
                  <a:srgbClr val="00B0F0"/>
                </a:solidFill>
              </a:rPr>
              <a:t>(1)</a:t>
            </a:r>
            <a:endParaRPr lang="en-US" altLang="zh-CN" sz="3200">
              <a:solidFill>
                <a:srgbClr val="00B0F0"/>
              </a:solidFill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1259840" y="1137920"/>
            <a:ext cx="678815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3200">
                <a:solidFill>
                  <a:srgbClr val="00B0F0"/>
                </a:solidFill>
              </a:rPr>
              <a:t>(2)</a:t>
            </a:r>
            <a:endParaRPr lang="en-US" altLang="zh-CN" sz="3200">
              <a:solidFill>
                <a:srgbClr val="00B0F0"/>
              </a:solidFill>
            </a:endParaRPr>
          </a:p>
        </p:txBody>
      </p:sp>
      <p:sp>
        <p:nvSpPr>
          <p:cNvPr id="15" name="文本框 14"/>
          <p:cNvSpPr txBox="1"/>
          <p:nvPr/>
        </p:nvSpPr>
        <p:spPr>
          <a:xfrm>
            <a:off x="1316990" y="3486150"/>
            <a:ext cx="678815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3200">
                <a:solidFill>
                  <a:srgbClr val="00B0F0"/>
                </a:solidFill>
              </a:rPr>
              <a:t>(3)</a:t>
            </a:r>
            <a:endParaRPr lang="en-US" altLang="zh-CN" sz="3200">
              <a:solidFill>
                <a:srgbClr val="00B0F0"/>
              </a:solidFill>
            </a:endParaRPr>
          </a:p>
        </p:txBody>
      </p:sp>
      <p:sp>
        <p:nvSpPr>
          <p:cNvPr id="16" name="矩形 15"/>
          <p:cNvSpPr>
            <a:spLocks noRot="1" noChangeAspect="1" noMove="1" noResize="1" noEditPoints="1" noAdjustHandles="1" noChangeArrowheads="1" noChangeShapeType="1" noTextEdit="1"/>
          </p:cNvSpPr>
          <p:nvPr/>
        </p:nvSpPr>
        <p:spPr>
          <a:xfrm>
            <a:off x="1976661" y="4969510"/>
            <a:ext cx="2898870" cy="524118"/>
          </a:xfrm>
          <a:prstGeom prst="rect">
            <a:avLst/>
          </a:prstGeom>
          <a:blipFill>
            <a:blip r:embed="rId8"/>
            <a:stretch>
              <a:fillRect/>
            </a:stretch>
          </a:blipFill>
        </p:spPr>
        <p:txBody>
          <a:bodyPr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3200" i="0" u="none" strike="noStrike" kern="1200" cap="none" spc="0" normalizeH="0" baseline="0" noProof="0">
                <a:ln>
                  <a:noFill/>
                </a:ln>
                <a:noFill/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 </a:t>
            </a:r>
            <a:endParaRPr kumimoji="0" lang="zh-CN" altLang="en-US" sz="3200" i="0" u="none" strike="noStrike" kern="1200" cap="none" spc="0" normalizeH="0" baseline="0" noProof="0">
              <a:ln>
                <a:noFill/>
              </a:ln>
              <a:noFill/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1424940" y="4970780"/>
            <a:ext cx="678815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3200">
                <a:solidFill>
                  <a:srgbClr val="00B0F0"/>
                </a:solidFill>
              </a:rPr>
              <a:t>(4)</a:t>
            </a:r>
            <a:endParaRPr lang="en-US" altLang="zh-CN" sz="3200">
              <a:solidFill>
                <a:srgbClr val="00B0F0"/>
              </a:solidFill>
            </a:endParaRPr>
          </a:p>
        </p:txBody>
      </p:sp>
      <p:sp>
        <p:nvSpPr>
          <p:cNvPr id="19" name="文本框 18"/>
          <p:cNvSpPr txBox="1"/>
          <p:nvPr/>
        </p:nvSpPr>
        <p:spPr>
          <a:xfrm>
            <a:off x="1433830" y="5757545"/>
            <a:ext cx="603250" cy="5835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zh-CN" sz="3200">
                <a:solidFill>
                  <a:srgbClr val="00B0F0"/>
                </a:solidFill>
                <a:sym typeface="+mn-ea"/>
              </a:rPr>
              <a:t>(5)</a:t>
            </a:r>
            <a:endParaRPr lang="en-US" altLang="zh-CN" sz="3200">
              <a:solidFill>
                <a:srgbClr val="00B0F0"/>
              </a:solidFill>
              <a:sym typeface="+mn-ea"/>
            </a:endParaRPr>
          </a:p>
        </p:txBody>
      </p:sp>
      <p:sp>
        <p:nvSpPr>
          <p:cNvPr id="18" name="矩形 17"/>
          <p:cNvSpPr>
            <a:spLocks noRot="1" noChangeAspect="1" noMove="1" noResize="1" noEditPoints="1" noAdjustHandles="1" noChangeArrowheads="1" noChangeShapeType="1" noTextEdit="1"/>
          </p:cNvSpPr>
          <p:nvPr/>
        </p:nvSpPr>
        <p:spPr>
          <a:xfrm>
            <a:off x="1995488" y="5743292"/>
            <a:ext cx="5601149" cy="523220"/>
          </a:xfrm>
          <a:prstGeom prst="rect">
            <a:avLst/>
          </a:prstGeom>
          <a:blipFill>
            <a:blip r:embed="rId9"/>
            <a:stretch>
              <a:fillRect/>
            </a:stretch>
          </a:blipFill>
        </p:spPr>
        <p:txBody>
          <a:bodyPr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3200" i="0" u="none" strike="noStrike" kern="1200" cap="none" spc="0" normalizeH="0" baseline="0" noProof="0">
                <a:ln>
                  <a:noFill/>
                </a:ln>
                <a:noFill/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 </a:t>
            </a:r>
            <a:endParaRPr kumimoji="0" lang="zh-CN" altLang="en-US" sz="3200" i="0" u="none" strike="noStrike" kern="1200" cap="none" spc="0" normalizeH="0" baseline="0" noProof="0">
              <a:ln>
                <a:noFill/>
              </a:ln>
              <a:noFill/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8161655" y="5758815"/>
            <a:ext cx="406400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800" b="1">
                <a:solidFill>
                  <a:srgbClr val="00B0F0"/>
                </a:solidFill>
              </a:rPr>
              <a:t>推广</a:t>
            </a:r>
            <a:endParaRPr lang="zh-CN" altLang="en-US" sz="2800" b="1">
              <a:solidFill>
                <a:srgbClr val="00B0F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4" grpId="0" animBg="1"/>
      <p:bldP spid="12" grpId="0"/>
      <p:bldP spid="5" grpId="0" animBg="1"/>
      <p:bldP spid="8" grpId="0" animBg="1"/>
      <p:bldP spid="6" grpId="0" animBg="1"/>
      <p:bldP spid="7" grpId="0" animBg="1"/>
      <p:bldP spid="15" grpId="0"/>
      <p:bldP spid="9" grpId="0" animBg="1"/>
      <p:bldP spid="10" grpId="0" animBg="1"/>
      <p:bldP spid="17" grpId="0"/>
      <p:bldP spid="16" grpId="0" animBg="1"/>
      <p:bldP spid="19" grpId="0"/>
      <p:bldP spid="18" grpId="0" animBg="1"/>
      <p:bldP spid="20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文本框 3"/>
          <p:cNvSpPr txBox="1">
            <a:spLocks noRot="1" noChangeAspect="1" noMove="1" noResize="1" noEditPoints="1" noAdjustHandles="1" noChangeArrowheads="1" noChangeShapeType="1" noTextEdit="1"/>
          </p:cNvSpPr>
          <p:nvPr>
            <p:custDataLst>
              <p:tags r:id="rId1"/>
            </p:custDataLst>
          </p:nvPr>
        </p:nvSpPr>
        <p:spPr>
          <a:xfrm>
            <a:off x="1241351" y="592113"/>
            <a:ext cx="6952801" cy="2815130"/>
          </a:xfrm>
          <a:prstGeom prst="rect">
            <a:avLst/>
          </a:prstGeom>
          <a:blipFill>
            <a:blip r:embed="rId2"/>
            <a:stretch>
              <a:fillRect l="-1842" b="-1515"/>
            </a:stretch>
          </a:blipFill>
        </p:spPr>
        <p:txBody>
          <a:bodyPr/>
          <a:p>
            <a:pPr marR="0" defTabSz="914400">
              <a:buClrTx/>
              <a:buSzTx/>
              <a:buFontTx/>
              <a:buNone/>
              <a:defRPr/>
            </a:pPr>
            <a:r>
              <a:rPr kumimoji="0" lang="zh-CN" altLang="en-US" kern="1200" cap="none" spc="0" normalizeH="0" baseline="0" noProof="0">
                <a:noFill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 </a:t>
            </a:r>
            <a:endParaRPr kumimoji="0" lang="zh-CN" altLang="en-US" kern="1200" cap="none" spc="0" normalizeH="0" baseline="0" noProof="0">
              <a:noFill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文本框 4"/>
          <p:cNvSpPr txBox="1">
            <a:spLocks noRot="1" noChangeAspect="1" noMove="1" noResize="1" noEditPoints="1" noAdjustHandles="1" noChangeArrowheads="1" noChangeShapeType="1" noTextEdit="1"/>
          </p:cNvSpPr>
          <p:nvPr>
            <p:custDataLst>
              <p:tags r:id="rId3"/>
            </p:custDataLst>
          </p:nvPr>
        </p:nvSpPr>
        <p:spPr>
          <a:xfrm>
            <a:off x="1097335" y="3616449"/>
            <a:ext cx="8159093" cy="524118"/>
          </a:xfrm>
          <a:prstGeom prst="rect">
            <a:avLst/>
          </a:prstGeom>
          <a:blipFill>
            <a:blip r:embed="rId4"/>
            <a:stretch>
              <a:fillRect l="-1494" t="-16279" r="-672" b="-27907"/>
            </a:stretch>
          </a:blipFill>
        </p:spPr>
        <p:txBody>
          <a:bodyPr/>
          <a:p>
            <a:pPr marR="0" defTabSz="914400">
              <a:buClrTx/>
              <a:buSzTx/>
              <a:buFontTx/>
              <a:buNone/>
              <a:defRPr/>
            </a:pPr>
            <a:r>
              <a:rPr kumimoji="0" lang="zh-CN" altLang="en-US" kern="1200" cap="none" spc="0" normalizeH="0" baseline="0" noProof="0">
                <a:noFill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 </a:t>
            </a:r>
            <a:endParaRPr kumimoji="0" lang="zh-CN" altLang="en-US" kern="1200" cap="none" spc="0" normalizeH="0" baseline="0" noProof="0">
              <a:noFill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/>
      <p:sp>
        <p:nvSpPr>
          <p:cNvPr id="4" name="文本框 3"/>
          <p:cNvSpPr txBox="1"/>
          <p:nvPr/>
        </p:nvSpPr>
        <p:spPr>
          <a:xfrm>
            <a:off x="791845" y="557530"/>
            <a:ext cx="6096000" cy="5835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zh-CN" sz="3200" b="1" dirty="0">
                <a:sym typeface="+mn-ea"/>
              </a:rPr>
              <a:t>2.3</a:t>
            </a:r>
            <a:r>
              <a:rPr lang="zh-CN" altLang="en-US" sz="3200" b="1" dirty="0">
                <a:sym typeface="+mn-ea"/>
              </a:rPr>
              <a:t>古典概率模型</a:t>
            </a:r>
            <a:endParaRPr lang="zh-CN" altLang="en-US" sz="3200" b="1" dirty="0">
              <a:sym typeface="+mn-ea"/>
            </a:endParaRPr>
          </a:p>
        </p:txBody>
      </p:sp>
      <p:sp>
        <p:nvSpPr>
          <p:cNvPr id="5" name="文本框 4"/>
          <p:cNvSpPr txBox="1">
            <a:spLocks noRot="1" noChangeAspect="1" noMove="1" noResize="1" noEditPoints="1" noAdjustHandles="1" noChangeArrowheads="1" noChangeShapeType="1" noTextEdit="1"/>
          </p:cNvSpPr>
          <p:nvPr>
            <p:custDataLst>
              <p:tags r:id="rId1"/>
            </p:custDataLst>
          </p:nvPr>
        </p:nvSpPr>
        <p:spPr>
          <a:xfrm>
            <a:off x="3034838" y="1369516"/>
            <a:ext cx="3805209" cy="492442"/>
          </a:xfrm>
          <a:prstGeom prst="rect">
            <a:avLst/>
          </a:prstGeom>
          <a:blipFill>
            <a:blip r:embed="rId2"/>
            <a:stretch>
              <a:fillRect/>
            </a:stretch>
          </a:blipFill>
        </p:spPr>
        <p:txBody>
          <a:bodyPr/>
          <a:p>
            <a:pPr marR="0" defTabSz="914400">
              <a:buClrTx/>
              <a:buSzTx/>
              <a:buFontTx/>
              <a:buNone/>
              <a:defRPr/>
            </a:pPr>
            <a:r>
              <a:rPr kumimoji="0" lang="zh-CN" altLang="en-US" kern="1200" cap="none" spc="0" normalizeH="0" baseline="0" noProof="0">
                <a:noFill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 </a:t>
            </a:r>
            <a:endParaRPr kumimoji="0" lang="zh-CN" altLang="en-US" kern="1200" cap="none" spc="0" normalizeH="0" baseline="0" noProof="0">
              <a:noFill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5370" name="Rectangle 6"/>
          <p:cNvSpPr>
            <a:spLocks noRot="1" noChangeAspect="1" noMove="1" noResize="1" noEditPoints="1" noAdjustHandles="1" noChangeArrowheads="1" noChangeShapeType="1" noTextEdit="1"/>
          </p:cNvSpPr>
          <p:nvPr>
            <p:custDataLst>
              <p:tags r:id="rId3"/>
            </p:custDataLst>
          </p:nvPr>
        </p:nvSpPr>
        <p:spPr bwMode="auto">
          <a:xfrm>
            <a:off x="3072765" y="3000375"/>
            <a:ext cx="8034020" cy="530860"/>
          </a:xfrm>
          <a:prstGeom prst="rect">
            <a:avLst/>
          </a:prstGeom>
          <a:blipFill>
            <a:blip r:embed="rId4"/>
            <a:stretch>
              <a:fillRect l="-1789" t="-16667" b="-34375"/>
            </a:stretch>
          </a:blip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1" i="0" u="none" strike="noStrike" kern="1200" cap="none" spc="0" normalizeH="0" baseline="0" noProof="0">
                <a:ln>
                  <a:noFill/>
                </a:ln>
                <a:noFill/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 </a:t>
            </a:r>
            <a:endParaRPr kumimoji="0" lang="zh-CN" altLang="en-US" sz="2800" b="1" i="0" u="none" strike="noStrike" kern="1200" cap="none" spc="0" normalizeH="0" baseline="0" noProof="0">
              <a:ln>
                <a:noFill/>
              </a:ln>
              <a:noFill/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矩形 5"/>
          <p:cNvSpPr>
            <a:spLocks noRot="1" noChangeAspect="1" noMove="1" noResize="1" noEditPoints="1" noAdjustHandles="1" noChangeArrowheads="1" noChangeShapeType="1" noTextEdit="1"/>
          </p:cNvSpPr>
          <p:nvPr>
            <p:custDataLst>
              <p:tags r:id="rId5"/>
            </p:custDataLst>
          </p:nvPr>
        </p:nvSpPr>
        <p:spPr>
          <a:xfrm>
            <a:off x="3072765" y="2163445"/>
            <a:ext cx="4785995" cy="755650"/>
          </a:xfrm>
          <a:prstGeom prst="rect">
            <a:avLst/>
          </a:prstGeom>
          <a:blipFill>
            <a:blip r:embed="rId6"/>
            <a:stretch>
              <a:fillRect b="-9848"/>
            </a:stretch>
          </a:blipFill>
        </p:spPr>
        <p:txBody>
          <a:bodyPr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1" i="0" u="none" strike="noStrike" kern="1200" cap="none" spc="0" normalizeH="0" baseline="0" noProof="0">
                <a:ln>
                  <a:noFill/>
                </a:ln>
                <a:noFill/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 </a:t>
            </a:r>
            <a:endParaRPr kumimoji="0" lang="zh-CN" altLang="en-US" sz="2800" b="1" i="0" u="none" strike="noStrike" kern="1200" cap="none" spc="0" normalizeH="0" baseline="0" noProof="0">
              <a:ln>
                <a:noFill/>
              </a:ln>
              <a:noFill/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1894840" y="1419225"/>
            <a:ext cx="406400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800" b="1">
                <a:solidFill>
                  <a:srgbClr val="00B0F0"/>
                </a:solidFill>
              </a:rPr>
              <a:t>有限</a:t>
            </a:r>
            <a:endParaRPr lang="zh-CN" altLang="en-US" sz="2800" b="1">
              <a:solidFill>
                <a:srgbClr val="00B0F0"/>
              </a:solidFill>
            </a:endParaRPr>
          </a:p>
        </p:txBody>
      </p:sp>
      <p:sp>
        <p:nvSpPr>
          <p:cNvPr id="10" name="文本框 9"/>
          <p:cNvSpPr txBox="1"/>
          <p:nvPr>
            <p:custDataLst>
              <p:tags r:id="rId7"/>
            </p:custDataLst>
          </p:nvPr>
        </p:nvSpPr>
        <p:spPr>
          <a:xfrm>
            <a:off x="1888490" y="2313305"/>
            <a:ext cx="406400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800" b="1">
                <a:solidFill>
                  <a:srgbClr val="00B0F0"/>
                </a:solidFill>
              </a:rPr>
              <a:t>等可能</a:t>
            </a:r>
            <a:endParaRPr lang="zh-CN" altLang="en-US" sz="2800" b="1">
              <a:solidFill>
                <a:srgbClr val="00B0F0"/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1" name="文本框 10"/>
              <p:cNvSpPr txBox="1"/>
              <p:nvPr/>
            </p:nvSpPr>
            <p:spPr>
              <a:xfrm>
                <a:off x="2052320" y="4533265"/>
                <a:ext cx="1847850" cy="52197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800" b="1" i="1">
                          <a:latin typeface="Cambria Math" panose="02040503050406030204" pitchFamily="18" charset="0"/>
                          <a:cs typeface="Cambria Math" panose="02040503050406030204" pitchFamily="18" charset="0"/>
                        </a:rPr>
                        <m:t>𝑨</m:t>
                      </m:r>
                      <m:r>
                        <a:rPr lang="en-US" altLang="zh-CN" sz="2800" b="1" i="1">
                          <a:latin typeface="Cambria Math" panose="02040503050406030204" pitchFamily="18" charset="0"/>
                          <a:cs typeface="Cambria Math" panose="02040503050406030204" pitchFamily="18" charset="0"/>
                        </a:rPr>
                        <m:t>⊂</m:t>
                      </m:r>
                      <m:r>
                        <a:rPr lang="en-US" altLang="zh-CN" sz="2800" b="1" i="1">
                          <a:latin typeface="Cambria Math" panose="02040503050406030204" pitchFamily="18" charset="0"/>
                          <a:cs typeface="Cambria Math" panose="02040503050406030204" pitchFamily="18" charset="0"/>
                        </a:rPr>
                        <m:t>𝜴</m:t>
                      </m:r>
                    </m:oMath>
                  </m:oMathPara>
                </a14:m>
                <a:endParaRPr lang="zh-CN" altLang="en-US" sz="2800" b="1"/>
              </a:p>
            </p:txBody>
          </p:sp>
        </mc:Choice>
        <mc:Fallback>
          <p:sp>
            <p:nvSpPr>
              <p:cNvPr id="11" name="文本框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52320" y="4533265"/>
                <a:ext cx="1847850" cy="521970"/>
              </a:xfrm>
              <a:prstGeom prst="rect">
                <a:avLst/>
              </a:prstGeom>
              <a:blipFill rotWithShape="1"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2" name="文本框 11"/>
              <p:cNvSpPr txBox="1"/>
              <p:nvPr/>
            </p:nvSpPr>
            <p:spPr>
              <a:xfrm>
                <a:off x="3667125" y="4283710"/>
                <a:ext cx="4634865" cy="989965"/>
              </a:xfrm>
              <a:prstGeom prst="rect">
                <a:avLst/>
              </a:prstGeom>
              <a:noFill/>
            </p:spPr>
            <p:txBody>
              <a:bodyPr wrap="square" rtlCol="0" anchor="t">
                <a:spAutoFit/>
              </a:bodyPr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800" b="1" i="1">
                          <a:latin typeface="Cambria Math" panose="02040503050406030204" pitchFamily="18" charset="0"/>
                          <a:cs typeface="Cambria Math" panose="02040503050406030204" pitchFamily="18" charset="0"/>
                        </a:rPr>
                        <m:t>𝑷</m:t>
                      </m:r>
                      <m:r>
                        <a:rPr lang="en-US" altLang="zh-CN" sz="2800" b="1" i="1">
                          <a:latin typeface="Cambria Math" panose="02040503050406030204" pitchFamily="18" charset="0"/>
                          <a:cs typeface="Cambria Math" panose="02040503050406030204" pitchFamily="18" charset="0"/>
                        </a:rPr>
                        <m:t>(</m:t>
                      </m:r>
                      <m:r>
                        <a:rPr lang="en-US" altLang="zh-CN" sz="2800" b="1" i="1">
                          <a:latin typeface="Cambria Math" panose="02040503050406030204" pitchFamily="18" charset="0"/>
                          <a:cs typeface="Cambria Math" panose="02040503050406030204" pitchFamily="18" charset="0"/>
                        </a:rPr>
                        <m:t>𝑨</m:t>
                      </m:r>
                      <m:r>
                        <a:rPr lang="en-US" altLang="zh-CN" sz="2800" b="1" i="1">
                          <a:latin typeface="Cambria Math" panose="02040503050406030204" pitchFamily="18" charset="0"/>
                          <a:cs typeface="Cambria Math" panose="02040503050406030204" pitchFamily="18" charset="0"/>
                        </a:rPr>
                        <m:t>)=</m:t>
                      </m:r>
                      <m:f>
                        <m:fPr>
                          <m:ctrlPr>
                            <a:rPr lang="en-US" altLang="zh-CN" sz="2800" b="1" i="1">
                              <a:latin typeface="Cambria Math" panose="02040503050406030204" pitchFamily="18" charset="0"/>
                              <a:cs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sz="2800" b="1" i="1">
                              <a:latin typeface="Cambria Math" panose="02040503050406030204" pitchFamily="18" charset="0"/>
                              <a:cs typeface="Cambria Math" panose="02040503050406030204" pitchFamily="18" charset="0"/>
                            </a:rPr>
                            <m:t>𝑨</m:t>
                          </m:r>
                          <m:r>
                            <a:rPr lang="en-US" altLang="zh-CN" sz="2800" b="1" i="1">
                              <a:latin typeface="Cambria Math" panose="02040503050406030204" pitchFamily="18" charset="0"/>
                              <a:cs typeface="Cambria Math" panose="02040503050406030204" pitchFamily="18" charset="0"/>
                            </a:rPr>
                            <m:t>中样本事件数</m:t>
                          </m:r>
                        </m:num>
                        <m:den>
                          <m:r>
                            <a:rPr lang="en-US" altLang="zh-CN" sz="2800" b="1" i="1">
                              <a:latin typeface="Cambria Math" panose="02040503050406030204" pitchFamily="18" charset="0"/>
                              <a:cs typeface="Cambria Math" panose="02040503050406030204" pitchFamily="18" charset="0"/>
                            </a:rPr>
                            <m:t>𝜴</m:t>
                          </m:r>
                          <m:r>
                            <a:rPr lang="en-US" altLang="zh-CN" sz="2800" b="1" i="1">
                              <a:latin typeface="Cambria Math" panose="02040503050406030204" pitchFamily="18" charset="0"/>
                              <a:cs typeface="Cambria Math" panose="02040503050406030204" pitchFamily="18" charset="0"/>
                            </a:rPr>
                            <m:t>中样本事件数</m:t>
                          </m:r>
                        </m:den>
                      </m:f>
                    </m:oMath>
                  </m:oMathPara>
                </a14:m>
                <a:endParaRPr lang="en-US" altLang="zh-CN" sz="2800" b="1" i="1">
                  <a:latin typeface="Cambria Math" panose="02040503050406030204" pitchFamily="18" charset="0"/>
                  <a:cs typeface="Cambria Math" panose="02040503050406030204" pitchFamily="18" charset="0"/>
                </a:endParaRPr>
              </a:p>
            </p:txBody>
          </p:sp>
        </mc:Choice>
        <mc:Fallback>
          <p:sp>
            <p:nvSpPr>
              <p:cNvPr id="12" name="文本框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67125" y="4283710"/>
                <a:ext cx="4634865" cy="989965"/>
              </a:xfrm>
              <a:prstGeom prst="rect">
                <a:avLst/>
              </a:prstGeom>
              <a:blipFill rotWithShape="1"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圆角矩形 12"/>
          <p:cNvSpPr/>
          <p:nvPr/>
        </p:nvSpPr>
        <p:spPr>
          <a:xfrm>
            <a:off x="2392680" y="4092575"/>
            <a:ext cx="5641340" cy="1353820"/>
          </a:xfrm>
          <a:prstGeom prst="roundRect">
            <a:avLst/>
          </a:prstGeom>
          <a:noFill/>
          <a:ln w="38100">
            <a:solidFill>
              <a:srgbClr val="00B0F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lt1"/>
                </a:solidFill>
              </a14:hiddenFill>
            </a:ext>
          </a:ex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>
            <a:spLocks noChangeArrowheads="1"/>
          </p:cNvSpPr>
          <p:nvPr/>
        </p:nvSpPr>
        <p:spPr bwMode="auto">
          <a:xfrm>
            <a:off x="957943" y="1637212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3" name="对象 2"/>
          <p:cNvGraphicFramePr>
            <a:graphicFrameLocks noChangeAspect="1"/>
          </p:cNvGraphicFramePr>
          <p:nvPr/>
        </p:nvGraphicFramePr>
        <p:xfrm>
          <a:off x="504664" y="3412108"/>
          <a:ext cx="11039863" cy="102497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73" name="" r:id="rId1" imgW="4914900" imgH="457200" progId="Equation.DSMT4">
                  <p:embed/>
                </p:oleObj>
              </mc:Choice>
              <mc:Fallback>
                <p:oleObj name="" r:id="rId1" imgW="4914900" imgH="457200" progId="Equation.DSMT4">
                  <p:embed/>
                  <p:pic>
                    <p:nvPicPr>
                      <p:cNvPr id="0" name="对象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4664" y="3412108"/>
                        <a:ext cx="11039863" cy="1024978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矩形 4"/>
          <p:cNvSpPr/>
          <p:nvPr/>
        </p:nvSpPr>
        <p:spPr>
          <a:xfrm>
            <a:off x="701336" y="331180"/>
            <a:ext cx="5426075" cy="82994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3200" b="1" dirty="0"/>
              <a:t>2.3</a:t>
            </a:r>
            <a:r>
              <a:rPr lang="zh-CN" altLang="zh-CN" sz="3200" b="1" dirty="0"/>
              <a:t>古典概率模型</a:t>
            </a:r>
            <a:r>
              <a:rPr lang="en-US" altLang="zh-CN" sz="3200" b="1" dirty="0"/>
              <a:t>(</a:t>
            </a:r>
            <a:r>
              <a:rPr lang="zh-CN" altLang="zh-CN" sz="3200" b="1" dirty="0"/>
              <a:t>等概率模型</a:t>
            </a:r>
            <a:r>
              <a:rPr lang="en-US" altLang="zh-CN" sz="3200" b="1" dirty="0"/>
              <a:t>)</a:t>
            </a:r>
            <a:endParaRPr lang="zh-CN" altLang="zh-CN" sz="3200" b="1" dirty="0"/>
          </a:p>
        </p:txBody>
      </p:sp>
      <p:sp>
        <p:nvSpPr>
          <p:cNvPr id="6" name="Rectangle 5"/>
          <p:cNvSpPr>
            <a:spLocks noChangeArrowheads="1"/>
          </p:cNvSpPr>
          <p:nvPr/>
        </p:nvSpPr>
        <p:spPr bwMode="auto">
          <a:xfrm>
            <a:off x="797638" y="3944983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9" name="文本框 8"/>
              <p:cNvSpPr txBox="1"/>
              <p:nvPr/>
            </p:nvSpPr>
            <p:spPr>
              <a:xfrm>
                <a:off x="750466" y="1329002"/>
                <a:ext cx="4404995" cy="54229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l-GR" altLang="zh-CN" sz="32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①</m:t>
                    </m:r>
                    <m:r>
                      <a:rPr lang="el-GR" altLang="zh-CN" sz="32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𝜴</m:t>
                    </m:r>
                    <m:r>
                      <a:rPr lang="en-US" altLang="zh-CN" sz="32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}"/>
                        <m:ctrlPr>
                          <a:rPr lang="en-US" altLang="zh-CN" sz="32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sz="3200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CN" altLang="en-US" sz="3200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𝝎</m:t>
                            </m:r>
                          </m:e>
                          <m:sub>
                            <m:r>
                              <a:rPr lang="en-US" altLang="zh-CN" sz="3200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𝟏</m:t>
                            </m:r>
                          </m:sub>
                        </m:sSub>
                        <m:r>
                          <a:rPr lang="en-US" altLang="zh-CN" sz="32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altLang="zh-CN" sz="3200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CN" altLang="en-US" sz="3200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𝝎</m:t>
                            </m:r>
                          </m:e>
                          <m:sub>
                            <m:r>
                              <a:rPr lang="en-US" altLang="zh-CN" sz="3200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𝟐</m:t>
                            </m:r>
                          </m:sub>
                        </m:sSub>
                        <m:r>
                          <a:rPr lang="en-US" altLang="zh-CN" sz="32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,⋯,</m:t>
                        </m:r>
                        <m:sSub>
                          <m:sSubPr>
                            <m:ctrlPr>
                              <a:rPr lang="en-US" altLang="zh-CN" sz="3200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CN" altLang="en-US" sz="3200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𝝎</m:t>
                            </m:r>
                          </m:e>
                          <m:sub>
                            <m:r>
                              <a:rPr lang="en-US" altLang="zh-CN" sz="3200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𝒏</m:t>
                            </m:r>
                          </m:sub>
                        </m:sSub>
                      </m:e>
                    </m:d>
                  </m:oMath>
                </a14:m>
                <a:r>
                  <a:rPr lang="zh-CN" altLang="en-US" sz="3200" b="1" dirty="0" smtClean="0"/>
                  <a:t>，</a:t>
                </a:r>
                <a:endParaRPr lang="zh-CN" altLang="en-US" sz="3200" b="1" dirty="0"/>
              </a:p>
            </p:txBody>
          </p:sp>
        </mc:Choice>
        <mc:Fallback>
          <p:sp>
            <p:nvSpPr>
              <p:cNvPr id="9" name="文本框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0466" y="1329002"/>
                <a:ext cx="4404995" cy="542290"/>
              </a:xfrm>
              <a:prstGeom prst="rect">
                <a:avLst/>
              </a:prstGeom>
              <a:blipFill rotWithShape="1">
                <a:blip r:embed="rId3"/>
                <a:stretch>
                  <a:fillRect l="-12" t="-107" r="-2251" b="10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0" name="文本框 9"/>
              <p:cNvSpPr txBox="1"/>
              <p:nvPr/>
            </p:nvSpPr>
            <p:spPr>
              <a:xfrm>
                <a:off x="5311907" y="1140783"/>
                <a:ext cx="2882900" cy="91757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3200" b="1" i="1" smtClean="0">
                          <a:latin typeface="Cambria Math" panose="02040503050406030204" pitchFamily="18" charset="0"/>
                        </a:rPr>
                        <m:t>②</m:t>
                      </m:r>
                      <m:r>
                        <a:rPr lang="en-US" altLang="zh-CN" sz="3200" b="1" i="1" smtClean="0">
                          <a:latin typeface="Cambria Math" panose="02040503050406030204" pitchFamily="18" charset="0"/>
                        </a:rPr>
                        <m:t>𝑷</m:t>
                      </m:r>
                      <m:d>
                        <m:dPr>
                          <m:begChr m:val="{"/>
                          <m:endChr m:val="}"/>
                          <m:ctrlPr>
                            <a:rPr lang="en-US" altLang="zh-CN" sz="3200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3200" b="1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sSub>
                            <m:sSubPr>
                              <m:ctrlPr>
                                <a:rPr lang="en-US" altLang="zh-CN" sz="32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sz="32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𝝎</m:t>
                              </m:r>
                            </m:e>
                            <m:sub>
                              <m:r>
                                <a:rPr lang="en-US" altLang="zh-CN" sz="32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𝒊</m:t>
                              </m:r>
                            </m:sub>
                          </m:sSub>
                          <m:r>
                            <a:rPr lang="en-US" altLang="zh-CN" sz="3200" b="1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d>
                      <m:r>
                        <a:rPr lang="en-US" altLang="zh-CN" sz="3200" b="1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CN" sz="3200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sz="3200" b="1" i="1" smtClean="0">
                              <a:latin typeface="Cambria Math" panose="02040503050406030204" pitchFamily="18" charset="0"/>
                            </a:rPr>
                            <m:t>𝟏</m:t>
                          </m:r>
                        </m:num>
                        <m:den>
                          <m:r>
                            <a:rPr lang="en-US" altLang="zh-CN" sz="3200" b="1" i="1" smtClean="0">
                              <a:latin typeface="Cambria Math" panose="02040503050406030204" pitchFamily="18" charset="0"/>
                            </a:rPr>
                            <m:t>𝒏</m:t>
                          </m:r>
                        </m:den>
                      </m:f>
                      <m:r>
                        <a:rPr lang="en-US" altLang="zh-CN" sz="3200" b="1" i="1" smtClean="0">
                          <a:latin typeface="Cambria Math" panose="02040503050406030204" pitchFamily="18" charset="0"/>
                        </a:rPr>
                        <m:t>,</m:t>
                      </m:r>
                    </m:oMath>
                  </m:oMathPara>
                </a14:m>
                <a:endParaRPr lang="zh-CN" altLang="en-US" sz="3200" b="1" dirty="0"/>
              </a:p>
            </p:txBody>
          </p:sp>
        </mc:Choice>
        <mc:Fallback>
          <p:sp>
            <p:nvSpPr>
              <p:cNvPr id="10" name="文本框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11907" y="1140783"/>
                <a:ext cx="2882900" cy="917575"/>
              </a:xfrm>
              <a:prstGeom prst="rect">
                <a:avLst/>
              </a:prstGeom>
              <a:blipFill rotWithShape="1">
                <a:blip r:embed="rId4"/>
                <a:stretch>
                  <a:fillRect l="-5" t="-35" r="-832" b="3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1" name="文本框 10"/>
              <p:cNvSpPr txBox="1"/>
              <p:nvPr/>
            </p:nvSpPr>
            <p:spPr>
              <a:xfrm>
                <a:off x="8474734" y="1412004"/>
                <a:ext cx="2475230" cy="49212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3200" b="1" i="1" smtClean="0">
                          <a:latin typeface="Cambria Math" panose="02040503050406030204" pitchFamily="18" charset="0"/>
                        </a:rPr>
                        <m:t>𝒊</m:t>
                      </m:r>
                      <m:r>
                        <a:rPr lang="en-US" altLang="zh-CN" sz="3200" b="1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sz="3200" b="1" i="1" smtClean="0">
                          <a:latin typeface="Cambria Math" panose="02040503050406030204" pitchFamily="18" charset="0"/>
                        </a:rPr>
                        <m:t>𝟏</m:t>
                      </m:r>
                      <m:r>
                        <a:rPr lang="en-US" altLang="zh-CN" sz="3200" b="1" i="1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altLang="zh-CN" sz="3200" b="1" i="1" smtClean="0">
                          <a:latin typeface="Cambria Math" panose="02040503050406030204" pitchFamily="18" charset="0"/>
                        </a:rPr>
                        <m:t>𝟐</m:t>
                      </m:r>
                      <m:r>
                        <a:rPr lang="en-US" altLang="zh-CN" sz="3200" b="1" i="1" smtClean="0">
                          <a:latin typeface="Cambria Math" panose="02040503050406030204" pitchFamily="18" charset="0"/>
                        </a:rPr>
                        <m:t>,⋯,</m:t>
                      </m:r>
                      <m:r>
                        <a:rPr lang="en-US" altLang="zh-CN" sz="32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𝒏</m:t>
                      </m:r>
                      <m:r>
                        <a:rPr lang="en-US" altLang="zh-CN" sz="32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zh-CN" altLang="en-US" sz="3200" b="1" dirty="0"/>
              </a:p>
            </p:txBody>
          </p:sp>
        </mc:Choice>
        <mc:Fallback>
          <p:sp>
            <p:nvSpPr>
              <p:cNvPr id="11" name="文本框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74734" y="1412004"/>
                <a:ext cx="2475230" cy="492125"/>
              </a:xfrm>
              <a:prstGeom prst="rect">
                <a:avLst/>
              </a:prstGeom>
              <a:blipFill rotWithShape="1">
                <a:blip r:embed="rId5"/>
                <a:stretch>
                  <a:fillRect l="-1" t="-81" r="-923" b="8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2" name="文本框 11"/>
              <p:cNvSpPr txBox="1"/>
              <p:nvPr/>
            </p:nvSpPr>
            <p:spPr>
              <a:xfrm>
                <a:off x="865046" y="2196097"/>
                <a:ext cx="7197090" cy="77216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r>
                  <a:rPr lang="zh-CN" altLang="en-US" sz="3200" b="1" dirty="0" smtClean="0">
                    <a:solidFill>
                      <a:srgbClr val="0070C0"/>
                    </a:solidFill>
                  </a:rPr>
                  <a:t>若</a:t>
                </a:r>
                <a14:m>
                  <m:oMath xmlns:m="http://schemas.openxmlformats.org/officeDocument/2006/math">
                    <m:r>
                      <a:rPr lang="en-US" altLang="zh-CN" sz="3200" b="1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𝑨</m:t>
                    </m:r>
                    <m:r>
                      <a:rPr lang="en-US" altLang="zh-CN" sz="3200" b="1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⊂</m:t>
                    </m:r>
                    <m:r>
                      <a:rPr lang="el-GR" altLang="zh-CN" sz="3200" b="1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𝜴</m:t>
                    </m:r>
                    <m:r>
                      <a:rPr lang="en-US" altLang="zh-CN" sz="3200" b="1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  <m:r>
                      <a:rPr lang="zh-CN" altLang="en-US" sz="3200" b="1" i="1">
                        <a:solidFill>
                          <a:srgbClr val="0070C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则</m:t>
                    </m:r>
                    <m:r>
                      <a:rPr lang="en-US" altLang="zh-CN" sz="3200" b="1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𝑷</m:t>
                    </m:r>
                    <m:d>
                      <m:dPr>
                        <m:ctrlPr>
                          <a:rPr lang="en-US" altLang="zh-CN" sz="3200" b="1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3200" b="1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𝑨</m:t>
                        </m:r>
                      </m:e>
                    </m:d>
                    <m:r>
                      <a:rPr lang="en-US" altLang="zh-CN" sz="3200" b="1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zh-CN" sz="3200" b="1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zh-CN" altLang="en-US" sz="3200" b="1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事件</m:t>
                        </m:r>
                        <m:r>
                          <a:rPr lang="en-US" altLang="zh-CN" sz="3200" b="1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𝑨</m:t>
                        </m:r>
                        <m:r>
                          <a:rPr lang="zh-CN" altLang="en-US" sz="3200" b="1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包含</m:t>
                        </m:r>
                        <m:r>
                          <a:rPr lang="zh-CN" altLang="en-US" sz="3200" b="1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的</m:t>
                        </m:r>
                        <m:r>
                          <a:rPr lang="zh-CN" altLang="en-US" sz="3200" b="1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基本事件数</m:t>
                        </m:r>
                      </m:num>
                      <m:den>
                        <m:r>
                          <a:rPr lang="zh-CN" altLang="en-US" sz="3200" b="1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样本空间</m:t>
                        </m:r>
                        <m:r>
                          <a:rPr lang="el-GR" altLang="zh-CN" sz="3200" b="1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𝜴</m:t>
                        </m:r>
                        <m:r>
                          <a:rPr lang="zh-CN" altLang="en-US" sz="3200" b="1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包含的</m:t>
                        </m:r>
                        <m:r>
                          <a:rPr lang="zh-CN" altLang="en-US" sz="3200" b="1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基本事件数</m:t>
                        </m:r>
                      </m:den>
                    </m:f>
                  </m:oMath>
                </a14:m>
                <a:endParaRPr lang="zh-CN" altLang="en-US" sz="3200" b="1" dirty="0">
                  <a:solidFill>
                    <a:srgbClr val="0070C0"/>
                  </a:solidFill>
                </a:endParaRPr>
              </a:p>
            </p:txBody>
          </p:sp>
        </mc:Choice>
        <mc:Fallback>
          <p:sp>
            <p:nvSpPr>
              <p:cNvPr id="12" name="文本框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5046" y="2196097"/>
                <a:ext cx="7197090" cy="772160"/>
              </a:xfrm>
              <a:prstGeom prst="rect">
                <a:avLst/>
              </a:prstGeom>
              <a:blipFill rotWithShape="1">
                <a:blip r:embed="rId6"/>
                <a:stretch>
                  <a:fillRect l="-2" t="-35" r="-1383" b="3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3" name="文本框 12"/>
              <p:cNvSpPr txBox="1"/>
              <p:nvPr/>
            </p:nvSpPr>
            <p:spPr>
              <a:xfrm>
                <a:off x="8192751" y="3909147"/>
                <a:ext cx="988347" cy="101617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altLang="zh-CN" sz="2800" b="1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Sup>
                            <m:sSubSupPr>
                              <m:ctrlPr>
                                <a:rPr lang="en-US" altLang="zh-CN" sz="2800" b="1" i="1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altLang="zh-CN" sz="2800" b="1" i="1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𝑪</m:t>
                              </m:r>
                            </m:e>
                            <m:sub>
                              <m:r>
                                <a:rPr lang="en-US" altLang="zh-CN" sz="2800" b="1" i="1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sub>
                            <m:sup>
                              <m:r>
                                <a:rPr lang="en-US" altLang="zh-CN" sz="2800" b="1" i="1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sup>
                          </m:sSubSup>
                          <m:sSubSup>
                            <m:sSubSupPr>
                              <m:ctrlPr>
                                <a:rPr lang="en-US" altLang="zh-CN" sz="2800" b="1" i="1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altLang="zh-CN" sz="2800" b="1" i="1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𝑨</m:t>
                              </m:r>
                            </m:e>
                            <m:sub>
                              <m:r>
                                <a:rPr lang="en-US" altLang="zh-CN" sz="2800" b="1" i="1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𝟒</m:t>
                              </m:r>
                            </m:sub>
                            <m:sup>
                              <m:r>
                                <a:rPr lang="en-US" altLang="zh-CN" sz="2800" b="1" i="1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sup>
                          </m:sSubSup>
                        </m:num>
                        <m:den>
                          <m:sSubSup>
                            <m:sSubSupPr>
                              <m:ctrlPr>
                                <a:rPr lang="en-US" altLang="zh-CN" sz="2800" b="1" i="1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altLang="zh-CN" sz="2800" b="1" i="1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𝑨</m:t>
                              </m:r>
                            </m:e>
                            <m:sub>
                              <m:r>
                                <a:rPr lang="en-US" altLang="zh-CN" sz="2800" b="1" i="1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𝟓</m:t>
                              </m:r>
                            </m:sub>
                            <m:sup>
                              <m:r>
                                <a:rPr lang="en-US" altLang="zh-CN" sz="2800" b="1" i="1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𝟑</m:t>
                              </m:r>
                            </m:sup>
                          </m:sSubSup>
                        </m:den>
                      </m:f>
                    </m:oMath>
                  </m:oMathPara>
                </a14:m>
                <a:endParaRPr lang="zh-CN" altLang="en-US" sz="2800" b="1" dirty="0">
                  <a:solidFill>
                    <a:srgbClr val="0070C0"/>
                  </a:solidFill>
                </a:endParaRPr>
              </a:p>
            </p:txBody>
          </p:sp>
        </mc:Choice>
        <mc:Fallback>
          <p:sp>
            <p:nvSpPr>
              <p:cNvPr id="13" name="文本框 1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92751" y="3909147"/>
                <a:ext cx="988347" cy="1016176"/>
              </a:xfrm>
              <a:prstGeom prst="rect">
                <a:avLst/>
              </a:prstGeom>
              <a:blipFill rotWithShape="1">
                <a:blip r:embed="rId7"/>
                <a:stretch>
                  <a:fillRect l="-62" t="-9" r="27" b="2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4" name="文本框 13"/>
              <p:cNvSpPr txBox="1"/>
              <p:nvPr/>
            </p:nvSpPr>
            <p:spPr>
              <a:xfrm>
                <a:off x="9330488" y="4012509"/>
                <a:ext cx="763414" cy="80945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800" b="1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CN" sz="2800" b="1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sz="2800" b="1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num>
                        <m:den>
                          <m:r>
                            <a:rPr lang="en-US" altLang="zh-CN" sz="2800" b="1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𝟓</m:t>
                          </m:r>
                        </m:den>
                      </m:f>
                    </m:oMath>
                  </m:oMathPara>
                </a14:m>
                <a:endParaRPr lang="zh-CN" altLang="en-US" sz="2800" b="1" dirty="0">
                  <a:solidFill>
                    <a:srgbClr val="0070C0"/>
                  </a:solidFill>
                </a:endParaRPr>
              </a:p>
            </p:txBody>
          </p:sp>
        </mc:Choice>
        <mc:Fallback>
          <p:sp>
            <p:nvSpPr>
              <p:cNvPr id="14" name="文本框 1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330488" y="4012509"/>
                <a:ext cx="763414" cy="809452"/>
              </a:xfrm>
              <a:prstGeom prst="rect">
                <a:avLst/>
              </a:prstGeom>
              <a:blipFill rotWithShape="1">
                <a:blip r:embed="rId8"/>
                <a:stretch>
                  <a:fillRect l="-57" t="-72" r="76" b="5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" name="Rectangle 11"/>
          <p:cNvSpPr>
            <a:spLocks noChangeArrowheads="1"/>
          </p:cNvSpPr>
          <p:nvPr/>
        </p:nvSpPr>
        <p:spPr bwMode="auto">
          <a:xfrm>
            <a:off x="701336" y="5909854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sp>
        <p:nvSpPr>
          <p:cNvPr id="19" name="Rectangle 13"/>
          <p:cNvSpPr>
            <a:spLocks noChangeArrowheads="1"/>
          </p:cNvSpPr>
          <p:nvPr/>
        </p:nvSpPr>
        <p:spPr bwMode="auto">
          <a:xfrm>
            <a:off x="1402672" y="5909854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20" name="对象 19"/>
          <p:cNvGraphicFramePr>
            <a:graphicFrameLocks noChangeAspect="1"/>
          </p:cNvGraphicFramePr>
          <p:nvPr/>
        </p:nvGraphicFramePr>
        <p:xfrm>
          <a:off x="594047" y="5118283"/>
          <a:ext cx="11218185" cy="154143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74" name="" r:id="rId9" imgW="4977765" imgH="685800" progId="Equation.DSMT4">
                  <p:embed/>
                </p:oleObj>
              </mc:Choice>
              <mc:Fallback>
                <p:oleObj name="" r:id="rId9" imgW="4977765" imgH="685800" progId="Equation.DSMT4">
                  <p:embed/>
                  <p:pic>
                    <p:nvPicPr>
                      <p:cNvPr id="0" name="对象 3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94047" y="5118283"/>
                        <a:ext cx="11218185" cy="1541430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" name="文本框 16"/>
          <p:cNvSpPr txBox="1"/>
          <p:nvPr/>
        </p:nvSpPr>
        <p:spPr>
          <a:xfrm>
            <a:off x="192958" y="5120193"/>
            <a:ext cx="1101676" cy="646331"/>
          </a:xfrm>
          <a:prstGeom prst="rect">
            <a:avLst/>
          </a:prstGeom>
          <a:solidFill>
            <a:srgbClr val="92D050"/>
          </a:solidFill>
        </p:spPr>
        <p:txBody>
          <a:bodyPr wrap="square" rtlCol="0">
            <a:spAutoFit/>
          </a:bodyPr>
          <a:lstStyle/>
          <a:p>
            <a:r>
              <a:rPr lang="zh-CN" altLang="en-US" sz="3600" dirty="0" smtClean="0">
                <a:solidFill>
                  <a:srgbClr val="FF0000"/>
                </a:solidFill>
              </a:rPr>
              <a:t>练习</a:t>
            </a:r>
            <a:endParaRPr lang="zh-CN" altLang="en-US" sz="3600" dirty="0">
              <a:solidFill>
                <a:srgbClr val="FF0000"/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1" name="文本框 20"/>
              <p:cNvSpPr txBox="1"/>
              <p:nvPr/>
            </p:nvSpPr>
            <p:spPr>
              <a:xfrm>
                <a:off x="6105244" y="5752716"/>
                <a:ext cx="1305870" cy="87735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sz="3200" b="1" dirty="0" smtClean="0">
                    <a:solidFill>
                      <a:srgbClr val="0070C0"/>
                    </a:solidFill>
                  </a:rPr>
                  <a:t>1</a:t>
                </a:r>
                <a14:m>
                  <m:oMath xmlns:m="http://schemas.openxmlformats.org/officeDocument/2006/math">
                    <m:r>
                      <a:rPr lang="en-US" altLang="zh-CN" sz="3200" b="1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ctrlPr>
                          <a:rPr lang="en-US" altLang="zh-CN" sz="3200" b="1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n-US" altLang="zh-CN" sz="3200" b="1" i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sz="3200" b="1" i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𝟔</m:t>
                            </m:r>
                          </m:e>
                          <m:sup>
                            <m:r>
                              <a:rPr lang="en-US" altLang="zh-CN" sz="3200" b="1" i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𝟐</m:t>
                            </m:r>
                          </m:sup>
                        </m:sSup>
                      </m:num>
                      <m:den>
                        <m:sSup>
                          <m:sSupPr>
                            <m:ctrlPr>
                              <a:rPr lang="en-US" altLang="zh-CN" sz="3200" b="1" i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sz="3200" b="1" i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𝟏𝟎</m:t>
                            </m:r>
                          </m:e>
                          <m:sup>
                            <m:r>
                              <a:rPr lang="en-US" altLang="zh-CN" sz="3200" b="1" i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𝟐</m:t>
                            </m:r>
                          </m:sup>
                        </m:sSup>
                      </m:den>
                    </m:f>
                  </m:oMath>
                </a14:m>
                <a:endParaRPr lang="zh-CN" altLang="en-US" sz="3200" b="1" dirty="0">
                  <a:solidFill>
                    <a:srgbClr val="0070C0"/>
                  </a:solidFill>
                </a:endParaRPr>
              </a:p>
            </p:txBody>
          </p:sp>
        </mc:Choice>
        <mc:Fallback>
          <p:sp>
            <p:nvSpPr>
              <p:cNvPr id="21" name="文本框 2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05244" y="5752716"/>
                <a:ext cx="1305870" cy="877356"/>
              </a:xfrm>
              <a:prstGeom prst="rect">
                <a:avLst/>
              </a:prstGeom>
              <a:blipFill rotWithShape="1">
                <a:blip r:embed="rId11"/>
                <a:stretch>
                  <a:fillRect l="-27" t="-29" r="2" b="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2" name="文本框 21"/>
              <p:cNvSpPr txBox="1"/>
              <p:nvPr/>
            </p:nvSpPr>
            <p:spPr>
              <a:xfrm>
                <a:off x="7411114" y="5945172"/>
                <a:ext cx="1421543" cy="49244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3200" b="1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sz="3200" b="1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𝟎</m:t>
                      </m:r>
                      <m:r>
                        <a:rPr lang="en-US" altLang="zh-CN" sz="3200" b="1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US" altLang="zh-CN" sz="3200" b="1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𝟔𝟒</m:t>
                      </m:r>
                    </m:oMath>
                  </m:oMathPara>
                </a14:m>
                <a:endParaRPr lang="zh-CN" altLang="en-US" sz="3200" b="1" dirty="0">
                  <a:solidFill>
                    <a:srgbClr val="0070C0"/>
                  </a:solidFill>
                </a:endParaRPr>
              </a:p>
            </p:txBody>
          </p:sp>
        </mc:Choice>
        <mc:Fallback>
          <p:sp>
            <p:nvSpPr>
              <p:cNvPr id="22" name="文本框 2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11114" y="5945172"/>
                <a:ext cx="1421543" cy="492443"/>
              </a:xfrm>
              <a:prstGeom prst="rect">
                <a:avLst/>
              </a:prstGeom>
              <a:blipFill rotWithShape="1">
                <a:blip r:embed="rId12"/>
                <a:stretch>
                  <a:fillRect l="-2" t="-61" r="-2694" b="12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3" name="文本框 17"/>
          <p:cNvSpPr txBox="1"/>
          <p:nvPr/>
        </p:nvSpPr>
        <p:spPr>
          <a:xfrm>
            <a:off x="247624" y="3336688"/>
            <a:ext cx="646331" cy="646331"/>
          </a:xfrm>
          <a:prstGeom prst="rect">
            <a:avLst/>
          </a:prstGeom>
          <a:solidFill>
            <a:srgbClr val="92D050"/>
          </a:solidFill>
        </p:spPr>
        <p:txBody>
          <a:bodyPr wrap="none" rtlCol="0">
            <a:spAutoFit/>
          </a:bodyPr>
          <a:lstStyle/>
          <a:p>
            <a:r>
              <a:rPr lang="zh-CN" altLang="en-US" sz="3600" dirty="0" smtClean="0">
                <a:solidFill>
                  <a:srgbClr val="FFFF00"/>
                </a:solidFill>
              </a:rPr>
              <a:t>例</a:t>
            </a:r>
            <a:endParaRPr lang="zh-CN" altLang="en-US" sz="3600" dirty="0">
              <a:solidFill>
                <a:srgbClr val="FFFF00"/>
              </a:solidFill>
            </a:endParaRPr>
          </a:p>
        </p:txBody>
      </p:sp>
      <p:sp>
        <p:nvSpPr>
          <p:cNvPr id="4" name="圆角矩形 3"/>
          <p:cNvSpPr/>
          <p:nvPr/>
        </p:nvSpPr>
        <p:spPr>
          <a:xfrm>
            <a:off x="743585" y="2112645"/>
            <a:ext cx="8673465" cy="1003300"/>
          </a:xfrm>
          <a:prstGeom prst="round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9" grpId="0"/>
      <p:bldP spid="10" grpId="0"/>
      <p:bldP spid="11" grpId="0"/>
      <p:bldP spid="12" grpId="0"/>
      <p:bldP spid="13" grpId="0"/>
      <p:bldP spid="14" grpId="0"/>
      <p:bldP spid="17" grpId="0" animBg="1"/>
      <p:bldP spid="21" grpId="0"/>
      <p:bldP spid="22" grpId="0"/>
      <p:bldP spid="23" grpId="0" animBg="1"/>
      <p:bldP spid="4" grpId="0" bldLvl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2530" name="图片 2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1452563" y="620713"/>
            <a:ext cx="7969250" cy="99060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22531" name="图片 3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1508125" y="2630488"/>
            <a:ext cx="7999413" cy="963612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22532" name="图片 4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6"/>
          <a:stretch>
            <a:fillRect/>
          </a:stretch>
        </p:blipFill>
        <p:spPr>
          <a:xfrm>
            <a:off x="1611313" y="4508500"/>
            <a:ext cx="7896225" cy="792163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4" name="文本框 3"/>
          <p:cNvSpPr txBox="1">
            <a:spLocks noRot="1" noChangeAspect="1" noMove="1" noResize="1" noEditPoints="1" noAdjustHandles="1" noChangeArrowheads="1" noChangeShapeType="1" noTextEdit="1"/>
          </p:cNvSpPr>
          <p:nvPr>
            <p:custDataLst>
              <p:tags r:id="rId7"/>
            </p:custDataLst>
          </p:nvPr>
        </p:nvSpPr>
        <p:spPr>
          <a:xfrm>
            <a:off x="3339876" y="1611313"/>
            <a:ext cx="1698927" cy="999697"/>
          </a:xfrm>
          <a:prstGeom prst="rect">
            <a:avLst/>
          </a:prstGeom>
          <a:blipFill>
            <a:blip r:embed="rId8"/>
            <a:stretch>
              <a:fillRect/>
            </a:stretch>
          </a:blipFill>
        </p:spPr>
        <p:txBody>
          <a:bodyPr/>
          <a:lstStyle/>
          <a:p>
            <a:pPr marR="0" defTabSz="914400">
              <a:buClrTx/>
              <a:buSzTx/>
              <a:buFontTx/>
              <a:buNone/>
              <a:defRPr/>
            </a:pPr>
            <a:r>
              <a:rPr kumimoji="0" lang="zh-CN" altLang="en-US" kern="1200" cap="none" spc="0" normalizeH="0" baseline="0" noProof="0">
                <a:noFill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 </a:t>
            </a:r>
            <a:endParaRPr kumimoji="0" lang="zh-CN" altLang="en-US" kern="1200" cap="none" spc="0" normalizeH="0" baseline="0" noProof="0">
              <a:noFill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矩形 4"/>
          <p:cNvSpPr>
            <a:spLocks noRot="1" noChangeAspect="1" noMove="1" noResize="1" noEditPoints="1" noAdjustHandles="1" noChangeArrowheads="1" noChangeShapeType="1" noTextEdit="1"/>
          </p:cNvSpPr>
          <p:nvPr>
            <p:custDataLst>
              <p:tags r:id="rId9"/>
            </p:custDataLst>
          </p:nvPr>
        </p:nvSpPr>
        <p:spPr>
          <a:xfrm>
            <a:off x="5503887" y="1518980"/>
            <a:ext cx="1450333" cy="1092030"/>
          </a:xfrm>
          <a:prstGeom prst="rect">
            <a:avLst/>
          </a:prstGeom>
          <a:blipFill>
            <a:blip r:embed="rId10"/>
            <a:stretch>
              <a:fillRect/>
            </a:stretch>
          </a:blipFill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1" i="0" u="none" strike="noStrike" kern="1200" cap="none" spc="0" normalizeH="0" baseline="0" noProof="0">
                <a:ln>
                  <a:noFill/>
                </a:ln>
                <a:noFill/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 </a:t>
            </a:r>
            <a:endParaRPr kumimoji="0" lang="zh-CN" altLang="en-US" sz="2800" b="1" i="0" u="none" strike="noStrike" kern="1200" cap="none" spc="0" normalizeH="0" baseline="0" noProof="0">
              <a:ln>
                <a:noFill/>
              </a:ln>
              <a:noFill/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文本框 5"/>
          <p:cNvSpPr txBox="1">
            <a:spLocks noRot="1" noChangeAspect="1" noMove="1" noResize="1" noEditPoints="1" noAdjustHandles="1" noChangeArrowheads="1" noChangeShapeType="1" noTextEdit="1"/>
          </p:cNvSpPr>
          <p:nvPr>
            <p:custDataLst>
              <p:tags r:id="rId11"/>
            </p:custDataLst>
          </p:nvPr>
        </p:nvSpPr>
        <p:spPr>
          <a:xfrm>
            <a:off x="3483893" y="3590755"/>
            <a:ext cx="1662058" cy="958531"/>
          </a:xfrm>
          <a:prstGeom prst="rect">
            <a:avLst/>
          </a:prstGeom>
          <a:blipFill>
            <a:blip r:embed="rId12"/>
            <a:stretch>
              <a:fillRect/>
            </a:stretch>
          </a:blipFill>
        </p:spPr>
        <p:txBody>
          <a:bodyPr/>
          <a:lstStyle/>
          <a:p>
            <a:pPr marR="0" defTabSz="914400">
              <a:buClrTx/>
              <a:buSzTx/>
              <a:buFontTx/>
              <a:buNone/>
              <a:defRPr/>
            </a:pPr>
            <a:r>
              <a:rPr kumimoji="0" lang="zh-CN" altLang="en-US" kern="1200" cap="none" spc="0" normalizeH="0" baseline="0" noProof="0">
                <a:noFill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 </a:t>
            </a:r>
            <a:endParaRPr kumimoji="0" lang="zh-CN" altLang="en-US" kern="1200" cap="none" spc="0" normalizeH="0" baseline="0" noProof="0">
              <a:noFill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文本框 6"/>
          <p:cNvSpPr txBox="1">
            <a:spLocks noRot="1" noChangeAspect="1" noMove="1" noResize="1" noEditPoints="1" noAdjustHandles="1" noChangeArrowheads="1" noChangeShapeType="1" noTextEdit="1"/>
          </p:cNvSpPr>
          <p:nvPr>
            <p:custDataLst>
              <p:tags r:id="rId13"/>
            </p:custDataLst>
          </p:nvPr>
        </p:nvSpPr>
        <p:spPr>
          <a:xfrm>
            <a:off x="5145951" y="3657215"/>
            <a:ext cx="3921139" cy="825611"/>
          </a:xfrm>
          <a:prstGeom prst="rect">
            <a:avLst/>
          </a:prstGeom>
          <a:blipFill>
            <a:blip r:embed="rId14"/>
            <a:stretch>
              <a:fillRect/>
            </a:stretch>
          </a:blipFill>
        </p:spPr>
        <p:txBody>
          <a:bodyPr/>
          <a:lstStyle/>
          <a:p>
            <a:pPr marR="0" defTabSz="914400">
              <a:buClrTx/>
              <a:buSzTx/>
              <a:buFontTx/>
              <a:buNone/>
              <a:defRPr/>
            </a:pPr>
            <a:r>
              <a:rPr kumimoji="0" lang="zh-CN" altLang="en-US" kern="1200" cap="none" spc="0" normalizeH="0" baseline="0" noProof="0">
                <a:noFill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 </a:t>
            </a:r>
            <a:endParaRPr kumimoji="0" lang="zh-CN" altLang="en-US" kern="1200" cap="none" spc="0" normalizeH="0" baseline="0" noProof="0">
              <a:noFill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" name="文本框 7"/>
          <p:cNvSpPr txBox="1">
            <a:spLocks noRot="1" noChangeAspect="1" noMove="1" noResize="1" noEditPoints="1" noAdjustHandles="1" noChangeArrowheads="1" noChangeShapeType="1" noTextEdit="1"/>
          </p:cNvSpPr>
          <p:nvPr>
            <p:custDataLst>
              <p:tags r:id="rId15"/>
            </p:custDataLst>
          </p:nvPr>
        </p:nvSpPr>
        <p:spPr>
          <a:xfrm>
            <a:off x="3807471" y="5433452"/>
            <a:ext cx="1435135" cy="1033616"/>
          </a:xfrm>
          <a:prstGeom prst="rect">
            <a:avLst/>
          </a:prstGeom>
          <a:blipFill>
            <a:blip r:embed="rId16"/>
            <a:stretch>
              <a:fillRect/>
            </a:stretch>
          </a:blipFill>
        </p:spPr>
        <p:txBody>
          <a:bodyPr/>
          <a:lstStyle/>
          <a:p>
            <a:pPr marR="0" defTabSz="914400">
              <a:buClrTx/>
              <a:buSzTx/>
              <a:buFontTx/>
              <a:buNone/>
              <a:defRPr/>
            </a:pPr>
            <a:r>
              <a:rPr kumimoji="0" lang="zh-CN" altLang="en-US" kern="1200" cap="none" spc="0" normalizeH="0" baseline="0" noProof="0">
                <a:noFill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 </a:t>
            </a:r>
            <a:endParaRPr kumimoji="0" lang="zh-CN" altLang="en-US" kern="1200" cap="none" spc="0" normalizeH="0" baseline="0" noProof="0">
              <a:noFill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" name="文本框 8"/>
          <p:cNvSpPr txBox="1">
            <a:spLocks noRot="1" noChangeAspect="1" noMove="1" noResize="1" noEditPoints="1" noAdjustHandles="1" noChangeArrowheads="1" noChangeShapeType="1" noTextEdit="1"/>
          </p:cNvSpPr>
          <p:nvPr>
            <p:custDataLst>
              <p:tags r:id="rId17"/>
            </p:custDataLst>
          </p:nvPr>
        </p:nvSpPr>
        <p:spPr>
          <a:xfrm>
            <a:off x="6364213" y="3210105"/>
            <a:ext cx="2607060" cy="447110"/>
          </a:xfrm>
          <a:prstGeom prst="rect">
            <a:avLst/>
          </a:prstGeom>
          <a:blipFill>
            <a:blip r:embed="rId18"/>
            <a:stretch>
              <a:fillRect/>
            </a:stretch>
          </a:blipFill>
        </p:spPr>
        <p:txBody>
          <a:bodyPr/>
          <a:lstStyle/>
          <a:p>
            <a:pPr marR="0" defTabSz="914400">
              <a:buClrTx/>
              <a:buSzTx/>
              <a:buFontTx/>
              <a:buNone/>
              <a:defRPr/>
            </a:pPr>
            <a:r>
              <a:rPr kumimoji="0" lang="zh-CN" altLang="en-US" kern="1200" cap="none" spc="0" normalizeH="0" baseline="0" noProof="0">
                <a:noFill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 </a:t>
            </a:r>
            <a:endParaRPr kumimoji="0" lang="zh-CN" altLang="en-US" kern="1200" cap="none" spc="0" normalizeH="0" baseline="0" noProof="0">
              <a:noFill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" name="文本框 9"/>
          <p:cNvSpPr txBox="1">
            <a:spLocks noRot="1" noChangeAspect="1" noMove="1" noResize="1" noEditPoints="1" noAdjustHandles="1" noChangeArrowheads="1" noChangeShapeType="1" noTextEdit="1"/>
          </p:cNvSpPr>
          <p:nvPr>
            <p:custDataLst>
              <p:tags r:id="rId19"/>
            </p:custDataLst>
          </p:nvPr>
        </p:nvSpPr>
        <p:spPr>
          <a:xfrm>
            <a:off x="6116849" y="5574644"/>
            <a:ext cx="967444" cy="751231"/>
          </a:xfrm>
          <a:prstGeom prst="rect">
            <a:avLst/>
          </a:prstGeom>
          <a:blipFill>
            <a:blip r:embed="rId20"/>
            <a:stretch>
              <a:fillRect/>
            </a:stretch>
          </a:blipFill>
        </p:spPr>
        <p:txBody>
          <a:bodyPr/>
          <a:lstStyle/>
          <a:p>
            <a:pPr marR="0" defTabSz="914400">
              <a:buClrTx/>
              <a:buSzTx/>
              <a:buFontTx/>
              <a:buNone/>
              <a:defRPr/>
            </a:pPr>
            <a:r>
              <a:rPr kumimoji="0" lang="zh-CN" altLang="en-US" kern="1200" cap="none" spc="0" normalizeH="0" baseline="0" noProof="0">
                <a:noFill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 </a:t>
            </a:r>
            <a:endParaRPr kumimoji="0" lang="zh-CN" altLang="en-US" kern="1200" cap="none" spc="0" normalizeH="0" baseline="0" noProof="0">
              <a:noFill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6" name="图片 5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1022648" y="1433794"/>
            <a:ext cx="9374059" cy="1578188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7" name="文本框 6"/>
              <p:cNvSpPr txBox="1"/>
              <p:nvPr>
                <p:custDataLst>
                  <p:tags r:id="rId3"/>
                </p:custDataLst>
              </p:nvPr>
            </p:nvSpPr>
            <p:spPr>
              <a:xfrm>
                <a:off x="6150453" y="2426127"/>
                <a:ext cx="1301638" cy="96513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altLang="zh-CN" sz="2800" b="1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sz="2800" b="1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𝟑</m:t>
                          </m:r>
                          <m:r>
                            <a:rPr lang="en-US" altLang="zh-CN" sz="2800" b="1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×</m:t>
                          </m:r>
                          <m:sSup>
                            <m:sSupPr>
                              <m:ctrlPr>
                                <a:rPr lang="en-US" altLang="zh-CN" sz="2800" b="1" i="1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sz="2800" b="1" i="1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𝟑</m:t>
                              </m:r>
                            </m:e>
                            <m:sup>
                              <m:r>
                                <a:rPr lang="en-US" altLang="zh-CN" sz="2800" b="1" i="1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𝟐</m:t>
                              </m:r>
                            </m:sup>
                          </m:sSup>
                        </m:num>
                        <m:den>
                          <m:sSup>
                            <m:sSupPr>
                              <m:ctrlPr>
                                <a:rPr lang="en-US" altLang="zh-CN" sz="2800" b="1" i="1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sz="2800" b="1" i="1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𝟒</m:t>
                              </m:r>
                            </m:e>
                            <m:sup>
                              <m:r>
                                <a:rPr lang="en-US" altLang="zh-CN" sz="2800" b="1" i="1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𝟑</m:t>
                              </m:r>
                            </m:sup>
                          </m:sSup>
                        </m:den>
                      </m:f>
                    </m:oMath>
                  </m:oMathPara>
                </a14:m>
                <a:endParaRPr lang="zh-CN" altLang="en-US" sz="2800" b="1" dirty="0">
                  <a:solidFill>
                    <a:srgbClr val="002060"/>
                  </a:solidFill>
                </a:endParaRPr>
              </a:p>
            </p:txBody>
          </p:sp>
        </mc:Choice>
        <mc:Fallback>
          <p:sp>
            <p:nvSpPr>
              <p:cNvPr id="7" name="文本框 6"/>
              <p:cNvSpPr txBox="1">
                <a:spLocks noRot="1" noChangeAspect="1" noMove="1" noResize="1" noEditPoints="1" noAdjustHandles="1" noChangeArrowheads="1" noChangeShapeType="1" noTextEdit="1"/>
              </p:cNvSpPr>
              <p:nvPr>
                <p:custDataLst>
                  <p:tags r:id="rId4"/>
                </p:custDataLst>
              </p:nvPr>
            </p:nvSpPr>
            <p:spPr>
              <a:xfrm>
                <a:off x="6150453" y="2426127"/>
                <a:ext cx="1301638" cy="965136"/>
              </a:xfrm>
              <a:prstGeom prst="rect">
                <a:avLst/>
              </a:prstGeom>
              <a:blipFill rotWithShape="1">
                <a:blip r:embed="rId5"/>
                <a:stretch>
                  <a:fillRect l="-37" t="-44" r="28" b="3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8" name="文本框 7"/>
              <p:cNvSpPr txBox="1"/>
              <p:nvPr>
                <p:custDataLst>
                  <p:tags r:id="rId6"/>
                </p:custDataLst>
              </p:nvPr>
            </p:nvSpPr>
            <p:spPr>
              <a:xfrm>
                <a:off x="4811485" y="2493377"/>
                <a:ext cx="448491" cy="80945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altLang="zh-CN" sz="2800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sz="2800" b="1" i="1" smtClean="0">
                              <a:latin typeface="Cambria Math" panose="02040503050406030204" pitchFamily="18" charset="0"/>
                            </a:rPr>
                            <m:t>𝟐𝟕</m:t>
                          </m:r>
                        </m:num>
                        <m:den>
                          <m:r>
                            <a:rPr lang="en-US" altLang="zh-CN" sz="2800" b="1" i="1" smtClean="0">
                              <a:latin typeface="Cambria Math" panose="02040503050406030204" pitchFamily="18" charset="0"/>
                            </a:rPr>
                            <m:t>𝟔𝟒</m:t>
                          </m:r>
                        </m:den>
                      </m:f>
                    </m:oMath>
                  </m:oMathPara>
                </a14:m>
                <a:endParaRPr lang="zh-CN" altLang="en-US" sz="2800" b="1" dirty="0"/>
              </a:p>
            </p:txBody>
          </p:sp>
        </mc:Choice>
        <mc:Fallback>
          <p:sp>
            <p:nvSpPr>
              <p:cNvPr id="8" name="文本框 7"/>
              <p:cNvSpPr txBox="1">
                <a:spLocks noRot="1" noChangeAspect="1" noMove="1" noResize="1" noEditPoints="1" noAdjustHandles="1" noChangeArrowheads="1" noChangeShapeType="1" noTextEdit="1"/>
              </p:cNvSpPr>
              <p:nvPr>
                <p:custDataLst>
                  <p:tags r:id="rId7"/>
                </p:custDataLst>
              </p:nvPr>
            </p:nvSpPr>
            <p:spPr>
              <a:xfrm>
                <a:off x="4811485" y="2493377"/>
                <a:ext cx="448491" cy="809452"/>
              </a:xfrm>
              <a:prstGeom prst="rect">
                <a:avLst/>
              </a:prstGeom>
              <a:blipFill rotWithShape="1">
                <a:blip r:embed="rId8"/>
                <a:stretch>
                  <a:fillRect l="-20" t="-45" r="60" b="2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文本框 8"/>
          <p:cNvSpPr txBox="1"/>
          <p:nvPr/>
        </p:nvSpPr>
        <p:spPr>
          <a:xfrm>
            <a:off x="774700" y="917575"/>
            <a:ext cx="4064000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3200" b="1">
                <a:gradFill>
                  <a:gsLst>
                    <a:gs pos="0">
                      <a:srgbClr val="007BD3"/>
                    </a:gs>
                    <a:gs pos="100000">
                      <a:srgbClr val="034373"/>
                    </a:gs>
                  </a:gsLst>
                  <a:lin scaled="0"/>
                </a:gradFill>
              </a:rPr>
              <a:t>练习</a:t>
            </a:r>
            <a:endParaRPr lang="zh-CN" altLang="en-US" sz="3200" b="1">
              <a:gradFill>
                <a:gsLst>
                  <a:gs pos="0">
                    <a:srgbClr val="007BD3"/>
                  </a:gs>
                  <a:gs pos="100000">
                    <a:srgbClr val="034373"/>
                  </a:gs>
                </a:gsLst>
                <a:lin scaled="0"/>
              </a:gra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矩形 16"/>
          <p:cNvSpPr/>
          <p:nvPr/>
        </p:nvSpPr>
        <p:spPr>
          <a:xfrm>
            <a:off x="944718" y="593968"/>
            <a:ext cx="4230370" cy="82994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3200" b="1" dirty="0"/>
              <a:t>2.4  </a:t>
            </a:r>
            <a:r>
              <a:rPr lang="zh-CN" altLang="zh-CN" sz="3200" b="1" dirty="0"/>
              <a:t>条件概率</a:t>
            </a:r>
            <a:r>
              <a:rPr lang="en-US" altLang="zh-CN" sz="3200" b="1" dirty="0"/>
              <a:t> </a:t>
            </a:r>
            <a:r>
              <a:rPr lang="zh-CN" altLang="en-US" sz="3200" b="1" dirty="0"/>
              <a:t>乘法公式</a:t>
            </a:r>
            <a:endParaRPr lang="en-US" altLang="zh-CN" sz="3200" b="1" dirty="0"/>
          </a:p>
        </p:txBody>
      </p:sp>
      <p:sp>
        <p:nvSpPr>
          <p:cNvPr id="18" name="文本框 17"/>
          <p:cNvSpPr txBox="1"/>
          <p:nvPr/>
        </p:nvSpPr>
        <p:spPr>
          <a:xfrm>
            <a:off x="2918732" y="1752758"/>
            <a:ext cx="18473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zh-CN" altLang="en-US" sz="32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9" name="矩形 18"/>
              <p:cNvSpPr/>
              <p:nvPr/>
            </p:nvSpPr>
            <p:spPr>
              <a:xfrm>
                <a:off x="2567231" y="1375966"/>
                <a:ext cx="2580515" cy="876843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altLang="zh-CN" sz="3200" b="1" i="1" smtClean="0">
                        <a:latin typeface="Cambria Math" panose="02040503050406030204" pitchFamily="18" charset="0"/>
                      </a:rPr>
                      <m:t>𝑷</m:t>
                    </m:r>
                    <m:d>
                      <m:dPr>
                        <m:ctrlPr>
                          <a:rPr lang="en-US" altLang="zh-CN" sz="3200" b="1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3200" b="1" i="1" smtClean="0">
                            <a:latin typeface="Cambria Math" panose="02040503050406030204" pitchFamily="18" charset="0"/>
                          </a:rPr>
                          <m:t>𝑨</m:t>
                        </m:r>
                      </m:e>
                      <m:e>
                        <m:r>
                          <a:rPr lang="en-US" altLang="zh-CN" sz="3200" b="1" i="1" smtClean="0">
                            <a:latin typeface="Cambria Math" panose="02040503050406030204" pitchFamily="18" charset="0"/>
                          </a:rPr>
                          <m:t>𝑩</m:t>
                        </m:r>
                      </m:e>
                    </m:d>
                  </m:oMath>
                </a14:m>
                <a:r>
                  <a:rPr lang="en-US" altLang="zh-CN" sz="3200" b="1" dirty="0" smtClean="0"/>
                  <a:t>=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3200" b="1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sz="3200" b="1" i="1" smtClean="0">
                            <a:latin typeface="Cambria Math" panose="02040503050406030204" pitchFamily="18" charset="0"/>
                          </a:rPr>
                          <m:t>𝑷</m:t>
                        </m:r>
                        <m:d>
                          <m:dPr>
                            <m:ctrlPr>
                              <a:rPr lang="en-US" altLang="zh-CN" sz="3200" b="1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3200" b="1" i="1" smtClean="0">
                                <a:latin typeface="Cambria Math" panose="02040503050406030204" pitchFamily="18" charset="0"/>
                              </a:rPr>
                              <m:t>𝑨𝑩</m:t>
                            </m:r>
                          </m:e>
                        </m:d>
                      </m:num>
                      <m:den>
                        <m:r>
                          <a:rPr lang="en-US" altLang="zh-CN" sz="3200" b="1" i="1" smtClean="0">
                            <a:latin typeface="Cambria Math" panose="02040503050406030204" pitchFamily="18" charset="0"/>
                          </a:rPr>
                          <m:t>𝑷</m:t>
                        </m:r>
                        <m:d>
                          <m:dPr>
                            <m:ctrlPr>
                              <a:rPr lang="en-US" altLang="zh-CN" sz="3200" b="1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3200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𝑩</m:t>
                            </m:r>
                          </m:e>
                        </m:d>
                      </m:den>
                    </m:f>
                  </m:oMath>
                </a14:m>
                <a:endParaRPr lang="zh-CN" altLang="en-US" sz="3200" b="1" dirty="0"/>
              </a:p>
            </p:txBody>
          </p:sp>
        </mc:Choice>
        <mc:Fallback>
          <p:sp>
            <p:nvSpPr>
              <p:cNvPr id="19" name="矩形 1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67231" y="1375966"/>
                <a:ext cx="2580515" cy="876843"/>
              </a:xfrm>
              <a:prstGeom prst="rect">
                <a:avLst/>
              </a:prstGeom>
              <a:blipFill rotWithShape="1">
                <a:blip r:embed="rId1"/>
                <a:stretch>
                  <a:fillRect l="-22" t="-63" r="17" b="5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0" name="文本框 19"/>
              <p:cNvSpPr txBox="1"/>
              <p:nvPr/>
            </p:nvSpPr>
            <p:spPr>
              <a:xfrm>
                <a:off x="5038818" y="1519660"/>
                <a:ext cx="2181943" cy="58477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zh-CN" sz="3200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3200" b="1" i="1" smtClean="0">
                              <a:latin typeface="Cambria Math" panose="02040503050406030204" pitchFamily="18" charset="0"/>
                            </a:rPr>
                            <m:t>𝑷</m:t>
                          </m:r>
                          <m:d>
                            <m:dPr>
                              <m:ctrlPr>
                                <a:rPr lang="en-US" altLang="zh-CN" sz="3200" b="1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sz="32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𝑩</m:t>
                              </m:r>
                            </m:e>
                          </m:d>
                          <m:r>
                            <m:rPr>
                              <m:nor/>
                            </m:rPr>
                            <a:rPr lang="en-US" altLang="zh-CN" sz="3200" b="1" dirty="0" smtClean="0">
                              <a:latin typeface="Cambria Math" panose="02040503050406030204" pitchFamily="18" charset="0"/>
                            </a:rPr>
                            <m:t>&gt;</m:t>
                          </m:r>
                          <m:r>
                            <m:rPr>
                              <m:nor/>
                            </m:rPr>
                            <a:rPr lang="en-US" altLang="zh-CN" sz="3200" b="1" dirty="0" smtClean="0">
                              <a:latin typeface="Cambria Math" panose="02040503050406030204" pitchFamily="18" charset="0"/>
                            </a:rPr>
                            <m:t>0</m:t>
                          </m:r>
                          <m:r>
                            <m:rPr>
                              <m:nor/>
                            </m:rPr>
                            <a:rPr lang="zh-CN" altLang="en-US" sz="3200" b="1" dirty="0">
                              <a:latin typeface="Cambria Math" panose="02040503050406030204" pitchFamily="18" charset="0"/>
                            </a:rPr>
                            <m:t> </m:t>
                          </m:r>
                        </m:e>
                      </m:d>
                    </m:oMath>
                  </m:oMathPara>
                </a14:m>
                <a:endParaRPr lang="zh-CN" altLang="en-US" sz="3200" b="1" dirty="0"/>
              </a:p>
            </p:txBody>
          </p:sp>
        </mc:Choice>
        <mc:Fallback>
          <p:sp>
            <p:nvSpPr>
              <p:cNvPr id="20" name="文本框 1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38818" y="1519660"/>
                <a:ext cx="2181943" cy="584775"/>
              </a:xfrm>
              <a:prstGeom prst="rect">
                <a:avLst/>
              </a:prstGeom>
              <a:blipFill rotWithShape="1">
                <a:blip r:embed="rId2"/>
                <a:stretch>
                  <a:fillRect l="-4" t="-18" r="8" b="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1" name="矩形 20"/>
              <p:cNvSpPr/>
              <p:nvPr/>
            </p:nvSpPr>
            <p:spPr>
              <a:xfrm>
                <a:off x="3103366" y="2618845"/>
                <a:ext cx="4200535" cy="58477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3200" b="1" i="1" smtClean="0">
                          <a:latin typeface="Cambria Math" panose="02040503050406030204" pitchFamily="18" charset="0"/>
                        </a:rPr>
                        <m:t>𝑷</m:t>
                      </m:r>
                      <m:d>
                        <m:dPr>
                          <m:ctrlPr>
                            <a:rPr lang="en-US" altLang="zh-CN" sz="3200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3200" b="1" i="1" smtClean="0">
                              <a:latin typeface="Cambria Math" panose="02040503050406030204" pitchFamily="18" charset="0"/>
                            </a:rPr>
                            <m:t>𝑨𝑩</m:t>
                          </m:r>
                        </m:e>
                      </m:d>
                      <m:r>
                        <a:rPr lang="en-US" altLang="zh-CN" sz="3200" b="1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sz="3200" b="1" i="1" smtClean="0">
                          <a:latin typeface="Cambria Math" panose="02040503050406030204" pitchFamily="18" charset="0"/>
                        </a:rPr>
                        <m:t>𝑷</m:t>
                      </m:r>
                      <m:d>
                        <m:dPr>
                          <m:ctrlPr>
                            <a:rPr lang="en-US" altLang="zh-CN" sz="3200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3200" b="1" i="1" smtClean="0">
                              <a:latin typeface="Cambria Math" panose="02040503050406030204" pitchFamily="18" charset="0"/>
                            </a:rPr>
                            <m:t>𝑨</m:t>
                          </m:r>
                        </m:e>
                        <m:e>
                          <m:r>
                            <a:rPr lang="en-US" altLang="zh-CN" sz="3200" b="1" i="1" smtClean="0">
                              <a:latin typeface="Cambria Math" panose="02040503050406030204" pitchFamily="18" charset="0"/>
                            </a:rPr>
                            <m:t>𝑩</m:t>
                          </m:r>
                        </m:e>
                      </m:d>
                      <m:r>
                        <a:rPr lang="en-US" altLang="zh-CN" sz="3200" b="1" i="1" smtClean="0">
                          <a:latin typeface="Cambria Math" panose="02040503050406030204" pitchFamily="18" charset="0"/>
                        </a:rPr>
                        <m:t>𝑷</m:t>
                      </m:r>
                      <m:d>
                        <m:dPr>
                          <m:ctrlPr>
                            <a:rPr lang="en-US" altLang="zh-CN" sz="3200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32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𝑩</m:t>
                          </m:r>
                        </m:e>
                      </m:d>
                    </m:oMath>
                  </m:oMathPara>
                </a14:m>
                <a:endParaRPr lang="zh-CN" altLang="en-US" sz="3200" b="1" dirty="0"/>
              </a:p>
            </p:txBody>
          </p:sp>
        </mc:Choice>
        <mc:Fallback>
          <p:sp>
            <p:nvSpPr>
              <p:cNvPr id="21" name="矩形 2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03366" y="2618845"/>
                <a:ext cx="4200535" cy="584775"/>
              </a:xfrm>
              <a:prstGeom prst="rect">
                <a:avLst/>
              </a:prstGeom>
              <a:blipFill rotWithShape="1">
                <a:blip r:embed="rId3"/>
                <a:stretch>
                  <a:fillRect l="-3" t="-18" r="3" b="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2" name="文本框 21"/>
              <p:cNvSpPr txBox="1"/>
              <p:nvPr/>
            </p:nvSpPr>
            <p:spPr>
              <a:xfrm>
                <a:off x="2648252" y="2665010"/>
                <a:ext cx="711383" cy="492443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CN" altLang="en-US" sz="3200" b="1" i="1" smtClean="0">
                          <a:latin typeface="Cambria Math" panose="02040503050406030204" pitchFamily="18" charset="0"/>
                        </a:rPr>
                        <m:t>⇒</m:t>
                      </m:r>
                    </m:oMath>
                  </m:oMathPara>
                </a14:m>
                <a:endParaRPr lang="zh-CN" altLang="en-US" sz="3200" b="1" dirty="0"/>
              </a:p>
            </p:txBody>
          </p:sp>
        </mc:Choice>
        <mc:Fallback>
          <p:sp>
            <p:nvSpPr>
              <p:cNvPr id="22" name="文本框 2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48252" y="2665010"/>
                <a:ext cx="711383" cy="492443"/>
              </a:xfrm>
              <a:prstGeom prst="rect">
                <a:avLst/>
              </a:prstGeom>
              <a:blipFill rotWithShape="1">
                <a:blip r:embed="rId4"/>
                <a:stretch>
                  <a:fillRect l="-42" t="-112" r="68" b="4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3" name="文本框 22"/>
              <p:cNvSpPr txBox="1"/>
              <p:nvPr/>
            </p:nvSpPr>
            <p:spPr>
              <a:xfrm>
                <a:off x="2718539" y="5632036"/>
                <a:ext cx="711383" cy="492125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CN" altLang="en-US" sz="3200" b="1" i="1" smtClean="0">
                          <a:latin typeface="Cambria Math" panose="02040503050406030204" pitchFamily="18" charset="0"/>
                          <a:ea typeface="MS Mincho" charset="0"/>
                          <a:cs typeface="Cambria Math" panose="02040503050406030204" pitchFamily="18" charset="0"/>
                        </a:rPr>
                        <m:t>⇒</m:t>
                      </m:r>
                    </m:oMath>
                  </m:oMathPara>
                </a14:m>
                <a:endParaRPr lang="zh-CN" altLang="en-US" sz="3200" b="1" i="1" dirty="0" smtClean="0">
                  <a:latin typeface="Cambria Math" panose="02040503050406030204" pitchFamily="18" charset="0"/>
                </a:endParaRPr>
              </a:p>
            </p:txBody>
          </p:sp>
        </mc:Choice>
        <mc:Fallback>
          <p:sp>
            <p:nvSpPr>
              <p:cNvPr id="23" name="文本框 2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18539" y="5632036"/>
                <a:ext cx="711383" cy="492125"/>
              </a:xfrm>
              <a:prstGeom prst="rect">
                <a:avLst/>
              </a:prstGeom>
              <a:blipFill rotWithShape="1">
                <a:blip r:embed="rId4"/>
                <a:stretch>
                  <a:fillRect l="-15" t="-45" r="40" b="4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4" name="矩形 23"/>
              <p:cNvSpPr/>
              <p:nvPr/>
            </p:nvSpPr>
            <p:spPr>
              <a:xfrm>
                <a:off x="3258670" y="5585871"/>
                <a:ext cx="1616075" cy="5835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3200" b="1" i="1" smtClean="0">
                          <a:latin typeface="Cambria Math" panose="02040503050406030204" pitchFamily="18" charset="0"/>
                        </a:rPr>
                        <m:t>𝑷</m:t>
                      </m:r>
                      <m:d>
                        <m:dPr>
                          <m:ctrlPr>
                            <a:rPr lang="en-US" altLang="zh-CN" sz="3200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3200" b="1" i="1" smtClean="0">
                              <a:latin typeface="Cambria Math" panose="02040503050406030204" pitchFamily="18" charset="0"/>
                            </a:rPr>
                            <m:t>𝑨𝑩𝑪</m:t>
                          </m:r>
                        </m:e>
                      </m:d>
                    </m:oMath>
                  </m:oMathPara>
                </a14:m>
                <a:endParaRPr lang="zh-CN" altLang="en-US" sz="3200" b="1" dirty="0"/>
              </a:p>
            </p:txBody>
          </p:sp>
        </mc:Choice>
        <mc:Fallback>
          <p:sp>
            <p:nvSpPr>
              <p:cNvPr id="24" name="矩形 2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58670" y="5585871"/>
                <a:ext cx="1616075" cy="583565"/>
              </a:xfrm>
              <a:prstGeom prst="rect">
                <a:avLst/>
              </a:prstGeom>
              <a:blipFill rotWithShape="1">
                <a:blip r:embed="rId5"/>
                <a:stretch>
                  <a:fillRect l="-30" t="-70" r="-559" b="7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7" name="矩形 26"/>
              <p:cNvSpPr/>
              <p:nvPr/>
            </p:nvSpPr>
            <p:spPr>
              <a:xfrm>
                <a:off x="2676159" y="3574964"/>
                <a:ext cx="2659061" cy="876843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altLang="zh-CN" sz="3200" b="1" i="1" smtClean="0">
                        <a:latin typeface="Cambria Math" panose="02040503050406030204" pitchFamily="18" charset="0"/>
                      </a:rPr>
                      <m:t>𝑷</m:t>
                    </m:r>
                    <m:d>
                      <m:dPr>
                        <m:ctrlPr>
                          <a:rPr lang="en-US" altLang="zh-CN" sz="3200" b="1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3200" b="1" i="1" smtClean="0">
                            <a:latin typeface="Cambria Math" panose="02040503050406030204" pitchFamily="18" charset="0"/>
                          </a:rPr>
                          <m:t>𝑩</m:t>
                        </m:r>
                      </m:e>
                      <m:e>
                        <m:r>
                          <a:rPr lang="en-US" altLang="zh-CN" sz="3200" b="1" i="1" smtClean="0">
                            <a:latin typeface="Cambria Math" panose="02040503050406030204" pitchFamily="18" charset="0"/>
                          </a:rPr>
                          <m:t>𝑨</m:t>
                        </m:r>
                      </m:e>
                    </m:d>
                  </m:oMath>
                </a14:m>
                <a:r>
                  <a:rPr lang="en-US" altLang="zh-CN" sz="3200" b="1" dirty="0" smtClean="0"/>
                  <a:t>=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3200" b="1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sz="3200" b="1" i="1" smtClean="0">
                            <a:latin typeface="Cambria Math" panose="02040503050406030204" pitchFamily="18" charset="0"/>
                          </a:rPr>
                          <m:t>𝑷</m:t>
                        </m:r>
                        <m:d>
                          <m:dPr>
                            <m:ctrlPr>
                              <a:rPr lang="en-US" altLang="zh-CN" sz="3200" b="1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3200" b="1" i="1" smtClean="0">
                                <a:latin typeface="Cambria Math" panose="02040503050406030204" pitchFamily="18" charset="0"/>
                              </a:rPr>
                              <m:t>𝑨𝑩</m:t>
                            </m:r>
                          </m:e>
                        </m:d>
                      </m:num>
                      <m:den>
                        <m:r>
                          <a:rPr lang="en-US" altLang="zh-CN" sz="3200" b="1" i="1" smtClean="0">
                            <a:latin typeface="Cambria Math" panose="02040503050406030204" pitchFamily="18" charset="0"/>
                          </a:rPr>
                          <m:t>𝑷</m:t>
                        </m:r>
                        <m:d>
                          <m:dPr>
                            <m:ctrlPr>
                              <a:rPr lang="en-US" altLang="zh-CN" sz="3200" b="1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3200" b="1" i="1" smtClean="0">
                                <a:latin typeface="Cambria Math" panose="02040503050406030204" pitchFamily="18" charset="0"/>
                              </a:rPr>
                              <m:t>𝑨</m:t>
                            </m:r>
                          </m:e>
                        </m:d>
                      </m:den>
                    </m:f>
                  </m:oMath>
                </a14:m>
                <a:endParaRPr lang="zh-CN" altLang="en-US" sz="3200" b="1" dirty="0"/>
              </a:p>
            </p:txBody>
          </p:sp>
        </mc:Choice>
        <mc:Fallback>
          <p:sp>
            <p:nvSpPr>
              <p:cNvPr id="27" name="矩形 2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76159" y="3574964"/>
                <a:ext cx="2659061" cy="876843"/>
              </a:xfrm>
              <a:prstGeom prst="rect">
                <a:avLst/>
              </a:prstGeom>
              <a:blipFill rotWithShape="1">
                <a:blip r:embed="rId6"/>
                <a:stretch>
                  <a:fillRect l="-10" t="-63" r="22" b="5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8" name="文本框 27"/>
              <p:cNvSpPr txBox="1"/>
              <p:nvPr/>
            </p:nvSpPr>
            <p:spPr>
              <a:xfrm>
                <a:off x="5147746" y="3718658"/>
                <a:ext cx="2018438" cy="58477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zh-CN" sz="3200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3200" b="1" i="1" smtClean="0">
                              <a:latin typeface="Cambria Math" panose="02040503050406030204" pitchFamily="18" charset="0"/>
                            </a:rPr>
                            <m:t>𝑷</m:t>
                          </m:r>
                          <m:d>
                            <m:dPr>
                              <m:ctrlPr>
                                <a:rPr lang="en-US" altLang="zh-CN" sz="3200" b="1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sz="3200" b="1" i="1" smtClean="0">
                                  <a:latin typeface="Cambria Math" panose="02040503050406030204" pitchFamily="18" charset="0"/>
                                </a:rPr>
                                <m:t>𝑨</m:t>
                              </m:r>
                            </m:e>
                          </m:d>
                          <m:r>
                            <m:rPr>
                              <m:nor/>
                            </m:rPr>
                            <a:rPr lang="en-US" altLang="zh-CN" sz="3200" b="1" dirty="0" smtClean="0">
                              <a:latin typeface="Cambria Math" panose="02040503050406030204" pitchFamily="18" charset="0"/>
                            </a:rPr>
                            <m:t>&gt;</m:t>
                          </m:r>
                          <m:r>
                            <m:rPr>
                              <m:nor/>
                            </m:rPr>
                            <a:rPr lang="en-US" altLang="zh-CN" sz="3200" b="1" dirty="0" smtClean="0">
                              <a:latin typeface="Cambria Math" panose="02040503050406030204" pitchFamily="18" charset="0"/>
                            </a:rPr>
                            <m:t>0</m:t>
                          </m:r>
                          <m:r>
                            <m:rPr>
                              <m:nor/>
                            </m:rPr>
                            <a:rPr lang="zh-CN" altLang="en-US" sz="3200" b="1" dirty="0">
                              <a:latin typeface="Cambria Math" panose="02040503050406030204" pitchFamily="18" charset="0"/>
                            </a:rPr>
                            <m:t> </m:t>
                          </m:r>
                        </m:e>
                      </m:d>
                    </m:oMath>
                  </m:oMathPara>
                </a14:m>
                <a:endParaRPr lang="zh-CN" altLang="en-US" sz="3200" b="1" dirty="0"/>
              </a:p>
            </p:txBody>
          </p:sp>
        </mc:Choice>
        <mc:Fallback>
          <p:sp>
            <p:nvSpPr>
              <p:cNvPr id="28" name="文本框 2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47746" y="3718658"/>
                <a:ext cx="2018438" cy="584775"/>
              </a:xfrm>
              <a:prstGeom prst="rect">
                <a:avLst/>
              </a:prstGeom>
              <a:blipFill rotWithShape="1">
                <a:blip r:embed="rId7"/>
                <a:stretch>
                  <a:fillRect l="-22" t="-17" r="-745" b="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9" name="矩形 28"/>
              <p:cNvSpPr/>
              <p:nvPr/>
            </p:nvSpPr>
            <p:spPr>
              <a:xfrm>
                <a:off x="3216104" y="4759423"/>
                <a:ext cx="4200535" cy="58477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3200" b="1" i="1" smtClean="0">
                          <a:latin typeface="Cambria Math" panose="02040503050406030204" pitchFamily="18" charset="0"/>
                        </a:rPr>
                        <m:t>𝑷</m:t>
                      </m:r>
                      <m:d>
                        <m:dPr>
                          <m:ctrlPr>
                            <a:rPr lang="en-US" altLang="zh-CN" sz="3200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3200" b="1" i="1" smtClean="0">
                              <a:latin typeface="Cambria Math" panose="02040503050406030204" pitchFamily="18" charset="0"/>
                            </a:rPr>
                            <m:t>𝑨𝑩</m:t>
                          </m:r>
                        </m:e>
                      </m:d>
                      <m:r>
                        <a:rPr lang="en-US" altLang="zh-CN" sz="3200" b="1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sz="3200" b="1" i="1" smtClean="0">
                          <a:latin typeface="Cambria Math" panose="02040503050406030204" pitchFamily="18" charset="0"/>
                        </a:rPr>
                        <m:t>𝑷</m:t>
                      </m:r>
                      <m:d>
                        <m:dPr>
                          <m:ctrlPr>
                            <a:rPr lang="en-US" altLang="zh-CN" sz="3200" b="1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3200" b="1" i="1">
                              <a:latin typeface="Cambria Math" panose="02040503050406030204" pitchFamily="18" charset="0"/>
                            </a:rPr>
                            <m:t>𝑩</m:t>
                          </m:r>
                        </m:e>
                        <m:e>
                          <m:r>
                            <a:rPr lang="en-US" altLang="zh-CN" sz="3200" b="1" i="1">
                              <a:latin typeface="Cambria Math" panose="02040503050406030204" pitchFamily="18" charset="0"/>
                            </a:rPr>
                            <m:t>𝑨</m:t>
                          </m:r>
                        </m:e>
                      </m:d>
                      <m:r>
                        <a:rPr lang="en-US" altLang="zh-CN" sz="3200" b="1" i="1" smtClean="0">
                          <a:latin typeface="Cambria Math" panose="02040503050406030204" pitchFamily="18" charset="0"/>
                        </a:rPr>
                        <m:t>𝑷</m:t>
                      </m:r>
                      <m:d>
                        <m:dPr>
                          <m:ctrlPr>
                            <a:rPr lang="en-US" altLang="zh-CN" sz="3200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3200" b="1" i="1">
                              <a:latin typeface="Cambria Math" panose="02040503050406030204" pitchFamily="18" charset="0"/>
                            </a:rPr>
                            <m:t>𝑨</m:t>
                          </m:r>
                        </m:e>
                      </m:d>
                    </m:oMath>
                  </m:oMathPara>
                </a14:m>
                <a:endParaRPr lang="zh-CN" altLang="en-US" sz="3200" b="1" dirty="0"/>
              </a:p>
            </p:txBody>
          </p:sp>
        </mc:Choice>
        <mc:Fallback>
          <p:sp>
            <p:nvSpPr>
              <p:cNvPr id="29" name="矩形 2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16104" y="4759423"/>
                <a:ext cx="4200535" cy="584775"/>
              </a:xfrm>
              <a:prstGeom prst="rect">
                <a:avLst/>
              </a:prstGeom>
              <a:blipFill rotWithShape="1">
                <a:blip r:embed="rId8"/>
                <a:stretch>
                  <a:fillRect l="-11" t="-17" r="11" b="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0" name="文本框 29"/>
              <p:cNvSpPr txBox="1"/>
              <p:nvPr/>
            </p:nvSpPr>
            <p:spPr>
              <a:xfrm>
                <a:off x="2719781" y="4772857"/>
                <a:ext cx="711383" cy="492443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CN" altLang="en-US" sz="3200" b="1" i="1" smtClean="0">
                          <a:latin typeface="Cambria Math" panose="02040503050406030204" pitchFamily="18" charset="0"/>
                        </a:rPr>
                        <m:t>⇒</m:t>
                      </m:r>
                    </m:oMath>
                  </m:oMathPara>
                </a14:m>
                <a:endParaRPr lang="zh-CN" altLang="en-US" sz="3200" b="1" dirty="0"/>
              </a:p>
            </p:txBody>
          </p:sp>
        </mc:Choice>
        <mc:Fallback>
          <p:sp>
            <p:nvSpPr>
              <p:cNvPr id="30" name="文本框 2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19781" y="4772857"/>
                <a:ext cx="711383" cy="492443"/>
              </a:xfrm>
              <a:prstGeom prst="rect">
                <a:avLst/>
              </a:prstGeom>
              <a:blipFill rotWithShape="1">
                <a:blip r:embed="rId4"/>
                <a:stretch>
                  <a:fillRect l="-11" t="-40" r="36" b="10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文本框 3"/>
          <p:cNvSpPr txBox="1"/>
          <p:nvPr/>
        </p:nvSpPr>
        <p:spPr>
          <a:xfrm>
            <a:off x="1616292" y="3718658"/>
            <a:ext cx="100540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200" b="1" dirty="0"/>
              <a:t>类似</a:t>
            </a:r>
            <a:endParaRPr lang="zh-CN" altLang="en-US" sz="3200" b="1" dirty="0"/>
          </a:p>
        </p:txBody>
      </p:sp>
      <p:sp>
        <p:nvSpPr>
          <p:cNvPr id="10" name="文本框 9"/>
          <p:cNvSpPr txBox="1"/>
          <p:nvPr/>
        </p:nvSpPr>
        <p:spPr>
          <a:xfrm>
            <a:off x="7648575" y="2620010"/>
            <a:ext cx="6096000" cy="5219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zh-CN" sz="2800" b="1" dirty="0">
                <a:solidFill>
                  <a:srgbClr val="00B0F0"/>
                </a:solidFill>
                <a:sym typeface="+mn-ea"/>
              </a:rPr>
              <a:t> </a:t>
            </a:r>
            <a:r>
              <a:rPr lang="zh-CN" altLang="en-US" sz="2800" b="1" dirty="0">
                <a:solidFill>
                  <a:srgbClr val="00B0F0"/>
                </a:solidFill>
                <a:sym typeface="+mn-ea"/>
              </a:rPr>
              <a:t>乘法公式</a:t>
            </a:r>
            <a:endParaRPr lang="zh-CN" altLang="en-US" sz="2800" b="1" dirty="0">
              <a:solidFill>
                <a:srgbClr val="00B0F0"/>
              </a:solidFill>
              <a:sym typeface="+mn-ea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7748270" y="4743450"/>
            <a:ext cx="6096000" cy="5219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zh-CN" sz="2800" b="1" dirty="0">
                <a:solidFill>
                  <a:srgbClr val="00B0F0"/>
                </a:solidFill>
                <a:sym typeface="+mn-ea"/>
              </a:rPr>
              <a:t> </a:t>
            </a:r>
            <a:r>
              <a:rPr lang="zh-CN" altLang="en-US" sz="2800" b="1" dirty="0">
                <a:solidFill>
                  <a:srgbClr val="00B0F0"/>
                </a:solidFill>
                <a:sym typeface="+mn-ea"/>
              </a:rPr>
              <a:t>乘法公式</a:t>
            </a:r>
            <a:endParaRPr lang="zh-CN" altLang="en-US" sz="2800" b="1" dirty="0">
              <a:solidFill>
                <a:srgbClr val="00B0F0"/>
              </a:solidFill>
              <a:sym typeface="+mn-ea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7588250" y="1519555"/>
            <a:ext cx="6096000" cy="5219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sz="2800" b="1" dirty="0">
                <a:solidFill>
                  <a:srgbClr val="00B0F0"/>
                </a:solidFill>
                <a:sym typeface="+mn-ea"/>
              </a:rPr>
              <a:t>条件概率</a:t>
            </a:r>
            <a:endParaRPr lang="zh-CN" sz="2800" b="1" dirty="0">
              <a:solidFill>
                <a:srgbClr val="00B0F0"/>
              </a:solidFill>
              <a:sym typeface="+mn-ea"/>
            </a:endParaRPr>
          </a:p>
        </p:txBody>
      </p:sp>
      <p:sp>
        <p:nvSpPr>
          <p:cNvPr id="14" name="文本框 13"/>
          <p:cNvSpPr txBox="1"/>
          <p:nvPr/>
        </p:nvSpPr>
        <p:spPr>
          <a:xfrm>
            <a:off x="7690485" y="3771900"/>
            <a:ext cx="6096000" cy="5219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sz="2800" b="1" dirty="0">
                <a:solidFill>
                  <a:srgbClr val="00B0F0"/>
                </a:solidFill>
                <a:sym typeface="+mn-ea"/>
              </a:rPr>
              <a:t>条件概率</a:t>
            </a:r>
            <a:endParaRPr lang="zh-CN" sz="2800" b="1" dirty="0">
              <a:solidFill>
                <a:srgbClr val="00B0F0"/>
              </a:solidFill>
              <a:sym typeface="+mn-ea"/>
            </a:endParaRPr>
          </a:p>
        </p:txBody>
      </p:sp>
      <p:sp>
        <p:nvSpPr>
          <p:cNvPr id="16" name="文本框 15"/>
          <p:cNvSpPr txBox="1"/>
          <p:nvPr/>
        </p:nvSpPr>
        <p:spPr>
          <a:xfrm>
            <a:off x="7134225" y="5666105"/>
            <a:ext cx="6096000" cy="5219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sz="2800" b="1" dirty="0">
                <a:solidFill>
                  <a:srgbClr val="00B0F0"/>
                </a:solidFill>
                <a:sym typeface="+mn-ea"/>
              </a:rPr>
              <a:t>乘法法则推广</a:t>
            </a:r>
            <a:endParaRPr lang="zh-CN" sz="2800" b="1" dirty="0">
              <a:solidFill>
                <a:srgbClr val="00B0F0"/>
              </a:solidFill>
              <a:sym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4" grpId="0"/>
      <p:bldP spid="19" grpId="0"/>
      <p:bldP spid="20" grpId="0"/>
      <p:bldP spid="27" grpId="0"/>
      <p:bldP spid="28" grpId="0"/>
      <p:bldP spid="4" grpId="0"/>
      <p:bldP spid="21" grpId="0"/>
      <p:bldP spid="22" grpId="0"/>
      <p:bldP spid="10" grpId="0"/>
      <p:bldP spid="29" grpId="0"/>
      <p:bldP spid="30" grpId="0"/>
      <p:bldP spid="11" grpId="0"/>
      <p:bldP spid="24" grpId="0"/>
      <p:bldP spid="23" grpId="0"/>
      <p:bldP spid="16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ectangle 24"/>
          <p:cNvSpPr>
            <a:spLocks noChangeArrowheads="1"/>
          </p:cNvSpPr>
          <p:nvPr/>
        </p:nvSpPr>
        <p:spPr bwMode="auto">
          <a:xfrm>
            <a:off x="797638" y="1846217"/>
            <a:ext cx="15749210" cy="457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26" name="对象 25"/>
          <p:cNvGraphicFramePr>
            <a:graphicFrameLocks noChangeAspect="1"/>
          </p:cNvGraphicFramePr>
          <p:nvPr/>
        </p:nvGraphicFramePr>
        <p:xfrm>
          <a:off x="200947" y="300067"/>
          <a:ext cx="11876060" cy="242460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53" name="" r:id="rId1" imgW="5041900" imgH="1028700" progId="Equation.DSMT4">
                  <p:embed/>
                </p:oleObj>
              </mc:Choice>
              <mc:Fallback>
                <p:oleObj name="" r:id="rId1" imgW="5041900" imgH="1028700" progId="Equation.DSMT4">
                  <p:embed/>
                  <p:pic>
                    <p:nvPicPr>
                      <p:cNvPr id="0" name="对象 3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0947" y="300067"/>
                        <a:ext cx="11876060" cy="2424602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mc:AlternateContent xmlns:mc="http://schemas.openxmlformats.org/markup-compatibility/2006">
        <mc:Choice xmlns:a14="http://schemas.microsoft.com/office/drawing/2010/main" Requires="a14">
          <p:sp>
            <p:nvSpPr>
              <p:cNvPr id="28" name="文本框 27"/>
              <p:cNvSpPr txBox="1"/>
              <p:nvPr/>
            </p:nvSpPr>
            <p:spPr>
              <a:xfrm>
                <a:off x="804951" y="3009479"/>
                <a:ext cx="5459636" cy="58477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altLang="zh-CN" sz="3200" b="1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𝑷</m:t>
                    </m:r>
                    <m:d>
                      <m:dPr>
                        <m:ctrlPr>
                          <a:rPr lang="en-US" altLang="zh-CN" sz="3200" b="1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3200" b="1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𝑨</m:t>
                        </m:r>
                        <m:r>
                          <a:rPr lang="en-US" altLang="zh-CN" sz="3200" b="1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∪</m:t>
                        </m:r>
                        <m:r>
                          <a:rPr lang="en-US" altLang="zh-CN" sz="3200" b="1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𝑩</m:t>
                        </m:r>
                      </m:e>
                    </m:d>
                  </m:oMath>
                </a14:m>
                <a:r>
                  <a:rPr lang="en-US" altLang="zh-CN" sz="3200" b="1" dirty="0" smtClean="0">
                    <a:solidFill>
                      <a:srgbClr val="0070C0"/>
                    </a:solidFill>
                  </a:rPr>
                  <a:t>=</a:t>
                </a:r>
                <a14:m>
                  <m:oMath xmlns:m="http://schemas.openxmlformats.org/officeDocument/2006/math">
                    <m:r>
                      <a:rPr lang="en-US" altLang="zh-CN" sz="3200" b="1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𝑷</m:t>
                    </m:r>
                    <m:d>
                      <m:dPr>
                        <m:ctrlPr>
                          <a:rPr lang="en-US" altLang="zh-CN" sz="3200" b="1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3200" b="1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𝑨</m:t>
                        </m:r>
                      </m:e>
                    </m:d>
                  </m:oMath>
                </a14:m>
                <a:r>
                  <a:rPr lang="en-US" altLang="zh-CN" sz="3200" b="1" dirty="0" smtClean="0">
                    <a:solidFill>
                      <a:srgbClr val="0070C0"/>
                    </a:solidFill>
                  </a:rPr>
                  <a:t>+</a:t>
                </a:r>
                <a14:m>
                  <m:oMath xmlns:m="http://schemas.openxmlformats.org/officeDocument/2006/math">
                    <m:r>
                      <a:rPr lang="en-US" altLang="zh-CN" sz="3200" b="1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𝑷</m:t>
                    </m:r>
                    <m:d>
                      <m:dPr>
                        <m:ctrlPr>
                          <a:rPr lang="en-US" altLang="zh-CN" sz="3200" b="1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3200" b="1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𝑩</m:t>
                        </m:r>
                      </m:e>
                    </m:d>
                  </m:oMath>
                </a14:m>
                <a:r>
                  <a:rPr lang="en-US" altLang="zh-CN" sz="3200" b="1" dirty="0" smtClean="0">
                    <a:solidFill>
                      <a:srgbClr val="0070C0"/>
                    </a:solidFill>
                  </a:rPr>
                  <a:t>-</a:t>
                </a:r>
                <a14:m>
                  <m:oMath xmlns:m="http://schemas.openxmlformats.org/officeDocument/2006/math">
                    <m:r>
                      <a:rPr lang="en-US" altLang="zh-CN" sz="3200" b="1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𝑷</m:t>
                    </m:r>
                    <m:d>
                      <m:dPr>
                        <m:ctrlPr>
                          <a:rPr lang="en-US" altLang="zh-CN" sz="3200" b="1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3200" b="1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𝑨</m:t>
                        </m:r>
                        <m:r>
                          <a:rPr lang="en-US" altLang="zh-CN" sz="3200" b="1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𝑩</m:t>
                        </m:r>
                      </m:e>
                    </m:d>
                  </m:oMath>
                </a14:m>
                <a:endParaRPr lang="zh-CN" altLang="en-US" sz="3200" b="1" dirty="0">
                  <a:solidFill>
                    <a:srgbClr val="0070C0"/>
                  </a:solidFill>
                </a:endParaRPr>
              </a:p>
            </p:txBody>
          </p:sp>
        </mc:Choice>
        <mc:Fallback>
          <p:sp>
            <p:nvSpPr>
              <p:cNvPr id="28" name="文本框 2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4951" y="3009479"/>
                <a:ext cx="5459636" cy="584775"/>
              </a:xfrm>
              <a:prstGeom prst="rect">
                <a:avLst/>
              </a:prstGeom>
              <a:blipFill rotWithShape="1">
                <a:blip r:embed="rId3"/>
                <a:stretch>
                  <a:fillRect l="-7" t="-37" r="6" b="2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1" name="矩形 30"/>
              <p:cNvSpPr/>
              <p:nvPr/>
            </p:nvSpPr>
            <p:spPr>
              <a:xfrm>
                <a:off x="700369" y="4036542"/>
                <a:ext cx="4200535" cy="58477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3200" b="1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𝑷</m:t>
                      </m:r>
                      <m:d>
                        <m:dPr>
                          <m:ctrlPr>
                            <a:rPr lang="en-US" altLang="zh-CN" sz="3200" b="1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3200" b="1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𝑨𝑩</m:t>
                          </m:r>
                        </m:e>
                      </m:d>
                      <m:r>
                        <a:rPr lang="en-US" altLang="zh-CN" sz="3200" b="1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sz="3200" b="1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𝑷</m:t>
                      </m:r>
                      <m:d>
                        <m:dPr>
                          <m:ctrlPr>
                            <a:rPr lang="en-US" altLang="zh-CN" sz="3200" b="1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3200" b="1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𝑩</m:t>
                          </m:r>
                        </m:e>
                        <m:e>
                          <m:r>
                            <a:rPr lang="en-US" altLang="zh-CN" sz="3200" b="1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𝑨</m:t>
                          </m:r>
                        </m:e>
                      </m:d>
                      <m:r>
                        <a:rPr lang="en-US" altLang="zh-CN" sz="3200" b="1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𝑷</m:t>
                      </m:r>
                      <m:d>
                        <m:dPr>
                          <m:ctrlPr>
                            <a:rPr lang="en-US" altLang="zh-CN" sz="3200" b="1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3200" b="1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𝑨</m:t>
                          </m:r>
                        </m:e>
                      </m:d>
                    </m:oMath>
                  </m:oMathPara>
                </a14:m>
                <a:endParaRPr lang="zh-CN" altLang="en-US" sz="3200" b="1" dirty="0">
                  <a:solidFill>
                    <a:srgbClr val="0070C0"/>
                  </a:solidFill>
                </a:endParaRPr>
              </a:p>
            </p:txBody>
          </p:sp>
        </mc:Choice>
        <mc:Fallback>
          <p:sp>
            <p:nvSpPr>
              <p:cNvPr id="31" name="矩形 3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0369" y="4036542"/>
                <a:ext cx="4200535" cy="584775"/>
              </a:xfrm>
              <a:prstGeom prst="rect">
                <a:avLst/>
              </a:prstGeom>
              <a:blipFill rotWithShape="1">
                <a:blip r:embed="rId4"/>
                <a:stretch>
                  <a:fillRect l="-14" t="-82" r="14" b="7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2" name="矩形 31"/>
              <p:cNvSpPr/>
              <p:nvPr/>
            </p:nvSpPr>
            <p:spPr>
              <a:xfrm>
                <a:off x="618140" y="5046673"/>
                <a:ext cx="4200535" cy="58477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3200" b="1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𝑷</m:t>
                      </m:r>
                      <m:d>
                        <m:dPr>
                          <m:ctrlPr>
                            <a:rPr lang="en-US" altLang="zh-CN" sz="3200" b="1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3200" b="1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𝑨𝑩</m:t>
                          </m:r>
                        </m:e>
                      </m:d>
                      <m:r>
                        <a:rPr lang="en-US" altLang="zh-CN" sz="3200" b="1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sz="3200" b="1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𝑷</m:t>
                      </m:r>
                      <m:d>
                        <m:dPr>
                          <m:ctrlPr>
                            <a:rPr lang="en-US" altLang="zh-CN" sz="3200" b="1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3200" b="1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𝑨</m:t>
                          </m:r>
                        </m:e>
                        <m:e>
                          <m:r>
                            <a:rPr lang="en-US" altLang="zh-CN" sz="3200" b="1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𝑩</m:t>
                          </m:r>
                        </m:e>
                      </m:d>
                      <m:r>
                        <a:rPr lang="en-US" altLang="zh-CN" sz="3200" b="1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𝑷</m:t>
                      </m:r>
                      <m:d>
                        <m:dPr>
                          <m:ctrlPr>
                            <a:rPr lang="en-US" altLang="zh-CN" sz="3200" b="1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3200" b="1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𝑩</m:t>
                          </m:r>
                        </m:e>
                      </m:d>
                    </m:oMath>
                  </m:oMathPara>
                </a14:m>
                <a:endParaRPr lang="zh-CN" altLang="en-US" sz="3200" b="1" dirty="0">
                  <a:solidFill>
                    <a:srgbClr val="0070C0"/>
                  </a:solidFill>
                </a:endParaRPr>
              </a:p>
            </p:txBody>
          </p:sp>
        </mc:Choice>
        <mc:Fallback>
          <p:sp>
            <p:nvSpPr>
              <p:cNvPr id="32" name="矩形 3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8140" y="5046673"/>
                <a:ext cx="4200535" cy="584775"/>
              </a:xfrm>
              <a:prstGeom prst="rect">
                <a:avLst/>
              </a:prstGeom>
              <a:blipFill rotWithShape="1">
                <a:blip r:embed="rId5"/>
                <a:stretch>
                  <a:fillRect l="-7" t="-56" r="7" b="4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4" name="矩形 33"/>
              <p:cNvSpPr/>
              <p:nvPr/>
            </p:nvSpPr>
            <p:spPr>
              <a:xfrm>
                <a:off x="4436649" y="4771490"/>
                <a:ext cx="4223156" cy="1117678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3200" b="1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𝑷</m:t>
                      </m:r>
                      <m:d>
                        <m:dPr>
                          <m:ctrlPr>
                            <a:rPr lang="en-US" altLang="zh-CN" sz="3200" b="1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3200" b="1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𝑩</m:t>
                          </m:r>
                        </m:e>
                      </m:d>
                      <m:r>
                        <a:rPr lang="en-US" altLang="zh-CN" sz="3200" b="1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CN" sz="3200" b="1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sz="3200" b="1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𝑷</m:t>
                          </m:r>
                          <m:d>
                            <m:dPr>
                              <m:ctrlPr>
                                <a:rPr lang="en-US" altLang="zh-CN" sz="3200" b="1" i="1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sz="3200" b="1" i="1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𝑨𝑩</m:t>
                              </m:r>
                            </m:e>
                          </m:d>
                        </m:num>
                        <m:den>
                          <m:r>
                            <a:rPr lang="en-US" altLang="zh-CN" sz="3200" b="1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𝑷</m:t>
                          </m:r>
                          <m:d>
                            <m:dPr>
                              <m:ctrlPr>
                                <a:rPr lang="en-US" altLang="zh-CN" sz="3200" b="1" i="1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sz="3200" b="1" i="1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𝑨</m:t>
                              </m:r>
                            </m:e>
                            <m:e>
                              <m:r>
                                <a:rPr lang="en-US" altLang="zh-CN" sz="3200" b="1" i="1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𝑩</m:t>
                              </m:r>
                            </m:e>
                          </m:d>
                        </m:den>
                      </m:f>
                    </m:oMath>
                  </m:oMathPara>
                </a14:m>
                <a:endParaRPr lang="zh-CN" altLang="en-US" sz="3200" b="1" dirty="0">
                  <a:solidFill>
                    <a:srgbClr val="0070C0"/>
                  </a:solidFill>
                </a:endParaRPr>
              </a:p>
            </p:txBody>
          </p:sp>
        </mc:Choice>
        <mc:Fallback>
          <p:sp>
            <p:nvSpPr>
              <p:cNvPr id="34" name="矩形 3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36649" y="4771490"/>
                <a:ext cx="4223156" cy="1117678"/>
              </a:xfrm>
              <a:prstGeom prst="rect">
                <a:avLst/>
              </a:prstGeom>
              <a:blipFill rotWithShape="1">
                <a:blip r:embed="rId6"/>
                <a:stretch>
                  <a:fillRect l="-13" t="-9" r="7" b="1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5" name="文本框 34"/>
              <p:cNvSpPr txBox="1"/>
              <p:nvPr/>
            </p:nvSpPr>
            <p:spPr>
              <a:xfrm>
                <a:off x="4571247" y="5079045"/>
                <a:ext cx="689291" cy="49244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CN" altLang="en-US" sz="3200" b="1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⟹</m:t>
                      </m:r>
                    </m:oMath>
                  </m:oMathPara>
                </a14:m>
                <a:endParaRPr lang="zh-CN" altLang="en-US" sz="3200" b="1" dirty="0">
                  <a:solidFill>
                    <a:srgbClr val="0070C0"/>
                  </a:solidFill>
                </a:endParaRPr>
              </a:p>
            </p:txBody>
          </p:sp>
        </mc:Choice>
        <mc:Fallback>
          <p:sp>
            <p:nvSpPr>
              <p:cNvPr id="35" name="文本框 3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71247" y="5079045"/>
                <a:ext cx="689291" cy="492443"/>
              </a:xfrm>
              <a:prstGeom prst="rect">
                <a:avLst/>
              </a:prstGeom>
              <a:blipFill rotWithShape="1">
                <a:blip r:embed="rId7"/>
                <a:stretch>
                  <a:fillRect l="-75" t="-64" r="29" b="12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7" name="Rectangle 27"/>
          <p:cNvSpPr>
            <a:spLocks noChangeArrowheads="1"/>
          </p:cNvSpPr>
          <p:nvPr/>
        </p:nvSpPr>
        <p:spPr bwMode="auto">
          <a:xfrm>
            <a:off x="844743" y="6086972"/>
            <a:ext cx="21378153" cy="457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9" name="文本框 38"/>
              <p:cNvSpPr txBox="1"/>
              <p:nvPr/>
            </p:nvSpPr>
            <p:spPr>
              <a:xfrm>
                <a:off x="4784947" y="3826811"/>
                <a:ext cx="2353401" cy="92519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3200" b="0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CN" sz="3200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sz="3200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altLang="zh-CN" sz="3200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den>
                      </m:f>
                      <m:r>
                        <a:rPr lang="en-US" altLang="zh-CN" sz="3200" b="0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f>
                        <m:fPr>
                          <m:ctrlPr>
                            <a:rPr lang="en-US" altLang="zh-CN" sz="3200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sz="3200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altLang="zh-CN" sz="3200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4</m:t>
                          </m:r>
                        </m:den>
                      </m:f>
                      <m:r>
                        <a:rPr lang="en-US" altLang="zh-CN" sz="3200" b="0" i="0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CN" sz="3200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sz="3200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altLang="zh-CN" sz="3200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12</m:t>
                          </m:r>
                        </m:den>
                      </m:f>
                    </m:oMath>
                  </m:oMathPara>
                </a14:m>
                <a:endParaRPr lang="zh-CN" altLang="en-US" sz="3200" dirty="0">
                  <a:solidFill>
                    <a:srgbClr val="0070C0"/>
                  </a:solidFill>
                </a:endParaRPr>
              </a:p>
            </p:txBody>
          </p:sp>
        </mc:Choice>
        <mc:Fallback>
          <p:sp>
            <p:nvSpPr>
              <p:cNvPr id="39" name="文本框 3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84947" y="3826811"/>
                <a:ext cx="2353401" cy="925190"/>
              </a:xfrm>
              <a:prstGeom prst="rect">
                <a:avLst/>
              </a:prstGeom>
              <a:blipFill rotWithShape="1">
                <a:blip r:embed="rId8"/>
                <a:stretch>
                  <a:fillRect l="-9" t="-33" r="13" b="3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1" name="文本框 40"/>
              <p:cNvSpPr txBox="1"/>
              <p:nvPr/>
            </p:nvSpPr>
            <p:spPr>
              <a:xfrm>
                <a:off x="8012140" y="4596556"/>
                <a:ext cx="980460" cy="143321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800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CN" sz="280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f>
                            <m:fPr>
                              <m:ctrlPr>
                                <a:rPr lang="en-US" altLang="zh-CN" sz="2800" i="1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zh-CN" sz="2800" b="0" i="1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altLang="zh-CN" sz="2800" b="0" i="1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12</m:t>
                              </m:r>
                            </m:den>
                          </m:f>
                        </m:num>
                        <m:den>
                          <m:f>
                            <m:fPr>
                              <m:ctrlPr>
                                <a:rPr lang="en-US" altLang="zh-CN" sz="2800" i="1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zh-CN" sz="2800" b="0" i="1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altLang="zh-CN" sz="2800" b="0" i="1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</m:den>
                      </m:f>
                    </m:oMath>
                  </m:oMathPara>
                </a14:m>
                <a:endParaRPr lang="zh-CN" altLang="en-US" sz="2800" dirty="0">
                  <a:solidFill>
                    <a:srgbClr val="0070C0"/>
                  </a:solidFill>
                </a:endParaRPr>
              </a:p>
            </p:txBody>
          </p:sp>
        </mc:Choice>
        <mc:Fallback>
          <p:sp>
            <p:nvSpPr>
              <p:cNvPr id="41" name="文本框 4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12140" y="4596556"/>
                <a:ext cx="980460" cy="1433213"/>
              </a:xfrm>
              <a:prstGeom prst="rect">
                <a:avLst/>
              </a:prstGeom>
              <a:blipFill rotWithShape="1">
                <a:blip r:embed="rId9"/>
                <a:stretch>
                  <a:fillRect l="-35" t="-30" r="-610" b="3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2" name="文本框 41"/>
              <p:cNvSpPr txBox="1"/>
              <p:nvPr/>
            </p:nvSpPr>
            <p:spPr>
              <a:xfrm>
                <a:off x="8910848" y="4825833"/>
                <a:ext cx="852989" cy="92519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3200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CN" sz="320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sz="3200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altLang="zh-CN" sz="3200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6</m:t>
                          </m:r>
                        </m:den>
                      </m:f>
                    </m:oMath>
                  </m:oMathPara>
                </a14:m>
                <a:endParaRPr lang="zh-CN" altLang="en-US" sz="3200" dirty="0">
                  <a:solidFill>
                    <a:srgbClr val="0070C0"/>
                  </a:solidFill>
                </a:endParaRPr>
              </a:p>
            </p:txBody>
          </p:sp>
        </mc:Choice>
        <mc:Fallback>
          <p:sp>
            <p:nvSpPr>
              <p:cNvPr id="42" name="文本框 4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10848" y="4825833"/>
                <a:ext cx="852989" cy="925190"/>
              </a:xfrm>
              <a:prstGeom prst="rect">
                <a:avLst/>
              </a:prstGeom>
              <a:blipFill rotWithShape="1">
                <a:blip r:embed="rId10"/>
                <a:stretch>
                  <a:fillRect l="-62" t="-51" r="9" b="5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3" name="矩形 42"/>
              <p:cNvSpPr/>
              <p:nvPr/>
            </p:nvSpPr>
            <p:spPr>
              <a:xfrm>
                <a:off x="5962207" y="2762129"/>
                <a:ext cx="2697598" cy="1017523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3200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CN" sz="3200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sz="3200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altLang="zh-CN" sz="3200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4</m:t>
                          </m:r>
                        </m:den>
                      </m:f>
                      <m:r>
                        <a:rPr lang="en-US" altLang="zh-CN" sz="3200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US" altLang="zh-CN" sz="3200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sz="3200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altLang="zh-CN" sz="3200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6</m:t>
                          </m:r>
                        </m:den>
                      </m:f>
                      <m:r>
                        <a:rPr lang="en-US" altLang="zh-CN" sz="3200" i="1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en-US" altLang="zh-CN" sz="3200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sz="3200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altLang="zh-CN" sz="3200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12</m:t>
                          </m:r>
                        </m:den>
                      </m:f>
                    </m:oMath>
                  </m:oMathPara>
                </a14:m>
                <a:endParaRPr lang="zh-CN" altLang="en-US" sz="3200" dirty="0">
                  <a:solidFill>
                    <a:srgbClr val="0070C0"/>
                  </a:solidFill>
                </a:endParaRPr>
              </a:p>
            </p:txBody>
          </p:sp>
        </mc:Choice>
        <mc:Fallback>
          <p:sp>
            <p:nvSpPr>
              <p:cNvPr id="43" name="矩形 4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62207" y="2762129"/>
                <a:ext cx="2697598" cy="1017523"/>
              </a:xfrm>
              <a:prstGeom prst="rect">
                <a:avLst/>
              </a:prstGeom>
              <a:blipFill rotWithShape="1">
                <a:blip r:embed="rId11"/>
                <a:stretch>
                  <a:fillRect l="-7" t="-51" r="11" b="1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4" name="文本框 43"/>
              <p:cNvSpPr txBox="1"/>
              <p:nvPr/>
            </p:nvSpPr>
            <p:spPr>
              <a:xfrm>
                <a:off x="8497813" y="2839271"/>
                <a:ext cx="852989" cy="92519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3200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CN" sz="320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sz="3200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altLang="zh-CN" sz="3200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den>
                      </m:f>
                    </m:oMath>
                  </m:oMathPara>
                </a14:m>
                <a:endParaRPr lang="zh-CN" altLang="en-US" sz="3200" dirty="0">
                  <a:solidFill>
                    <a:srgbClr val="0070C0"/>
                  </a:solidFill>
                </a:endParaRPr>
              </a:p>
            </p:txBody>
          </p:sp>
        </mc:Choice>
        <mc:Fallback>
          <p:sp>
            <p:nvSpPr>
              <p:cNvPr id="44" name="文本框 4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97813" y="2839271"/>
                <a:ext cx="852989" cy="925190"/>
              </a:xfrm>
              <a:prstGeom prst="rect">
                <a:avLst/>
              </a:prstGeom>
              <a:blipFill rotWithShape="1">
                <a:blip r:embed="rId12"/>
                <a:stretch>
                  <a:fillRect l="-28" t="-20" r="50" b="2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5" name="文本框 44"/>
          <p:cNvSpPr txBox="1"/>
          <p:nvPr/>
        </p:nvSpPr>
        <p:spPr>
          <a:xfrm>
            <a:off x="10140697" y="1957871"/>
            <a:ext cx="56171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200" b="1" dirty="0" smtClean="0"/>
              <a:t>C</a:t>
            </a:r>
            <a:endParaRPr lang="zh-CN" altLang="en-US" sz="3200" b="1" dirty="0"/>
          </a:p>
        </p:txBody>
      </p:sp>
      <p:sp>
        <p:nvSpPr>
          <p:cNvPr id="2" name="TextBox 1"/>
          <p:cNvSpPr txBox="1"/>
          <p:nvPr/>
        </p:nvSpPr>
        <p:spPr>
          <a:xfrm flipV="1">
            <a:off x="4900903" y="684124"/>
            <a:ext cx="2099503" cy="4251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dirty="0"/>
          </a:p>
        </p:txBody>
      </p:sp>
      <p:sp>
        <p:nvSpPr>
          <p:cNvPr id="22" name="文本框 17"/>
          <p:cNvSpPr txBox="1"/>
          <p:nvPr/>
        </p:nvSpPr>
        <p:spPr>
          <a:xfrm>
            <a:off x="570789" y="462940"/>
            <a:ext cx="646331" cy="646331"/>
          </a:xfrm>
          <a:prstGeom prst="rect">
            <a:avLst/>
          </a:prstGeom>
          <a:solidFill>
            <a:srgbClr val="92D050"/>
          </a:solidFill>
        </p:spPr>
        <p:txBody>
          <a:bodyPr wrap="none" rtlCol="0">
            <a:spAutoFit/>
          </a:bodyPr>
          <a:lstStyle/>
          <a:p>
            <a:r>
              <a:rPr lang="zh-CN" altLang="en-US" sz="3600" dirty="0" smtClean="0">
                <a:solidFill>
                  <a:srgbClr val="FFFF00"/>
                </a:solidFill>
              </a:rPr>
              <a:t>例</a:t>
            </a:r>
            <a:endParaRPr lang="zh-CN" altLang="en-US" sz="3600" dirty="0">
              <a:solidFill>
                <a:srgbClr val="FFFF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" grpId="0"/>
      <p:bldP spid="31" grpId="0"/>
      <p:bldP spid="32" grpId="0"/>
      <p:bldP spid="34" grpId="0"/>
      <p:bldP spid="35" grpId="0"/>
      <p:bldP spid="39" grpId="0"/>
      <p:bldP spid="41" grpId="0"/>
      <p:bldP spid="42" grpId="0"/>
      <p:bldP spid="43" grpId="0"/>
      <p:bldP spid="44" grpId="0"/>
      <p:bldP spid="45" grpId="0"/>
      <p:bldP spid="22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850" y="1298368"/>
            <a:ext cx="11470260" cy="1739758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5" name="文本框 4"/>
              <p:cNvSpPr txBox="1"/>
              <p:nvPr/>
            </p:nvSpPr>
            <p:spPr>
              <a:xfrm>
                <a:off x="1863634" y="3604532"/>
                <a:ext cx="7252562" cy="64633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3600" b="1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𝑷</m:t>
                      </m:r>
                      <m:d>
                        <m:dPr>
                          <m:ctrlPr>
                            <a:rPr lang="en-US" altLang="zh-CN" sz="3600" b="1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3600" b="1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𝑨</m:t>
                          </m:r>
                          <m:r>
                            <a:rPr lang="en-US" altLang="zh-CN" sz="3600" b="1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∪</m:t>
                          </m:r>
                          <m:acc>
                            <m:accPr>
                              <m:chr m:val="̅"/>
                              <m:ctrlPr>
                                <a:rPr lang="en-US" altLang="zh-CN" sz="3600" b="1" i="1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zh-CN" sz="3600" b="1" i="1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𝑩</m:t>
                              </m:r>
                            </m:e>
                          </m:acc>
                        </m:e>
                      </m:d>
                      <m:r>
                        <a:rPr lang="en-US" altLang="zh-CN" sz="3600" b="1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sz="3600" b="1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𝑷</m:t>
                      </m:r>
                      <m:d>
                        <m:dPr>
                          <m:ctrlPr>
                            <a:rPr lang="en-US" altLang="zh-CN" sz="3600" b="1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3600" b="1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𝑨</m:t>
                          </m:r>
                        </m:e>
                      </m:d>
                      <m:r>
                        <a:rPr lang="en-US" altLang="zh-CN" sz="3600" b="1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zh-CN" sz="3600" b="1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𝑷</m:t>
                      </m:r>
                      <m:d>
                        <m:dPr>
                          <m:ctrlPr>
                            <a:rPr lang="en-US" altLang="zh-CN" sz="3600" b="1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acc>
                            <m:accPr>
                              <m:chr m:val="̅"/>
                              <m:ctrlPr>
                                <a:rPr lang="en-US" altLang="zh-CN" sz="3600" b="1" i="1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zh-CN" sz="3600" b="1" i="1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𝑩</m:t>
                              </m:r>
                            </m:e>
                          </m:acc>
                        </m:e>
                      </m:d>
                      <m:r>
                        <a:rPr lang="en-US" altLang="zh-CN" sz="3600" b="1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altLang="zh-CN" sz="3600" b="1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𝑷</m:t>
                      </m:r>
                      <m:d>
                        <m:dPr>
                          <m:ctrlPr>
                            <a:rPr lang="en-US" altLang="zh-CN" sz="3600" b="1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3600" b="1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𝑨</m:t>
                          </m:r>
                          <m:acc>
                            <m:accPr>
                              <m:chr m:val="̅"/>
                              <m:ctrlPr>
                                <a:rPr lang="en-US" altLang="zh-CN" sz="3600" b="1" i="1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zh-CN" sz="3600" b="1" i="1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𝑩</m:t>
                              </m:r>
                            </m:e>
                          </m:acc>
                        </m:e>
                      </m:d>
                    </m:oMath>
                  </m:oMathPara>
                </a14:m>
                <a:endParaRPr lang="zh-CN" altLang="en-US" sz="3600" b="1" dirty="0">
                  <a:solidFill>
                    <a:srgbClr val="002060"/>
                  </a:solidFill>
                </a:endParaRPr>
              </a:p>
            </p:txBody>
          </p:sp>
        </mc:Choice>
        <mc:Fallback>
          <p:sp>
            <p:nvSpPr>
              <p:cNvPr id="5" name="文本框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63634" y="3604532"/>
                <a:ext cx="7252562" cy="646331"/>
              </a:xfrm>
              <a:prstGeom prst="rect">
                <a:avLst/>
              </a:prstGeom>
              <a:blipFill rotWithShape="1">
                <a:blip r:embed="rId2"/>
                <a:stretch>
                  <a:fillRect l="-8" t="-42" r="2" b="2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" name="矩形 5"/>
              <p:cNvSpPr/>
              <p:nvPr/>
            </p:nvSpPr>
            <p:spPr>
              <a:xfrm>
                <a:off x="2612572" y="4453122"/>
                <a:ext cx="6096000" cy="646331"/>
              </a:xfrm>
              <a:prstGeom prst="rect">
                <a:avLst/>
              </a:prstGeom>
            </p:spPr>
            <p:txBody>
              <a:bodyPr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3600" b="1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US" altLang="zh-CN" sz="3600" b="1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𝑷</m:t>
                      </m:r>
                      <m:d>
                        <m:dPr>
                          <m:ctrlPr>
                            <a:rPr lang="en-US" altLang="zh-CN" sz="3600" b="1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acc>
                            <m:accPr>
                              <m:chr m:val="̅"/>
                              <m:ctrlPr>
                                <a:rPr lang="en-US" altLang="zh-CN" sz="3600" b="1" i="1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zh-CN" sz="3600" b="1" i="1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𝑩</m:t>
                              </m:r>
                            </m:e>
                          </m:acc>
                        </m:e>
                      </m:d>
                      <m:r>
                        <a:rPr lang="en-US" altLang="zh-CN" sz="3600" b="1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r>
                        <a:rPr lang="en-US" altLang="zh-CN" sz="3600" b="1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𝑷</m:t>
                      </m:r>
                      <m:d>
                        <m:dPr>
                          <m:ctrlPr>
                            <a:rPr lang="en-US" altLang="zh-CN" sz="3600" b="1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3600" b="1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𝑨𝑩</m:t>
                          </m:r>
                        </m:e>
                      </m:d>
                    </m:oMath>
                  </m:oMathPara>
                </a14:m>
                <a:endParaRPr lang="zh-CN" altLang="en-US" sz="3600" b="1" dirty="0">
                  <a:solidFill>
                    <a:srgbClr val="002060"/>
                  </a:solidFill>
                </a:endParaRPr>
              </a:p>
            </p:txBody>
          </p:sp>
        </mc:Choice>
        <mc:Fallback>
          <p:sp>
            <p:nvSpPr>
              <p:cNvPr id="6" name="矩形 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12572" y="4453122"/>
                <a:ext cx="6096000" cy="646331"/>
              </a:xfrm>
              <a:prstGeom prst="rect">
                <a:avLst/>
              </a:prstGeom>
              <a:blipFill rotWithShape="1">
                <a:blip r:embed="rId3"/>
                <a:stretch>
                  <a:fillRect l="-3" t="-78" r="3" b="6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" name="矩形 6"/>
              <p:cNvSpPr/>
              <p:nvPr/>
            </p:nvSpPr>
            <p:spPr>
              <a:xfrm>
                <a:off x="3862094" y="5301713"/>
                <a:ext cx="4889800" cy="64633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3600" b="1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US" altLang="zh-CN" sz="3600" b="1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𝑷</m:t>
                      </m:r>
                      <m:d>
                        <m:dPr>
                          <m:ctrlPr>
                            <a:rPr lang="en-US" altLang="zh-CN" sz="3600" b="1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acc>
                            <m:accPr>
                              <m:chr m:val="̅"/>
                              <m:ctrlPr>
                                <a:rPr lang="en-US" altLang="zh-CN" sz="3600" b="1" i="1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zh-CN" sz="3600" b="1" i="1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𝑩</m:t>
                              </m:r>
                            </m:e>
                          </m:acc>
                        </m:e>
                      </m:d>
                      <m:r>
                        <a:rPr lang="en-US" altLang="zh-CN" sz="3600" b="1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r>
                        <a:rPr lang="en-US" altLang="zh-CN" sz="3600" b="1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𝑷</m:t>
                      </m:r>
                      <m:d>
                        <m:dPr>
                          <m:ctrlPr>
                            <a:rPr lang="en-US" altLang="zh-CN" sz="3600" b="1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3600" b="1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𝑨</m:t>
                          </m:r>
                        </m:e>
                        <m:e>
                          <m:r>
                            <a:rPr lang="en-US" altLang="zh-CN" sz="3600" b="1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𝑩</m:t>
                          </m:r>
                        </m:e>
                      </m:d>
                      <m:r>
                        <a:rPr lang="en-US" altLang="zh-CN" sz="3600" b="1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𝑷</m:t>
                      </m:r>
                      <m:r>
                        <a:rPr lang="en-US" altLang="zh-CN" sz="3600" b="1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</m:t>
                      </m:r>
                      <m:r>
                        <a:rPr lang="en-US" altLang="zh-CN" sz="3600" b="1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𝑩</m:t>
                      </m:r>
                      <m:r>
                        <a:rPr lang="en-US" altLang="zh-CN" sz="3600" b="1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zh-CN" altLang="en-US" sz="3600" b="1" dirty="0">
                  <a:solidFill>
                    <a:srgbClr val="002060"/>
                  </a:solidFill>
                </a:endParaRPr>
              </a:p>
            </p:txBody>
          </p:sp>
        </mc:Choice>
        <mc:Fallback>
          <p:sp>
            <p:nvSpPr>
              <p:cNvPr id="7" name="矩形 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62094" y="5301713"/>
                <a:ext cx="4889800" cy="646331"/>
              </a:xfrm>
              <a:prstGeom prst="rect">
                <a:avLst/>
              </a:prstGeom>
              <a:blipFill rotWithShape="1">
                <a:blip r:embed="rId4"/>
                <a:stretch>
                  <a:fillRect t="-15" r="7" b="9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文本框 7"/>
          <p:cNvSpPr txBox="1"/>
          <p:nvPr/>
        </p:nvSpPr>
        <p:spPr>
          <a:xfrm>
            <a:off x="9980024" y="2498543"/>
            <a:ext cx="51648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3600" b="1" dirty="0" smtClean="0"/>
              <a:t>D</a:t>
            </a:r>
            <a:endParaRPr lang="zh-CN" altLang="en-US" sz="3600" b="1" dirty="0"/>
          </a:p>
        </p:txBody>
      </p:sp>
      <p:sp>
        <p:nvSpPr>
          <p:cNvPr id="9" name="文本框 8"/>
          <p:cNvSpPr txBox="1"/>
          <p:nvPr>
            <p:custDataLst>
              <p:tags r:id="rId5"/>
            </p:custDataLst>
          </p:nvPr>
        </p:nvSpPr>
        <p:spPr>
          <a:xfrm>
            <a:off x="567055" y="801370"/>
            <a:ext cx="4064000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3200" b="1">
                <a:gradFill>
                  <a:gsLst>
                    <a:gs pos="0">
                      <a:srgbClr val="007BD3"/>
                    </a:gs>
                    <a:gs pos="100000">
                      <a:srgbClr val="034373"/>
                    </a:gs>
                  </a:gsLst>
                  <a:lin scaled="0"/>
                </a:gradFill>
              </a:rPr>
              <a:t>练习</a:t>
            </a:r>
            <a:endParaRPr lang="zh-CN" altLang="en-US" sz="3200" b="1">
              <a:gradFill>
                <a:gsLst>
                  <a:gs pos="0">
                    <a:srgbClr val="007BD3"/>
                  </a:gs>
                  <a:gs pos="100000">
                    <a:srgbClr val="034373"/>
                  </a:gs>
                </a:gsLst>
                <a:lin scaled="0"/>
              </a:gra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  <p:bldP spid="7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/>
        </p:nvSpPr>
        <p:spPr>
          <a:xfrm>
            <a:off x="696686" y="693145"/>
            <a:ext cx="8083550" cy="9220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3600" b="1" dirty="0"/>
              <a:t>2.4</a:t>
            </a:r>
            <a:r>
              <a:rPr lang="zh-CN" altLang="zh-CN" sz="3600" b="1" dirty="0" smtClean="0"/>
              <a:t>条件概率</a:t>
            </a:r>
            <a:r>
              <a:rPr lang="zh-CN" altLang="en-US" sz="3600" b="1" dirty="0" smtClean="0"/>
              <a:t>（续）全概率、贝叶斯公式</a:t>
            </a:r>
            <a:endParaRPr lang="zh-CN" altLang="zh-CN" sz="3600" b="1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矩形 4"/>
              <p:cNvSpPr/>
              <p:nvPr/>
            </p:nvSpPr>
            <p:spPr>
              <a:xfrm>
                <a:off x="596972" y="1752661"/>
                <a:ext cx="11077303" cy="1754326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kumimoji="1" lang="zh-CN" altLang="en-US" sz="3600" dirty="0" smtClean="0">
                    <a:solidFill>
                      <a:srgbClr val="000000"/>
                    </a:solidFill>
                    <a:latin typeface="Times New Roman" panose="02020603050405020304" pitchFamily="18" charset="0"/>
                  </a:rPr>
                  <a:t>       设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zh-CN" sz="3600" i="1" dirty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zh-CN" sz="3600" b="0" i="1" dirty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kumimoji="1" lang="en-US" altLang="zh-CN" sz="3600" b="0" i="1" dirty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kumimoji="1" lang="en-US" altLang="zh-CN" sz="3600" b="0" i="1" dirty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kumimoji="1" lang="en-US" altLang="zh-CN" sz="3600" i="1" dirty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zh-CN" sz="3600" b="0" i="1" dirty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kumimoji="1" lang="en-US" altLang="zh-CN" sz="3600" b="0" i="1" dirty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kumimoji="1" lang="en-US" altLang="zh-CN" sz="3600" b="0" i="1" dirty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kumimoji="1" lang="en-US" altLang="zh-CN" sz="3600" b="0" i="1" dirty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⋯,</m:t>
                    </m:r>
                    <m:sSub>
                      <m:sSubPr>
                        <m:ctrlPr>
                          <a:rPr kumimoji="1" lang="en-US" altLang="zh-CN" sz="3600" i="1" dirty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zh-CN" sz="3600" b="0" i="1" dirty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kumimoji="1" lang="en-US" altLang="zh-CN" sz="3600" b="0" i="1" dirty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kumimoji="1" lang="zh-CN" altLang="en-US" sz="3600" dirty="0" smtClean="0">
                    <a:solidFill>
                      <a:srgbClr val="000000"/>
                    </a:solidFill>
                    <a:latin typeface="Times New Roman" panose="02020603050405020304" pitchFamily="18" charset="0"/>
                  </a:rPr>
                  <a:t>构成</a:t>
                </a:r>
                <a:r>
                  <a:rPr kumimoji="1" lang="zh-CN" altLang="en-US" sz="3600" dirty="0">
                    <a:solidFill>
                      <a:srgbClr val="000000"/>
                    </a:solidFill>
                    <a:latin typeface="Times New Roman" panose="02020603050405020304" pitchFamily="18" charset="0"/>
                  </a:rPr>
                  <a:t>一个完备事件组，且</a:t>
                </a:r>
                <a14:m>
                  <m:oMath xmlns:m="http://schemas.openxmlformats.org/officeDocument/2006/math">
                    <m:r>
                      <a:rPr kumimoji="1" lang="en-US" altLang="zh-CN" sz="3600" b="0" i="1" dirty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a:rPr kumimoji="1" lang="en-US" altLang="zh-CN" sz="3600" b="0" i="1" dirty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kumimoji="1" lang="en-US" altLang="zh-CN" sz="3600" i="1" dirty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zh-CN" sz="3600" b="0" i="1" dirty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kumimoji="1" lang="en-US" altLang="zh-CN" sz="3600" b="0" i="1" dirty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kumimoji="1" lang="en-US" altLang="zh-CN" sz="3600" b="0" i="1" dirty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kumimoji="1" lang="zh-CN" altLang="en-US" sz="3600" dirty="0">
                    <a:solidFill>
                      <a:srgbClr val="000000"/>
                    </a:solidFill>
                    <a:latin typeface="Times New Roman" panose="02020603050405020304" pitchFamily="18" charset="0"/>
                  </a:rPr>
                  <a:t>＞</a:t>
                </a:r>
                <a:r>
                  <a:rPr kumimoji="1" lang="en-US" altLang="zh-CN" sz="3600" dirty="0" smtClean="0">
                    <a:solidFill>
                      <a:srgbClr val="000000"/>
                    </a:solidFill>
                    <a:latin typeface="Times New Roman" panose="02020603050405020304" pitchFamily="18" charset="0"/>
                  </a:rPr>
                  <a:t>0,</a:t>
                </a:r>
                <a:r>
                  <a:rPr lang="en-US" altLang="zh-CN" sz="3600" b="1" dirty="0"/>
                  <a:t> </a:t>
                </a:r>
                <a14:m>
                  <m:oMath xmlns:m="http://schemas.openxmlformats.org/officeDocument/2006/math">
                    <m:r>
                      <a:rPr lang="en-US" altLang="zh-CN" sz="3600" b="1" i="1">
                        <a:latin typeface="Cambria Math" panose="02040503050406030204" pitchFamily="18" charset="0"/>
                      </a:rPr>
                      <m:t>𝒊</m:t>
                    </m:r>
                    <m:r>
                      <a:rPr lang="en-US" altLang="zh-CN" sz="3600" b="1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sz="3600" b="1" i="1">
                        <a:latin typeface="Cambria Math" panose="02040503050406030204" pitchFamily="18" charset="0"/>
                      </a:rPr>
                      <m:t>𝟏</m:t>
                    </m:r>
                    <m:r>
                      <a:rPr lang="en-US" altLang="zh-CN" sz="3600" b="1" i="1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zh-CN" sz="3600" b="1" i="1">
                        <a:latin typeface="Cambria Math" panose="02040503050406030204" pitchFamily="18" charset="0"/>
                      </a:rPr>
                      <m:t>𝟐</m:t>
                    </m:r>
                    <m:r>
                      <a:rPr lang="en-US" altLang="zh-CN" sz="3600" b="1" i="1">
                        <a:latin typeface="Cambria Math" panose="02040503050406030204" pitchFamily="18" charset="0"/>
                      </a:rPr>
                      <m:t>,⋯,</m:t>
                    </m:r>
                    <m:r>
                      <a:rPr lang="en-US" altLang="zh-CN" sz="3600" b="1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𝒏</m:t>
                    </m:r>
                    <m:r>
                      <a:rPr lang="en-US" altLang="zh-CN" sz="3600" b="1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.</m:t>
                    </m:r>
                    <m:r>
                      <a:rPr lang="en-US" altLang="zh-CN" sz="3600" b="1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kumimoji="1" lang="zh-CN" altLang="en-US" sz="3600" dirty="0" smtClean="0">
                    <a:solidFill>
                      <a:srgbClr val="000000"/>
                    </a:solidFill>
                    <a:latin typeface="Times New Roman" panose="02020603050405020304" pitchFamily="18" charset="0"/>
                  </a:rPr>
                  <a:t>则</a:t>
                </a:r>
                <a:r>
                  <a:rPr kumimoji="1" lang="zh-CN" altLang="en-US" sz="3600" dirty="0">
                    <a:solidFill>
                      <a:srgbClr val="000000"/>
                    </a:solidFill>
                    <a:latin typeface="Times New Roman" panose="02020603050405020304" pitchFamily="18" charset="0"/>
                  </a:rPr>
                  <a:t>对任一</a:t>
                </a:r>
                <a:r>
                  <a:rPr kumimoji="1" lang="zh-CN" altLang="en-US" sz="3600" dirty="0" smtClean="0">
                    <a:solidFill>
                      <a:srgbClr val="000000"/>
                    </a:solidFill>
                    <a:latin typeface="Times New Roman" panose="02020603050405020304" pitchFamily="18" charset="0"/>
                  </a:rPr>
                  <a:t>随机事件</a:t>
                </a:r>
                <a:r>
                  <a:rPr kumimoji="1" lang="en-US" altLang="zh-CN" sz="3600" i="1" dirty="0" smtClean="0">
                    <a:solidFill>
                      <a:srgbClr val="000000"/>
                    </a:solidFill>
                    <a:latin typeface="Times New Roman" panose="02020603050405020304" pitchFamily="18" charset="0"/>
                  </a:rPr>
                  <a:t>B</a:t>
                </a:r>
                <a:r>
                  <a:rPr kumimoji="1" lang="zh-CN" altLang="en-US" sz="3600" dirty="0" smtClean="0">
                    <a:solidFill>
                      <a:srgbClr val="000000"/>
                    </a:solidFill>
                    <a:latin typeface="Times New Roman" panose="02020603050405020304" pitchFamily="18" charset="0"/>
                  </a:rPr>
                  <a:t>，</a:t>
                </a:r>
                <a:r>
                  <a:rPr kumimoji="1" lang="zh-CN" altLang="en-US" sz="3600" dirty="0">
                    <a:solidFill>
                      <a:srgbClr val="000000"/>
                    </a:solidFill>
                    <a:latin typeface="Times New Roman" panose="02020603050405020304" pitchFamily="18" charset="0"/>
                  </a:rPr>
                  <a:t>有 </a:t>
                </a:r>
                <a:endParaRPr lang="zh-CN" altLang="en-US" sz="3600" dirty="0"/>
              </a:p>
            </p:txBody>
          </p:sp>
        </mc:Choice>
        <mc:Fallback>
          <p:sp>
            <p:nvSpPr>
              <p:cNvPr id="5" name="矩形 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6972" y="1752661"/>
                <a:ext cx="11077303" cy="1754326"/>
              </a:xfrm>
              <a:prstGeom prst="rect">
                <a:avLst/>
              </a:prstGeom>
              <a:blipFill rotWithShape="1">
                <a:blip r:embed="rId1"/>
                <a:stretch>
                  <a:fillRect l="-1" t="-3" r="4" b="2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8" name="文本框 7"/>
              <p:cNvSpPr txBox="1"/>
              <p:nvPr/>
            </p:nvSpPr>
            <p:spPr>
              <a:xfrm>
                <a:off x="574770" y="4879918"/>
                <a:ext cx="4286623" cy="93968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altLang="zh-CN" sz="3200" b="1" i="1" smtClean="0">
                        <a:latin typeface="Cambria Math" panose="02040503050406030204" pitchFamily="18" charset="0"/>
                      </a:rPr>
                      <m:t>𝑷</m:t>
                    </m:r>
                    <m:d>
                      <m:dPr>
                        <m:ctrlPr>
                          <a:rPr lang="en-US" altLang="zh-CN" sz="3200" b="1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kumimoji="1" lang="en-US" altLang="zh-CN" sz="3200" b="1" i="1" dirty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zh-CN" sz="3200" b="1" i="1" dirty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𝑨</m:t>
                            </m:r>
                          </m:e>
                          <m:sub>
                            <m:r>
                              <a:rPr kumimoji="1" lang="en-US" altLang="zh-CN" sz="3200" b="1" i="1" dirty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𝒊</m:t>
                            </m:r>
                          </m:sub>
                        </m:sSub>
                      </m:e>
                      <m:e>
                        <m:r>
                          <a:rPr lang="en-US" altLang="zh-CN" sz="3200" b="1" i="1" smtClean="0">
                            <a:latin typeface="Cambria Math" panose="02040503050406030204" pitchFamily="18" charset="0"/>
                          </a:rPr>
                          <m:t>𝑩</m:t>
                        </m:r>
                      </m:e>
                    </m:d>
                    <m:r>
                      <a:rPr lang="en-US" altLang="zh-CN" sz="3200" b="1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zh-CN" sz="3200" b="1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sz="3200" b="1" i="1" smtClean="0">
                            <a:latin typeface="Cambria Math" panose="02040503050406030204" pitchFamily="18" charset="0"/>
                          </a:rPr>
                          <m:t>𝑷</m:t>
                        </m:r>
                        <m:d>
                          <m:dPr>
                            <m:ctrlPr>
                              <a:rPr lang="en-US" altLang="zh-CN" sz="3200" b="1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kumimoji="1" lang="en-US" altLang="zh-CN" sz="3200" b="1" i="1" dirty="0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kumimoji="1" lang="en-US" altLang="zh-CN" sz="3200" b="1" i="1" dirty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𝑨</m:t>
                                </m:r>
                              </m:e>
                              <m:sub>
                                <m:r>
                                  <a:rPr kumimoji="1" lang="en-US" altLang="zh-CN" sz="3200" b="1" i="1" dirty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𝒊</m:t>
                                </m:r>
                              </m:sub>
                            </m:sSub>
                          </m:e>
                        </m:d>
                        <m:r>
                          <a:rPr lang="en-US" altLang="zh-CN" sz="3200" b="1" i="1" smtClean="0">
                            <a:latin typeface="Cambria Math" panose="02040503050406030204" pitchFamily="18" charset="0"/>
                          </a:rPr>
                          <m:t>𝑷</m:t>
                        </m:r>
                        <m:d>
                          <m:dPr>
                            <m:ctrlPr>
                              <a:rPr lang="en-US" altLang="zh-CN" sz="3200" b="1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3200" b="1" i="1" smtClean="0">
                                <a:latin typeface="Cambria Math" panose="02040503050406030204" pitchFamily="18" charset="0"/>
                              </a:rPr>
                              <m:t>𝑩</m:t>
                            </m:r>
                          </m:e>
                          <m:e>
                            <m:sSub>
                              <m:sSubPr>
                                <m:ctrlPr>
                                  <a:rPr kumimoji="1" lang="en-US" altLang="zh-CN" sz="3200" b="1" i="1" dirty="0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kumimoji="1" lang="en-US" altLang="zh-CN" sz="3200" b="1" i="1" dirty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𝑨</m:t>
                                </m:r>
                              </m:e>
                              <m:sub>
                                <m:r>
                                  <a:rPr kumimoji="1" lang="en-US" altLang="zh-CN" sz="3200" b="1" i="1" dirty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𝒊</m:t>
                                </m:r>
                              </m:sub>
                            </m:sSub>
                          </m:e>
                        </m:d>
                      </m:num>
                      <m:den>
                        <m:r>
                          <a:rPr lang="en-US" altLang="zh-CN" sz="3200" b="1" i="1" smtClean="0">
                            <a:latin typeface="Cambria Math" panose="02040503050406030204" pitchFamily="18" charset="0"/>
                          </a:rPr>
                          <m:t>𝑷</m:t>
                        </m:r>
                        <m:d>
                          <m:dPr>
                            <m:ctrlPr>
                              <a:rPr lang="en-US" altLang="zh-CN" sz="3200" b="1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kumimoji="1" lang="en-US" altLang="zh-CN" sz="3200" b="1" i="1" dirty="0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𝑩</m:t>
                            </m:r>
                          </m:e>
                        </m:d>
                      </m:den>
                    </m:f>
                  </m:oMath>
                </a14:m>
                <a:r>
                  <a:rPr lang="en-US" altLang="zh-CN" sz="3200" b="1" dirty="0" smtClean="0"/>
                  <a:t>,</a:t>
                </a:r>
                <a:endParaRPr lang="zh-CN" altLang="en-US" sz="3200" b="1" dirty="0"/>
              </a:p>
            </p:txBody>
          </p:sp>
        </mc:Choice>
        <mc:Fallback>
          <p:sp>
            <p:nvSpPr>
              <p:cNvPr id="8" name="文本框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4770" y="4879918"/>
                <a:ext cx="4286623" cy="939681"/>
              </a:xfrm>
              <a:prstGeom prst="rect">
                <a:avLst/>
              </a:prstGeom>
              <a:blipFill rotWithShape="1">
                <a:blip r:embed="rId2"/>
                <a:stretch>
                  <a:fillRect l="-2" t="-62" r="11" b="4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9" name="矩形 8"/>
              <p:cNvSpPr/>
              <p:nvPr/>
            </p:nvSpPr>
            <p:spPr>
              <a:xfrm>
                <a:off x="574770" y="3893767"/>
                <a:ext cx="10558018" cy="58477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altLang="zh-CN" sz="3200" b="1" i="1" smtClean="0">
                        <a:latin typeface="Cambria Math" panose="02040503050406030204" pitchFamily="18" charset="0"/>
                      </a:rPr>
                      <m:t>𝑷</m:t>
                    </m:r>
                    <m:d>
                      <m:dPr>
                        <m:ctrlPr>
                          <a:rPr lang="en-US" altLang="zh-CN" sz="3200" b="1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kumimoji="1" lang="en-US" altLang="zh-CN" sz="3200" b="1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𝑩</m:t>
                        </m:r>
                      </m:e>
                    </m:d>
                  </m:oMath>
                </a14:m>
                <a:r>
                  <a:rPr lang="en-US" altLang="zh-CN" sz="3200" b="1" dirty="0" smtClean="0"/>
                  <a:t>=</a:t>
                </a:r>
                <a14:m>
                  <m:oMath xmlns:m="http://schemas.openxmlformats.org/officeDocument/2006/math">
                    <m:r>
                      <a:rPr lang="en-US" altLang="zh-CN" sz="3200" b="1" i="1">
                        <a:latin typeface="Cambria Math" panose="02040503050406030204" pitchFamily="18" charset="0"/>
                      </a:rPr>
                      <m:t>𝑷</m:t>
                    </m:r>
                    <m:d>
                      <m:dPr>
                        <m:ctrlPr>
                          <a:rPr lang="en-US" altLang="zh-CN" sz="3200" b="1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kumimoji="1" lang="en-US" altLang="zh-CN" sz="3200" b="1" i="1" dirty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zh-CN" sz="3200" b="1" i="1" dirty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𝑨</m:t>
                            </m:r>
                          </m:e>
                          <m:sub>
                            <m:r>
                              <a:rPr kumimoji="1" lang="en-US" altLang="zh-CN" sz="3200" b="1" i="1" dirty="0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𝟏</m:t>
                            </m:r>
                          </m:sub>
                        </m:sSub>
                      </m:e>
                    </m:d>
                    <m:r>
                      <a:rPr lang="en-US" altLang="zh-CN" sz="3200" b="1" i="1">
                        <a:latin typeface="Cambria Math" panose="02040503050406030204" pitchFamily="18" charset="0"/>
                      </a:rPr>
                      <m:t>𝑷</m:t>
                    </m:r>
                    <m:d>
                      <m:dPr>
                        <m:ctrlPr>
                          <a:rPr lang="en-US" altLang="zh-CN" sz="3200" b="1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3200" b="1" i="1">
                            <a:latin typeface="Cambria Math" panose="02040503050406030204" pitchFamily="18" charset="0"/>
                          </a:rPr>
                          <m:t>𝑩</m:t>
                        </m:r>
                      </m:e>
                      <m:e>
                        <m:sSub>
                          <m:sSubPr>
                            <m:ctrlPr>
                              <a:rPr kumimoji="1" lang="en-US" altLang="zh-CN" sz="3200" b="1" i="1" dirty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zh-CN" sz="3200" b="1" i="1" dirty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𝑨</m:t>
                            </m:r>
                          </m:e>
                          <m:sub>
                            <m:r>
                              <a:rPr kumimoji="1" lang="en-US" altLang="zh-CN" sz="3200" b="1" i="1" dirty="0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𝟏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altLang="zh-CN" sz="3200" b="1" dirty="0" smtClean="0"/>
                  <a:t>+</a:t>
                </a:r>
                <a14:m>
                  <m:oMath xmlns:m="http://schemas.openxmlformats.org/officeDocument/2006/math">
                    <m:r>
                      <a:rPr lang="en-US" altLang="zh-CN" sz="3200" b="1" i="1">
                        <a:latin typeface="Cambria Math" panose="02040503050406030204" pitchFamily="18" charset="0"/>
                      </a:rPr>
                      <m:t>𝑷</m:t>
                    </m:r>
                    <m:d>
                      <m:dPr>
                        <m:ctrlPr>
                          <a:rPr lang="en-US" altLang="zh-CN" sz="3200" b="1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kumimoji="1" lang="en-US" altLang="zh-CN" sz="3200" b="1" i="1" dirty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zh-CN" sz="3200" b="1" i="1" dirty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𝑨</m:t>
                            </m:r>
                          </m:e>
                          <m:sub>
                            <m:r>
                              <a:rPr kumimoji="1" lang="en-US" altLang="zh-CN" sz="3200" b="1" i="1" dirty="0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𝟐</m:t>
                            </m:r>
                          </m:sub>
                        </m:sSub>
                      </m:e>
                    </m:d>
                    <m:r>
                      <a:rPr lang="en-US" altLang="zh-CN" sz="3200" b="1" i="1">
                        <a:latin typeface="Cambria Math" panose="02040503050406030204" pitchFamily="18" charset="0"/>
                      </a:rPr>
                      <m:t>𝑷</m:t>
                    </m:r>
                    <m:d>
                      <m:dPr>
                        <m:ctrlPr>
                          <a:rPr lang="en-US" altLang="zh-CN" sz="3200" b="1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3200" b="1" i="1">
                            <a:latin typeface="Cambria Math" panose="02040503050406030204" pitchFamily="18" charset="0"/>
                          </a:rPr>
                          <m:t>𝑩</m:t>
                        </m:r>
                      </m:e>
                      <m:e>
                        <m:sSub>
                          <m:sSubPr>
                            <m:ctrlPr>
                              <a:rPr kumimoji="1" lang="en-US" altLang="zh-CN" sz="3200" b="1" i="1" dirty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zh-CN" sz="3200" b="1" i="1" dirty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𝑨</m:t>
                            </m:r>
                          </m:e>
                          <m:sub>
                            <m:r>
                              <a:rPr kumimoji="1" lang="en-US" altLang="zh-CN" sz="3200" b="1" i="1" dirty="0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𝟐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altLang="zh-CN" sz="3200" b="1" dirty="0" smtClean="0"/>
                  <a:t>+</a:t>
                </a:r>
                <a:r>
                  <a:rPr lang="en-US" altLang="zh-CN" sz="3200" b="1" dirty="0"/>
                  <a:t> </a:t>
                </a:r>
                <a14:m>
                  <m:oMath xmlns:m="http://schemas.openxmlformats.org/officeDocument/2006/math">
                    <m:r>
                      <a:rPr lang="en-US" altLang="zh-CN" sz="3200" b="1" i="1">
                        <a:latin typeface="Cambria Math" panose="02040503050406030204" pitchFamily="18" charset="0"/>
                      </a:rPr>
                      <m:t>⋯</m:t>
                    </m:r>
                  </m:oMath>
                </a14:m>
                <a:r>
                  <a:rPr lang="en-US" altLang="zh-CN" sz="3200" b="1" dirty="0" smtClean="0"/>
                  <a:t>+</a:t>
                </a:r>
                <a14:m>
                  <m:oMath xmlns:m="http://schemas.openxmlformats.org/officeDocument/2006/math">
                    <m:r>
                      <a:rPr lang="en-US" altLang="zh-CN" sz="3200" b="1" i="1" smtClean="0">
                        <a:latin typeface="Cambria Math" panose="02040503050406030204" pitchFamily="18" charset="0"/>
                      </a:rPr>
                      <m:t>𝑷</m:t>
                    </m:r>
                    <m:d>
                      <m:dPr>
                        <m:ctrlPr>
                          <a:rPr lang="en-US" altLang="zh-CN" sz="3200" b="1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kumimoji="1" lang="en-US" altLang="zh-CN" sz="3200" b="1" i="1" dirty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zh-CN" sz="3200" b="1" i="1" dirty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𝑨</m:t>
                            </m:r>
                          </m:e>
                          <m:sub>
                            <m:r>
                              <a:rPr kumimoji="1" lang="en-US" altLang="zh-CN" sz="3200" b="1" i="1" dirty="0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𝒏</m:t>
                            </m:r>
                          </m:sub>
                        </m:sSub>
                      </m:e>
                    </m:d>
                    <m:r>
                      <a:rPr lang="en-US" altLang="zh-CN" sz="3200" b="1" i="1">
                        <a:latin typeface="Cambria Math" panose="02040503050406030204" pitchFamily="18" charset="0"/>
                      </a:rPr>
                      <m:t>𝑷</m:t>
                    </m:r>
                    <m:d>
                      <m:dPr>
                        <m:ctrlPr>
                          <a:rPr lang="en-US" altLang="zh-CN" sz="3200" b="1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3200" b="1" i="1">
                            <a:latin typeface="Cambria Math" panose="02040503050406030204" pitchFamily="18" charset="0"/>
                          </a:rPr>
                          <m:t>𝑩</m:t>
                        </m:r>
                      </m:e>
                      <m:e>
                        <m:sSub>
                          <m:sSubPr>
                            <m:ctrlPr>
                              <a:rPr kumimoji="1" lang="en-US" altLang="zh-CN" sz="3200" b="1" i="1" dirty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zh-CN" sz="3200" b="1" i="1" dirty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𝑨</m:t>
                            </m:r>
                          </m:e>
                          <m:sub>
                            <m:r>
                              <a:rPr kumimoji="1" lang="en-US" altLang="zh-CN" sz="3200" b="1" i="1" dirty="0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𝒏</m:t>
                            </m:r>
                          </m:sub>
                        </m:sSub>
                      </m:e>
                    </m:d>
                  </m:oMath>
                </a14:m>
                <a:endParaRPr lang="zh-CN" altLang="en-US" sz="3200" b="1" dirty="0"/>
              </a:p>
            </p:txBody>
          </p:sp>
        </mc:Choice>
        <mc:Fallback>
          <p:sp>
            <p:nvSpPr>
              <p:cNvPr id="9" name="矩形 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4770" y="3893767"/>
                <a:ext cx="10558018" cy="584775"/>
              </a:xfrm>
              <a:prstGeom prst="rect">
                <a:avLst/>
              </a:prstGeom>
              <a:blipFill rotWithShape="1">
                <a:blip r:embed="rId3"/>
                <a:stretch>
                  <a:fillRect l="-1" t="-100" r="6" b="8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0" name="矩形 9"/>
              <p:cNvSpPr/>
              <p:nvPr/>
            </p:nvSpPr>
            <p:spPr>
              <a:xfrm>
                <a:off x="4861393" y="5097896"/>
                <a:ext cx="2794291" cy="58477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3200" b="1" i="1">
                          <a:latin typeface="Cambria Math" panose="02040503050406030204" pitchFamily="18" charset="0"/>
                        </a:rPr>
                        <m:t>𝒊</m:t>
                      </m:r>
                      <m:r>
                        <a:rPr lang="en-US" altLang="zh-CN" sz="3200" b="1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sz="3200" b="1" i="1">
                          <a:latin typeface="Cambria Math" panose="02040503050406030204" pitchFamily="18" charset="0"/>
                        </a:rPr>
                        <m:t>𝟏</m:t>
                      </m:r>
                      <m:r>
                        <a:rPr lang="en-US" altLang="zh-CN" sz="3200" b="1" i="1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altLang="zh-CN" sz="3200" b="1" i="1">
                          <a:latin typeface="Cambria Math" panose="02040503050406030204" pitchFamily="18" charset="0"/>
                        </a:rPr>
                        <m:t>𝟐</m:t>
                      </m:r>
                      <m:r>
                        <a:rPr lang="en-US" altLang="zh-CN" sz="3200" b="1" i="1">
                          <a:latin typeface="Cambria Math" panose="02040503050406030204" pitchFamily="18" charset="0"/>
                        </a:rPr>
                        <m:t>,⋯,</m:t>
                      </m:r>
                      <m:r>
                        <a:rPr lang="en-US" altLang="zh-CN" sz="3200" b="1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𝒏</m:t>
                      </m:r>
                      <m:r>
                        <a:rPr lang="en-US" altLang="zh-CN" sz="3200" b="1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.</m:t>
                      </m:r>
                      <m:r>
                        <a:rPr lang="en-US" altLang="zh-CN" sz="3200" b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zh-CN" altLang="en-US" sz="3200" dirty="0"/>
              </a:p>
            </p:txBody>
          </p:sp>
        </mc:Choice>
        <mc:Fallback>
          <p:sp>
            <p:nvSpPr>
              <p:cNvPr id="10" name="矩形 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61393" y="5097896"/>
                <a:ext cx="2794291" cy="584775"/>
              </a:xfrm>
              <a:prstGeom prst="rect">
                <a:avLst/>
              </a:prstGeom>
              <a:blipFill rotWithShape="1">
                <a:blip r:embed="rId4"/>
                <a:stretch>
                  <a:fillRect l="-17" t="-20" r="4" b="1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5" grpId="0"/>
      <p:bldP spid="8" grpId="0"/>
      <p:bldP spid="9" grpId="0"/>
      <p:bldP spid="10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8098971" y="705394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zh-CN" altLang="en-US" dirty="0"/>
          </a:p>
        </p:txBody>
      </p:sp>
      <p:sp>
        <p:nvSpPr>
          <p:cNvPr id="5" name="Rectangle 2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6" name="对象 5"/>
          <p:cNvGraphicFramePr>
            <a:graphicFrameLocks noChangeAspect="1"/>
          </p:cNvGraphicFramePr>
          <p:nvPr/>
        </p:nvGraphicFramePr>
        <p:xfrm>
          <a:off x="339638" y="820163"/>
          <a:ext cx="11538857" cy="191991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57" name="" r:id="rId1" imgW="5663565" imgH="939800" progId="Equation.3">
                  <p:embed/>
                </p:oleObj>
              </mc:Choice>
              <mc:Fallback>
                <p:oleObj name="" r:id="rId1" imgW="5663565" imgH="939800" progId="Equation.3">
                  <p:embed/>
                  <p:pic>
                    <p:nvPicPr>
                      <p:cNvPr id="0" name="对象 2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9638" y="820163"/>
                        <a:ext cx="11538857" cy="1919911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Rectangle 3"/>
          <p:cNvSpPr>
            <a:spLocks noChangeArrowheads="1"/>
          </p:cNvSpPr>
          <p:nvPr/>
        </p:nvSpPr>
        <p:spPr bwMode="auto">
          <a:xfrm>
            <a:off x="0" y="942975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sp>
        <p:nvSpPr>
          <p:cNvPr id="8" name="Rectangle 5"/>
          <p:cNvSpPr>
            <a:spLocks noChangeArrowheads="1"/>
          </p:cNvSpPr>
          <p:nvPr/>
        </p:nvSpPr>
        <p:spPr bwMode="auto">
          <a:xfrm>
            <a:off x="1219200" y="3257006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pic>
        <p:nvPicPr>
          <p:cNvPr id="15" name="图片 1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84585" y="2864997"/>
            <a:ext cx="8036614" cy="630533"/>
          </a:xfrm>
          <a:prstGeom prst="rect">
            <a:avLst/>
          </a:prstGeom>
        </p:spPr>
      </p:pic>
      <p:pic>
        <p:nvPicPr>
          <p:cNvPr id="16" name="图片 1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21199" y="2866873"/>
            <a:ext cx="1592361" cy="651906"/>
          </a:xfrm>
          <a:prstGeom prst="rect">
            <a:avLst/>
          </a:prstGeom>
        </p:spPr>
      </p:pic>
      <p:pic>
        <p:nvPicPr>
          <p:cNvPr id="18" name="图片 1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535503" y="4404102"/>
            <a:ext cx="7282223" cy="650002"/>
          </a:xfrm>
          <a:prstGeom prst="rect">
            <a:avLst/>
          </a:prstGeom>
        </p:spPr>
      </p:pic>
      <p:sp>
        <p:nvSpPr>
          <p:cNvPr id="20" name="文本框 19"/>
          <p:cNvSpPr txBox="1"/>
          <p:nvPr/>
        </p:nvSpPr>
        <p:spPr>
          <a:xfrm>
            <a:off x="858743" y="705394"/>
            <a:ext cx="1509702" cy="671509"/>
          </a:xfrm>
          <a:prstGeom prst="rect">
            <a:avLst/>
          </a:prstGeom>
          <a:solidFill>
            <a:srgbClr val="92D050"/>
          </a:solidFill>
        </p:spPr>
        <p:txBody>
          <a:bodyPr wrap="square" rtlCol="0">
            <a:spAutoFit/>
          </a:bodyPr>
          <a:lstStyle/>
          <a:p>
            <a:r>
              <a:rPr lang="zh-CN" altLang="en-US" sz="3600" dirty="0" smtClean="0">
                <a:solidFill>
                  <a:srgbClr val="FF0000"/>
                </a:solidFill>
              </a:rPr>
              <a:t>  例</a:t>
            </a:r>
            <a:endParaRPr lang="zh-CN" altLang="en-US" sz="3600" dirty="0">
              <a:solidFill>
                <a:srgbClr val="FF0000"/>
              </a:solidFill>
            </a:endParaRPr>
          </a:p>
        </p:txBody>
      </p:sp>
      <p:sp>
        <p:nvSpPr>
          <p:cNvPr id="13" name="文本框 6"/>
          <p:cNvSpPr txBox="1"/>
          <p:nvPr/>
        </p:nvSpPr>
        <p:spPr>
          <a:xfrm>
            <a:off x="700963" y="2921251"/>
            <a:ext cx="683622" cy="671509"/>
          </a:xfrm>
          <a:prstGeom prst="rect">
            <a:avLst/>
          </a:prstGeom>
          <a:solidFill>
            <a:srgbClr val="92D050"/>
          </a:solidFill>
        </p:spPr>
        <p:txBody>
          <a:bodyPr wrap="square" rtlCol="0">
            <a:spAutoFit/>
          </a:bodyPr>
          <a:lstStyle/>
          <a:p>
            <a:r>
              <a:rPr lang="zh-CN" altLang="en-US" sz="3600" dirty="0" smtClean="0">
                <a:solidFill>
                  <a:srgbClr val="FF0000"/>
                </a:solidFill>
              </a:rPr>
              <a:t>解</a:t>
            </a:r>
            <a:endParaRPr lang="zh-CN" altLang="en-US" sz="3600" dirty="0">
              <a:solidFill>
                <a:srgbClr val="FF0000"/>
              </a:solidFill>
            </a:endParaRPr>
          </a:p>
        </p:txBody>
      </p:sp>
      <p:sp>
        <p:nvSpPr>
          <p:cNvPr id="3" name="圆角矩形 2"/>
          <p:cNvSpPr/>
          <p:nvPr/>
        </p:nvSpPr>
        <p:spPr>
          <a:xfrm>
            <a:off x="1093508" y="3635642"/>
            <a:ext cx="9920051" cy="768460"/>
          </a:xfrm>
          <a:prstGeom prst="round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圆角矩形 3"/>
          <p:cNvSpPr/>
          <p:nvPr/>
        </p:nvSpPr>
        <p:spPr>
          <a:xfrm>
            <a:off x="1128902" y="5201557"/>
            <a:ext cx="5440514" cy="1114661"/>
          </a:xfrm>
          <a:prstGeom prst="round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1" name="矩形 20"/>
              <p:cNvSpPr/>
              <p:nvPr/>
            </p:nvSpPr>
            <p:spPr>
              <a:xfrm>
                <a:off x="1093508" y="3708211"/>
                <a:ext cx="10214976" cy="58477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altLang="zh-CN" sz="3200" b="1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sz="3200" b="1" i="1" smtClean="0">
                        <a:latin typeface="Cambria Math" panose="02040503050406030204" pitchFamily="18" charset="0"/>
                      </a:rPr>
                      <m:t>𝟏</m:t>
                    </m:r>
                    <m:r>
                      <a:rPr lang="en-US" altLang="zh-CN" sz="3200" b="1" i="1">
                        <a:latin typeface="Cambria Math" panose="02040503050406030204" pitchFamily="18" charset="0"/>
                      </a:rPr>
                      <m:t>) </m:t>
                    </m:r>
                    <m:r>
                      <a:rPr lang="en-US" altLang="zh-CN" sz="3200" b="1" i="1">
                        <a:latin typeface="Cambria Math" panose="02040503050406030204" pitchFamily="18" charset="0"/>
                      </a:rPr>
                      <m:t>𝑷</m:t>
                    </m:r>
                    <m:d>
                      <m:dPr>
                        <m:ctrlPr>
                          <a:rPr lang="en-US" altLang="zh-CN" sz="3200" b="1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kumimoji="1" lang="en-US" altLang="zh-CN" sz="3200" b="1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𝑩</m:t>
                        </m:r>
                      </m:e>
                    </m:d>
                  </m:oMath>
                </a14:m>
                <a:r>
                  <a:rPr lang="en-US" altLang="zh-CN" sz="3200" b="1" dirty="0" smtClean="0"/>
                  <a:t>=</a:t>
                </a:r>
                <a14:m>
                  <m:oMath xmlns:m="http://schemas.openxmlformats.org/officeDocument/2006/math">
                    <m:r>
                      <a:rPr lang="en-US" altLang="zh-CN" sz="3200" b="1" i="1">
                        <a:latin typeface="Cambria Math" panose="02040503050406030204" pitchFamily="18" charset="0"/>
                      </a:rPr>
                      <m:t>𝑷</m:t>
                    </m:r>
                    <m:d>
                      <m:dPr>
                        <m:ctrlPr>
                          <a:rPr lang="en-US" altLang="zh-CN" sz="3200" b="1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kumimoji="1" lang="en-US" altLang="zh-CN" sz="3200" b="1" i="1" dirty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zh-CN" sz="3200" b="1" i="1" dirty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𝑨</m:t>
                            </m:r>
                          </m:e>
                          <m:sub>
                            <m:r>
                              <a:rPr kumimoji="1" lang="en-US" altLang="zh-CN" sz="3200" b="1" i="1" dirty="0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𝟏</m:t>
                            </m:r>
                          </m:sub>
                        </m:sSub>
                      </m:e>
                    </m:d>
                    <m:r>
                      <a:rPr lang="en-US" altLang="zh-CN" sz="3200" b="1" i="1">
                        <a:latin typeface="Cambria Math" panose="02040503050406030204" pitchFamily="18" charset="0"/>
                      </a:rPr>
                      <m:t>𝑷</m:t>
                    </m:r>
                    <m:d>
                      <m:dPr>
                        <m:ctrlPr>
                          <a:rPr lang="en-US" altLang="zh-CN" sz="3200" b="1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3200" b="1" i="1">
                            <a:latin typeface="Cambria Math" panose="02040503050406030204" pitchFamily="18" charset="0"/>
                          </a:rPr>
                          <m:t>𝑩</m:t>
                        </m:r>
                      </m:e>
                      <m:e>
                        <m:sSub>
                          <m:sSubPr>
                            <m:ctrlPr>
                              <a:rPr kumimoji="1" lang="en-US" altLang="zh-CN" sz="3200" b="1" i="1" dirty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zh-CN" sz="3200" b="1" i="1" dirty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𝑨</m:t>
                            </m:r>
                          </m:e>
                          <m:sub>
                            <m:r>
                              <a:rPr kumimoji="1" lang="en-US" altLang="zh-CN" sz="3200" b="1" i="1" dirty="0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𝟏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altLang="zh-CN" sz="3200" b="1" dirty="0" smtClean="0"/>
                  <a:t>+</a:t>
                </a:r>
                <a14:m>
                  <m:oMath xmlns:m="http://schemas.openxmlformats.org/officeDocument/2006/math">
                    <m:r>
                      <a:rPr lang="en-US" altLang="zh-CN" sz="3200" b="1" i="1">
                        <a:latin typeface="Cambria Math" panose="02040503050406030204" pitchFamily="18" charset="0"/>
                      </a:rPr>
                      <m:t>𝑷</m:t>
                    </m:r>
                    <m:d>
                      <m:dPr>
                        <m:ctrlPr>
                          <a:rPr lang="en-US" altLang="zh-CN" sz="3200" b="1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kumimoji="1" lang="en-US" altLang="zh-CN" sz="3200" b="1" i="1" dirty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zh-CN" sz="3200" b="1" i="1" dirty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𝑨</m:t>
                            </m:r>
                          </m:e>
                          <m:sub>
                            <m:r>
                              <a:rPr kumimoji="1" lang="en-US" altLang="zh-CN" sz="3200" b="1" i="1" dirty="0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𝟐</m:t>
                            </m:r>
                          </m:sub>
                        </m:sSub>
                      </m:e>
                    </m:d>
                    <m:r>
                      <a:rPr lang="en-US" altLang="zh-CN" sz="3200" b="1" i="1">
                        <a:latin typeface="Cambria Math" panose="02040503050406030204" pitchFamily="18" charset="0"/>
                      </a:rPr>
                      <m:t>𝑷</m:t>
                    </m:r>
                    <m:d>
                      <m:dPr>
                        <m:ctrlPr>
                          <a:rPr lang="en-US" altLang="zh-CN" sz="3200" b="1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3200" b="1" i="1">
                            <a:latin typeface="Cambria Math" panose="02040503050406030204" pitchFamily="18" charset="0"/>
                          </a:rPr>
                          <m:t>𝑩</m:t>
                        </m:r>
                      </m:e>
                      <m:e>
                        <m:sSub>
                          <m:sSubPr>
                            <m:ctrlPr>
                              <a:rPr kumimoji="1" lang="en-US" altLang="zh-CN" sz="3200" b="1" i="1" dirty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zh-CN" sz="3200" b="1" i="1" dirty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𝑨</m:t>
                            </m:r>
                          </m:e>
                          <m:sub>
                            <m:r>
                              <a:rPr kumimoji="1" lang="en-US" altLang="zh-CN" sz="3200" b="1" i="1" dirty="0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𝟐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altLang="zh-CN" sz="3200" b="1" dirty="0" smtClean="0"/>
                  <a:t>+</a:t>
                </a:r>
                <a14:m>
                  <m:oMath xmlns:m="http://schemas.openxmlformats.org/officeDocument/2006/math">
                    <m:r>
                      <a:rPr lang="en-US" altLang="zh-CN" sz="3200" b="1" i="1" smtClean="0">
                        <a:latin typeface="Cambria Math" panose="02040503050406030204" pitchFamily="18" charset="0"/>
                      </a:rPr>
                      <m:t>𝑷</m:t>
                    </m:r>
                    <m:d>
                      <m:dPr>
                        <m:ctrlPr>
                          <a:rPr lang="en-US" altLang="zh-CN" sz="3200" b="1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kumimoji="1" lang="en-US" altLang="zh-CN" sz="3200" b="1" i="1" dirty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zh-CN" sz="3200" b="1" i="1" dirty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𝑨</m:t>
                            </m:r>
                          </m:e>
                          <m:sub>
                            <m:r>
                              <a:rPr kumimoji="1" lang="en-US" altLang="zh-CN" sz="3200" b="1" i="1" dirty="0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𝟑</m:t>
                            </m:r>
                          </m:sub>
                        </m:sSub>
                      </m:e>
                    </m:d>
                    <m:r>
                      <a:rPr lang="en-US" altLang="zh-CN" sz="3200" b="1" i="1">
                        <a:latin typeface="Cambria Math" panose="02040503050406030204" pitchFamily="18" charset="0"/>
                      </a:rPr>
                      <m:t>𝑷</m:t>
                    </m:r>
                    <m:d>
                      <m:dPr>
                        <m:ctrlPr>
                          <a:rPr lang="en-US" altLang="zh-CN" sz="3200" b="1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3200" b="1" i="1">
                            <a:latin typeface="Cambria Math" panose="02040503050406030204" pitchFamily="18" charset="0"/>
                          </a:rPr>
                          <m:t>𝑩</m:t>
                        </m:r>
                      </m:e>
                      <m:e>
                        <m:sSub>
                          <m:sSubPr>
                            <m:ctrlPr>
                              <a:rPr kumimoji="1" lang="en-US" altLang="zh-CN" sz="3200" b="1" i="1" dirty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zh-CN" sz="3200" b="1" i="1" dirty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𝑨</m:t>
                            </m:r>
                          </m:e>
                          <m:sub>
                            <m:r>
                              <a:rPr kumimoji="1" lang="en-US" altLang="zh-CN" sz="3200" b="1" i="1" dirty="0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𝟑</m:t>
                            </m:r>
                          </m:sub>
                        </m:sSub>
                      </m:e>
                    </m:d>
                  </m:oMath>
                </a14:m>
                <a:endParaRPr lang="zh-CN" altLang="en-US" sz="3200" b="1" dirty="0"/>
              </a:p>
            </p:txBody>
          </p:sp>
        </mc:Choice>
        <mc:Fallback>
          <p:sp>
            <p:nvSpPr>
              <p:cNvPr id="21" name="矩形 2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93508" y="3708211"/>
                <a:ext cx="10214976" cy="584775"/>
              </a:xfrm>
              <a:prstGeom prst="rect">
                <a:avLst/>
              </a:prstGeom>
              <a:blipFill rotWithShape="1">
                <a:blip r:embed="rId6"/>
                <a:stretch>
                  <a:fillRect t="-76" r="4" b="6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2" name="文本框 21"/>
              <p:cNvSpPr txBox="1"/>
              <p:nvPr/>
            </p:nvSpPr>
            <p:spPr>
              <a:xfrm>
                <a:off x="1219200" y="5198540"/>
                <a:ext cx="5430124" cy="111767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3200" b="1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altLang="zh-CN" sz="3200" b="1" i="1" smtClean="0">
                          <a:latin typeface="Cambria Math" panose="02040503050406030204" pitchFamily="18" charset="0"/>
                        </a:rPr>
                        <m:t>𝟐</m:t>
                      </m:r>
                      <m:r>
                        <a:rPr lang="en-US" altLang="zh-CN" sz="3200" b="1" i="1" smtClean="0">
                          <a:latin typeface="Cambria Math" panose="02040503050406030204" pitchFamily="18" charset="0"/>
                        </a:rPr>
                        <m:t>)</m:t>
                      </m:r>
                      <m:r>
                        <a:rPr lang="en-US" altLang="zh-CN" sz="3200" b="1" i="1" smtClean="0">
                          <a:latin typeface="Cambria Math" panose="02040503050406030204" pitchFamily="18" charset="0"/>
                        </a:rPr>
                        <m:t>𝑷</m:t>
                      </m:r>
                      <m:d>
                        <m:dPr>
                          <m:ctrlPr>
                            <a:rPr lang="en-US" altLang="zh-CN" sz="3200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kumimoji="1" lang="en-US" altLang="zh-CN" sz="3200" b="1" i="1" dirty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kumimoji="1" lang="en-US" altLang="zh-CN" sz="3200" b="1" i="1" dirty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𝑨</m:t>
                              </m:r>
                            </m:e>
                            <m:sub>
                              <m:r>
                                <a:rPr kumimoji="1" lang="en-US" altLang="zh-CN" sz="3200" b="1" i="1" dirty="0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sub>
                          </m:sSub>
                        </m:e>
                        <m:e>
                          <m:r>
                            <a:rPr lang="en-US" altLang="zh-CN" sz="3200" b="1" i="1" smtClean="0">
                              <a:latin typeface="Cambria Math" panose="02040503050406030204" pitchFamily="18" charset="0"/>
                            </a:rPr>
                            <m:t>𝑩</m:t>
                          </m:r>
                        </m:e>
                      </m:d>
                      <m:r>
                        <a:rPr lang="en-US" altLang="zh-CN" sz="3200" b="1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CN" sz="3200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sz="3200" b="1" i="1" smtClean="0">
                              <a:latin typeface="Cambria Math" panose="02040503050406030204" pitchFamily="18" charset="0"/>
                            </a:rPr>
                            <m:t>𝑷</m:t>
                          </m:r>
                          <m:d>
                            <m:dPr>
                              <m:ctrlPr>
                                <a:rPr lang="en-US" altLang="zh-CN" sz="3200" b="1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kumimoji="1" lang="en-US" altLang="zh-CN" sz="3200" b="1" i="1" dirty="0" smtClean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kumimoji="1" lang="en-US" altLang="zh-CN" sz="3200" b="1" i="1" dirty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𝑨</m:t>
                                  </m:r>
                                </m:e>
                                <m:sub>
                                  <m:r>
                                    <a:rPr kumimoji="1" lang="en-US" altLang="zh-CN" sz="3200" b="1" i="1" dirty="0" smtClean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𝟏</m:t>
                                  </m:r>
                                </m:sub>
                              </m:sSub>
                            </m:e>
                          </m:d>
                          <m:r>
                            <a:rPr lang="en-US" altLang="zh-CN" sz="3200" b="1" i="1" smtClean="0">
                              <a:latin typeface="Cambria Math" panose="02040503050406030204" pitchFamily="18" charset="0"/>
                            </a:rPr>
                            <m:t>𝑷</m:t>
                          </m:r>
                          <m:d>
                            <m:dPr>
                              <m:ctrlPr>
                                <a:rPr lang="en-US" altLang="zh-CN" sz="3200" b="1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sz="3200" b="1" i="1" smtClean="0">
                                  <a:latin typeface="Cambria Math" panose="02040503050406030204" pitchFamily="18" charset="0"/>
                                </a:rPr>
                                <m:t>𝑩</m:t>
                              </m:r>
                            </m:e>
                            <m:e>
                              <m:sSub>
                                <m:sSubPr>
                                  <m:ctrlPr>
                                    <a:rPr kumimoji="1" lang="en-US" altLang="zh-CN" sz="3200" b="1" i="1" dirty="0" smtClean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kumimoji="1" lang="en-US" altLang="zh-CN" sz="3200" b="1" i="1" dirty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𝑨</m:t>
                                  </m:r>
                                </m:e>
                                <m:sub>
                                  <m:r>
                                    <a:rPr kumimoji="1" lang="en-US" altLang="zh-CN" sz="3200" b="1" i="1" dirty="0" smtClean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𝟏</m:t>
                                  </m:r>
                                </m:sub>
                              </m:sSub>
                            </m:e>
                          </m:d>
                        </m:num>
                        <m:den>
                          <m:r>
                            <a:rPr lang="en-US" altLang="zh-CN" sz="3200" b="1" i="1" smtClean="0">
                              <a:latin typeface="Cambria Math" panose="02040503050406030204" pitchFamily="18" charset="0"/>
                            </a:rPr>
                            <m:t>𝑷</m:t>
                          </m:r>
                          <m:d>
                            <m:dPr>
                              <m:ctrlPr>
                                <a:rPr lang="en-US" altLang="zh-CN" sz="3200" b="1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kumimoji="1" lang="en-US" altLang="zh-CN" sz="3200" b="1" i="1" dirty="0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𝑩</m:t>
                              </m:r>
                            </m:e>
                          </m:d>
                        </m:den>
                      </m:f>
                    </m:oMath>
                  </m:oMathPara>
                </a14:m>
                <a:endParaRPr lang="zh-CN" altLang="en-US" sz="3200" b="1" dirty="0"/>
              </a:p>
            </p:txBody>
          </p:sp>
        </mc:Choice>
        <mc:Fallback>
          <p:sp>
            <p:nvSpPr>
              <p:cNvPr id="22" name="文本框 2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19200" y="5198540"/>
                <a:ext cx="5430124" cy="1117678"/>
              </a:xfrm>
              <a:prstGeom prst="rect">
                <a:avLst/>
              </a:prstGeom>
              <a:blipFill rotWithShape="1">
                <a:blip r:embed="rId7"/>
                <a:stretch>
                  <a:fillRect t="-38" r="4" b="4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9" name="图片 8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595543" y="5128807"/>
            <a:ext cx="3428571" cy="1257143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animBg="1"/>
      <p:bldP spid="13" grpId="0" animBg="1"/>
      <p:bldP spid="3" grpId="0" animBg="1"/>
      <p:bldP spid="4" grpId="0" animBg="1"/>
      <p:bldP spid="21" grpId="0"/>
      <p:bldP spid="22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图片 18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84704" y="3467558"/>
            <a:ext cx="6586930" cy="2743143"/>
          </a:xfrm>
          <a:prstGeom prst="rect">
            <a:avLst/>
          </a:prstGeom>
        </p:spPr>
      </p:pic>
      <p:sp>
        <p:nvSpPr>
          <p:cNvPr id="3" name="Rectangle 2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sp>
        <p:nvSpPr>
          <p:cNvPr id="6" name="Rectangle 3"/>
          <p:cNvSpPr>
            <a:spLocks noChangeArrowheads="1"/>
          </p:cNvSpPr>
          <p:nvPr/>
        </p:nvSpPr>
        <p:spPr bwMode="auto">
          <a:xfrm>
            <a:off x="0" y="118110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sp>
        <p:nvSpPr>
          <p:cNvPr id="8" name="Rectangle 5"/>
          <p:cNvSpPr>
            <a:spLocks noChangeArrowheads="1"/>
          </p:cNvSpPr>
          <p:nvPr/>
        </p:nvSpPr>
        <p:spPr bwMode="auto">
          <a:xfrm>
            <a:off x="2177143" y="3753394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sp>
        <p:nvSpPr>
          <p:cNvPr id="13" name="Rectangle 12"/>
          <p:cNvSpPr>
            <a:spLocks noChangeArrowheads="1"/>
          </p:cNvSpPr>
          <p:nvPr/>
        </p:nvSpPr>
        <p:spPr bwMode="auto">
          <a:xfrm>
            <a:off x="152400" y="15240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14" name="对象 13"/>
          <p:cNvGraphicFramePr>
            <a:graphicFrameLocks noChangeAspect="1"/>
          </p:cNvGraphicFramePr>
          <p:nvPr/>
        </p:nvGraphicFramePr>
        <p:xfrm>
          <a:off x="561915" y="534769"/>
          <a:ext cx="11068169" cy="248183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86" name="" r:id="rId2" imgW="5270500" imgH="1181100" progId="Equation.3">
                  <p:embed/>
                </p:oleObj>
              </mc:Choice>
              <mc:Fallback>
                <p:oleObj name="" r:id="rId2" imgW="5270500" imgH="1181100" progId="Equation.3">
                  <p:embed/>
                  <p:pic>
                    <p:nvPicPr>
                      <p:cNvPr id="0" name="对象 2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61915" y="534769"/>
                        <a:ext cx="11068169" cy="2481832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" name="Rectangle 13"/>
          <p:cNvSpPr>
            <a:spLocks noChangeArrowheads="1"/>
          </p:cNvSpPr>
          <p:nvPr/>
        </p:nvSpPr>
        <p:spPr bwMode="auto">
          <a:xfrm>
            <a:off x="152400" y="133350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pic>
        <p:nvPicPr>
          <p:cNvPr id="16" name="图片 1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9138" y="3101723"/>
            <a:ext cx="6984005" cy="576804"/>
          </a:xfrm>
          <a:prstGeom prst="rect">
            <a:avLst/>
          </a:prstGeom>
        </p:spPr>
      </p:pic>
      <p:pic>
        <p:nvPicPr>
          <p:cNvPr id="18" name="图片 1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73143" y="3131804"/>
            <a:ext cx="3269283" cy="471530"/>
          </a:xfrm>
          <a:prstGeom prst="rect">
            <a:avLst/>
          </a:prstGeom>
        </p:spPr>
      </p:pic>
      <p:sp>
        <p:nvSpPr>
          <p:cNvPr id="17" name="文本框 6"/>
          <p:cNvSpPr txBox="1"/>
          <p:nvPr/>
        </p:nvSpPr>
        <p:spPr>
          <a:xfrm>
            <a:off x="624159" y="3131804"/>
            <a:ext cx="683622" cy="671509"/>
          </a:xfrm>
          <a:prstGeom prst="rect">
            <a:avLst/>
          </a:prstGeom>
          <a:solidFill>
            <a:srgbClr val="92D050"/>
          </a:solidFill>
        </p:spPr>
        <p:txBody>
          <a:bodyPr wrap="square" rtlCol="0">
            <a:spAutoFit/>
          </a:bodyPr>
          <a:lstStyle/>
          <a:p>
            <a:r>
              <a:rPr lang="zh-CN" altLang="en-US" sz="3600" dirty="0" smtClean="0">
                <a:solidFill>
                  <a:srgbClr val="FF0000"/>
                </a:solidFill>
              </a:rPr>
              <a:t>解</a:t>
            </a:r>
            <a:endParaRPr lang="zh-CN" altLang="en-US" sz="3600" dirty="0">
              <a:solidFill>
                <a:srgbClr val="FF0000"/>
              </a:solidFill>
            </a:endParaRPr>
          </a:p>
        </p:txBody>
      </p:sp>
      <p:sp>
        <p:nvSpPr>
          <p:cNvPr id="20" name="文本框 16"/>
          <p:cNvSpPr txBox="1"/>
          <p:nvPr/>
        </p:nvSpPr>
        <p:spPr>
          <a:xfrm>
            <a:off x="639132" y="384867"/>
            <a:ext cx="2043108" cy="646331"/>
          </a:xfrm>
          <a:prstGeom prst="rect">
            <a:avLst/>
          </a:prstGeom>
          <a:solidFill>
            <a:srgbClr val="92D050"/>
          </a:solidFill>
        </p:spPr>
        <p:txBody>
          <a:bodyPr wrap="square" rtlCol="0">
            <a:spAutoFit/>
          </a:bodyPr>
          <a:lstStyle/>
          <a:p>
            <a:r>
              <a:rPr lang="en-US" altLang="zh-CN" sz="3600" dirty="0">
                <a:solidFill>
                  <a:srgbClr val="FF0000"/>
                </a:solidFill>
              </a:rPr>
              <a:t> </a:t>
            </a:r>
            <a:r>
              <a:rPr lang="en-US" altLang="zh-CN" sz="3600" dirty="0" smtClean="0">
                <a:solidFill>
                  <a:srgbClr val="FF0000"/>
                </a:solidFill>
              </a:rPr>
              <a:t>    </a:t>
            </a:r>
            <a:r>
              <a:rPr lang="zh-CN" altLang="en-US" sz="3600" dirty="0" smtClean="0">
                <a:solidFill>
                  <a:srgbClr val="FF0000"/>
                </a:solidFill>
              </a:rPr>
              <a:t>练习</a:t>
            </a:r>
            <a:endParaRPr lang="zh-CN" altLang="en-US" sz="3600" dirty="0">
              <a:solidFill>
                <a:srgbClr val="FF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  <p:bldP spid="20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46935" y="3708400"/>
            <a:ext cx="4552950" cy="1092835"/>
          </a:xfrm>
          <a:prstGeom prst="rect">
            <a:avLst/>
          </a:prstGeom>
        </p:spPr>
      </p:pic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40155" y="200025"/>
            <a:ext cx="9099550" cy="2702560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5" name="文本框 4"/>
              <p:cNvSpPr txBox="1"/>
              <p:nvPr/>
            </p:nvSpPr>
            <p:spPr>
              <a:xfrm flipH="1">
                <a:off x="1470452" y="2866022"/>
                <a:ext cx="9885891" cy="95504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2800" b="1" dirty="0" smtClean="0">
                    <a:solidFill>
                      <a:srgbClr val="002060"/>
                    </a:solidFill>
                  </a:rPr>
                  <a:t>解：设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8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8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𝑨</m:t>
                        </m:r>
                      </m:e>
                      <m:sub>
                        <m:r>
                          <a:rPr lang="en-US" altLang="zh-CN" sz="28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𝒊</m:t>
                        </m:r>
                      </m:sub>
                    </m:sSub>
                    <m:r>
                      <a:rPr lang="zh-CN" altLang="en-US" sz="2800" b="1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表示</m:t>
                    </m:r>
                    <m:r>
                      <a:rPr lang="zh-CN" altLang="en-US" sz="28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产品</m:t>
                    </m:r>
                    <m:r>
                      <a:rPr lang="zh-CN" altLang="en-US" sz="2800" b="1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由</m:t>
                    </m:r>
                    <m:r>
                      <a:rPr lang="zh-CN" altLang="en-US" sz="28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第</m:t>
                    </m:r>
                    <m:r>
                      <a:rPr lang="en-US" altLang="zh-CN" sz="28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𝒊</m:t>
                    </m:r>
                    <m:r>
                      <a:rPr lang="zh-CN" altLang="en-US" sz="2800" b="1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车间</m:t>
                    </m:r>
                    <m:r>
                      <a:rPr lang="zh-CN" altLang="en-US" sz="28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生产</m:t>
                    </m:r>
                    <m:r>
                      <a:rPr lang="zh-CN" altLang="en-US" sz="2800" b="1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，</m:t>
                    </m:r>
                    <m:r>
                      <a:rPr lang="en-US" altLang="zh-CN" sz="28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𝒊</m:t>
                    </m:r>
                    <m:r>
                      <a:rPr lang="en-US" altLang="zh-CN" sz="28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sz="28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𝟏</m:t>
                    </m:r>
                    <m:r>
                      <a:rPr lang="en-US" altLang="zh-CN" sz="28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zh-CN" sz="28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𝟐</m:t>
                    </m:r>
                    <m:r>
                      <a:rPr lang="en-US" altLang="zh-CN" sz="28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zh-CN" sz="28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𝟑</m:t>
                    </m:r>
                    <m:r>
                      <a:rPr lang="zh-CN" altLang="en-US" sz="2800" b="1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。</m:t>
                    </m:r>
                  </m:oMath>
                </a14:m>
                <a:endParaRPr lang="en-US" altLang="zh-CN" sz="2800" b="1" i="1" dirty="0" smtClean="0">
                  <a:solidFill>
                    <a:srgbClr val="002060"/>
                  </a:solidFill>
                  <a:latin typeface="Cambria Math" panose="02040503050406030204" pitchFamily="18" charset="0"/>
                </a:endParaRPr>
              </a:p>
              <a:p>
                <a14:m>
                  <m:oMath xmlns:m="http://schemas.openxmlformats.org/officeDocument/2006/math">
                    <m:r>
                      <a:rPr lang="en-US" altLang="zh-CN" sz="28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𝑩</m:t>
                    </m:r>
                    <m:r>
                      <a:rPr lang="zh-CN" altLang="en-US" sz="2800" b="1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表示</m:t>
                    </m:r>
                    <m:r>
                      <a:rPr lang="zh-CN" altLang="en-US" sz="28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任取</m:t>
                    </m:r>
                    <m:r>
                      <a:rPr lang="zh-CN" altLang="en-US" sz="2800" b="1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一件</m:t>
                    </m:r>
                  </m:oMath>
                </a14:m>
                <a:r>
                  <a:rPr lang="zh-CN" altLang="en-US" sz="2800" b="1" dirty="0" smtClean="0">
                    <a:solidFill>
                      <a:srgbClr val="002060"/>
                    </a:solidFill>
                  </a:rPr>
                  <a:t>产品是次品，</a:t>
                </a:r>
                <a:r>
                  <a:rPr lang="zh-CN" altLang="en-US" sz="2800" b="1" dirty="0">
                    <a:solidFill>
                      <a:srgbClr val="002060"/>
                    </a:solidFill>
                  </a:rPr>
                  <a:t>则</a:t>
                </a:r>
                <a:endParaRPr lang="zh-CN" altLang="en-US" sz="2800" b="1" dirty="0">
                  <a:solidFill>
                    <a:srgbClr val="002060"/>
                  </a:solidFill>
                </a:endParaRPr>
              </a:p>
            </p:txBody>
          </p:sp>
        </mc:Choice>
        <mc:Fallback>
          <p:sp>
            <p:nvSpPr>
              <p:cNvPr id="5" name="文本框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1470452" y="2866022"/>
                <a:ext cx="9885891" cy="955040"/>
              </a:xfrm>
              <a:prstGeom prst="rect">
                <a:avLst/>
              </a:prstGeom>
              <a:blipFill rotWithShape="1">
                <a:blip r:embed="rId3"/>
                <a:stretch>
                  <a:fillRect l="-4" t="-28" b="2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7" name="图片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23360" y="4857750"/>
            <a:ext cx="6857365" cy="539750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461895" y="5420360"/>
            <a:ext cx="6536690" cy="1040765"/>
          </a:xfrm>
          <a:prstGeom prst="rect">
            <a:avLst/>
          </a:prstGeom>
        </p:spPr>
      </p:pic>
      <p:sp>
        <p:nvSpPr>
          <p:cNvPr id="9" name="文本框 8"/>
          <p:cNvSpPr txBox="1"/>
          <p:nvPr>
            <p:custDataLst>
              <p:tags r:id="rId6"/>
            </p:custDataLst>
          </p:nvPr>
        </p:nvSpPr>
        <p:spPr>
          <a:xfrm>
            <a:off x="196215" y="525145"/>
            <a:ext cx="4064000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3200" b="1">
                <a:gradFill>
                  <a:gsLst>
                    <a:gs pos="0">
                      <a:srgbClr val="007BD3"/>
                    </a:gs>
                    <a:gs pos="100000">
                      <a:srgbClr val="034373"/>
                    </a:gs>
                  </a:gsLst>
                  <a:lin scaled="0"/>
                </a:gradFill>
              </a:rPr>
              <a:t>练习</a:t>
            </a:r>
            <a:endParaRPr lang="zh-CN" altLang="en-US" sz="3200" b="1">
              <a:gradFill>
                <a:gsLst>
                  <a:gs pos="0">
                    <a:srgbClr val="007BD3"/>
                  </a:gs>
                  <a:gs pos="100000">
                    <a:srgbClr val="034373"/>
                  </a:gs>
                </a:gsLst>
                <a:lin scaled="0"/>
              </a:gra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1249135" y="921845"/>
            <a:ext cx="3954145" cy="82994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3200" b="1" dirty="0"/>
              <a:t>2.5</a:t>
            </a:r>
            <a:r>
              <a:rPr lang="zh-CN" altLang="zh-CN" sz="3200" b="1" dirty="0"/>
              <a:t>随机事件的独立性</a:t>
            </a:r>
            <a:endParaRPr lang="zh-CN" altLang="zh-CN" sz="3200" b="1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文本框 2"/>
              <p:cNvSpPr txBox="1"/>
              <p:nvPr/>
            </p:nvSpPr>
            <p:spPr>
              <a:xfrm>
                <a:off x="3583767" y="2829545"/>
                <a:ext cx="5463263" cy="430530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800" b="1" i="1" smtClean="0">
                          <a:latin typeface="Cambria Math" panose="02040503050406030204" pitchFamily="18" charset="0"/>
                        </a:rPr>
                        <m:t>𝑷</m:t>
                      </m:r>
                      <m:d>
                        <m:dPr>
                          <m:ctrlPr>
                            <a:rPr lang="en-US" altLang="zh-CN" sz="2800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800" b="1" i="1" smtClean="0">
                              <a:latin typeface="Cambria Math" panose="02040503050406030204" pitchFamily="18" charset="0"/>
                            </a:rPr>
                            <m:t>𝑨𝑩</m:t>
                          </m:r>
                        </m:e>
                      </m:d>
                      <m:r>
                        <a:rPr lang="en-US" altLang="zh-CN" sz="2800" b="1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sz="2800" b="1" i="1" smtClean="0">
                          <a:latin typeface="Cambria Math" panose="02040503050406030204" pitchFamily="18" charset="0"/>
                        </a:rPr>
                        <m:t>𝑷</m:t>
                      </m:r>
                      <m:d>
                        <m:dPr>
                          <m:ctrlPr>
                            <a:rPr lang="en-US" altLang="zh-CN" sz="2800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800" b="1" i="1" smtClean="0">
                              <a:latin typeface="Cambria Math" panose="02040503050406030204" pitchFamily="18" charset="0"/>
                            </a:rPr>
                            <m:t>𝑨</m:t>
                          </m:r>
                        </m:e>
                      </m:d>
                      <m:r>
                        <a:rPr lang="en-US" altLang="zh-CN" sz="2800" b="1" i="1" smtClean="0">
                          <a:latin typeface="Cambria Math" panose="02040503050406030204" pitchFamily="18" charset="0"/>
                        </a:rPr>
                        <m:t>𝑷</m:t>
                      </m:r>
                      <m:r>
                        <a:rPr lang="en-US" altLang="zh-CN" sz="2800" b="1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altLang="zh-CN" sz="2800" b="1" i="1" smtClean="0">
                          <a:latin typeface="Cambria Math" panose="02040503050406030204" pitchFamily="18" charset="0"/>
                        </a:rPr>
                        <m:t>𝑩</m:t>
                      </m:r>
                      <m:r>
                        <a:rPr lang="en-US" altLang="zh-CN" sz="2800" b="1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zh-CN" altLang="en-US" sz="2800" b="1" dirty="0"/>
              </a:p>
            </p:txBody>
          </p:sp>
        </mc:Choice>
        <mc:Fallback>
          <p:sp>
            <p:nvSpPr>
              <p:cNvPr id="3" name="文本框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83767" y="2829545"/>
                <a:ext cx="5463263" cy="430530"/>
              </a:xfrm>
              <a:prstGeom prst="rect">
                <a:avLst/>
              </a:prstGeom>
              <a:blipFill rotWithShape="1">
                <a:blip r:embed="rId1"/>
                <a:stretch>
                  <a:fillRect l="-8" t="-144" r="3" b="14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" name="矩形 4"/>
              <p:cNvSpPr/>
              <p:nvPr/>
            </p:nvSpPr>
            <p:spPr>
              <a:xfrm>
                <a:off x="1582130" y="2785701"/>
                <a:ext cx="2832339" cy="52197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800" b="1" i="1" smtClean="0">
                          <a:latin typeface="Cambria Math" panose="02040503050406030204" pitchFamily="18" charset="0"/>
                        </a:rPr>
                        <m:t>𝑨</m:t>
                      </m:r>
                      <m:r>
                        <a:rPr lang="zh-CN" altLang="en-US" sz="2800" b="1" i="1">
                          <a:latin typeface="Cambria Math" panose="02040503050406030204" pitchFamily="18" charset="0"/>
                        </a:rPr>
                        <m:t>、</m:t>
                      </m:r>
                      <m:r>
                        <a:rPr lang="en-US" altLang="zh-CN" sz="2800" b="1" i="1" smtClean="0">
                          <a:latin typeface="Cambria Math" panose="02040503050406030204" pitchFamily="18" charset="0"/>
                        </a:rPr>
                        <m:t>𝑩</m:t>
                      </m:r>
                      <m:r>
                        <a:rPr lang="en-US" altLang="zh-CN" sz="2800" b="1" i="1" smtClean="0">
                          <a:latin typeface="Cambria Math" panose="02040503050406030204"/>
                        </a:rPr>
                        <m:t>  </m:t>
                      </m:r>
                      <m:r>
                        <a:rPr lang="en-US" altLang="zh-CN" sz="2800" b="1" i="1">
                          <a:latin typeface="Cambria Math" panose="02040503050406030204"/>
                        </a:rPr>
                        <m:t>𝒊𝒅</m:t>
                      </m:r>
                    </m:oMath>
                  </m:oMathPara>
                </a14:m>
                <a:endParaRPr lang="zh-CN" altLang="en-US" sz="2800" b="1" dirty="0"/>
              </a:p>
            </p:txBody>
          </p:sp>
        </mc:Choice>
        <mc:Fallback>
          <p:sp>
            <p:nvSpPr>
              <p:cNvPr id="5" name="矩形 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82130" y="2785701"/>
                <a:ext cx="2832339" cy="521970"/>
              </a:xfrm>
              <a:prstGeom prst="rect">
                <a:avLst/>
              </a:prstGeom>
              <a:blipFill rotWithShape="1">
                <a:blip r:embed="rId2"/>
                <a:stretch>
                  <a:fillRect l="-12" t="-113" r="21" b="11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" name="文本框 5"/>
              <p:cNvSpPr txBox="1"/>
              <p:nvPr/>
            </p:nvSpPr>
            <p:spPr>
              <a:xfrm>
                <a:off x="3676668" y="2820049"/>
                <a:ext cx="941005" cy="430530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CN" altLang="en-US" sz="2800" b="1" i="1" smtClean="0">
                          <a:latin typeface="Cambria Math" panose="02040503050406030204" pitchFamily="18" charset="0"/>
                          <a:ea typeface="MS Mincho" charset="0"/>
                          <a:cs typeface="Cambria Math" panose="02040503050406030204" pitchFamily="18" charset="0"/>
                        </a:rPr>
                        <m:t>⇔</m:t>
                      </m:r>
                    </m:oMath>
                  </m:oMathPara>
                </a14:m>
                <a:endParaRPr lang="zh-CN" altLang="en-US" sz="2800" b="1" i="1" dirty="0" smtClean="0">
                  <a:latin typeface="Cambria Math" panose="02040503050406030204" pitchFamily="18" charset="0"/>
                  <a:ea typeface="MS Mincho" charset="0"/>
                  <a:cs typeface="Cambria Math" panose="02040503050406030204" pitchFamily="18" charset="0"/>
                </a:endParaRPr>
              </a:p>
            </p:txBody>
          </p:sp>
        </mc:Choice>
        <mc:Fallback>
          <p:sp>
            <p:nvSpPr>
              <p:cNvPr id="6" name="文本框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76668" y="2820049"/>
                <a:ext cx="941005" cy="430530"/>
              </a:xfrm>
              <a:prstGeom prst="rect">
                <a:avLst/>
              </a:prstGeom>
              <a:blipFill rotWithShape="1">
                <a:blip r:embed="rId3"/>
                <a:stretch>
                  <a:fillRect l="-2" t="-3" r="62" b="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" name="文本框 6"/>
              <p:cNvSpPr txBox="1"/>
              <p:nvPr/>
            </p:nvSpPr>
            <p:spPr>
              <a:xfrm>
                <a:off x="3718334" y="3455723"/>
                <a:ext cx="5193441" cy="411480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800" b="1" i="1" smtClean="0">
                          <a:latin typeface="Cambria Math" panose="02040503050406030204" pitchFamily="18" charset="0"/>
                        </a:rPr>
                        <m:t>𝑷</m:t>
                      </m:r>
                      <m:d>
                        <m:dPr>
                          <m:ctrlPr>
                            <a:rPr lang="en-US" altLang="zh-CN" sz="2800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acc>
                            <m:accPr>
                              <m:chr m:val="̅"/>
                              <m:ctrlPr>
                                <a:rPr lang="en-US" altLang="zh-CN" sz="2800" b="1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zh-CN" sz="2800" b="1" i="1" smtClean="0">
                                  <a:latin typeface="Cambria Math" panose="02040503050406030204" pitchFamily="18" charset="0"/>
                                </a:rPr>
                                <m:t>𝑨</m:t>
                              </m:r>
                            </m:e>
                          </m:acc>
                          <m:r>
                            <a:rPr lang="en-US" altLang="zh-CN" sz="2800" b="1" i="1" smtClean="0">
                              <a:latin typeface="Cambria Math" panose="02040503050406030204" pitchFamily="18" charset="0"/>
                            </a:rPr>
                            <m:t>𝑩</m:t>
                          </m:r>
                        </m:e>
                      </m:d>
                      <m:r>
                        <a:rPr lang="en-US" altLang="zh-CN" sz="2800" b="1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sz="2800" b="1" i="1" smtClean="0">
                          <a:latin typeface="Cambria Math" panose="02040503050406030204" pitchFamily="18" charset="0"/>
                        </a:rPr>
                        <m:t>𝑷</m:t>
                      </m:r>
                      <m:d>
                        <m:dPr>
                          <m:ctrlPr>
                            <a:rPr lang="en-US" altLang="zh-CN" sz="2800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acc>
                            <m:accPr>
                              <m:chr m:val="̅"/>
                              <m:ctrlPr>
                                <a:rPr lang="en-US" altLang="zh-CN" sz="2800" b="1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zh-CN" sz="2800" b="1" i="1" smtClean="0">
                                  <a:latin typeface="Cambria Math" panose="02040503050406030204" pitchFamily="18" charset="0"/>
                                </a:rPr>
                                <m:t>𝑨</m:t>
                              </m:r>
                            </m:e>
                          </m:acc>
                        </m:e>
                      </m:d>
                      <m:r>
                        <a:rPr lang="en-US" altLang="zh-CN" sz="2800" b="1" i="1" smtClean="0">
                          <a:latin typeface="Cambria Math" panose="02040503050406030204" pitchFamily="18" charset="0"/>
                        </a:rPr>
                        <m:t>𝑷</m:t>
                      </m:r>
                      <m:r>
                        <a:rPr lang="en-US" altLang="zh-CN" sz="2800" b="1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altLang="zh-CN" sz="2800" b="1" i="1" smtClean="0">
                          <a:latin typeface="Cambria Math" panose="02040503050406030204" pitchFamily="18" charset="0"/>
                        </a:rPr>
                        <m:t>𝑩</m:t>
                      </m:r>
                      <m:r>
                        <a:rPr lang="en-US" altLang="zh-CN" sz="2800" b="1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zh-CN" altLang="en-US" sz="2800" b="1" dirty="0"/>
              </a:p>
            </p:txBody>
          </p:sp>
        </mc:Choice>
        <mc:Fallback>
          <p:sp>
            <p:nvSpPr>
              <p:cNvPr id="7" name="文本框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18334" y="3455723"/>
                <a:ext cx="5193441" cy="411480"/>
              </a:xfrm>
              <a:prstGeom prst="rect">
                <a:avLst/>
              </a:prstGeom>
              <a:blipFill rotWithShape="1">
                <a:blip r:embed="rId4"/>
                <a:stretch>
                  <a:fillRect l="-8" t="-13" r="4" b="1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文本框 7"/>
          <p:cNvSpPr txBox="1"/>
          <p:nvPr/>
        </p:nvSpPr>
        <p:spPr>
          <a:xfrm>
            <a:off x="8004465" y="3455683"/>
            <a:ext cx="104269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/>
              <a:t>等</a:t>
            </a:r>
            <a:endParaRPr lang="zh-CN" altLang="en-US" sz="2800" b="1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9" name="文本框 8"/>
              <p:cNvSpPr txBox="1"/>
              <p:nvPr/>
            </p:nvSpPr>
            <p:spPr>
              <a:xfrm>
                <a:off x="864235" y="2039620"/>
                <a:ext cx="4556760" cy="521970"/>
              </a:xfrm>
              <a:prstGeom prst="rect">
                <a:avLst/>
              </a:prstGeom>
              <a:noFill/>
            </p:spPr>
            <p:txBody>
              <a:bodyPr wrap="square" rtlCol="0" anchor="t">
                <a:spAutoFit/>
              </a:bodyPr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800" b="1" i="1" smtClean="0">
                          <a:latin typeface="Cambria Math" panose="02040503050406030204" pitchFamily="18" charset="0"/>
                        </a:rPr>
                        <m:t>𝑷</m:t>
                      </m:r>
                      <m:d>
                        <m:dPr>
                          <m:ctrlPr>
                            <a:rPr lang="en-US" altLang="zh-CN" sz="2800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d>
                            <m:dPr>
                              <m:begChr m:val=""/>
                              <m:endChr m:val="|"/>
                              <m:ctrlPr>
                                <a:rPr lang="en-US" altLang="zh-CN" sz="2800" b="1" i="1" smtClean="0">
                                  <a:latin typeface="Cambria Math" panose="02040503050406030204" pitchFamily="18" charset="0"/>
                                  <a:cs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sz="2800" b="1" i="1" smtClean="0">
                                  <a:latin typeface="Cambria Math" panose="02040503050406030204" pitchFamily="18" charset="0"/>
                                </a:rPr>
                                <m:t>𝑨</m:t>
                              </m:r>
                            </m:e>
                          </m:d>
                          <m:r>
                            <a:rPr lang="en-US" altLang="zh-CN" sz="2800" b="1" i="1" smtClean="0">
                              <a:latin typeface="Cambria Math" panose="02040503050406030204" pitchFamily="18" charset="0"/>
                            </a:rPr>
                            <m:t>𝑩</m:t>
                          </m:r>
                        </m:e>
                      </m:d>
                      <m:r>
                        <a:rPr lang="en-US" altLang="zh-CN" sz="2800" b="1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sz="2800" b="1" i="1" smtClean="0">
                          <a:latin typeface="Cambria Math" panose="02040503050406030204" pitchFamily="18" charset="0"/>
                        </a:rPr>
                        <m:t>𝑨</m:t>
                      </m:r>
                    </m:oMath>
                  </m:oMathPara>
                </a14:m>
                <a:endParaRPr lang="en-US" altLang="zh-CN" sz="2800" b="1" i="1" smtClean="0">
                  <a:latin typeface="Cambria Math" panose="02040503050406030204" pitchFamily="18" charset="0"/>
                </a:endParaRPr>
              </a:p>
            </p:txBody>
          </p:sp>
        </mc:Choice>
        <mc:Fallback>
          <p:sp>
            <p:nvSpPr>
              <p:cNvPr id="9" name="文本框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4235" y="2039620"/>
                <a:ext cx="4556760" cy="521970"/>
              </a:xfrm>
              <a:prstGeom prst="rect">
                <a:avLst/>
              </a:prstGeom>
              <a:blipFill rotWithShape="1"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0" name="文本框 9"/>
              <p:cNvSpPr txBox="1"/>
              <p:nvPr/>
            </p:nvSpPr>
            <p:spPr>
              <a:xfrm>
                <a:off x="3388995" y="2039620"/>
                <a:ext cx="6096000" cy="521970"/>
              </a:xfrm>
              <a:prstGeom prst="rect">
                <a:avLst/>
              </a:prstGeom>
              <a:noFill/>
            </p:spPr>
            <p:txBody>
              <a:bodyPr wrap="square" rtlCol="0" anchor="t">
                <a:spAutoFit/>
              </a:bodyPr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800" b="1" i="1" smtClean="0">
                          <a:latin typeface="Cambria Math" panose="02040503050406030204" pitchFamily="18" charset="0"/>
                        </a:rPr>
                        <m:t>𝑨</m:t>
                      </m:r>
                      <m:r>
                        <a:rPr lang="zh-CN" altLang="en-US" sz="2800" b="1" i="1">
                          <a:latin typeface="Cambria Math" panose="02040503050406030204" pitchFamily="18" charset="0"/>
                        </a:rPr>
                        <m:t>、</m:t>
                      </m:r>
                      <m:r>
                        <a:rPr lang="en-US" altLang="zh-CN" sz="2800" b="1" i="1" smtClean="0">
                          <a:latin typeface="Cambria Math" panose="02040503050406030204" pitchFamily="18" charset="0"/>
                        </a:rPr>
                        <m:t>𝑩</m:t>
                      </m:r>
                      <m:r>
                        <a:rPr lang="en-US" altLang="zh-CN" sz="2800" b="1" i="1" smtClean="0">
                          <a:latin typeface="Cambria Math" panose="02040503050406030204"/>
                        </a:rPr>
                        <m:t>  </m:t>
                      </m:r>
                      <m:r>
                        <a:rPr lang="en-US" altLang="zh-CN" sz="2800" b="1" i="1">
                          <a:latin typeface="Cambria Math" panose="02040503050406030204"/>
                        </a:rPr>
                        <m:t>𝒊𝒅</m:t>
                      </m:r>
                    </m:oMath>
                  </m:oMathPara>
                </a14:m>
                <a:endParaRPr lang="en-US" altLang="zh-CN" sz="2800" b="1" i="1">
                  <a:latin typeface="Cambria Math" panose="02040503050406030204"/>
                </a:endParaRPr>
              </a:p>
            </p:txBody>
          </p:sp>
        </mc:Choice>
        <mc:Fallback>
          <p:sp>
            <p:nvSpPr>
              <p:cNvPr id="10" name="文本框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88995" y="2039620"/>
                <a:ext cx="6096000" cy="521970"/>
              </a:xfrm>
              <a:prstGeom prst="rect">
                <a:avLst/>
              </a:prstGeom>
              <a:blipFill rotWithShape="1"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文本框 10"/>
          <p:cNvSpPr txBox="1"/>
          <p:nvPr/>
        </p:nvSpPr>
        <p:spPr>
          <a:xfrm>
            <a:off x="7914005" y="2747645"/>
            <a:ext cx="406400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800" b="1">
                <a:solidFill>
                  <a:srgbClr val="00B0F0"/>
                </a:solidFill>
              </a:rPr>
              <a:t>推广</a:t>
            </a:r>
            <a:endParaRPr lang="zh-CN" altLang="en-US" sz="2800" b="1">
              <a:solidFill>
                <a:srgbClr val="00B0F0"/>
              </a:solidFill>
            </a:endParaRPr>
          </a:p>
        </p:txBody>
      </p:sp>
      <p:sp>
        <p:nvSpPr>
          <p:cNvPr id="12" name="圆角矩形 11"/>
          <p:cNvSpPr/>
          <p:nvPr/>
        </p:nvSpPr>
        <p:spPr>
          <a:xfrm>
            <a:off x="2256155" y="2712720"/>
            <a:ext cx="6650355" cy="588010"/>
          </a:xfrm>
          <a:prstGeom prst="roundRect">
            <a:avLst/>
          </a:prstGeom>
          <a:noFill/>
          <a:ln w="38100"/>
          <a:extLst>
            <a:ext uri="{909E8E84-426E-40DD-AFC4-6F175D3DCCD1}">
              <a14:hiddenFill xmlns:a14="http://schemas.microsoft.com/office/drawing/2010/main">
                <a:solidFill>
                  <a:schemeClr val="lt1"/>
                </a:solidFill>
              </a14:hiddenFill>
            </a:ext>
          </a:extLst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10946" name="Rectangle 2"/>
          <p:cNvSpPr/>
          <p:nvPr>
            <p:custDataLst>
              <p:tags r:id="rId7"/>
            </p:custDataLst>
          </p:nvPr>
        </p:nvSpPr>
        <p:spPr>
          <a:xfrm>
            <a:off x="1170940" y="4046697"/>
            <a:ext cx="8820150" cy="1383665"/>
          </a:xfrm>
          <a:prstGeom prst="rect">
            <a:avLst/>
          </a:prstGeom>
          <a:noFill/>
          <a:ln w="12700">
            <a:noFill/>
          </a:ln>
        </p:spPr>
        <p:txBody>
          <a:bodyPr anchor="ctr" anchorCtr="0">
            <a:spAutoFit/>
          </a:bodyPr>
          <a:lstStyle>
            <a:lvl1pPr marL="469900" indent="-469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o"/>
              <a:defRPr sz="30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08050" indent="-43688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n"/>
              <a:defRPr sz="2600">
                <a:solidFill>
                  <a:schemeClr val="tx1"/>
                </a:solidFill>
                <a:latin typeface="+mn-lt"/>
                <a:ea typeface="+mn-ea"/>
              </a:defRPr>
            </a:lvl2pPr>
            <a:lvl3pPr marL="1304925" indent="-39560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o"/>
              <a:defRPr sz="2300">
                <a:solidFill>
                  <a:schemeClr val="tx1"/>
                </a:solidFill>
                <a:latin typeface="+mn-lt"/>
                <a:ea typeface="+mn-ea"/>
              </a:defRPr>
            </a:lvl3pPr>
            <a:lvl4pPr marL="1694180" indent="-3873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94230" indent="-398780" algn="l" rtl="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lnSpc>
                <a:spcPct val="1500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zh-CN" sz="2800" b="1" dirty="0">
                <a:solidFill>
                  <a:schemeClr val="accent2"/>
                </a:solidFill>
                <a:latin typeface="Times New Roman" panose="02020603050405020304" pitchFamily="18" charset="0"/>
              </a:rPr>
              <a:t> </a:t>
            </a:r>
            <a:r>
              <a:rPr lang="zh-CN" altLang="en-US" sz="2800" b="1" dirty="0">
                <a:solidFill>
                  <a:schemeClr val="accent2"/>
                </a:solidFill>
                <a:latin typeface="Times New Roman" panose="02020603050405020304" pitchFamily="18" charset="0"/>
              </a:rPr>
              <a:t>例</a:t>
            </a:r>
            <a:r>
              <a:rPr lang="zh-CN" altLang="en-US" sz="2800" dirty="0">
                <a:solidFill>
                  <a:srgbClr val="000000"/>
                </a:solidFill>
                <a:latin typeface="Times New Roman" panose="02020603050405020304" pitchFamily="18" charset="0"/>
              </a:rPr>
              <a:t>    </a:t>
            </a:r>
            <a:r>
              <a:rPr lang="en-US" altLang="zh-CN" sz="2800" b="1" dirty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400</a:t>
            </a:r>
            <a:r>
              <a:rPr lang="zh-CN" altLang="en-US" sz="2800" b="1" dirty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人同时独立地向敌机射击，设每人击中敌机的</a:t>
            </a:r>
            <a:endParaRPr lang="en-US" altLang="zh-CN" sz="2800" b="1" dirty="0">
              <a:solidFill>
                <a:srgbClr val="000000"/>
              </a:solidFill>
              <a:latin typeface="楷体_GB2312" pitchFamily="49" charset="-122"/>
              <a:ea typeface="楷体_GB2312" pitchFamily="49" charset="-122"/>
            </a:endParaRPr>
          </a:p>
          <a:p>
            <a:pPr marL="0" lvl="0" indent="0" eaLnBrk="1" hangingPunct="1">
              <a:lnSpc>
                <a:spcPct val="150000"/>
              </a:lnSpc>
              <a:spcBef>
                <a:spcPct val="0"/>
              </a:spcBef>
              <a:buClrTx/>
              <a:buFontTx/>
              <a:buNone/>
            </a:pPr>
            <a:r>
              <a:rPr lang="zh-CN" altLang="en-US" sz="2800" b="1" dirty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概率为</a:t>
            </a:r>
            <a:r>
              <a:rPr lang="en-US" altLang="zh-CN" sz="2800" b="1" dirty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0.004</a:t>
            </a:r>
            <a:r>
              <a:rPr lang="zh-CN" altLang="en-US" sz="2800" b="1" dirty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，求敌机被击中的概率． </a:t>
            </a:r>
            <a:endParaRPr lang="zh-CN" altLang="en-US" sz="2800" b="1" dirty="0">
              <a:solidFill>
                <a:srgbClr val="000000"/>
              </a:solidFill>
              <a:latin typeface="楷体_GB2312" pitchFamily="49" charset="-122"/>
              <a:ea typeface="楷体_GB2312" pitchFamily="49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09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5" grpId="0"/>
      <p:bldP spid="6" grpId="0"/>
      <p:bldP spid="7" grpId="0"/>
      <p:bldP spid="8" grpId="0"/>
      <p:bldP spid="210946" grpId="0"/>
      <p:bldP spid="9" grpId="0"/>
      <p:bldP spid="10" grpId="0"/>
      <p:bldP spid="12" grpId="0" animBg="1"/>
      <p:bldP spid="11" grpId="0"/>
      <p:bldP spid="11" grpId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1811382" y="501534"/>
            <a:ext cx="7628709" cy="50158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200000"/>
              </a:lnSpc>
              <a:spcAft>
                <a:spcPts val="0"/>
              </a:spcAft>
            </a:pPr>
            <a:r>
              <a:rPr lang="zh-CN" altLang="zh-CN" sz="3200" b="1" kern="100" dirty="0">
                <a:latin typeface="等线" panose="02010600030101010101" pitchFamily="2" charset="-122"/>
                <a:cs typeface="Times New Roman" panose="02020603050405020304" pitchFamily="18" charset="0"/>
              </a:rPr>
              <a:t>第</a:t>
            </a:r>
            <a:r>
              <a:rPr lang="en-US" altLang="zh-CN" sz="3200" b="1" kern="100" dirty="0">
                <a:latin typeface="等线" panose="02010600030101010101" pitchFamily="2" charset="-122"/>
                <a:cs typeface="Times New Roman" panose="02020603050405020304" pitchFamily="18" charset="0"/>
              </a:rPr>
              <a:t>3</a:t>
            </a:r>
            <a:r>
              <a:rPr lang="zh-CN" altLang="zh-CN" sz="3200" b="1" kern="100" dirty="0">
                <a:latin typeface="等线" panose="02010600030101010101" pitchFamily="2" charset="-122"/>
                <a:cs typeface="Times New Roman" panose="02020603050405020304" pitchFamily="18" charset="0"/>
              </a:rPr>
              <a:t>章  随机变量及其概率分布</a:t>
            </a:r>
            <a:endParaRPr lang="zh-CN" altLang="zh-CN" sz="3200" b="1" kern="100" dirty="0">
              <a:latin typeface="等线" panose="02010600030101010101" pitchFamily="2" charset="-122"/>
              <a:cs typeface="Times New Roman" panose="02020603050405020304" pitchFamily="18" charset="0"/>
            </a:endParaRPr>
          </a:p>
          <a:p>
            <a:pPr algn="just">
              <a:lnSpc>
                <a:spcPct val="200000"/>
              </a:lnSpc>
              <a:spcAft>
                <a:spcPts val="0"/>
              </a:spcAft>
            </a:pPr>
            <a:r>
              <a:rPr lang="en-US" altLang="zh-CN" sz="3200" b="1" kern="100" dirty="0">
                <a:latin typeface="等线" panose="02010600030101010101" pitchFamily="2" charset="-122"/>
                <a:cs typeface="Times New Roman" panose="02020603050405020304" pitchFamily="18" charset="0"/>
              </a:rPr>
              <a:t>3.1</a:t>
            </a:r>
            <a:r>
              <a:rPr lang="zh-CN" altLang="zh-CN" sz="3200" b="1" kern="100" dirty="0">
                <a:latin typeface="等线" panose="02010600030101010101" pitchFamily="2" charset="-122"/>
                <a:cs typeface="Times New Roman" panose="02020603050405020304" pitchFamily="18" charset="0"/>
              </a:rPr>
              <a:t>随机变量及其分布函数</a:t>
            </a:r>
            <a:endParaRPr lang="zh-CN" altLang="zh-CN" sz="3200" b="1" kern="100" dirty="0">
              <a:latin typeface="等线" panose="02010600030101010101" pitchFamily="2" charset="-122"/>
              <a:cs typeface="Times New Roman" panose="02020603050405020304" pitchFamily="18" charset="0"/>
            </a:endParaRPr>
          </a:p>
          <a:p>
            <a:pPr algn="just">
              <a:lnSpc>
                <a:spcPct val="200000"/>
              </a:lnSpc>
              <a:spcAft>
                <a:spcPts val="0"/>
              </a:spcAft>
            </a:pPr>
            <a:r>
              <a:rPr lang="en-US" altLang="zh-CN" sz="3200" b="1" kern="100" dirty="0">
                <a:latin typeface="等线" panose="02010600030101010101" pitchFamily="2" charset="-122"/>
                <a:cs typeface="Times New Roman" panose="02020603050405020304" pitchFamily="18" charset="0"/>
              </a:rPr>
              <a:t>3.2</a:t>
            </a:r>
            <a:r>
              <a:rPr lang="zh-CN" altLang="zh-CN" sz="3200" b="1" kern="100" dirty="0">
                <a:latin typeface="等线" panose="02010600030101010101" pitchFamily="2" charset="-122"/>
                <a:cs typeface="Times New Roman" panose="02020603050405020304" pitchFamily="18" charset="0"/>
              </a:rPr>
              <a:t>离散型随机变量</a:t>
            </a:r>
            <a:endParaRPr lang="zh-CN" altLang="zh-CN" sz="3200" b="1" kern="100" dirty="0">
              <a:latin typeface="等线" panose="02010600030101010101" pitchFamily="2" charset="-122"/>
              <a:cs typeface="Times New Roman" panose="02020603050405020304" pitchFamily="18" charset="0"/>
            </a:endParaRPr>
          </a:p>
          <a:p>
            <a:pPr algn="just">
              <a:lnSpc>
                <a:spcPct val="200000"/>
              </a:lnSpc>
              <a:spcAft>
                <a:spcPts val="0"/>
              </a:spcAft>
            </a:pPr>
            <a:r>
              <a:rPr lang="en-US" altLang="zh-CN" sz="3200" b="1" kern="100" dirty="0">
                <a:latin typeface="等线" panose="02010600030101010101" pitchFamily="2" charset="-122"/>
                <a:cs typeface="Times New Roman" panose="02020603050405020304" pitchFamily="18" charset="0"/>
              </a:rPr>
              <a:t>3.3</a:t>
            </a:r>
            <a:r>
              <a:rPr lang="zh-CN" altLang="zh-CN" sz="3200" b="1" kern="100" dirty="0">
                <a:latin typeface="等线" panose="02010600030101010101" pitchFamily="2" charset="-122"/>
                <a:cs typeface="Times New Roman" panose="02020603050405020304" pitchFamily="18" charset="0"/>
              </a:rPr>
              <a:t>连续型随机变量</a:t>
            </a:r>
            <a:endParaRPr lang="zh-CN" altLang="zh-CN" sz="3200" b="1" kern="100" dirty="0">
              <a:latin typeface="等线" panose="02010600030101010101" pitchFamily="2" charset="-122"/>
              <a:cs typeface="Times New Roman" panose="02020603050405020304" pitchFamily="18" charset="0"/>
            </a:endParaRPr>
          </a:p>
          <a:p>
            <a:pPr algn="just">
              <a:lnSpc>
                <a:spcPct val="200000"/>
              </a:lnSpc>
              <a:spcAft>
                <a:spcPts val="0"/>
              </a:spcAft>
            </a:pPr>
            <a:r>
              <a:rPr lang="en-US" altLang="zh-CN" sz="3200" b="1" kern="100" dirty="0">
                <a:latin typeface="等线" panose="02010600030101010101" pitchFamily="2" charset="-122"/>
                <a:cs typeface="Times New Roman" panose="02020603050405020304" pitchFamily="18" charset="0"/>
              </a:rPr>
              <a:t>3.4</a:t>
            </a:r>
            <a:r>
              <a:rPr lang="zh-CN" altLang="zh-CN" sz="3200" b="1" kern="100" dirty="0">
                <a:latin typeface="等线" panose="02010600030101010101" pitchFamily="2" charset="-122"/>
                <a:cs typeface="Times New Roman" panose="02020603050405020304" pitchFamily="18" charset="0"/>
              </a:rPr>
              <a:t>随机变量函数的分布</a:t>
            </a:r>
            <a:endParaRPr lang="zh-CN" altLang="zh-CN" sz="3200" b="1" kern="100" dirty="0">
              <a:latin typeface="等线" panose="02010600030101010101" pitchFamily="2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>
            <a:spLocks noChangeArrowheads="1"/>
          </p:cNvSpPr>
          <p:nvPr/>
        </p:nvSpPr>
        <p:spPr bwMode="auto">
          <a:xfrm>
            <a:off x="1074198" y="-372862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sp>
        <p:nvSpPr>
          <p:cNvPr id="4" name="矩形 3"/>
          <p:cNvSpPr/>
          <p:nvPr/>
        </p:nvSpPr>
        <p:spPr>
          <a:xfrm>
            <a:off x="706383" y="92668"/>
            <a:ext cx="5389617" cy="104663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just">
              <a:lnSpc>
                <a:spcPct val="200000"/>
              </a:lnSpc>
              <a:spcAft>
                <a:spcPts val="0"/>
              </a:spcAft>
            </a:pPr>
            <a:r>
              <a:rPr lang="en-US" altLang="zh-CN" sz="3600" b="1" kern="100" dirty="0">
                <a:latin typeface="等线" panose="02010600030101010101" pitchFamily="2" charset="-122"/>
                <a:cs typeface="Times New Roman" panose="02020603050405020304" pitchFamily="18" charset="0"/>
              </a:rPr>
              <a:t>3.1</a:t>
            </a:r>
            <a:r>
              <a:rPr lang="zh-CN" altLang="zh-CN" sz="3600" b="1" kern="100" dirty="0">
                <a:latin typeface="等线" panose="02010600030101010101" pitchFamily="2" charset="-122"/>
                <a:cs typeface="Times New Roman" panose="02020603050405020304" pitchFamily="18" charset="0"/>
              </a:rPr>
              <a:t>随机变量及其分布函数</a:t>
            </a:r>
            <a:endParaRPr lang="zh-CN" altLang="zh-CN" sz="3600" b="1" kern="100" dirty="0">
              <a:latin typeface="等线" panose="02010600030101010101" pitchFamily="2" charset="-122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9" name="Rectangle 4"/>
              <p:cNvSpPr>
                <a:spLocks noChangeArrowheads="1"/>
              </p:cNvSpPr>
              <p:nvPr/>
            </p:nvSpPr>
            <p:spPr bwMode="auto">
              <a:xfrm>
                <a:off x="831310" y="1682057"/>
                <a:ext cx="4177682" cy="117570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857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marL="908050" indent="-436880"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n"/>
                </a:pPr>
                <a14:m>
                  <m:oMath xmlns:m="http://schemas.openxmlformats.org/officeDocument/2006/math">
                    <m:r>
                      <a:rPr lang="en-US" altLang="zh-CN" sz="3200" b="1" i="1" smtClean="0">
                        <a:latin typeface="Cambria Math" panose="02040503050406030204" pitchFamily="18" charset="0"/>
                      </a:rPr>
                      <m:t>𝑷</m:t>
                    </m:r>
                    <m:d>
                      <m:dPr>
                        <m:ctrlPr>
                          <a:rPr lang="en-US" altLang="zh-CN" sz="3200" b="1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3200" b="1" i="1" smtClean="0">
                            <a:latin typeface="Cambria Math" panose="02040503050406030204" pitchFamily="18" charset="0"/>
                          </a:rPr>
                          <m:t>𝑿</m:t>
                        </m:r>
                        <m:r>
                          <a:rPr lang="en-US" altLang="zh-CN" sz="32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≤</m:t>
                        </m:r>
                        <m:r>
                          <a:rPr lang="en-US" altLang="zh-CN" sz="32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𝒃</m:t>
                        </m:r>
                      </m:e>
                    </m:d>
                    <m:r>
                      <a:rPr lang="en-US" altLang="zh-CN" sz="3200" b="1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sz="3200" b="1" i="1" smtClean="0">
                        <a:latin typeface="Cambria Math" panose="02040503050406030204" pitchFamily="18" charset="0"/>
                      </a:rPr>
                      <m:t>𝑭</m:t>
                    </m:r>
                    <m:r>
                      <a:rPr lang="en-US" altLang="zh-CN" sz="3200" b="1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sz="3200" b="1" i="1" smtClean="0">
                        <a:latin typeface="Cambria Math" panose="02040503050406030204" pitchFamily="18" charset="0"/>
                      </a:rPr>
                      <m:t>𝒃</m:t>
                    </m:r>
                    <m:r>
                      <a:rPr lang="en-US" altLang="zh-CN" sz="3200" b="1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altLang="zh-CN" sz="3200" dirty="0">
                  <a:latin typeface="Verdana" panose="020B0604030504040204" pitchFamily="34" charset="0"/>
                </a:endParaRPr>
              </a:p>
              <a:p>
                <a:pPr eaLnBrk="1" hangingPunct="1">
                  <a:spcBef>
                    <a:spcPct val="20000"/>
                  </a:spcBef>
                  <a:buClr>
                    <a:schemeClr val="accent2"/>
                  </a:buClr>
                </a:pPr>
                <a:endParaRPr lang="en-US" altLang="zh-CN" sz="3200" dirty="0">
                  <a:latin typeface="Verdana" panose="020B0604030504040204" pitchFamily="34" charset="0"/>
                </a:endParaRPr>
              </a:p>
            </p:txBody>
          </p:sp>
        </mc:Choice>
        <mc:Fallback>
          <p:sp>
            <p:nvSpPr>
              <p:cNvPr id="9" name="Rectangle 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831310" y="1682057"/>
                <a:ext cx="4177682" cy="1175706"/>
              </a:xfrm>
              <a:prstGeom prst="rect">
                <a:avLst/>
              </a:prstGeom>
              <a:blipFill rotWithShape="1">
                <a:blip r:embed="rId1"/>
                <a:stretch>
                  <a:fillRect l="-2" t="-49" r="-256" b="22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857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0" name="Rectangle 5"/>
              <p:cNvSpPr>
                <a:spLocks noChangeArrowheads="1"/>
              </p:cNvSpPr>
              <p:nvPr/>
            </p:nvSpPr>
            <p:spPr bwMode="auto">
              <a:xfrm>
                <a:off x="831310" y="3810895"/>
                <a:ext cx="6538072" cy="53553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857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marL="908050" indent="-436880"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lnSpc>
                    <a:spcPct val="90000"/>
                  </a:lnSpc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n"/>
                </a:pPr>
                <a14:m>
                  <m:oMath xmlns:m="http://schemas.openxmlformats.org/officeDocument/2006/math">
                    <m:r>
                      <a:rPr lang="en-US" altLang="zh-CN" sz="3200" i="1" smtClean="0">
                        <a:latin typeface="Cambria Math" panose="02040503050406030204" pitchFamily="18" charset="0"/>
                      </a:rPr>
                      <m:t>𝑷</m:t>
                    </m:r>
                    <m:d>
                      <m:dPr>
                        <m:ctrlPr>
                          <a:rPr lang="en-US" altLang="zh-CN" sz="32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3200" b="1" i="1" smtClean="0">
                            <a:latin typeface="Cambria Math" panose="02040503050406030204" pitchFamily="18" charset="0"/>
                          </a:rPr>
                          <m:t>𝒂</m:t>
                        </m:r>
                        <m:r>
                          <a:rPr lang="en-US" altLang="zh-CN" sz="32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&lt;</m:t>
                        </m:r>
                        <m:r>
                          <a:rPr lang="en-US" altLang="zh-CN" sz="3200" i="1">
                            <a:latin typeface="Cambria Math" panose="02040503050406030204" pitchFamily="18" charset="0"/>
                          </a:rPr>
                          <m:t>𝑿</m:t>
                        </m:r>
                        <m:r>
                          <a:rPr lang="en-US" altLang="zh-CN" sz="3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≤</m:t>
                        </m:r>
                        <m:r>
                          <a:rPr lang="en-US" altLang="zh-CN" sz="3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𝒃</m:t>
                        </m:r>
                      </m:e>
                    </m:d>
                    <m:r>
                      <a:rPr lang="en-US" altLang="zh-CN" sz="32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US" altLang="zh-CN" sz="3200" i="1">
                        <a:latin typeface="Cambria Math" panose="02040503050406030204" pitchFamily="18" charset="0"/>
                      </a:rPr>
                      <m:t>𝑭</m:t>
                    </m:r>
                    <m:d>
                      <m:dPr>
                        <m:ctrlPr>
                          <a:rPr lang="en-US" altLang="zh-CN" sz="32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3200" i="1">
                            <a:latin typeface="Cambria Math" panose="02040503050406030204" pitchFamily="18" charset="0"/>
                          </a:rPr>
                          <m:t>𝒃</m:t>
                        </m:r>
                      </m:e>
                    </m:d>
                    <m:r>
                      <a:rPr lang="en-US" altLang="zh-CN" sz="3200" b="1" i="0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altLang="zh-CN" sz="3200" b="1" i="1" smtClean="0">
                        <a:latin typeface="Cambria Math" panose="02040503050406030204" pitchFamily="18" charset="0"/>
                      </a:rPr>
                      <m:t>𝑭</m:t>
                    </m:r>
                    <m:r>
                      <a:rPr lang="en-US" altLang="zh-CN" sz="3200" b="1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sz="3200" b="1" i="1" smtClean="0">
                        <a:latin typeface="Cambria Math" panose="02040503050406030204" pitchFamily="18" charset="0"/>
                      </a:rPr>
                      <m:t>𝒂</m:t>
                    </m:r>
                    <m:r>
                      <a:rPr lang="en-US" altLang="zh-CN" sz="3200" b="1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altLang="zh-CN" sz="3200" dirty="0">
                  <a:latin typeface="Verdana" panose="020B0604030504040204" pitchFamily="34" charset="0"/>
                </a:endParaRPr>
              </a:p>
            </p:txBody>
          </p:sp>
        </mc:Choice>
        <mc:Fallback>
          <p:sp>
            <p:nvSpPr>
              <p:cNvPr id="10" name="Rectangle 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831310" y="3810895"/>
                <a:ext cx="6538072" cy="535531"/>
              </a:xfrm>
              <a:prstGeom prst="rect">
                <a:avLst/>
              </a:prstGeom>
              <a:blipFill rotWithShape="1">
                <a:blip r:embed="rId2"/>
                <a:stretch>
                  <a:fillRect l="-1" t="-641" r="3" b="91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857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1" name="Rectangle 6"/>
              <p:cNvSpPr>
                <a:spLocks noChangeArrowheads="1"/>
              </p:cNvSpPr>
              <p:nvPr/>
            </p:nvSpPr>
            <p:spPr bwMode="auto">
              <a:xfrm>
                <a:off x="848773" y="2258320"/>
                <a:ext cx="4911473" cy="53553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857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marL="908050" indent="-436880"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lnSpc>
                    <a:spcPct val="90000"/>
                  </a:lnSpc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n"/>
                </a:pPr>
                <a14:m>
                  <m:oMath xmlns:m="http://schemas.openxmlformats.org/officeDocument/2006/math">
                    <m:r>
                      <a:rPr lang="en-US" altLang="zh-CN" sz="3200" i="1" smtClean="0">
                        <a:latin typeface="Cambria Math" panose="02040503050406030204" pitchFamily="18" charset="0"/>
                      </a:rPr>
                      <m:t>𝑷</m:t>
                    </m:r>
                    <m:d>
                      <m:dPr>
                        <m:ctrlPr>
                          <a:rPr lang="en-US" altLang="zh-CN" sz="32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3200" i="1">
                            <a:latin typeface="Cambria Math" panose="02040503050406030204" pitchFamily="18" charset="0"/>
                          </a:rPr>
                          <m:t>𝑿</m:t>
                        </m:r>
                        <m:r>
                          <a:rPr lang="en-US" altLang="zh-CN" sz="3200" b="1" i="1" smtClean="0">
                            <a:latin typeface="Cambria Math" panose="02040503050406030204" pitchFamily="18" charset="0"/>
                          </a:rPr>
                          <m:t>&gt;</m:t>
                        </m:r>
                        <m:r>
                          <a:rPr lang="en-US" altLang="zh-CN" sz="3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𝒃</m:t>
                        </m:r>
                      </m:e>
                    </m:d>
                    <m:r>
                      <a:rPr lang="en-US" altLang="zh-CN" sz="320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sz="3200" b="1" i="1" smtClean="0">
                        <a:latin typeface="Cambria Math" panose="02040503050406030204" pitchFamily="18" charset="0"/>
                      </a:rPr>
                      <m:t>𝟏</m:t>
                    </m:r>
                    <m:r>
                      <a:rPr lang="en-US" altLang="zh-CN" sz="3200" b="1" i="1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altLang="zh-CN" sz="3200" i="1">
                        <a:latin typeface="Cambria Math" panose="02040503050406030204" pitchFamily="18" charset="0"/>
                      </a:rPr>
                      <m:t>𝑭</m:t>
                    </m:r>
                    <m:r>
                      <a:rPr lang="en-US" altLang="zh-CN" sz="3200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sz="3200" i="1">
                        <a:latin typeface="Cambria Math" panose="02040503050406030204" pitchFamily="18" charset="0"/>
                      </a:rPr>
                      <m:t>𝒃</m:t>
                    </m:r>
                    <m:r>
                      <a:rPr lang="en-US" altLang="zh-CN" sz="3200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altLang="zh-CN" sz="3200" dirty="0">
                  <a:latin typeface="Verdana" panose="020B0604030504040204" pitchFamily="34" charset="0"/>
                </a:endParaRPr>
              </a:p>
            </p:txBody>
          </p:sp>
        </mc:Choice>
        <mc:Fallback>
          <p:sp>
            <p:nvSpPr>
              <p:cNvPr id="11" name="Rectangle 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848773" y="2258320"/>
                <a:ext cx="4911473" cy="535531"/>
              </a:xfrm>
              <a:prstGeom prst="rect">
                <a:avLst/>
              </a:prstGeom>
              <a:blipFill rotWithShape="1">
                <a:blip r:embed="rId3"/>
                <a:stretch>
                  <a:fillRect l="-8" t="-641" r="-126" b="91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857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2" name="Rectangle 5"/>
              <p:cNvSpPr>
                <a:spLocks noChangeArrowheads="1"/>
              </p:cNvSpPr>
              <p:nvPr/>
            </p:nvSpPr>
            <p:spPr bwMode="auto">
              <a:xfrm>
                <a:off x="821785" y="4995170"/>
                <a:ext cx="7271862" cy="53553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857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marL="908050" indent="-436880"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lnSpc>
                    <a:spcPct val="90000"/>
                  </a:lnSpc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n"/>
                </a:pPr>
                <a14:m>
                  <m:oMath xmlns:m="http://schemas.openxmlformats.org/officeDocument/2006/math">
                    <m:r>
                      <a:rPr lang="en-US" altLang="zh-CN" sz="3200" i="1" smtClean="0">
                        <a:latin typeface="Cambria Math" panose="02040503050406030204" pitchFamily="18" charset="0"/>
                      </a:rPr>
                      <m:t>𝑷</m:t>
                    </m:r>
                    <m:d>
                      <m:dPr>
                        <m:ctrlPr>
                          <a:rPr lang="en-US" altLang="zh-CN" sz="32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3200" i="1">
                            <a:latin typeface="Cambria Math" panose="02040503050406030204" pitchFamily="18" charset="0"/>
                          </a:rPr>
                          <m:t>𝒂</m:t>
                        </m:r>
                        <m:r>
                          <a:rPr lang="en-US" altLang="zh-CN" sz="32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≤</m:t>
                        </m:r>
                        <m:r>
                          <a:rPr lang="en-US" altLang="zh-CN" sz="3200" i="1">
                            <a:latin typeface="Cambria Math" panose="02040503050406030204" pitchFamily="18" charset="0"/>
                          </a:rPr>
                          <m:t>𝑿</m:t>
                        </m:r>
                        <m:r>
                          <a:rPr lang="en-US" altLang="zh-CN" sz="32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≤</m:t>
                        </m:r>
                        <m:r>
                          <a:rPr lang="en-US" altLang="zh-CN" sz="3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𝒃</m:t>
                        </m:r>
                      </m:e>
                    </m:d>
                    <m:r>
                      <a:rPr lang="en-US" altLang="zh-CN" sz="32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US" altLang="zh-CN" sz="32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𝑭</m:t>
                    </m:r>
                    <m:d>
                      <m:dPr>
                        <m:ctrlPr>
                          <a:rPr lang="en-US" altLang="zh-CN" sz="32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32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𝒃</m:t>
                        </m:r>
                      </m:e>
                    </m:d>
                    <m:r>
                      <a:rPr lang="en-US" altLang="zh-CN" sz="32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</m:t>
                    </m:r>
                    <m:r>
                      <a:rPr lang="en-US" altLang="zh-CN" sz="32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𝑭</m:t>
                    </m:r>
                    <m:r>
                      <a:rPr lang="en-US" altLang="zh-CN" sz="32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r>
                      <a:rPr lang="en-US" altLang="zh-CN" sz="32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𝒂</m:t>
                    </m:r>
                    <m:r>
                      <a:rPr lang="en-US" altLang="zh-CN" sz="32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</m:t>
                    </m:r>
                    <m:r>
                      <a:rPr lang="en-US" altLang="zh-CN" sz="32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𝟎</m:t>
                    </m:r>
                    <m:r>
                      <a:rPr lang="en-US" altLang="zh-CN" sz="32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endParaRPr lang="en-US" altLang="zh-CN" sz="3200" dirty="0">
                  <a:latin typeface="Verdana" panose="020B0604030504040204" pitchFamily="34" charset="0"/>
                </a:endParaRPr>
              </a:p>
            </p:txBody>
          </p:sp>
        </mc:Choice>
        <mc:Fallback>
          <p:sp>
            <p:nvSpPr>
              <p:cNvPr id="12" name="Rectangle 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821785" y="4995170"/>
                <a:ext cx="7271862" cy="535531"/>
              </a:xfrm>
              <a:prstGeom prst="rect">
                <a:avLst/>
              </a:prstGeom>
              <a:blipFill rotWithShape="1">
                <a:blip r:embed="rId4"/>
                <a:stretch>
                  <a:fillRect l="-1" t="-641" r="8" b="91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857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3" name="Rectangle 5"/>
              <p:cNvSpPr>
                <a:spLocks noChangeArrowheads="1"/>
              </p:cNvSpPr>
              <p:nvPr/>
            </p:nvSpPr>
            <p:spPr bwMode="auto">
              <a:xfrm>
                <a:off x="831310" y="6042920"/>
                <a:ext cx="6582187" cy="53553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857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marL="908050" indent="-436880"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lnSpc>
                    <a:spcPct val="90000"/>
                  </a:lnSpc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n"/>
                </a:pPr>
                <a14:m>
                  <m:oMath xmlns:m="http://schemas.openxmlformats.org/officeDocument/2006/math">
                    <m:r>
                      <a:rPr lang="en-US" altLang="zh-CN" sz="3200" i="1" smtClean="0">
                        <a:latin typeface="Cambria Math" panose="02040503050406030204" pitchFamily="18" charset="0"/>
                      </a:rPr>
                      <m:t>𝑷</m:t>
                    </m:r>
                    <m:d>
                      <m:dPr>
                        <m:ctrlPr>
                          <a:rPr lang="en-US" altLang="zh-CN" sz="32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3200" b="1" i="1" smtClean="0">
                            <a:latin typeface="Cambria Math" panose="02040503050406030204" pitchFamily="18" charset="0"/>
                          </a:rPr>
                          <m:t>𝑿</m:t>
                        </m:r>
                        <m:r>
                          <a:rPr lang="en-US" altLang="zh-CN" sz="3200" b="1" i="1" smtClean="0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altLang="zh-CN" sz="3200" b="1" i="1" smtClean="0">
                            <a:latin typeface="Cambria Math" panose="02040503050406030204" pitchFamily="18" charset="0"/>
                          </a:rPr>
                          <m:t>𝒂</m:t>
                        </m:r>
                      </m:e>
                    </m:d>
                    <m:r>
                      <a:rPr lang="en-US" altLang="zh-CN" sz="32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US" altLang="zh-CN" sz="32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𝑭</m:t>
                    </m:r>
                    <m:d>
                      <m:dPr>
                        <m:ctrlPr>
                          <a:rPr lang="en-US" altLang="zh-CN" sz="3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32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𝒂</m:t>
                        </m:r>
                      </m:e>
                    </m:d>
                    <m:r>
                      <a:rPr lang="en-US" altLang="zh-CN" sz="32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</m:t>
                    </m:r>
                    <m:r>
                      <a:rPr lang="en-US" altLang="zh-CN" sz="32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𝑭</m:t>
                    </m:r>
                    <m:r>
                      <a:rPr lang="en-US" altLang="zh-CN" sz="32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r>
                      <a:rPr lang="en-US" altLang="zh-CN" sz="32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𝒂</m:t>
                    </m:r>
                    <m:r>
                      <a:rPr lang="en-US" altLang="zh-CN" sz="32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</m:t>
                    </m:r>
                    <m:r>
                      <a:rPr lang="en-US" altLang="zh-CN" sz="32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𝟎</m:t>
                    </m:r>
                    <m:r>
                      <a:rPr lang="en-US" altLang="zh-CN" sz="32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 </m:t>
                    </m:r>
                  </m:oMath>
                </a14:m>
                <a:endParaRPr lang="en-US" altLang="zh-CN" sz="3200" dirty="0">
                  <a:latin typeface="Verdana" panose="020B0604030504040204" pitchFamily="34" charset="0"/>
                </a:endParaRPr>
              </a:p>
            </p:txBody>
          </p:sp>
        </mc:Choice>
        <mc:Fallback>
          <p:sp>
            <p:nvSpPr>
              <p:cNvPr id="13" name="Rectangle 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831310" y="6042920"/>
                <a:ext cx="6582187" cy="535531"/>
              </a:xfrm>
              <a:prstGeom prst="rect">
                <a:avLst/>
              </a:prstGeom>
              <a:blipFill rotWithShape="1">
                <a:blip r:embed="rId5"/>
                <a:stretch>
                  <a:fillRect l="-1" t="-641" r="8" b="91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857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4" name="Rectangle 5"/>
              <p:cNvSpPr>
                <a:spLocks noChangeArrowheads="1"/>
              </p:cNvSpPr>
              <p:nvPr/>
            </p:nvSpPr>
            <p:spPr bwMode="auto">
              <a:xfrm>
                <a:off x="821785" y="4387157"/>
                <a:ext cx="7271862" cy="53553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857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marL="908050" indent="-436880"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lnSpc>
                    <a:spcPct val="90000"/>
                  </a:lnSpc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n"/>
                </a:pPr>
                <a14:m>
                  <m:oMath xmlns:m="http://schemas.openxmlformats.org/officeDocument/2006/math">
                    <m:r>
                      <a:rPr lang="en-US" altLang="zh-CN" sz="3200" i="1" smtClean="0">
                        <a:latin typeface="Cambria Math" panose="02040503050406030204" pitchFamily="18" charset="0"/>
                      </a:rPr>
                      <m:t>𝑷</m:t>
                    </m:r>
                    <m:d>
                      <m:dPr>
                        <m:ctrlPr>
                          <a:rPr lang="en-US" altLang="zh-CN" sz="32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3200" i="1">
                            <a:latin typeface="Cambria Math" panose="02040503050406030204" pitchFamily="18" charset="0"/>
                          </a:rPr>
                          <m:t>𝒂</m:t>
                        </m:r>
                        <m:r>
                          <a:rPr lang="en-US" altLang="zh-CN" sz="3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&lt;</m:t>
                        </m:r>
                        <m:r>
                          <a:rPr lang="en-US" altLang="zh-CN" sz="3200" i="1">
                            <a:latin typeface="Cambria Math" panose="02040503050406030204" pitchFamily="18" charset="0"/>
                          </a:rPr>
                          <m:t>𝑿</m:t>
                        </m:r>
                        <m:r>
                          <a:rPr lang="en-US" altLang="zh-CN" sz="32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&lt;</m:t>
                        </m:r>
                        <m:r>
                          <a:rPr lang="en-US" altLang="zh-CN" sz="3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𝒃</m:t>
                        </m:r>
                      </m:e>
                    </m:d>
                    <m:r>
                      <a:rPr lang="en-US" altLang="zh-CN" sz="32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US" altLang="zh-CN" sz="3200" i="1" smtClean="0">
                        <a:latin typeface="Cambria Math" panose="02040503050406030204" pitchFamily="18" charset="0"/>
                      </a:rPr>
                      <m:t>𝑭</m:t>
                    </m:r>
                    <m:d>
                      <m:dPr>
                        <m:ctrlPr>
                          <a:rPr lang="en-US" altLang="zh-CN" sz="320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3200" i="1" smtClean="0">
                            <a:latin typeface="Cambria Math" panose="02040503050406030204" pitchFamily="18" charset="0"/>
                          </a:rPr>
                          <m:t>𝒃</m:t>
                        </m:r>
                        <m:r>
                          <a:rPr lang="en-US" altLang="zh-CN" sz="3200" i="1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altLang="zh-CN" sz="3200" i="1">
                            <a:latin typeface="Cambria Math" panose="02040503050406030204" pitchFamily="18" charset="0"/>
                          </a:rPr>
                          <m:t>𝟎</m:t>
                        </m:r>
                      </m:e>
                    </m:d>
                    <m:r>
                      <a:rPr lang="en-US" altLang="zh-CN" sz="3200" b="1" i="0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altLang="zh-CN" sz="3200" i="1">
                        <a:latin typeface="Cambria Math" panose="02040503050406030204" pitchFamily="18" charset="0"/>
                      </a:rPr>
                      <m:t>𝑭</m:t>
                    </m:r>
                    <m:r>
                      <a:rPr lang="en-US" altLang="zh-CN" sz="3200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sz="3200" i="1">
                        <a:latin typeface="Cambria Math" panose="02040503050406030204" pitchFamily="18" charset="0"/>
                      </a:rPr>
                      <m:t>𝒂</m:t>
                    </m:r>
                    <m:r>
                      <a:rPr lang="en-US" altLang="zh-CN" sz="3200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altLang="zh-CN" sz="3200" dirty="0">
                  <a:latin typeface="Verdana" panose="020B0604030504040204" pitchFamily="34" charset="0"/>
                </a:endParaRPr>
              </a:p>
            </p:txBody>
          </p:sp>
        </mc:Choice>
        <mc:Fallback>
          <p:sp>
            <p:nvSpPr>
              <p:cNvPr id="14" name="Rectangle 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821785" y="4387157"/>
                <a:ext cx="7271862" cy="535531"/>
              </a:xfrm>
              <a:prstGeom prst="rect">
                <a:avLst/>
              </a:prstGeom>
              <a:blipFill rotWithShape="1">
                <a:blip r:embed="rId6"/>
                <a:stretch>
                  <a:fillRect l="-1" t="-701" r="8" b="31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857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5" name="Rectangle 5"/>
              <p:cNvSpPr>
                <a:spLocks noChangeArrowheads="1"/>
              </p:cNvSpPr>
              <p:nvPr/>
            </p:nvSpPr>
            <p:spPr bwMode="auto">
              <a:xfrm>
                <a:off x="831310" y="5539682"/>
                <a:ext cx="8095421" cy="53553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857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marL="908050" indent="-436880"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lnSpc>
                    <a:spcPct val="90000"/>
                  </a:lnSpc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n"/>
                </a:pPr>
                <a14:m>
                  <m:oMath xmlns:m="http://schemas.openxmlformats.org/officeDocument/2006/math">
                    <m:r>
                      <a:rPr lang="en-US" altLang="zh-CN" sz="3200" i="1" smtClean="0">
                        <a:latin typeface="Cambria Math" panose="02040503050406030204" pitchFamily="18" charset="0"/>
                      </a:rPr>
                      <m:t>𝑷</m:t>
                    </m:r>
                    <m:d>
                      <m:dPr>
                        <m:ctrlPr>
                          <a:rPr lang="en-US" altLang="zh-CN" sz="32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3200" i="1">
                            <a:latin typeface="Cambria Math" panose="02040503050406030204" pitchFamily="18" charset="0"/>
                          </a:rPr>
                          <m:t>𝒂</m:t>
                        </m:r>
                        <m:r>
                          <a:rPr lang="en-US" altLang="zh-CN" sz="32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≤</m:t>
                        </m:r>
                        <m:r>
                          <a:rPr lang="en-US" altLang="zh-CN" sz="3200" i="1">
                            <a:latin typeface="Cambria Math" panose="02040503050406030204" pitchFamily="18" charset="0"/>
                          </a:rPr>
                          <m:t>𝑿</m:t>
                        </m:r>
                        <m:r>
                          <a:rPr lang="en-US" altLang="zh-CN" sz="32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&lt;</m:t>
                        </m:r>
                        <m:r>
                          <a:rPr lang="en-US" altLang="zh-CN" sz="3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𝒃</m:t>
                        </m:r>
                      </m:e>
                    </m:d>
                    <m:r>
                      <a:rPr lang="en-US" altLang="zh-CN" sz="32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US" altLang="zh-CN" sz="32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𝑭</m:t>
                    </m:r>
                    <m:d>
                      <m:dPr>
                        <m:ctrlPr>
                          <a:rPr lang="en-US" altLang="zh-CN" sz="3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3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𝒃</m:t>
                        </m:r>
                        <m:r>
                          <a:rPr lang="en-US" altLang="zh-CN" sz="32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</m:t>
                        </m:r>
                        <m:r>
                          <a:rPr lang="en-US" altLang="zh-CN" sz="32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𝟎</m:t>
                        </m:r>
                      </m:e>
                    </m:d>
                    <m:r>
                      <a:rPr lang="en-US" altLang="zh-CN" sz="32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</m:t>
                    </m:r>
                    <m:r>
                      <a:rPr lang="en-US" altLang="zh-CN" sz="32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𝑭</m:t>
                    </m:r>
                    <m:r>
                      <a:rPr lang="en-US" altLang="zh-CN" sz="32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r>
                      <a:rPr lang="en-US" altLang="zh-CN" sz="32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𝒂</m:t>
                    </m:r>
                    <m:r>
                      <a:rPr lang="en-US" altLang="zh-CN" sz="32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</m:t>
                    </m:r>
                    <m:r>
                      <a:rPr lang="en-US" altLang="zh-CN" sz="32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𝟎</m:t>
                    </m:r>
                    <m:r>
                      <a:rPr lang="en-US" altLang="zh-CN" sz="32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 </m:t>
                    </m:r>
                  </m:oMath>
                </a14:m>
                <a:endParaRPr lang="en-US" altLang="zh-CN" sz="3200" dirty="0">
                  <a:latin typeface="Verdana" panose="020B0604030504040204" pitchFamily="34" charset="0"/>
                </a:endParaRPr>
              </a:p>
            </p:txBody>
          </p:sp>
        </mc:Choice>
        <mc:Fallback>
          <p:sp>
            <p:nvSpPr>
              <p:cNvPr id="15" name="Rectangle 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831310" y="5539682"/>
                <a:ext cx="8095421" cy="535531"/>
              </a:xfrm>
              <a:prstGeom prst="rect">
                <a:avLst/>
              </a:prstGeom>
              <a:blipFill rotWithShape="1">
                <a:blip r:embed="rId7"/>
                <a:stretch>
                  <a:fillRect l="-1" t="-701" r="7" b="31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857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6" name="Rectangle 6"/>
              <p:cNvSpPr>
                <a:spLocks noChangeArrowheads="1"/>
              </p:cNvSpPr>
              <p:nvPr/>
            </p:nvSpPr>
            <p:spPr bwMode="auto">
              <a:xfrm>
                <a:off x="831310" y="3234632"/>
                <a:ext cx="5957849" cy="53553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857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marL="908050" indent="-436880"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lnSpc>
                    <a:spcPct val="90000"/>
                  </a:lnSpc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n"/>
                </a:pPr>
                <a14:m>
                  <m:oMath xmlns:m="http://schemas.openxmlformats.org/officeDocument/2006/math">
                    <m:r>
                      <a:rPr lang="en-US" altLang="zh-CN" sz="3200" i="1" smtClean="0">
                        <a:latin typeface="Cambria Math" panose="02040503050406030204" pitchFamily="18" charset="0"/>
                      </a:rPr>
                      <m:t>𝑷</m:t>
                    </m:r>
                    <m:d>
                      <m:dPr>
                        <m:ctrlPr>
                          <a:rPr lang="en-US" altLang="zh-CN" sz="32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3200" i="1">
                            <a:latin typeface="Cambria Math" panose="02040503050406030204" pitchFamily="18" charset="0"/>
                          </a:rPr>
                          <m:t>𝑿</m:t>
                        </m:r>
                        <m:r>
                          <a:rPr lang="en-US" altLang="zh-CN" sz="32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≥</m:t>
                        </m:r>
                        <m:r>
                          <a:rPr lang="en-US" altLang="zh-CN" sz="3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𝒃</m:t>
                        </m:r>
                      </m:e>
                    </m:d>
                    <m:r>
                      <a:rPr lang="en-US" altLang="zh-CN" sz="32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US" altLang="zh-CN" sz="3200" b="1" i="0" smtClean="0">
                        <a:latin typeface="Cambria Math" panose="02040503050406030204" pitchFamily="18" charset="0"/>
                      </a:rPr>
                      <m:t>𝟏</m:t>
                    </m:r>
                    <m:r>
                      <a:rPr lang="en-US" altLang="zh-CN" sz="3200" b="1" i="0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altLang="zh-CN" sz="3200" i="1">
                        <a:latin typeface="Cambria Math" panose="02040503050406030204" pitchFamily="18" charset="0"/>
                      </a:rPr>
                      <m:t>𝑭</m:t>
                    </m:r>
                    <m:r>
                      <a:rPr lang="en-US" altLang="zh-CN" sz="3200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sz="3200" i="1">
                        <a:latin typeface="Cambria Math" panose="02040503050406030204" pitchFamily="18" charset="0"/>
                      </a:rPr>
                      <m:t>𝒃</m:t>
                    </m:r>
                    <m:r>
                      <a:rPr lang="en-US" altLang="zh-CN" sz="3200" i="1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altLang="zh-CN" sz="3200" i="1">
                        <a:latin typeface="Cambria Math" panose="02040503050406030204" pitchFamily="18" charset="0"/>
                      </a:rPr>
                      <m:t>𝟎</m:t>
                    </m:r>
                    <m:r>
                      <a:rPr lang="en-US" altLang="zh-CN" sz="3200" i="1">
                        <a:latin typeface="Cambria Math" panose="02040503050406030204" pitchFamily="18" charset="0"/>
                      </a:rPr>
                      <m:t>) </m:t>
                    </m:r>
                  </m:oMath>
                </a14:m>
                <a:endParaRPr lang="en-US" altLang="zh-CN" sz="3200" dirty="0">
                  <a:latin typeface="Verdana" panose="020B0604030504040204" pitchFamily="34" charset="0"/>
                </a:endParaRPr>
              </a:p>
            </p:txBody>
          </p:sp>
        </mc:Choice>
        <mc:Fallback>
          <p:sp>
            <p:nvSpPr>
              <p:cNvPr id="16" name="Rectangle 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831310" y="3234632"/>
                <a:ext cx="5957849" cy="535531"/>
              </a:xfrm>
              <a:prstGeom prst="rect">
                <a:avLst/>
              </a:prstGeom>
              <a:blipFill rotWithShape="1">
                <a:blip r:embed="rId8"/>
                <a:stretch>
                  <a:fillRect l="-2" t="-701" r="6" b="31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857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7" name="矩形 16"/>
              <p:cNvSpPr>
                <a:spLocks noChangeArrowheads="1"/>
              </p:cNvSpPr>
              <p:nvPr/>
            </p:nvSpPr>
            <p:spPr bwMode="auto">
              <a:xfrm>
                <a:off x="891635" y="2761557"/>
                <a:ext cx="4515019" cy="48013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marL="908050" indent="-436880"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lnSpc>
                    <a:spcPct val="90000"/>
                  </a:lnSpc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n"/>
                </a:pPr>
                <a14:m>
                  <m:oMath xmlns:m="http://schemas.openxmlformats.org/officeDocument/2006/math">
                    <m:r>
                      <a:rPr lang="en-US" altLang="zh-CN" i="1" smtClean="0">
                        <a:latin typeface="Cambria Math" panose="02040503050406030204" pitchFamily="18" charset="0"/>
                      </a:rPr>
                      <m:t>𝑷</m:t>
                    </m:r>
                    <m:d>
                      <m:d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𝑿</m:t>
                        </m:r>
                        <m:r>
                          <a:rPr lang="en-US" altLang="zh-CN" b="1" i="1" smtClean="0">
                            <a:latin typeface="Cambria Math" panose="02040503050406030204" pitchFamily="18" charset="0"/>
                          </a:rPr>
                          <m:t>&lt;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𝒃</m:t>
                        </m:r>
                      </m:e>
                    </m:d>
                    <m:r>
                      <a:rPr lang="en-US" altLang="zh-CN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𝑭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𝒃</m:t>
                    </m:r>
                    <m:r>
                      <a:rPr lang="en-US" altLang="zh-CN" b="1" i="1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altLang="zh-CN" b="1" i="1" smtClean="0">
                        <a:latin typeface="Cambria Math" panose="02040503050406030204" pitchFamily="18" charset="0"/>
                      </a:rPr>
                      <m:t>𝟎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) </m:t>
                    </m:r>
                  </m:oMath>
                </a14:m>
                <a:endParaRPr lang="en-US" altLang="zh-CN" dirty="0">
                  <a:latin typeface="Verdana" panose="020B0604030504040204" pitchFamily="34" charset="0"/>
                </a:endParaRPr>
              </a:p>
            </p:txBody>
          </p:sp>
        </mc:Choice>
        <mc:Fallback>
          <p:sp>
            <p:nvSpPr>
              <p:cNvPr id="17" name="矩形 1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891635" y="2761557"/>
                <a:ext cx="4515019" cy="480131"/>
              </a:xfrm>
              <a:prstGeom prst="rect">
                <a:avLst/>
              </a:prstGeom>
              <a:blipFill rotWithShape="1">
                <a:blip r:embed="rId9"/>
                <a:stretch>
                  <a:fillRect l="-2" t="-120" r="6" b="3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8" name="文本框 17"/>
              <p:cNvSpPr txBox="1"/>
              <p:nvPr/>
            </p:nvSpPr>
            <p:spPr>
              <a:xfrm>
                <a:off x="1380343" y="1108751"/>
                <a:ext cx="5789855" cy="64633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altLang="zh-CN" sz="3600" b="0" i="1" smtClean="0">
                        <a:latin typeface="Cambria Math" panose="02040503050406030204" pitchFamily="18" charset="0"/>
                      </a:rPr>
                      <m:t>𝐹</m:t>
                    </m:r>
                    <m:d>
                      <m:dPr>
                        <m:ctrlPr>
                          <a:rPr lang="en-US" altLang="zh-CN" sz="36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36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altLang="zh-CN" sz="36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sz="3600" b="0" i="1" smtClean="0"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US" altLang="zh-CN" sz="3600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sz="3600" b="0" i="1" smtClean="0"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US" altLang="zh-CN" sz="36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</m:t>
                    </m:r>
                    <m:r>
                      <a:rPr lang="en-US" altLang="zh-CN" sz="36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𝑥</m:t>
                    </m:r>
                    <m:r>
                      <a:rPr lang="en-US" altLang="zh-CN" sz="36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zh-CN" altLang="en-US" sz="3600" dirty="0" smtClean="0"/>
                  <a:t> （</a:t>
                </a:r>
                <a14:m>
                  <m:oMath xmlns:m="http://schemas.openxmlformats.org/officeDocument/2006/math">
                    <m:r>
                      <a:rPr lang="en-US" altLang="zh-CN" sz="3600" b="0" i="1" dirty="0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altLang="zh-CN" sz="3600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r>
                      <a:rPr lang="en-US" altLang="zh-CN" sz="3600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𝑅</m:t>
                    </m:r>
                  </m:oMath>
                </a14:m>
                <a:r>
                  <a:rPr lang="zh-CN" altLang="en-US" sz="3600" dirty="0" smtClean="0"/>
                  <a:t>）</a:t>
                </a:r>
                <a:endParaRPr lang="zh-CN" altLang="en-US" sz="3600" dirty="0"/>
              </a:p>
            </p:txBody>
          </p:sp>
        </mc:Choice>
        <mc:Fallback>
          <p:sp>
            <p:nvSpPr>
              <p:cNvPr id="18" name="文本框 1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80343" y="1108751"/>
                <a:ext cx="5789855" cy="646331"/>
              </a:xfrm>
              <a:prstGeom prst="rect">
                <a:avLst/>
              </a:prstGeom>
              <a:blipFill rotWithShape="1">
                <a:blip r:embed="rId10"/>
                <a:stretch>
                  <a:fillRect l="-8" t="-6" r="7" b="8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5235" name="Rectangle 3"/>
          <p:cNvSpPr>
            <a:spLocks noGrp="1"/>
          </p:cNvSpPr>
          <p:nvPr>
            <p:ph idx="1"/>
            <p:custDataLst>
              <p:tags r:id="rId11"/>
            </p:custDataLst>
          </p:nvPr>
        </p:nvSpPr>
        <p:spPr>
          <a:xfrm>
            <a:off x="6837045" y="575310"/>
            <a:ext cx="5085080" cy="533400"/>
          </a:xfrm>
        </p:spPr>
        <p:txBody>
          <a:bodyPr vert="horz" wrap="square" lIns="91440" tIns="45720" rIns="91440" bIns="45720" anchor="t" anchorCtr="0"/>
          <a:p>
            <a:pPr eaLnBrk="1" hangingPunct="1">
              <a:buFont typeface="Wingdings" panose="05000000000000000000" pitchFamily="2" charset="2"/>
              <a:buChar char="n"/>
            </a:pPr>
            <a:r>
              <a:rPr lang="en-US" altLang="zh-CN" sz="2800" b="1" dirty="0"/>
              <a:t>   F(x)</a:t>
            </a:r>
            <a:r>
              <a:rPr lang="zh-CN" altLang="en-US" sz="2800" b="1" dirty="0"/>
              <a:t>是单调不减函数</a:t>
            </a:r>
            <a:endParaRPr lang="zh-CN" altLang="en-US" sz="2800" b="1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95236" name="Text Box 4"/>
              <p:cNvSpPr txBox="1"/>
              <p:nvPr>
                <p:custDataLst>
                  <p:tags r:id="rId12"/>
                </p:custDataLst>
              </p:nvPr>
            </p:nvSpPr>
            <p:spPr>
              <a:xfrm>
                <a:off x="7523480" y="1642110"/>
                <a:ext cx="4055110" cy="521970"/>
              </a:xfrm>
              <a:prstGeom prst="rect">
                <a:avLst/>
              </a:prstGeom>
              <a:noFill/>
              <a:ln w="12700">
                <a:noFill/>
              </a:ln>
            </p:spPr>
            <p:txBody>
              <a:bodyPr wrap="square">
                <a:spAutoFit/>
              </a:bodyPr>
              <a:lstStyle>
                <a:lvl1pPr marL="469900" indent="-469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o"/>
                  <a:defRPr sz="3000" b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908050" indent="-43688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n"/>
                  <a:defRPr sz="26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304925" indent="-395605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o"/>
                  <a:defRPr sz="23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94180" indent="-3873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94230" indent="-398780" algn="l" rtl="0" eaLnBrk="0" fontAlgn="base" hangingPunct="0">
                  <a:spcBef>
                    <a:spcPct val="25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eaLnBrk="1" hangingPunct="1">
                  <a:spcBef>
                    <a:spcPct val="0"/>
                  </a:spcBef>
                  <a:buFont typeface="Wingdings" panose="05000000000000000000" pitchFamily="2" charset="2"/>
                  <a:buChar char="n"/>
                </a:pPr>
                <a:r>
                  <a:rPr lang="en-US" altLang="zh-CN" sz="2800" b="1" dirty="0">
                    <a:latin typeface="宋体" panose="02010600030101010101" pitchFamily="2" charset="-122"/>
                  </a:rPr>
                  <a:t>  0</a:t>
                </a:r>
                <a14:m>
                  <m:oMath xmlns:m="http://schemas.openxmlformats.org/officeDocument/2006/math">
                    <m:r>
                      <a:rPr lang="en-US" altLang="zh-CN" sz="2800" b="1" dirty="0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≤</m:t>
                    </m:r>
                    <m:r>
                      <a:rPr lang="en-US" altLang="zh-CN" sz="2800" b="1" dirty="0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𝐅</m:t>
                    </m:r>
                    <m:r>
                      <a:rPr lang="en-US" altLang="zh-CN" sz="2800" b="1" dirty="0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(</m:t>
                    </m:r>
                    <m:r>
                      <a:rPr lang="en-US" altLang="zh-CN" sz="2800" b="1" dirty="0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𝐱</m:t>
                    </m:r>
                    <m:r>
                      <a:rPr lang="en-US" altLang="zh-CN" sz="2800" b="1" dirty="0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)≤</m:t>
                    </m:r>
                    <m:r>
                      <a:rPr lang="en-US" altLang="zh-CN" sz="2800" b="1" dirty="0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𝟏</m:t>
                    </m:r>
                  </m:oMath>
                </a14:m>
                <a:r>
                  <a:rPr lang="en-US" altLang="zh-CN" sz="2800" b="1" dirty="0">
                    <a:latin typeface="宋体" panose="02010600030101010101" pitchFamily="2" charset="-122"/>
                  </a:rPr>
                  <a:t>,  </a:t>
                </a:r>
                <a:r>
                  <a:rPr lang="zh-CN" altLang="en-US" sz="2800" b="1" dirty="0">
                    <a:latin typeface="宋体" panose="02010600030101010101" pitchFamily="2" charset="-122"/>
                  </a:rPr>
                  <a:t>且    </a:t>
                </a:r>
                <a:endParaRPr lang="zh-CN" altLang="en-US" sz="2000" b="1" dirty="0">
                  <a:latin typeface="楷体_GB2312" pitchFamily="49" charset="-122"/>
                  <a:ea typeface="楷体_GB2312" pitchFamily="49" charset="-122"/>
                </a:endParaRPr>
              </a:p>
            </p:txBody>
          </p:sp>
        </mc:Choice>
        <mc:Fallback>
          <p:sp>
            <p:nvSpPr>
              <p:cNvPr id="95236" name="Text Box 4"/>
              <p:cNvSpPr txBox="1">
                <a:spLocks noRot="1" noChangeAspect="1" noMove="1" noResize="1" noEditPoints="1" noAdjustHandles="1" noChangeArrowheads="1" noChangeShapeType="1" noTextEdit="1"/>
              </p:cNvSpPr>
              <p:nvPr>
                <p:custDataLst>
                  <p:tags r:id="rId13"/>
                </p:custDataLst>
              </p:nvPr>
            </p:nvSpPr>
            <p:spPr>
              <a:xfrm>
                <a:off x="7523480" y="1642110"/>
                <a:ext cx="4055110" cy="521970"/>
              </a:xfrm>
              <a:prstGeom prst="rect">
                <a:avLst/>
              </a:prstGeom>
              <a:blipFill rotWithShape="1">
                <a:blip r:embed="rId14"/>
                <a:stretch>
                  <a:fillRect/>
                </a:stretch>
              </a:blipFill>
              <a:ln w="12700">
                <a:noFill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5247" name="Rectangle 15"/>
          <p:cNvSpPr/>
          <p:nvPr>
            <p:custDataLst>
              <p:tags r:id="rId15"/>
            </p:custDataLst>
          </p:nvPr>
        </p:nvSpPr>
        <p:spPr>
          <a:xfrm>
            <a:off x="7534910" y="1108710"/>
            <a:ext cx="4878705" cy="53340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marL="469900" indent="-469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o"/>
              <a:defRPr sz="30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08050" indent="-43688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n"/>
              <a:defRPr sz="2600">
                <a:solidFill>
                  <a:schemeClr val="tx1"/>
                </a:solidFill>
                <a:latin typeface="+mn-lt"/>
                <a:ea typeface="+mn-ea"/>
              </a:defRPr>
            </a:lvl2pPr>
            <a:lvl3pPr marL="1304925" indent="-39560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o"/>
              <a:defRPr sz="2300">
                <a:solidFill>
                  <a:schemeClr val="tx1"/>
                </a:solidFill>
                <a:latin typeface="+mn-lt"/>
                <a:ea typeface="+mn-ea"/>
              </a:defRPr>
            </a:lvl3pPr>
            <a:lvl4pPr marL="1694180" indent="-3873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94230" indent="-398780" algn="l" rtl="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469900" lvl="0" indent="-469900" eaLnBrk="1" hangingPunct="1">
              <a:buFont typeface="Wingdings" panose="05000000000000000000" pitchFamily="2" charset="2"/>
              <a:buChar char="n"/>
            </a:pPr>
            <a:r>
              <a:rPr lang="en-US" altLang="zh-CN" sz="2800" b="1" dirty="0"/>
              <a:t> F(x)</a:t>
            </a:r>
            <a:r>
              <a:rPr lang="zh-CN" altLang="en-US" sz="2800" b="1" dirty="0"/>
              <a:t>处处右连续</a:t>
            </a:r>
            <a:endParaRPr lang="zh-CN" altLang="en-US" sz="2800" b="1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文本框 2"/>
              <p:cNvSpPr txBox="1"/>
              <p:nvPr/>
            </p:nvSpPr>
            <p:spPr>
              <a:xfrm>
                <a:off x="7887970" y="2180590"/>
                <a:ext cx="3968115" cy="521970"/>
              </a:xfrm>
              <a:prstGeom prst="rect">
                <a:avLst/>
              </a:prstGeom>
              <a:noFill/>
            </p:spPr>
            <p:txBody>
              <a:bodyPr wrap="square" rtlCol="0" anchor="t">
                <a:spAutoFit/>
              </a:bodyPr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800" b="1" dirty="0">
                          <a:latin typeface="Cambria Math" panose="02040503050406030204" pitchFamily="18" charset="0"/>
                          <a:cs typeface="Cambria Math" panose="02040503050406030204" pitchFamily="18" charset="0"/>
                        </a:rPr>
                        <m:t>𝐅</m:t>
                      </m:r>
                      <m:r>
                        <a:rPr lang="en-US" altLang="zh-CN" sz="2800" b="1" dirty="0">
                          <a:latin typeface="Cambria Math" panose="02040503050406030204" pitchFamily="18" charset="0"/>
                          <a:cs typeface="Cambria Math" panose="02040503050406030204" pitchFamily="18" charset="0"/>
                        </a:rPr>
                        <m:t>(</m:t>
                      </m:r>
                      <m:r>
                        <a:rPr lang="en-US" altLang="zh-CN" sz="2800" b="1" dirty="0">
                          <a:latin typeface="Cambria Math" panose="02040503050406030204" pitchFamily="18" charset="0"/>
                          <a:cs typeface="Cambria Math" panose="02040503050406030204" pitchFamily="18" charset="0"/>
                        </a:rPr>
                        <m:t>−</m:t>
                      </m:r>
                      <m:r>
                        <a:rPr lang="en-US" altLang="zh-CN" sz="2800" b="1" dirty="0">
                          <a:latin typeface="Cambria Math" panose="02040503050406030204" pitchFamily="18" charset="0"/>
                          <a:cs typeface="Cambria Math" panose="02040503050406030204" pitchFamily="18" charset="0"/>
                        </a:rPr>
                        <m:t>∞</m:t>
                      </m:r>
                      <m:r>
                        <a:rPr lang="en-US" altLang="zh-CN" sz="2800" b="1" dirty="0">
                          <a:latin typeface="Cambria Math" panose="02040503050406030204" pitchFamily="18" charset="0"/>
                          <a:cs typeface="Cambria Math" panose="02040503050406030204" pitchFamily="18" charset="0"/>
                        </a:rPr>
                        <m:t>)</m:t>
                      </m:r>
                      <m:r>
                        <a:rPr lang="en-US" altLang="zh-CN" sz="2800" b="1" dirty="0">
                          <a:latin typeface="Cambria Math" panose="02040503050406030204" pitchFamily="18" charset="0"/>
                          <a:cs typeface="Cambria Math" panose="02040503050406030204" pitchFamily="18" charset="0"/>
                        </a:rPr>
                        <m:t>=</m:t>
                      </m:r>
                      <m:r>
                        <a:rPr lang="en-US" altLang="zh-CN" sz="2800" b="1" dirty="0">
                          <a:latin typeface="Cambria Math" panose="02040503050406030204" pitchFamily="18" charset="0"/>
                          <a:cs typeface="Cambria Math" panose="02040503050406030204" pitchFamily="18" charset="0"/>
                        </a:rPr>
                        <m:t>𝟎</m:t>
                      </m:r>
                      <m:r>
                        <a:rPr lang="en-US" altLang="zh-CN" sz="2800" b="1" dirty="0">
                          <a:latin typeface="Cambria Math" panose="02040503050406030204" pitchFamily="18" charset="0"/>
                          <a:cs typeface="Cambria Math" panose="02040503050406030204" pitchFamily="18" charset="0"/>
                        </a:rPr>
                        <m:t>,</m:t>
                      </m:r>
                      <m:r>
                        <a:rPr lang="en-US" altLang="zh-CN" sz="2800" b="1" dirty="0">
                          <a:latin typeface="Cambria Math" panose="02040503050406030204" pitchFamily="18" charset="0"/>
                          <a:cs typeface="Cambria Math" panose="02040503050406030204" pitchFamily="18" charset="0"/>
                        </a:rPr>
                        <m:t>𝐅</m:t>
                      </m:r>
                      <m:r>
                        <a:rPr lang="en-US" altLang="zh-CN" sz="2800" b="1" dirty="0">
                          <a:latin typeface="Cambria Math" panose="02040503050406030204" pitchFamily="18" charset="0"/>
                          <a:cs typeface="Cambria Math" panose="02040503050406030204" pitchFamily="18" charset="0"/>
                        </a:rPr>
                        <m:t>(</m:t>
                      </m:r>
                      <m:r>
                        <a:rPr lang="en-US" altLang="zh-CN" sz="2800" b="1" dirty="0">
                          <a:latin typeface="Cambria Math" panose="02040503050406030204" pitchFamily="18" charset="0"/>
                          <a:cs typeface="Cambria Math" panose="02040503050406030204" pitchFamily="18" charset="0"/>
                        </a:rPr>
                        <m:t>+</m:t>
                      </m:r>
                      <m:r>
                        <a:rPr lang="en-US" altLang="zh-CN" sz="2800" b="1" dirty="0">
                          <a:latin typeface="Cambria Math" panose="02040503050406030204" pitchFamily="18" charset="0"/>
                          <a:cs typeface="Cambria Math" panose="02040503050406030204" pitchFamily="18" charset="0"/>
                        </a:rPr>
                        <m:t>∞)=</m:t>
                      </m:r>
                      <m:r>
                        <a:rPr lang="en-US" altLang="zh-CN" sz="2800" b="1" dirty="0">
                          <a:latin typeface="Cambria Math" panose="02040503050406030204" pitchFamily="18" charset="0"/>
                          <a:cs typeface="Cambria Math" panose="02040503050406030204" pitchFamily="18" charset="0"/>
                        </a:rPr>
                        <m:t>𝟏</m:t>
                      </m:r>
                    </m:oMath>
                  </m:oMathPara>
                </a14:m>
                <a:endParaRPr lang="en-US" altLang="zh-CN" sz="2800" b="1" dirty="0">
                  <a:latin typeface="Cambria Math" panose="02040503050406030204" pitchFamily="18" charset="0"/>
                  <a:cs typeface="Cambria Math" panose="02040503050406030204" pitchFamily="18" charset="0"/>
                </a:endParaRPr>
              </a:p>
            </p:txBody>
          </p:sp>
        </mc:Choice>
        <mc:Fallback>
          <p:sp>
            <p:nvSpPr>
              <p:cNvPr id="3" name="文本框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87970" y="2180590"/>
                <a:ext cx="3968115" cy="521970"/>
              </a:xfrm>
              <a:prstGeom prst="rect">
                <a:avLst/>
              </a:prstGeom>
              <a:blipFill rotWithShape="1">
                <a:blip r:embed="rId1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235">
                                            <p:txEl>
                                              <p:charRg st="0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95235">
                                            <p:txEl>
                                              <p:charRg st="0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95235">
                                            <p:txEl>
                                              <p:charRg st="0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247">
                                            <p:txEl>
                                              <p:charRg st="0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95247">
                                            <p:txEl>
                                              <p:charRg st="0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95247">
                                            <p:txEl>
                                              <p:charRg st="0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2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952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952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47" dur="2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4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5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0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1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6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7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2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3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  <p:bldP spid="18" grpId="0"/>
      <p:bldP spid="95235" grpId="0" build="p"/>
      <p:bldP spid="95236" grpId="0"/>
      <p:bldP spid="95247" grpId="0" build="p"/>
      <p:bldP spid="3" grpId="0"/>
      <p:bldP spid="3" grpId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3" name="对象 2"/>
          <p:cNvGraphicFramePr>
            <a:graphicFrameLocks noChangeAspect="1"/>
          </p:cNvGraphicFramePr>
          <p:nvPr/>
        </p:nvGraphicFramePr>
        <p:xfrm>
          <a:off x="512705" y="524615"/>
          <a:ext cx="10663835" cy="340619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99" name="" r:id="rId1" imgW="4559300" imgH="1459865" progId="Equation.3">
                  <p:embed/>
                </p:oleObj>
              </mc:Choice>
              <mc:Fallback>
                <p:oleObj name="" r:id="rId1" imgW="4559300" imgH="1459865" progId="Equation.3">
                  <p:embed/>
                  <p:pic>
                    <p:nvPicPr>
                      <p:cNvPr id="0" name="对象 2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2705" y="524615"/>
                        <a:ext cx="10663835" cy="3406194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mc:AlternateContent xmlns:mc="http://schemas.openxmlformats.org/markup-compatibility/2006">
        <mc:Choice xmlns:a14="http://schemas.microsoft.com/office/drawing/2010/main" Requires="a14">
          <p:sp>
            <p:nvSpPr>
              <p:cNvPr id="4" name="文本框 3"/>
              <p:cNvSpPr txBox="1"/>
              <p:nvPr/>
            </p:nvSpPr>
            <p:spPr>
              <a:xfrm flipH="1">
                <a:off x="1187686" y="4400537"/>
                <a:ext cx="4021183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3600" b="0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altLang="zh-CN" sz="3600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3600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altLang="zh-CN" sz="3600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US" altLang="zh-CN" sz="3600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&lt;</m:t>
                          </m:r>
                          <m:r>
                            <a:rPr lang="en-US" altLang="zh-CN" sz="3600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𝑋</m:t>
                          </m:r>
                          <m:r>
                            <a:rPr lang="en-US" altLang="zh-CN" sz="3600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≤</m:t>
                          </m:r>
                          <m:r>
                            <a:rPr lang="en-US" altLang="zh-CN" sz="3600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  <m:r>
                            <m:rPr>
                              <m:nor/>
                            </m:rPr>
                            <a:rPr lang="zh-CN" altLang="en-US" sz="3600" dirty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</m:e>
                      </m:d>
                      <m:r>
                        <a:rPr lang="en-US" altLang="zh-CN" sz="3600" b="0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zh-CN" altLang="en-US" sz="3600" dirty="0">
                  <a:solidFill>
                    <a:srgbClr val="0070C0"/>
                  </a:solidFill>
                </a:endParaRPr>
              </a:p>
            </p:txBody>
          </p:sp>
        </mc:Choice>
        <mc:Fallback>
          <p:sp>
            <p:nvSpPr>
              <p:cNvPr id="4" name="文本框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1187686" y="4400537"/>
                <a:ext cx="4021183" cy="646331"/>
              </a:xfrm>
              <a:prstGeom prst="rect">
                <a:avLst/>
              </a:prstGeom>
              <a:blipFill rotWithShape="1">
                <a:blip r:embed="rId3"/>
                <a:stretch>
                  <a:fillRect l="-6" t="-96" r="15" b="8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" name="文本框 4"/>
              <p:cNvSpPr txBox="1"/>
              <p:nvPr/>
            </p:nvSpPr>
            <p:spPr>
              <a:xfrm>
                <a:off x="4938136" y="4413598"/>
                <a:ext cx="3187924" cy="64633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3600" b="0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𝐹</m:t>
                      </m:r>
                      <m:d>
                        <m:dPr>
                          <m:ctrlPr>
                            <a:rPr lang="en-US" altLang="zh-CN" sz="3600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3600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e>
                      </m:d>
                      <m:r>
                        <a:rPr lang="en-US" altLang="zh-CN" sz="3600" b="0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altLang="zh-CN" sz="3600" b="0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𝐹</m:t>
                      </m:r>
                      <m:r>
                        <a:rPr lang="en-US" altLang="zh-CN" sz="3600" b="0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(−</m:t>
                      </m:r>
                      <m:r>
                        <a:rPr lang="en-US" altLang="zh-CN" sz="3600" b="0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en-US" altLang="zh-CN" sz="3600" b="0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zh-CN" altLang="en-US" sz="3600" dirty="0">
                  <a:solidFill>
                    <a:srgbClr val="0070C0"/>
                  </a:solidFill>
                </a:endParaRPr>
              </a:p>
            </p:txBody>
          </p:sp>
        </mc:Choice>
        <mc:Fallback>
          <p:sp>
            <p:nvSpPr>
              <p:cNvPr id="5" name="文本框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38136" y="4413598"/>
                <a:ext cx="3187924" cy="646331"/>
              </a:xfrm>
              <a:prstGeom prst="rect">
                <a:avLst/>
              </a:prstGeom>
              <a:blipFill rotWithShape="1">
                <a:blip r:embed="rId4"/>
                <a:stretch>
                  <a:fillRect l="-12" t="-54" r="19" b="3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" name="文本框 5"/>
              <p:cNvSpPr txBox="1"/>
              <p:nvPr/>
            </p:nvSpPr>
            <p:spPr>
              <a:xfrm>
                <a:off x="7799670" y="4446703"/>
                <a:ext cx="1763303" cy="55399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3600" b="0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sz="3600" b="0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en-US" altLang="zh-CN" sz="3600" b="0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altLang="zh-CN" sz="3600" b="0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zh-CN" altLang="en-US" sz="3600" dirty="0">
                  <a:solidFill>
                    <a:srgbClr val="0070C0"/>
                  </a:solidFill>
                </a:endParaRPr>
              </a:p>
            </p:txBody>
          </p:sp>
        </mc:Choice>
        <mc:Fallback>
          <p:sp>
            <p:nvSpPr>
              <p:cNvPr id="6" name="文本框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99670" y="4446703"/>
                <a:ext cx="1763303" cy="553998"/>
              </a:xfrm>
              <a:prstGeom prst="rect">
                <a:avLst/>
              </a:prstGeom>
              <a:blipFill rotWithShape="1">
                <a:blip r:embed="rId5"/>
                <a:stretch>
                  <a:fillRect l="-34" t="-78" r="29" b="1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" name="文本框 6"/>
              <p:cNvSpPr txBox="1"/>
              <p:nvPr/>
            </p:nvSpPr>
            <p:spPr>
              <a:xfrm>
                <a:off x="9458779" y="4446703"/>
                <a:ext cx="831959" cy="55399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3600" b="0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sz="3600" b="0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zh-CN" altLang="en-US" sz="3600" dirty="0">
                  <a:solidFill>
                    <a:srgbClr val="0070C0"/>
                  </a:solidFill>
                </a:endParaRPr>
              </a:p>
            </p:txBody>
          </p:sp>
        </mc:Choice>
        <mc:Fallback>
          <p:sp>
            <p:nvSpPr>
              <p:cNvPr id="7" name="文本框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458779" y="4446703"/>
                <a:ext cx="831959" cy="553998"/>
              </a:xfrm>
              <a:prstGeom prst="rect">
                <a:avLst/>
              </a:prstGeom>
              <a:blipFill rotWithShape="1">
                <a:blip r:embed="rId6"/>
                <a:stretch>
                  <a:fillRect l="-55" t="-78" r="-5962" b="1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文本框 7"/>
          <p:cNvSpPr txBox="1"/>
          <p:nvPr/>
        </p:nvSpPr>
        <p:spPr>
          <a:xfrm>
            <a:off x="10529749" y="3284478"/>
            <a:ext cx="82731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600" b="1" dirty="0"/>
              <a:t>A</a:t>
            </a:r>
            <a:endParaRPr lang="zh-CN" altLang="en-US" sz="3600" b="1" dirty="0"/>
          </a:p>
        </p:txBody>
      </p:sp>
      <p:sp>
        <p:nvSpPr>
          <p:cNvPr id="9" name="文本框 17"/>
          <p:cNvSpPr txBox="1"/>
          <p:nvPr/>
        </p:nvSpPr>
        <p:spPr>
          <a:xfrm>
            <a:off x="682339" y="413607"/>
            <a:ext cx="646331" cy="646331"/>
          </a:xfrm>
          <a:prstGeom prst="rect">
            <a:avLst/>
          </a:prstGeom>
          <a:solidFill>
            <a:srgbClr val="92D050"/>
          </a:solidFill>
        </p:spPr>
        <p:txBody>
          <a:bodyPr wrap="none" rtlCol="0">
            <a:spAutoFit/>
          </a:bodyPr>
          <a:lstStyle/>
          <a:p>
            <a:r>
              <a:rPr lang="zh-CN" altLang="en-US" sz="3600" dirty="0" smtClean="0">
                <a:solidFill>
                  <a:srgbClr val="FFFF00"/>
                </a:solidFill>
              </a:rPr>
              <a:t>例</a:t>
            </a:r>
            <a:endParaRPr lang="zh-CN" altLang="en-US" sz="3600" dirty="0">
              <a:solidFill>
                <a:srgbClr val="FFFF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6" grpId="0"/>
      <p:bldP spid="7" grpId="0"/>
      <p:bldP spid="8" grpId="0"/>
      <p:bldP spid="9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对象 1"/>
          <p:cNvGraphicFramePr>
            <a:graphicFrameLocks noChangeAspect="1"/>
          </p:cNvGraphicFramePr>
          <p:nvPr/>
        </p:nvGraphicFramePr>
        <p:xfrm>
          <a:off x="123696" y="720347"/>
          <a:ext cx="11424909" cy="112188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327" name="" r:id="rId1" imgW="4724400" imgH="457200" progId="Equation.3">
                  <p:embed/>
                </p:oleObj>
              </mc:Choice>
              <mc:Fallback>
                <p:oleObj name="" r:id="rId1" imgW="4724400" imgH="457200" progId="Equation.3">
                  <p:embed/>
                  <p:pic>
                    <p:nvPicPr>
                      <p:cNvPr id="0" name="对象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3696" y="720347"/>
                        <a:ext cx="11424909" cy="1121885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mc:AlternateContent xmlns:mc="http://schemas.openxmlformats.org/markup-compatibility/2006">
        <mc:Choice xmlns:a14="http://schemas.microsoft.com/office/drawing/2010/main" Requires="a14">
          <p:sp>
            <p:nvSpPr>
              <p:cNvPr id="3" name="文本框 2"/>
              <p:cNvSpPr txBox="1"/>
              <p:nvPr/>
            </p:nvSpPr>
            <p:spPr>
              <a:xfrm>
                <a:off x="879947" y="2247910"/>
                <a:ext cx="3697422" cy="49244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3200" b="1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𝑭</m:t>
                      </m:r>
                      <m:d>
                        <m:dPr>
                          <m:ctrlPr>
                            <a:rPr lang="en-US" altLang="zh-CN" sz="3200" b="1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3200" b="1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e>
                      </m:d>
                      <m:r>
                        <a:rPr lang="en-US" altLang="zh-CN" sz="3200" b="1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sz="3200" b="1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𝑷</m:t>
                      </m:r>
                      <m:d>
                        <m:dPr>
                          <m:ctrlPr>
                            <a:rPr lang="en-US" altLang="zh-CN" sz="3200" b="1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3200" b="1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𝑿</m:t>
                          </m:r>
                          <m:r>
                            <a:rPr lang="en-US" altLang="zh-CN" sz="3200" b="1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≤</m:t>
                          </m:r>
                          <m:r>
                            <a:rPr lang="en-US" altLang="zh-CN" sz="3200" b="1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𝟐</m:t>
                          </m:r>
                        </m:e>
                      </m:d>
                      <m:r>
                        <a:rPr lang="en-US" altLang="zh-CN" sz="3200" b="1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zh-CN" altLang="en-US" sz="3200" b="1" dirty="0">
                  <a:solidFill>
                    <a:srgbClr val="0070C0"/>
                  </a:solidFill>
                </a:endParaRPr>
              </a:p>
            </p:txBody>
          </p:sp>
        </mc:Choice>
        <mc:Fallback>
          <p:sp>
            <p:nvSpPr>
              <p:cNvPr id="3" name="文本框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9947" y="2247910"/>
                <a:ext cx="3697422" cy="492443"/>
              </a:xfrm>
              <a:prstGeom prst="rect">
                <a:avLst/>
              </a:prstGeom>
              <a:blipFill rotWithShape="1">
                <a:blip r:embed="rId3"/>
                <a:stretch>
                  <a:fillRect l="-13" t="-2" r="8" b="6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9" name="文本框 8"/>
              <p:cNvSpPr txBox="1"/>
              <p:nvPr/>
            </p:nvSpPr>
            <p:spPr>
              <a:xfrm>
                <a:off x="4424251" y="1942057"/>
                <a:ext cx="2192331" cy="111671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trlPr>
                            <a:rPr lang="zh-CN" altLang="en-US" sz="3200" b="1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altLang="zh-CN" sz="3200" b="1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altLang="zh-CN" sz="3200" b="1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∞</m:t>
                          </m:r>
                        </m:sub>
                        <m:sup>
                          <m:r>
                            <a:rPr lang="en-US" altLang="zh-CN" sz="3200" b="1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  <m:e>
                          <m:r>
                            <a:rPr lang="en-US" altLang="zh-CN" sz="3200" b="1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𝒇</m:t>
                          </m:r>
                          <m:d>
                            <m:dPr>
                              <m:ctrlPr>
                                <a:rPr lang="en-US" altLang="zh-CN" sz="3200" b="1" i="1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sz="3200" b="1" i="1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</m:e>
                          </m:d>
                          <m:r>
                            <a:rPr lang="en-US" altLang="zh-CN" sz="3200" b="1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𝒅𝒙</m:t>
                          </m:r>
                        </m:e>
                      </m:nary>
                    </m:oMath>
                  </m:oMathPara>
                </a14:m>
                <a:endParaRPr lang="zh-CN" altLang="en-US" sz="3200" b="1" dirty="0">
                  <a:solidFill>
                    <a:srgbClr val="0070C0"/>
                  </a:solidFill>
                </a:endParaRPr>
              </a:p>
            </p:txBody>
          </p:sp>
        </mc:Choice>
        <mc:Fallback>
          <p:sp>
            <p:nvSpPr>
              <p:cNvPr id="9" name="文本框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24251" y="1942057"/>
                <a:ext cx="2192331" cy="1116716"/>
              </a:xfrm>
              <a:prstGeom prst="rect">
                <a:avLst/>
              </a:prstGeom>
              <a:blipFill rotWithShape="1">
                <a:blip r:embed="rId4"/>
                <a:stretch>
                  <a:fillRect l="-9" t="-20" r="-1917" b="5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10" name="Object 5"/>
          <p:cNvGraphicFramePr/>
          <p:nvPr/>
        </p:nvGraphicFramePr>
        <p:xfrm>
          <a:off x="1446895" y="4998651"/>
          <a:ext cx="5954712" cy="1295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328" name="" r:id="rId5" imgW="1394460" imgH="283845" progId="Equation.DSMT4">
                  <p:embed/>
                </p:oleObj>
              </mc:Choice>
              <mc:Fallback>
                <p:oleObj name="" r:id="rId5" imgW="1394460" imgH="283845" progId="Equation.DSMT4">
                  <p:embed/>
                  <p:pic>
                    <p:nvPicPr>
                      <p:cNvPr id="0" name="Object 5"/>
                      <p:cNvPicPr>
                        <a:picLocks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46895" y="4998651"/>
                        <a:ext cx="5954712" cy="1295400"/>
                      </a:xfrm>
                      <a:prstGeom prst="rect">
                        <a:avLst/>
                      </a:prstGeom>
                      <a:noFill/>
                      <a:ln w="9525" cap="rnd">
                        <a:solidFill>
                          <a:schemeClr val="tx1"/>
                        </a:solidFill>
                        <a:prstDash val="sysDot"/>
                        <a:miter lim="800000"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mc:AlternateContent xmlns:mc="http://schemas.openxmlformats.org/markup-compatibility/2006">
        <mc:Choice xmlns:a14="http://schemas.microsoft.com/office/drawing/2010/main" Requires="a14">
          <p:sp>
            <p:nvSpPr>
              <p:cNvPr id="11" name="文本框 10"/>
              <p:cNvSpPr txBox="1"/>
              <p:nvPr/>
            </p:nvSpPr>
            <p:spPr>
              <a:xfrm>
                <a:off x="6488406" y="1942057"/>
                <a:ext cx="2698303" cy="111908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3200" b="1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trlPr>
                            <a:rPr lang="en-US" altLang="zh-CN" sz="3200" b="1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altLang="zh-CN" sz="3200" b="1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𝟎</m:t>
                          </m:r>
                        </m:sub>
                        <m:sup>
                          <m:r>
                            <a:rPr lang="en-US" altLang="zh-CN" sz="3200" b="1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  <m:e>
                          <m:r>
                            <a:rPr lang="en-US" altLang="zh-CN" sz="3200" b="1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  <m:sSup>
                            <m:sSupPr>
                              <m:ctrlPr>
                                <a:rPr lang="en-US" altLang="zh-CN" sz="3200" b="1" i="1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sz="3200" b="1" i="1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𝒆</m:t>
                              </m:r>
                            </m:e>
                            <m:sup>
                              <m:r>
                                <a:rPr lang="en-US" altLang="zh-CN" sz="3200" b="1" i="1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altLang="zh-CN" sz="3200" b="1" i="1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  <m:r>
                                <a:rPr lang="en-US" altLang="zh-CN" sz="3200" b="1" i="1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</m:sup>
                          </m:sSup>
                          <m:r>
                            <a:rPr lang="en-US" altLang="zh-CN" sz="3200" b="1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𝒅𝒙</m:t>
                          </m:r>
                        </m:e>
                      </m:nary>
                    </m:oMath>
                  </m:oMathPara>
                </a14:m>
                <a:endParaRPr lang="zh-CN" altLang="en-US" sz="3200" b="1" dirty="0">
                  <a:solidFill>
                    <a:srgbClr val="0070C0"/>
                  </a:solidFill>
                </a:endParaRPr>
              </a:p>
            </p:txBody>
          </p:sp>
        </mc:Choice>
        <mc:Fallback>
          <p:sp>
            <p:nvSpPr>
              <p:cNvPr id="11" name="文本框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88406" y="1942057"/>
                <a:ext cx="2698303" cy="1119089"/>
              </a:xfrm>
              <a:prstGeom prst="rect">
                <a:avLst/>
              </a:prstGeom>
              <a:blipFill rotWithShape="1">
                <a:blip r:embed="rId7"/>
                <a:stretch>
                  <a:fillRect l="-23" t="-20" r="-370" b="4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2" name="文本框 11"/>
              <p:cNvSpPr txBox="1"/>
              <p:nvPr/>
            </p:nvSpPr>
            <p:spPr>
              <a:xfrm>
                <a:off x="4210593" y="3551709"/>
                <a:ext cx="2914131" cy="52661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altLang="zh-CN" sz="3200" b="1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altLang="zh-CN" sz="3200" b="1" dirty="0" smtClean="0">
                    <a:solidFill>
                      <a:srgbClr val="0070C0"/>
                    </a:solidFill>
                  </a:rPr>
                  <a:t>-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3200" b="1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3200" b="1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𝒆</m:t>
                        </m:r>
                      </m:e>
                      <m:sup>
                        <m:r>
                          <a:rPr lang="en-US" altLang="zh-CN" sz="3200" b="1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altLang="zh-CN" sz="3200" b="1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𝟐</m:t>
                        </m:r>
                        <m:r>
                          <a:rPr lang="en-US" altLang="zh-CN" sz="3200" b="1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𝒙</m:t>
                        </m:r>
                      </m:sup>
                    </m:sSup>
                    <m:sSubSup>
                      <m:sSubSupPr>
                        <m:ctrlPr>
                          <a:rPr lang="en-US" altLang="zh-CN" sz="3200" b="1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zh-CN" sz="3200" b="1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e>
                      <m:sub>
                        <m:r>
                          <a:rPr lang="en-US" altLang="zh-CN" sz="3200" b="1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𝟎</m:t>
                        </m:r>
                      </m:sub>
                      <m:sup>
                        <m:r>
                          <a:rPr lang="en-US" altLang="zh-CN" sz="3200" b="1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𝟐</m:t>
                        </m:r>
                      </m:sup>
                    </m:sSubSup>
                  </m:oMath>
                </a14:m>
                <a:r>
                  <a:rPr lang="en-US" altLang="zh-CN" sz="3200" b="1" dirty="0" smtClean="0">
                    <a:solidFill>
                      <a:srgbClr val="0070C0"/>
                    </a:solidFill>
                  </a:rPr>
                  <a:t>=1-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3200" b="1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3200" b="1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𝒆</m:t>
                        </m:r>
                      </m:e>
                      <m:sup>
                        <m:r>
                          <a:rPr lang="en-US" altLang="zh-CN" sz="3200" b="1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altLang="zh-CN" sz="3200" b="1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𝟒</m:t>
                        </m:r>
                      </m:sup>
                    </m:sSup>
                  </m:oMath>
                </a14:m>
                <a:endParaRPr lang="zh-CN" altLang="en-US" sz="3200" b="1" dirty="0">
                  <a:solidFill>
                    <a:srgbClr val="0070C0"/>
                  </a:solidFill>
                </a:endParaRPr>
              </a:p>
            </p:txBody>
          </p:sp>
        </mc:Choice>
        <mc:Fallback>
          <p:sp>
            <p:nvSpPr>
              <p:cNvPr id="12" name="文本框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10593" y="3551709"/>
                <a:ext cx="2914131" cy="526619"/>
              </a:xfrm>
              <a:prstGeom prst="rect">
                <a:avLst/>
              </a:prstGeom>
              <a:blipFill rotWithShape="1">
                <a:blip r:embed="rId8"/>
                <a:stretch>
                  <a:fillRect l="-19" t="-29" r="1" b="-391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4" name="矩形 13"/>
              <p:cNvSpPr/>
              <p:nvPr/>
            </p:nvSpPr>
            <p:spPr>
              <a:xfrm>
                <a:off x="2459069" y="1217821"/>
                <a:ext cx="1668793" cy="58477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en-US" altLang="zh-CN" sz="3200" dirty="0"/>
                  <a:t>1-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32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3200" i="1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US" altLang="zh-CN" sz="3200" i="1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altLang="zh-CN" sz="3200" i="1"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</m:oMath>
                </a14:m>
                <a:endParaRPr lang="zh-CN" altLang="en-US" sz="3200" dirty="0"/>
              </a:p>
            </p:txBody>
          </p:sp>
        </mc:Choice>
        <mc:Fallback>
          <p:sp>
            <p:nvSpPr>
              <p:cNvPr id="14" name="矩形 1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59069" y="1217821"/>
                <a:ext cx="1668793" cy="584775"/>
              </a:xfrm>
              <a:prstGeom prst="rect">
                <a:avLst/>
              </a:prstGeom>
              <a:blipFill rotWithShape="1">
                <a:blip r:embed="rId9"/>
                <a:stretch>
                  <a:fillRect l="-21" t="-90" r="22" b="8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文本框 17"/>
          <p:cNvSpPr txBox="1"/>
          <p:nvPr/>
        </p:nvSpPr>
        <p:spPr>
          <a:xfrm>
            <a:off x="247624" y="571490"/>
            <a:ext cx="646331" cy="646331"/>
          </a:xfrm>
          <a:prstGeom prst="rect">
            <a:avLst/>
          </a:prstGeom>
          <a:solidFill>
            <a:srgbClr val="92D050"/>
          </a:solidFill>
        </p:spPr>
        <p:txBody>
          <a:bodyPr wrap="none" rtlCol="0">
            <a:spAutoFit/>
          </a:bodyPr>
          <a:lstStyle/>
          <a:p>
            <a:r>
              <a:rPr lang="zh-CN" altLang="en-US" sz="3600" dirty="0" smtClean="0">
                <a:solidFill>
                  <a:srgbClr val="FFFF00"/>
                </a:solidFill>
              </a:rPr>
              <a:t>例</a:t>
            </a:r>
            <a:endParaRPr lang="zh-CN" altLang="en-US" sz="3600" dirty="0">
              <a:solidFill>
                <a:srgbClr val="FFFF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9" grpId="0"/>
      <p:bldP spid="11" grpId="0"/>
      <p:bldP spid="12" grpId="0"/>
      <p:bldP spid="14" grpId="0"/>
      <p:bldP spid="13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5210" y="1165860"/>
            <a:ext cx="9384030" cy="3256915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5" name="文本框 4"/>
              <p:cNvSpPr txBox="1"/>
              <p:nvPr/>
            </p:nvSpPr>
            <p:spPr>
              <a:xfrm>
                <a:off x="1320960" y="4440020"/>
                <a:ext cx="4319901" cy="156587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3600" b="1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𝑭</m:t>
                      </m:r>
                      <m:d>
                        <m:dPr>
                          <m:ctrlPr>
                            <a:rPr lang="en-US" altLang="zh-CN" sz="3600" b="1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altLang="zh-CN" sz="3600" b="1" i="1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zh-CN" sz="3600" b="1" i="1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num>
                            <m:den>
                              <m:r>
                                <a:rPr lang="en-US" altLang="zh-CN" sz="3600" b="1" i="1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den>
                          </m:f>
                        </m:e>
                      </m:d>
                      <m:r>
                        <a:rPr lang="en-US" altLang="zh-CN" sz="3600" b="1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trlPr>
                            <a:rPr lang="zh-CN" altLang="en-US" sz="3600" b="1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altLang="zh-CN" sz="3600" b="1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altLang="zh-CN" sz="3600" b="1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∞</m:t>
                          </m:r>
                        </m:sub>
                        <m:sup>
                          <m:f>
                            <m:fPr>
                              <m:ctrlPr>
                                <a:rPr lang="en-US" altLang="zh-CN" sz="3600" b="1" i="1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zh-CN" sz="3600" b="1" i="1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num>
                            <m:den>
                              <m:r>
                                <a:rPr lang="en-US" altLang="zh-CN" sz="3600" b="1" i="1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den>
                          </m:f>
                        </m:sup>
                        <m:e>
                          <m:r>
                            <a:rPr lang="en-US" altLang="zh-CN" sz="3600" b="1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𝒇</m:t>
                          </m:r>
                          <m:d>
                            <m:dPr>
                              <m:ctrlPr>
                                <a:rPr lang="en-US" altLang="zh-CN" sz="3600" b="1" i="1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sz="3600" b="1" i="1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</m:e>
                          </m:d>
                          <m:r>
                            <a:rPr lang="en-US" altLang="zh-CN" sz="3600" b="1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𝒅𝒙</m:t>
                          </m:r>
                        </m:e>
                      </m:nary>
                    </m:oMath>
                  </m:oMathPara>
                </a14:m>
                <a:endParaRPr lang="zh-CN" altLang="en-US" sz="3600" b="1" dirty="0">
                  <a:solidFill>
                    <a:srgbClr val="002060"/>
                  </a:solidFill>
                </a:endParaRPr>
              </a:p>
            </p:txBody>
          </p:sp>
        </mc:Choice>
        <mc:Fallback>
          <p:sp>
            <p:nvSpPr>
              <p:cNvPr id="5" name="文本框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20960" y="4440020"/>
                <a:ext cx="4319901" cy="1565878"/>
              </a:xfrm>
              <a:prstGeom prst="rect">
                <a:avLst/>
              </a:prstGeom>
              <a:blipFill rotWithShape="1">
                <a:blip r:embed="rId2"/>
                <a:stretch>
                  <a:fillRect l="-4" t="-6" r="4" b="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" name="矩形 5"/>
              <p:cNvSpPr/>
              <p:nvPr/>
            </p:nvSpPr>
            <p:spPr>
              <a:xfrm>
                <a:off x="5363334" y="4448291"/>
                <a:ext cx="2187330" cy="154850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3600" b="1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trlPr>
                            <a:rPr lang="zh-CN" altLang="en-US" sz="3600" b="1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altLang="zh-CN" sz="3600" b="1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𝟎</m:t>
                          </m:r>
                        </m:sub>
                        <m:sup>
                          <m:f>
                            <m:fPr>
                              <m:ctrlPr>
                                <a:rPr lang="en-US" altLang="zh-CN" sz="3600" b="1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zh-CN" sz="3600" b="1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num>
                            <m:den>
                              <m:r>
                                <a:rPr lang="en-US" altLang="zh-CN" sz="3600" b="1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den>
                          </m:f>
                        </m:sup>
                        <m:e>
                          <m:r>
                            <a:rPr lang="en-US" altLang="zh-CN" sz="3600" b="1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𝒙𝒅𝒙</m:t>
                          </m:r>
                        </m:e>
                      </m:nary>
                    </m:oMath>
                  </m:oMathPara>
                </a14:m>
                <a:endParaRPr lang="zh-CN" altLang="en-US" sz="3600" b="1" dirty="0">
                  <a:solidFill>
                    <a:srgbClr val="002060"/>
                  </a:solidFill>
                </a:endParaRPr>
              </a:p>
            </p:txBody>
          </p:sp>
        </mc:Choice>
        <mc:Fallback>
          <p:sp>
            <p:nvSpPr>
              <p:cNvPr id="6" name="矩形 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63334" y="4448291"/>
                <a:ext cx="2187330" cy="1548501"/>
              </a:xfrm>
              <a:prstGeom prst="rect">
                <a:avLst/>
              </a:prstGeom>
              <a:blipFill rotWithShape="1">
                <a:blip r:embed="rId3"/>
                <a:stretch>
                  <a:fillRect l="-6" t="-7" r="23" b="3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" name="矩形 6"/>
              <p:cNvSpPr/>
              <p:nvPr/>
            </p:nvSpPr>
            <p:spPr>
              <a:xfrm>
                <a:off x="7419248" y="4901819"/>
                <a:ext cx="707245" cy="89274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altLang="zh-CN" sz="3600" b="1" dirty="0" smtClean="0">
                    <a:solidFill>
                      <a:srgbClr val="002060"/>
                    </a:solidFill>
                  </a:rPr>
                  <a:t>=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3600" b="1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sz="3600" b="1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</m:num>
                      <m:den>
                        <m:r>
                          <a:rPr lang="en-US" altLang="zh-CN" sz="3600" b="1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𝟖</m:t>
                        </m:r>
                      </m:den>
                    </m:f>
                  </m:oMath>
                </a14:m>
                <a:endParaRPr lang="zh-CN" altLang="en-US" sz="3600" b="1" dirty="0">
                  <a:solidFill>
                    <a:srgbClr val="002060"/>
                  </a:solidFill>
                </a:endParaRPr>
              </a:p>
            </p:txBody>
          </p:sp>
        </mc:Choice>
        <mc:Fallback>
          <p:sp>
            <p:nvSpPr>
              <p:cNvPr id="7" name="矩形 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19248" y="4901819"/>
                <a:ext cx="707245" cy="892745"/>
              </a:xfrm>
              <a:prstGeom prst="rect">
                <a:avLst/>
              </a:prstGeom>
              <a:blipFill rotWithShape="1">
                <a:blip r:embed="rId4"/>
                <a:stretch>
                  <a:fillRect l="-77" t="-28" r="56" b="2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文本框 7"/>
          <p:cNvSpPr txBox="1"/>
          <p:nvPr/>
        </p:nvSpPr>
        <p:spPr>
          <a:xfrm>
            <a:off x="8624934" y="3668031"/>
            <a:ext cx="4716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3600" b="1" dirty="0" smtClean="0"/>
              <a:t>C</a:t>
            </a:r>
            <a:endParaRPr lang="zh-CN" altLang="en-US" sz="3600" b="1" dirty="0"/>
          </a:p>
        </p:txBody>
      </p:sp>
      <p:sp>
        <p:nvSpPr>
          <p:cNvPr id="9" name="文本框 8"/>
          <p:cNvSpPr txBox="1"/>
          <p:nvPr>
            <p:custDataLst>
              <p:tags r:id="rId5"/>
            </p:custDataLst>
          </p:nvPr>
        </p:nvSpPr>
        <p:spPr>
          <a:xfrm>
            <a:off x="1320800" y="506095"/>
            <a:ext cx="4064000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3200" b="1">
                <a:gradFill>
                  <a:gsLst>
                    <a:gs pos="0">
                      <a:srgbClr val="007BD3"/>
                    </a:gs>
                    <a:gs pos="100000">
                      <a:srgbClr val="034373"/>
                    </a:gs>
                  </a:gsLst>
                  <a:lin scaled="0"/>
                </a:gradFill>
              </a:rPr>
              <a:t>练习</a:t>
            </a:r>
            <a:endParaRPr lang="zh-CN" altLang="en-US" sz="3200" b="1">
              <a:gradFill>
                <a:gsLst>
                  <a:gs pos="0">
                    <a:srgbClr val="007BD3"/>
                  </a:gs>
                  <a:gs pos="100000">
                    <a:srgbClr val="034373"/>
                  </a:gs>
                </a:gsLst>
                <a:lin scaled="0"/>
              </a:gra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  <p:bldP spid="7" grpId="0"/>
      <p:bldP spid="8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1178096" y="330919"/>
            <a:ext cx="3576320" cy="107632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just">
              <a:lnSpc>
                <a:spcPct val="200000"/>
              </a:lnSpc>
              <a:spcAft>
                <a:spcPts val="0"/>
              </a:spcAft>
            </a:pPr>
            <a:r>
              <a:rPr lang="en-US" altLang="zh-CN" sz="3200" b="1" kern="100" dirty="0">
                <a:latin typeface="等线" panose="02010600030101010101" pitchFamily="2" charset="-122"/>
                <a:cs typeface="Times New Roman" panose="02020603050405020304" pitchFamily="18" charset="0"/>
              </a:rPr>
              <a:t>3.2</a:t>
            </a:r>
            <a:r>
              <a:rPr lang="zh-CN" altLang="zh-CN" sz="3200" b="1" kern="100" dirty="0">
                <a:latin typeface="等线" panose="02010600030101010101" pitchFamily="2" charset="-122"/>
                <a:cs typeface="Times New Roman" panose="02020603050405020304" pitchFamily="18" charset="0"/>
              </a:rPr>
              <a:t>离散型随机变量</a:t>
            </a:r>
            <a:endParaRPr lang="zh-CN" altLang="zh-CN" sz="3200" b="1" kern="100" dirty="0">
              <a:latin typeface="等线" panose="02010600030101010101" pitchFamily="2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3" name="Object 6"/>
          <p:cNvGraphicFramePr/>
          <p:nvPr/>
        </p:nvGraphicFramePr>
        <p:xfrm>
          <a:off x="1510030" y="1760220"/>
          <a:ext cx="3576955" cy="67881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54" name="" r:id="rId1" imgW="1002665" imgH="228600" progId="Equation.DSMT4">
                  <p:embed/>
                </p:oleObj>
              </mc:Choice>
              <mc:Fallback>
                <p:oleObj name="" r:id="rId1" imgW="1002665" imgH="228600" progId="Equation.DSMT4">
                  <p:embed/>
                  <p:pic>
                    <p:nvPicPr>
                      <p:cNvPr id="0" name="Object 6"/>
                      <p:cNvPicPr>
                        <a:picLocks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10030" y="1760220"/>
                        <a:ext cx="3576955" cy="678815"/>
                      </a:xfrm>
                      <a:prstGeom prst="rect">
                        <a:avLst/>
                      </a:prstGeom>
                      <a:noFill/>
                      <a:ln w="28575">
                        <a:solidFill>
                          <a:srgbClr val="000000"/>
                        </a:solidFill>
                        <a:prstDash val="dash"/>
                        <a:miter lim="800000"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mc:AlternateContent xmlns:mc="http://schemas.openxmlformats.org/markup-compatibility/2006">
        <mc:Choice xmlns:a14="http://schemas.microsoft.com/office/drawing/2010/main" Requires="a14">
          <p:sp>
            <p:nvSpPr>
              <p:cNvPr id="4" name="文本框 3"/>
              <p:cNvSpPr txBox="1"/>
              <p:nvPr/>
            </p:nvSpPr>
            <p:spPr>
              <a:xfrm>
                <a:off x="5340628" y="1846555"/>
                <a:ext cx="1883410" cy="49212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3200" b="0" i="1" smtClean="0">
                          <a:latin typeface="Cambria Math" panose="02040503050406030204" pitchFamily="18" charset="0"/>
                        </a:rPr>
                        <m:t>𝑘</m:t>
                      </m:r>
                      <m:r>
                        <a:rPr lang="en-US" altLang="zh-CN" sz="32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sz="3200" b="0" i="1" smtClean="0"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en-US" altLang="zh-CN" sz="3200" b="0" i="1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altLang="zh-CN" sz="3200" b="0" i="1" smtClean="0"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en-US" altLang="zh-CN" sz="3200" b="0" i="1" smtClean="0">
                          <a:latin typeface="Cambria Math" panose="02040503050406030204" pitchFamily="18" charset="0"/>
                        </a:rPr>
                        <m:t>,⋯</m:t>
                      </m:r>
                    </m:oMath>
                  </m:oMathPara>
                </a14:m>
                <a:endParaRPr lang="zh-CN" altLang="en-US" sz="3200" dirty="0"/>
              </a:p>
            </p:txBody>
          </p:sp>
        </mc:Choice>
        <mc:Fallback>
          <p:sp>
            <p:nvSpPr>
              <p:cNvPr id="4" name="文本框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40628" y="1846555"/>
                <a:ext cx="1883410" cy="492125"/>
              </a:xfrm>
              <a:prstGeom prst="rect">
                <a:avLst/>
              </a:prstGeom>
              <a:blipFill rotWithShape="1">
                <a:blip r:embed="rId3"/>
                <a:stretch>
                  <a:fillRect l="-15" t="-124" r="-2413" b="12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" name="文本框 4"/>
              <p:cNvSpPr txBox="1"/>
              <p:nvPr/>
            </p:nvSpPr>
            <p:spPr>
              <a:xfrm>
                <a:off x="3495454" y="2873238"/>
                <a:ext cx="4447714" cy="492125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3200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3200" b="1" i="1" smtClean="0">
                            <a:latin typeface="Cambria Math" panose="02040503050406030204" pitchFamily="18" charset="0"/>
                          </a:rPr>
                          <m:t>𝒑</m:t>
                        </m:r>
                      </m:e>
                      <m:sub>
                        <m:r>
                          <a:rPr lang="en-US" altLang="zh-CN" sz="3200" b="1" i="1" smtClean="0">
                            <a:latin typeface="Cambria Math" panose="02040503050406030204" pitchFamily="18" charset="0"/>
                          </a:rPr>
                          <m:t>𝒌</m:t>
                        </m:r>
                      </m:sub>
                    </m:sSub>
                    <m:r>
                      <a:rPr lang="en-US" altLang="zh-CN" sz="32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≥</m:t>
                    </m:r>
                    <m:r>
                      <a:rPr lang="en-US" altLang="zh-CN" sz="32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𝟎</m:t>
                    </m:r>
                    <m:r>
                      <a:rPr lang="en-US" altLang="zh-CN" sz="32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</m:oMath>
                </a14:m>
                <a:r>
                  <a:rPr lang="en-US" altLang="zh-CN" sz="3200" b="1" dirty="0"/>
                  <a:t> </a:t>
                </a:r>
                <a14:m>
                  <m:oMath xmlns:m="http://schemas.openxmlformats.org/officeDocument/2006/math">
                    <m:r>
                      <a:rPr lang="en-US" altLang="zh-CN" sz="3200" b="1" i="1">
                        <a:latin typeface="Cambria Math" panose="02040503050406030204" pitchFamily="18" charset="0"/>
                      </a:rPr>
                      <m:t>𝒌</m:t>
                    </m:r>
                    <m:r>
                      <a:rPr lang="en-US" altLang="zh-CN" sz="3200" b="1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sz="3200" b="1" i="1">
                        <a:latin typeface="Cambria Math" panose="02040503050406030204" pitchFamily="18" charset="0"/>
                      </a:rPr>
                      <m:t>𝟏</m:t>
                    </m:r>
                    <m:r>
                      <a:rPr lang="en-US" altLang="zh-CN" sz="3200" b="1" i="1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zh-CN" sz="3200" b="1" i="1">
                        <a:latin typeface="Cambria Math" panose="02040503050406030204" pitchFamily="18" charset="0"/>
                      </a:rPr>
                      <m:t>𝟐</m:t>
                    </m:r>
                    <m:r>
                      <a:rPr lang="en-US" altLang="zh-CN" sz="3200" b="1" i="1">
                        <a:latin typeface="Cambria Math" panose="02040503050406030204" pitchFamily="18" charset="0"/>
                      </a:rPr>
                      <m:t>,⋯</m:t>
                    </m:r>
                  </m:oMath>
                </a14:m>
                <a:endParaRPr lang="zh-CN" altLang="en-US" sz="3200" b="1" dirty="0"/>
              </a:p>
            </p:txBody>
          </p:sp>
        </mc:Choice>
        <mc:Fallback>
          <p:sp>
            <p:nvSpPr>
              <p:cNvPr id="5" name="文本框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95454" y="2873238"/>
                <a:ext cx="4447714" cy="492125"/>
              </a:xfrm>
              <a:prstGeom prst="rect">
                <a:avLst/>
              </a:prstGeom>
              <a:blipFill rotWithShape="1">
                <a:blip r:embed="rId4"/>
                <a:stretch>
                  <a:fillRect l="-9" t="-1004" r="13" b="10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" name="文本框 5"/>
              <p:cNvSpPr txBox="1"/>
              <p:nvPr/>
            </p:nvSpPr>
            <p:spPr>
              <a:xfrm>
                <a:off x="3345889" y="3683985"/>
                <a:ext cx="1249680" cy="143827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ctrlPr>
                            <a:rPr lang="zh-CN" altLang="en-US" sz="3200" b="1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altLang="zh-CN" sz="3200" b="1" i="1" smtClean="0">
                              <a:latin typeface="Cambria Math" panose="02040503050406030204" pitchFamily="18" charset="0"/>
                            </a:rPr>
                            <m:t>𝒌</m:t>
                          </m:r>
                          <m:r>
                            <a:rPr lang="en-US" altLang="zh-CN" sz="3200" b="1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altLang="zh-CN" sz="3200" b="1" i="1" smtClean="0">
                              <a:latin typeface="Cambria Math" panose="02040503050406030204" pitchFamily="18" charset="0"/>
                            </a:rPr>
                            <m:t>𝟎</m:t>
                          </m:r>
                        </m:sub>
                        <m:sup>
                          <m:r>
                            <a:rPr lang="en-US" altLang="zh-CN" sz="32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∞</m:t>
                          </m:r>
                        </m:sup>
                        <m:e>
                          <m:sSub>
                            <m:sSubPr>
                              <m:ctrlPr>
                                <a:rPr lang="en-US" altLang="zh-CN" sz="3200" b="1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3200" b="1" i="1" smtClean="0">
                                  <a:latin typeface="Cambria Math" panose="02040503050406030204" pitchFamily="18" charset="0"/>
                                </a:rPr>
                                <m:t>𝒑</m:t>
                              </m:r>
                            </m:e>
                            <m:sub>
                              <m:r>
                                <a:rPr lang="en-US" altLang="zh-CN" sz="3200" b="1" i="1" smtClean="0">
                                  <a:latin typeface="Cambria Math" panose="02040503050406030204" pitchFamily="18" charset="0"/>
                                </a:rPr>
                                <m:t>𝒌</m:t>
                              </m:r>
                            </m:sub>
                          </m:sSub>
                        </m:e>
                      </m:nary>
                    </m:oMath>
                  </m:oMathPara>
                </a14:m>
                <a:endParaRPr lang="zh-CN" altLang="en-US" sz="3200" b="1" dirty="0"/>
              </a:p>
            </p:txBody>
          </p:sp>
        </mc:Choice>
        <mc:Fallback>
          <p:sp>
            <p:nvSpPr>
              <p:cNvPr id="6" name="文本框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45889" y="3683985"/>
                <a:ext cx="1249680" cy="1438275"/>
              </a:xfrm>
              <a:prstGeom prst="rect">
                <a:avLst/>
              </a:prstGeom>
              <a:blipFill rotWithShape="1">
                <a:blip r:embed="rId5"/>
                <a:stretch>
                  <a:fillRect l="-6" t="-24" r="-2179" b="2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" name="矩形 6"/>
              <p:cNvSpPr/>
              <p:nvPr/>
            </p:nvSpPr>
            <p:spPr>
              <a:xfrm>
                <a:off x="4436365" y="4178257"/>
                <a:ext cx="692150" cy="5835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altLang="zh-CN" sz="3200" b="1" i="1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altLang="zh-CN" sz="3200" b="1" dirty="0" smtClean="0"/>
                  <a:t>1</a:t>
                </a:r>
                <a:endParaRPr lang="zh-CN" altLang="en-US" sz="3200" b="1" dirty="0"/>
              </a:p>
            </p:txBody>
          </p:sp>
        </mc:Choice>
        <mc:Fallback>
          <p:sp>
            <p:nvSpPr>
              <p:cNvPr id="7" name="矩形 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36365" y="4178257"/>
                <a:ext cx="692150" cy="583565"/>
              </a:xfrm>
              <a:prstGeom prst="rect">
                <a:avLst/>
              </a:prstGeom>
              <a:blipFill rotWithShape="1">
                <a:blip r:embed="rId6"/>
                <a:stretch>
                  <a:fillRect l="-37" t="-101" r="-1156" b="10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文本框 7"/>
          <p:cNvSpPr txBox="1"/>
          <p:nvPr/>
        </p:nvSpPr>
        <p:spPr>
          <a:xfrm>
            <a:off x="1259188" y="2824705"/>
            <a:ext cx="1808480" cy="5835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200" b="1" dirty="0" smtClean="0">
                <a:solidFill>
                  <a:srgbClr val="0070C0"/>
                </a:solidFill>
              </a:rPr>
              <a:t>性质：①</a:t>
            </a:r>
            <a:endParaRPr lang="zh-CN" altLang="en-US" sz="3200" b="1" dirty="0" smtClean="0">
              <a:solidFill>
                <a:srgbClr val="0070C0"/>
              </a:solidFill>
            </a:endParaRPr>
          </a:p>
        </p:txBody>
      </p:sp>
      <p:sp>
        <p:nvSpPr>
          <p:cNvPr id="9" name="矩形 8"/>
          <p:cNvSpPr/>
          <p:nvPr/>
        </p:nvSpPr>
        <p:spPr>
          <a:xfrm>
            <a:off x="2552091" y="4170477"/>
            <a:ext cx="589280" cy="5835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3200" b="1" dirty="0">
                <a:solidFill>
                  <a:srgbClr val="0070C0"/>
                </a:solidFill>
              </a:rPr>
              <a:t>②</a:t>
            </a:r>
            <a:endParaRPr lang="zh-CN" altLang="en-US" sz="3200" b="1" dirty="0">
              <a:solidFill>
                <a:srgbClr val="0070C0"/>
              </a:solidFill>
            </a:endParaRPr>
          </a:p>
        </p:txBody>
      </p:sp>
      <p:sp>
        <p:nvSpPr>
          <p:cNvPr id="10" name="Rectangle 4"/>
          <p:cNvSpPr>
            <a:spLocks noChangeArrowheads="1"/>
          </p:cNvSpPr>
          <p:nvPr/>
        </p:nvSpPr>
        <p:spPr bwMode="auto">
          <a:xfrm>
            <a:off x="905525" y="4360117"/>
            <a:ext cx="309880" cy="5835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 sz="3200" dirty="0"/>
          </a:p>
        </p:txBody>
      </p:sp>
      <p:sp>
        <p:nvSpPr>
          <p:cNvPr id="11" name="文本框 10"/>
          <p:cNvSpPr txBox="1"/>
          <p:nvPr/>
        </p:nvSpPr>
        <p:spPr>
          <a:xfrm>
            <a:off x="1473200" y="5429885"/>
            <a:ext cx="6722110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3200" b="1">
                <a:solidFill>
                  <a:srgbClr val="00B0F0"/>
                </a:solidFill>
              </a:rPr>
              <a:t>0-1</a:t>
            </a:r>
            <a:r>
              <a:rPr lang="zh-CN" altLang="en-US" sz="3200" b="1">
                <a:solidFill>
                  <a:srgbClr val="00B0F0"/>
                </a:solidFill>
              </a:rPr>
              <a:t>分布</a:t>
            </a:r>
            <a:r>
              <a:rPr lang="en-US" altLang="zh-CN" sz="3200" b="1">
                <a:solidFill>
                  <a:srgbClr val="00B0F0"/>
                </a:solidFill>
              </a:rPr>
              <a:t>  </a:t>
            </a:r>
            <a:r>
              <a:rPr lang="zh-CN" altLang="en-US" sz="3200" b="1">
                <a:solidFill>
                  <a:srgbClr val="00B0F0"/>
                </a:solidFill>
              </a:rPr>
              <a:t>二项分布</a:t>
            </a:r>
            <a:r>
              <a:rPr lang="en-US" altLang="zh-CN" sz="3200" b="1">
                <a:solidFill>
                  <a:srgbClr val="00B0F0"/>
                </a:solidFill>
              </a:rPr>
              <a:t>   </a:t>
            </a:r>
            <a:r>
              <a:rPr lang="zh-CN" altLang="en-US" sz="3200" b="1">
                <a:solidFill>
                  <a:srgbClr val="00B0F0"/>
                </a:solidFill>
              </a:rPr>
              <a:t>泊松分布</a:t>
            </a:r>
            <a:endParaRPr lang="zh-CN" altLang="en-US" sz="3200" b="1">
              <a:solidFill>
                <a:srgbClr val="00B0F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4" grpId="0"/>
      <p:bldP spid="5" grpId="0"/>
      <p:bldP spid="6" grpId="0"/>
      <p:bldP spid="7" grpId="0"/>
      <p:bldP spid="8" grpId="0"/>
      <p:bldP spid="9" grpId="0"/>
      <p:bldP spid="11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1308326" y="107983"/>
            <a:ext cx="3576320" cy="107632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just">
              <a:lnSpc>
                <a:spcPct val="200000"/>
              </a:lnSpc>
              <a:spcAft>
                <a:spcPts val="0"/>
              </a:spcAft>
            </a:pPr>
            <a:r>
              <a:rPr lang="en-US" altLang="zh-CN" sz="3200" b="1" kern="100" dirty="0">
                <a:latin typeface="等线" panose="02010600030101010101" pitchFamily="2" charset="-122"/>
                <a:cs typeface="Times New Roman" panose="02020603050405020304" pitchFamily="18" charset="0"/>
              </a:rPr>
              <a:t>3.3</a:t>
            </a:r>
            <a:r>
              <a:rPr lang="zh-CN" altLang="zh-CN" sz="3200" b="1" kern="100" dirty="0">
                <a:latin typeface="等线" panose="02010600030101010101" pitchFamily="2" charset="-122"/>
                <a:cs typeface="Times New Roman" panose="02020603050405020304" pitchFamily="18" charset="0"/>
              </a:rPr>
              <a:t>连续型随机变量</a:t>
            </a:r>
            <a:endParaRPr lang="zh-CN" altLang="zh-CN" sz="3200" b="1" kern="100" dirty="0">
              <a:latin typeface="等线" panose="02010600030101010101" pitchFamily="2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3" name="Object 10"/>
          <p:cNvGraphicFramePr/>
          <p:nvPr/>
        </p:nvGraphicFramePr>
        <p:xfrm>
          <a:off x="2063359" y="1033981"/>
          <a:ext cx="6106142" cy="111589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371" name="" r:id="rId1" imgW="2069465" imgH="330200" progId="Equation.KSEE3">
                  <p:embed/>
                </p:oleObj>
              </mc:Choice>
              <mc:Fallback>
                <p:oleObj name="" r:id="rId1" imgW="2069465" imgH="330200" progId="Equation.KSEE3">
                  <p:embed/>
                  <p:pic>
                    <p:nvPicPr>
                      <p:cNvPr id="0" name="Object 10"/>
                      <p:cNvPicPr>
                        <a:picLocks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63359" y="1033981"/>
                        <a:ext cx="6106142" cy="111589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Object 5"/>
          <p:cNvGraphicFramePr/>
          <p:nvPr/>
        </p:nvGraphicFramePr>
        <p:xfrm>
          <a:off x="1998601" y="2882753"/>
          <a:ext cx="3386138" cy="12398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372" name="" r:id="rId3" imgW="901065" imgH="330200" progId="Equation.DSMT4">
                  <p:embed/>
                </p:oleObj>
              </mc:Choice>
              <mc:Fallback>
                <p:oleObj name="" r:id="rId3" imgW="901065" imgH="330200" progId="Equation.DSMT4">
                  <p:embed/>
                  <p:pic>
                    <p:nvPicPr>
                      <p:cNvPr id="0" name="Object 5"/>
                      <p:cNvPicPr>
                        <a:picLocks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98601" y="2882753"/>
                        <a:ext cx="3386138" cy="12398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文本框 4"/>
          <p:cNvSpPr txBox="1"/>
          <p:nvPr/>
        </p:nvSpPr>
        <p:spPr>
          <a:xfrm>
            <a:off x="311293" y="2375244"/>
            <a:ext cx="182614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200" dirty="0" smtClean="0">
                <a:solidFill>
                  <a:srgbClr val="0070C0"/>
                </a:solidFill>
              </a:rPr>
              <a:t>性质：①</a:t>
            </a:r>
            <a:endParaRPr lang="zh-CN" altLang="en-US" sz="3200" dirty="0">
              <a:solidFill>
                <a:srgbClr val="0070C0"/>
              </a:solidFill>
            </a:endParaRPr>
          </a:p>
        </p:txBody>
      </p:sp>
      <p:sp>
        <p:nvSpPr>
          <p:cNvPr id="6" name="矩形 5"/>
          <p:cNvSpPr/>
          <p:nvPr/>
        </p:nvSpPr>
        <p:spPr>
          <a:xfrm>
            <a:off x="1563418" y="3275084"/>
            <a:ext cx="595035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3200" dirty="0">
                <a:solidFill>
                  <a:srgbClr val="0070C0"/>
                </a:solidFill>
              </a:rPr>
              <a:t>②</a:t>
            </a:r>
            <a:endParaRPr lang="zh-CN" altLang="en-US" sz="3200" dirty="0">
              <a:solidFill>
                <a:srgbClr val="0070C0"/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文本框 6"/>
              <p:cNvSpPr txBox="1"/>
              <p:nvPr/>
            </p:nvSpPr>
            <p:spPr>
              <a:xfrm>
                <a:off x="2063359" y="2387786"/>
                <a:ext cx="4356770" cy="49244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3200" b="0" i="1" smtClean="0"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en-US" altLang="zh-CN" sz="3200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altLang="zh-CN" sz="32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altLang="zh-CN" sz="3200" b="0" i="1" smtClean="0">
                          <a:latin typeface="Cambria Math" panose="02040503050406030204" pitchFamily="18" charset="0"/>
                        </a:rPr>
                        <m:t>)≥</m:t>
                      </m:r>
                      <m:r>
                        <a:rPr lang="en-US" altLang="zh-CN" sz="3200" b="0" i="1" smtClean="0"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en-US" altLang="zh-CN" sz="3200" b="0" i="1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altLang="zh-CN" sz="3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𝑥</m:t>
                      </m:r>
                      <m:r>
                        <a:rPr lang="en-US" altLang="zh-CN" sz="3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∈(−∞,+∞)</m:t>
                      </m:r>
                    </m:oMath>
                  </m:oMathPara>
                </a14:m>
                <a:endParaRPr lang="zh-CN" altLang="en-US" sz="3200" dirty="0"/>
              </a:p>
            </p:txBody>
          </p:sp>
        </mc:Choice>
        <mc:Fallback>
          <p:sp>
            <p:nvSpPr>
              <p:cNvPr id="7" name="文本框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63359" y="2387786"/>
                <a:ext cx="4356770" cy="492443"/>
              </a:xfrm>
              <a:prstGeom prst="rect">
                <a:avLst/>
              </a:prstGeom>
              <a:blipFill rotWithShape="1">
                <a:blip r:embed="rId5"/>
                <a:stretch>
                  <a:fillRect l="-6" t="-38" r="-1320" b="10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8" name="文本框 7"/>
              <p:cNvSpPr txBox="1"/>
              <p:nvPr/>
            </p:nvSpPr>
            <p:spPr>
              <a:xfrm>
                <a:off x="1563418" y="4904087"/>
                <a:ext cx="5971315" cy="58477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zh-CN" altLang="en-US" sz="3200" dirty="0" smtClean="0">
                    <a:solidFill>
                      <a:srgbClr val="0070C0"/>
                    </a:solidFill>
                  </a:rPr>
                  <a:t>④</a:t>
                </a:r>
                <a14:m>
                  <m:oMath xmlns:m="http://schemas.openxmlformats.org/officeDocument/2006/math">
                    <m:r>
                      <a:rPr lang="en-US" altLang="zh-CN" sz="3200" b="0" i="1" smtClean="0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US" altLang="zh-CN" sz="32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3200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n-US" altLang="zh-CN" sz="3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&lt;</m:t>
                        </m:r>
                        <m:r>
                          <a:rPr lang="en-US" altLang="zh-CN" sz="3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𝑋</m:t>
                        </m:r>
                        <m:r>
                          <a:rPr lang="en-US" altLang="zh-CN" sz="3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&lt;</m:t>
                        </m:r>
                        <m:r>
                          <a:rPr lang="en-US" altLang="zh-CN" sz="3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𝑏</m:t>
                        </m:r>
                      </m:e>
                    </m:d>
                    <m:r>
                      <a:rPr lang="en-US" altLang="zh-CN" sz="32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sz="3200" b="0" i="1" smtClean="0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US" altLang="zh-CN" sz="32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3200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n-US" altLang="zh-CN" sz="3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≤</m:t>
                        </m:r>
                        <m:r>
                          <a:rPr lang="en-US" altLang="zh-CN" sz="3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𝑋</m:t>
                        </m:r>
                        <m:r>
                          <a:rPr lang="en-US" altLang="zh-CN" sz="3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&lt;</m:t>
                        </m:r>
                        <m:r>
                          <a:rPr lang="en-US" altLang="zh-CN" sz="3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𝑏</m:t>
                        </m:r>
                      </m:e>
                    </m:d>
                  </m:oMath>
                </a14:m>
                <a:endParaRPr lang="zh-CN" altLang="en-US" sz="3200" dirty="0"/>
              </a:p>
            </p:txBody>
          </p:sp>
        </mc:Choice>
        <mc:Fallback>
          <p:sp>
            <p:nvSpPr>
              <p:cNvPr id="8" name="文本框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63418" y="4904087"/>
                <a:ext cx="5971315" cy="584775"/>
              </a:xfrm>
              <a:prstGeom prst="rect">
                <a:avLst/>
              </a:prstGeom>
              <a:blipFill rotWithShape="1">
                <a:blip r:embed="rId6"/>
                <a:stretch>
                  <a:fillRect l="-1" t="-106" r="8" b="9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9" name="矩形 8"/>
              <p:cNvSpPr/>
              <p:nvPr/>
            </p:nvSpPr>
            <p:spPr>
              <a:xfrm>
                <a:off x="1737907" y="5747987"/>
                <a:ext cx="6093335" cy="58477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32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US" altLang="zh-CN" sz="3200" i="1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altLang="zh-CN" sz="32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3200" i="1">
                              <a:latin typeface="Cambria Math" panose="02040503050406030204" pitchFamily="18" charset="0"/>
                            </a:rPr>
                            <m:t>𝑎</m:t>
                          </m:r>
                          <m:r>
                            <a:rPr lang="en-US" altLang="zh-CN" sz="3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&lt;</m:t>
                          </m:r>
                          <m:r>
                            <a:rPr lang="en-US" altLang="zh-CN" sz="3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𝑋</m:t>
                          </m:r>
                          <m:r>
                            <a:rPr lang="en-US" altLang="zh-CN" sz="3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≤</m:t>
                          </m:r>
                          <m:r>
                            <a:rPr lang="en-US" altLang="zh-CN" sz="3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𝑏</m:t>
                          </m:r>
                        </m:e>
                      </m:d>
                      <m:r>
                        <a:rPr lang="en-US" altLang="zh-CN" sz="32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US" altLang="zh-CN" sz="3200" i="1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altLang="zh-CN" sz="32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3200" i="1">
                              <a:latin typeface="Cambria Math" panose="02040503050406030204" pitchFamily="18" charset="0"/>
                            </a:rPr>
                            <m:t>𝑎</m:t>
                          </m:r>
                          <m:r>
                            <a:rPr lang="en-US" altLang="zh-CN" sz="3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≤</m:t>
                          </m:r>
                          <m:r>
                            <a:rPr lang="en-US" altLang="zh-CN" sz="3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𝑋</m:t>
                          </m:r>
                          <m:r>
                            <a:rPr lang="en-US" altLang="zh-CN" sz="3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≤</m:t>
                          </m:r>
                          <m:r>
                            <a:rPr lang="en-US" altLang="zh-CN" sz="3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𝑏</m:t>
                          </m:r>
                        </m:e>
                      </m:d>
                    </m:oMath>
                  </m:oMathPara>
                </a14:m>
                <a:endParaRPr lang="zh-CN" altLang="en-US" sz="3200" dirty="0"/>
              </a:p>
            </p:txBody>
          </p:sp>
        </mc:Choice>
        <mc:Fallback>
          <p:sp>
            <p:nvSpPr>
              <p:cNvPr id="9" name="矩形 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37907" y="5747987"/>
                <a:ext cx="6093335" cy="584775"/>
              </a:xfrm>
              <a:prstGeom prst="rect">
                <a:avLst/>
              </a:prstGeom>
              <a:blipFill rotWithShape="1">
                <a:blip r:embed="rId7"/>
                <a:stretch>
                  <a:fillRect l="-9" t="-103" r="7" b="9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1" name="矩形 10"/>
              <p:cNvSpPr/>
              <p:nvPr/>
            </p:nvSpPr>
            <p:spPr>
              <a:xfrm>
                <a:off x="7892707" y="5407023"/>
                <a:ext cx="2092304" cy="120937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trlPr>
                            <a:rPr lang="zh-CN" altLang="en-US" sz="320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altLang="zh-CN" sz="3200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sub>
                        <m:sup>
                          <m:r>
                            <a:rPr lang="en-US" altLang="zh-CN" sz="3200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sup>
                        <m:e>
                          <m:r>
                            <a:rPr lang="en-US" altLang="zh-CN" sz="3200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  <m:d>
                            <m:dPr>
                              <m:ctrlPr>
                                <a:rPr lang="en-US" altLang="zh-CN" sz="32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sz="32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  <m:r>
                            <a:rPr lang="en-US" altLang="zh-CN" sz="3200" b="0" i="1" smtClean="0">
                              <a:latin typeface="Cambria Math" panose="02040503050406030204" pitchFamily="18" charset="0"/>
                            </a:rPr>
                            <m:t>𝑑𝑥</m:t>
                          </m:r>
                        </m:e>
                      </m:nary>
                    </m:oMath>
                  </m:oMathPara>
                </a14:m>
                <a:endParaRPr lang="zh-CN" altLang="en-US" sz="3200" dirty="0"/>
              </a:p>
            </p:txBody>
          </p:sp>
        </mc:Choice>
        <mc:Fallback>
          <p:sp>
            <p:nvSpPr>
              <p:cNvPr id="11" name="矩形 1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92707" y="5407023"/>
                <a:ext cx="2092304" cy="1209370"/>
              </a:xfrm>
              <a:prstGeom prst="rect">
                <a:avLst/>
              </a:prstGeom>
              <a:blipFill rotWithShape="1">
                <a:blip r:embed="rId8"/>
                <a:stretch>
                  <a:fillRect l="-14" t="-52" r="13" b="2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2" name="文本框 11"/>
              <p:cNvSpPr txBox="1"/>
              <p:nvPr/>
            </p:nvSpPr>
            <p:spPr>
              <a:xfrm>
                <a:off x="7683515" y="5765487"/>
                <a:ext cx="418384" cy="49244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3200" b="0" i="1" smtClean="0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zh-CN" altLang="en-US" sz="3200" dirty="0"/>
              </a:p>
            </p:txBody>
          </p:sp>
        </mc:Choice>
        <mc:Fallback>
          <p:sp>
            <p:nvSpPr>
              <p:cNvPr id="12" name="文本框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83515" y="5765487"/>
                <a:ext cx="418384" cy="492443"/>
              </a:xfrm>
              <a:prstGeom prst="rect">
                <a:avLst/>
              </a:prstGeom>
              <a:blipFill rotWithShape="1">
                <a:blip r:embed="rId9"/>
                <a:stretch>
                  <a:fillRect l="-4" t="-65" r="-8515" b="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3" name="矩形 12"/>
              <p:cNvSpPr/>
              <p:nvPr/>
            </p:nvSpPr>
            <p:spPr>
              <a:xfrm>
                <a:off x="1563418" y="4145268"/>
                <a:ext cx="3215432" cy="58477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zh-CN" altLang="en-US" sz="3200" dirty="0">
                    <a:solidFill>
                      <a:srgbClr val="0070C0"/>
                    </a:solidFill>
                  </a:rPr>
                  <a:t>③</a:t>
                </a:r>
                <a:r>
                  <a:rPr lang="zh-CN" altLang="en-US" sz="3200" dirty="0"/>
                  <a:t> </a:t>
                </a:r>
                <a14:m>
                  <m:oMath xmlns:m="http://schemas.openxmlformats.org/officeDocument/2006/math">
                    <m:r>
                      <a:rPr lang="en-US" altLang="zh-CN" sz="3200" b="0" i="1" smtClean="0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US" altLang="zh-CN" sz="32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3200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  <m:r>
                          <a:rPr lang="en-US" altLang="zh-CN" sz="3200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altLang="zh-CN" sz="3200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d>
                    <m:r>
                      <a:rPr lang="en-US" altLang="zh-CN" sz="32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sz="3200" b="0" i="1" smtClean="0"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endParaRPr lang="zh-CN" altLang="en-US" sz="3200" dirty="0"/>
              </a:p>
            </p:txBody>
          </p:sp>
        </mc:Choice>
        <mc:Fallback>
          <p:sp>
            <p:nvSpPr>
              <p:cNvPr id="13" name="矩形 1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63418" y="4145268"/>
                <a:ext cx="3215432" cy="584775"/>
              </a:xfrm>
              <a:prstGeom prst="rect">
                <a:avLst/>
              </a:prstGeom>
              <a:blipFill rotWithShape="1">
                <a:blip r:embed="rId10"/>
                <a:stretch>
                  <a:fillRect l="-1" t="-107" r="15" b="9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文本框 9"/>
          <p:cNvSpPr txBox="1"/>
          <p:nvPr/>
        </p:nvSpPr>
        <p:spPr>
          <a:xfrm>
            <a:off x="9523730" y="1555115"/>
            <a:ext cx="2186940" cy="230695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indent="0" fontAlgn="auto">
              <a:lnSpc>
                <a:spcPct val="150000"/>
              </a:lnSpc>
            </a:pPr>
            <a:r>
              <a:rPr lang="zh-CN" altLang="en-US" sz="3200" b="1">
                <a:solidFill>
                  <a:srgbClr val="00B0F0"/>
                </a:solidFill>
              </a:rPr>
              <a:t>均匀分布</a:t>
            </a:r>
            <a:endParaRPr lang="zh-CN" altLang="en-US" sz="3200" b="1">
              <a:solidFill>
                <a:srgbClr val="00B0F0"/>
              </a:solidFill>
            </a:endParaRPr>
          </a:p>
          <a:p>
            <a:pPr indent="0" fontAlgn="auto">
              <a:lnSpc>
                <a:spcPct val="150000"/>
              </a:lnSpc>
            </a:pPr>
            <a:r>
              <a:rPr lang="zh-CN" altLang="en-US" sz="3200" b="1">
                <a:solidFill>
                  <a:srgbClr val="00B0F0"/>
                </a:solidFill>
              </a:rPr>
              <a:t>指数分布</a:t>
            </a:r>
            <a:endParaRPr lang="zh-CN" altLang="en-US" sz="3200" b="1">
              <a:solidFill>
                <a:srgbClr val="00B0F0"/>
              </a:solidFill>
            </a:endParaRPr>
          </a:p>
          <a:p>
            <a:pPr indent="0" fontAlgn="auto">
              <a:lnSpc>
                <a:spcPct val="150000"/>
              </a:lnSpc>
            </a:pPr>
            <a:r>
              <a:rPr lang="zh-CN" altLang="en-US" sz="3200" b="1">
                <a:solidFill>
                  <a:srgbClr val="00B0F0"/>
                </a:solidFill>
              </a:rPr>
              <a:t>正态分布</a:t>
            </a:r>
            <a:endParaRPr lang="zh-CN" altLang="en-US" sz="3200" b="1">
              <a:solidFill>
                <a:srgbClr val="00B0F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5" grpId="0"/>
      <p:bldP spid="6" grpId="0"/>
      <p:bldP spid="7" grpId="0"/>
      <p:bldP spid="8" grpId="0"/>
      <p:bldP spid="9" grpId="0"/>
      <p:bldP spid="11" grpId="0"/>
      <p:bldP spid="12" grpId="0"/>
      <p:bldP spid="13" grpId="0"/>
      <p:bldP spid="10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文本框 1"/>
              <p:cNvSpPr txBox="1"/>
              <p:nvPr/>
            </p:nvSpPr>
            <p:spPr>
              <a:xfrm>
                <a:off x="965592" y="315014"/>
                <a:ext cx="5125314" cy="186140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zh-CN" altLang="en-US" sz="3600" b="1" dirty="0" smtClean="0"/>
                  <a:t>正态分布</a:t>
                </a:r>
                <a14:m>
                  <m:oMath xmlns:m="http://schemas.openxmlformats.org/officeDocument/2006/math">
                    <m:r>
                      <a:rPr lang="en-US" altLang="zh-CN" sz="3600" b="1" i="1" smtClean="0">
                        <a:latin typeface="Cambria Math" panose="02040503050406030204" pitchFamily="18" charset="0"/>
                      </a:rPr>
                      <m:t>𝑵</m:t>
                    </m:r>
                    <m:d>
                      <m:dPr>
                        <m:ctrlPr>
                          <a:rPr lang="en-US" altLang="zh-CN" sz="3600" b="1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zh-CN" altLang="en-US" sz="3600" b="1" i="1" smtClean="0">
                            <a:latin typeface="Cambria Math" panose="02040503050406030204" pitchFamily="18" charset="0"/>
                          </a:rPr>
                          <m:t>𝝁</m:t>
                        </m:r>
                        <m:r>
                          <a:rPr lang="en-US" altLang="zh-CN" sz="3600" b="1" i="1" smtClean="0">
                            <a:latin typeface="Cambria Math" panose="02040503050406030204" pitchFamily="18" charset="0"/>
                          </a:rPr>
                          <m:t>,</m:t>
                        </m:r>
                        <m:sSup>
                          <m:sSupPr>
                            <m:ctrlPr>
                              <a:rPr lang="en-US" altLang="zh-CN" sz="3600" b="1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zh-CN" altLang="en-US" sz="3600" b="1" i="1" smtClean="0">
                                <a:latin typeface="Cambria Math" panose="02040503050406030204" pitchFamily="18" charset="0"/>
                              </a:rPr>
                              <m:t>𝝈</m:t>
                            </m:r>
                          </m:e>
                          <m:sup>
                            <m:r>
                              <a:rPr lang="en-US" altLang="zh-CN" sz="3600" b="1" i="1" smtClean="0">
                                <a:latin typeface="Cambria Math" panose="02040503050406030204" pitchFamily="18" charset="0"/>
                              </a:rPr>
                              <m:t>𝟐</m:t>
                            </m:r>
                          </m:sup>
                        </m:sSup>
                      </m:e>
                    </m:d>
                  </m:oMath>
                </a14:m>
                <a:endParaRPr lang="en-US" altLang="zh-CN" sz="3600" b="1" i="1" dirty="0" smtClean="0">
                  <a:latin typeface="Cambria Math" panose="02040503050406030204" pitchFamily="18" charset="0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zh-CN" altLang="en-US" sz="3600" dirty="0" smtClean="0"/>
                  <a:t>标准正态分布</a:t>
                </a:r>
                <a14:m>
                  <m:oMath xmlns:m="http://schemas.openxmlformats.org/officeDocument/2006/math">
                    <m:r>
                      <a:rPr lang="en-US" altLang="zh-CN" sz="3600" b="0" i="1" smtClean="0"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US" altLang="zh-CN" sz="3600" b="0" i="1" smtClean="0">
                        <a:latin typeface="Cambria Math" panose="02040503050406030204" pitchFamily="18" charset="0"/>
                      </a:rPr>
                      <m:t> ~</m:t>
                    </m:r>
                    <m:r>
                      <a:rPr lang="en-US" altLang="zh-CN" sz="3600" b="0" i="1" smtClean="0">
                        <a:latin typeface="Cambria Math" panose="02040503050406030204" pitchFamily="18" charset="0"/>
                      </a:rPr>
                      <m:t>𝑁</m:t>
                    </m:r>
                    <m:d>
                      <m:dPr>
                        <m:ctrlPr>
                          <a:rPr lang="en-US" altLang="zh-CN" sz="36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3600" b="0" i="1" smtClean="0"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a:rPr lang="en-US" altLang="zh-CN" sz="3600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zh-CN" sz="36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</m:oMath>
                </a14:m>
                <a:endParaRPr lang="zh-CN" altLang="en-US" sz="3600" dirty="0"/>
              </a:p>
            </p:txBody>
          </p:sp>
        </mc:Choice>
        <mc:Fallback>
          <p:sp>
            <p:nvSpPr>
              <p:cNvPr id="2" name="文本框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5592" y="315014"/>
                <a:ext cx="5125314" cy="1861407"/>
              </a:xfrm>
              <a:prstGeom prst="rect">
                <a:avLst/>
              </a:prstGeom>
              <a:blipFill rotWithShape="1">
                <a:blip r:embed="rId1"/>
                <a:stretch>
                  <a:fillRect l="-8" t="-3" r="12" b="1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文本框 11"/>
          <p:cNvSpPr txBox="1"/>
          <p:nvPr/>
        </p:nvSpPr>
        <p:spPr>
          <a:xfrm>
            <a:off x="503373" y="521680"/>
            <a:ext cx="64633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600" dirty="0" smtClean="0">
                <a:solidFill>
                  <a:srgbClr val="FF0000"/>
                </a:solidFill>
              </a:rPr>
              <a:t>★</a:t>
            </a:r>
            <a:endParaRPr lang="zh-CN" altLang="en-US" sz="3600" dirty="0">
              <a:solidFill>
                <a:srgbClr val="FF0000"/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3" name="文本框 12"/>
              <p:cNvSpPr txBox="1"/>
              <p:nvPr/>
            </p:nvSpPr>
            <p:spPr>
              <a:xfrm>
                <a:off x="1049383" y="2228881"/>
                <a:ext cx="4903458" cy="121546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l-GR" altLang="zh-CN" sz="36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Φ</m:t>
                      </m:r>
                      <m:d>
                        <m:dPr>
                          <m:ctrlPr>
                            <a:rPr lang="en-US" altLang="zh-CN" sz="3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3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altLang="zh-CN" sz="36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trlPr>
                            <a:rPr lang="en-US" altLang="zh-CN" sz="3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altLang="zh-CN" sz="3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</m:t>
                          </m:r>
                          <m:r>
                            <a:rPr lang="en-US" altLang="zh-CN" sz="3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∞</m:t>
                          </m:r>
                        </m:sub>
                        <m:sup>
                          <m:r>
                            <a:rPr lang="en-US" altLang="zh-CN" sz="3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</m:sup>
                        <m:e>
                          <m:f>
                            <m:fPr>
                              <m:ctrlPr>
                                <a:rPr lang="en-US" altLang="zh-CN" sz="36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zh-CN" sz="36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ad>
                                <m:radPr>
                                  <m:degHide m:val="on"/>
                                  <m:ctrlPr>
                                    <a:rPr lang="en-US" altLang="zh-CN" sz="36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radPr>
                                <m:deg/>
                                <m:e>
                                  <m:r>
                                    <a:rPr lang="en-US" altLang="zh-CN" sz="36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2</m:t>
                                  </m:r>
                                  <m:r>
                                    <a:rPr lang="zh-CN" altLang="en-US" sz="36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𝜋</m:t>
                                  </m:r>
                                </m:e>
                              </m:rad>
                            </m:den>
                          </m:f>
                          <m:sSup>
                            <m:sSupPr>
                              <m:ctrlPr>
                                <a:rPr lang="en-US" altLang="zh-CN" sz="36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sz="36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en-US" altLang="zh-CN" sz="36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</m:t>
                              </m:r>
                              <m:f>
                                <m:fPr>
                                  <m:ctrlPr>
                                    <a:rPr lang="en-US" altLang="zh-CN" sz="36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sSup>
                                    <m:sSupPr>
                                      <m:ctrlPr>
                                        <a:rPr lang="en-US" altLang="zh-CN" sz="36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altLang="zh-CN" sz="36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p>
                                      <m:r>
                                        <a:rPr lang="en-US" altLang="zh-CN" sz="36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</m:num>
                                <m:den>
                                  <m:r>
                                    <a:rPr lang="en-US" altLang="zh-CN" sz="36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2</m:t>
                                  </m:r>
                                </m:den>
                              </m:f>
                            </m:sup>
                          </m:sSup>
                          <m:r>
                            <a:rPr lang="en-US" altLang="zh-CN" sz="3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𝑑𝑥</m:t>
                          </m:r>
                        </m:e>
                      </m:nary>
                    </m:oMath>
                  </m:oMathPara>
                </a14:m>
                <a:endParaRPr lang="zh-CN" altLang="en-US" sz="3600" dirty="0"/>
              </a:p>
            </p:txBody>
          </p:sp>
        </mc:Choice>
        <mc:Fallback>
          <p:sp>
            <p:nvSpPr>
              <p:cNvPr id="13" name="文本框 1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49383" y="2228881"/>
                <a:ext cx="4903458" cy="1215461"/>
              </a:xfrm>
              <a:prstGeom prst="rect">
                <a:avLst/>
              </a:prstGeom>
              <a:blipFill rotWithShape="1">
                <a:blip r:embed="rId2"/>
                <a:stretch>
                  <a:fillRect l="-7" t="-3" r="-265" b="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4" name="文本框 13"/>
              <p:cNvSpPr txBox="1"/>
              <p:nvPr/>
            </p:nvSpPr>
            <p:spPr>
              <a:xfrm>
                <a:off x="1149704" y="3937686"/>
                <a:ext cx="6056338" cy="55399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altLang="zh-CN" sz="3600" b="1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𝑷</m:t>
                    </m:r>
                    <m:d>
                      <m:dPr>
                        <m:ctrlPr>
                          <a:rPr lang="en-US" altLang="zh-CN" sz="3600" b="1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3600" b="1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𝒂</m:t>
                        </m:r>
                        <m:r>
                          <a:rPr lang="en-US" altLang="zh-CN" sz="3600" b="1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&lt;</m:t>
                        </m:r>
                        <m:r>
                          <a:rPr lang="en-US" altLang="zh-CN" sz="3600" b="1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𝑿</m:t>
                        </m:r>
                        <m:r>
                          <a:rPr lang="en-US" altLang="zh-CN" sz="3600" b="1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&lt;</m:t>
                        </m:r>
                        <m:r>
                          <a:rPr lang="en-US" altLang="zh-CN" sz="3600" b="1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𝒃</m:t>
                        </m:r>
                      </m:e>
                    </m:d>
                    <m:r>
                      <a:rPr lang="en-US" altLang="zh-CN" sz="3600" b="1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l-GR" altLang="zh-CN" sz="3600" b="1" dirty="0">
                    <a:solidFill>
                      <a:srgbClr val="0070C0"/>
                    </a:solidFill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l-GR" altLang="zh-CN" sz="3600" b="1" i="1">
                        <a:solidFill>
                          <a:srgbClr val="0070C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𝜱</m:t>
                    </m:r>
                    <m:d>
                      <m:dPr>
                        <m:ctrlPr>
                          <a:rPr lang="en-US" altLang="zh-CN" sz="3600" b="1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3600" b="1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𝒃</m:t>
                        </m:r>
                      </m:e>
                    </m:d>
                  </m:oMath>
                </a14:m>
                <a:r>
                  <a:rPr lang="en-US" altLang="zh-CN" sz="3600" b="1" dirty="0" smtClean="0">
                    <a:solidFill>
                      <a:srgbClr val="0070C0"/>
                    </a:solidFill>
                  </a:rPr>
                  <a:t>-</a:t>
                </a:r>
                <a:r>
                  <a:rPr lang="el-GR" altLang="zh-CN" sz="3600" b="1" dirty="0">
                    <a:solidFill>
                      <a:srgbClr val="0070C0"/>
                    </a:solidFill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l-GR" altLang="zh-CN" sz="3600" b="1" i="1">
                        <a:solidFill>
                          <a:srgbClr val="0070C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𝜱</m:t>
                    </m:r>
                    <m:d>
                      <m:dPr>
                        <m:ctrlPr>
                          <a:rPr lang="en-US" altLang="zh-CN" sz="3600" b="1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3600" b="1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𝒂</m:t>
                        </m:r>
                      </m:e>
                    </m:d>
                  </m:oMath>
                </a14:m>
                <a:endParaRPr lang="zh-CN" altLang="en-US" sz="3600" b="1" dirty="0">
                  <a:solidFill>
                    <a:srgbClr val="0070C0"/>
                  </a:solidFill>
                </a:endParaRPr>
              </a:p>
            </p:txBody>
          </p:sp>
        </mc:Choice>
        <mc:Fallback>
          <p:sp>
            <p:nvSpPr>
              <p:cNvPr id="14" name="文本框 1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49704" y="3937686"/>
                <a:ext cx="6056338" cy="553998"/>
              </a:xfrm>
              <a:prstGeom prst="rect">
                <a:avLst/>
              </a:prstGeom>
              <a:blipFill rotWithShape="1">
                <a:blip r:embed="rId3"/>
                <a:stretch>
                  <a:fillRect l="-6" t="-926" r="1" b="5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5" name="矩形 14"/>
              <p:cNvSpPr/>
              <p:nvPr/>
            </p:nvSpPr>
            <p:spPr>
              <a:xfrm>
                <a:off x="1049383" y="4770880"/>
                <a:ext cx="4838312" cy="64633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altLang="zh-CN" sz="3600" b="1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𝑷</m:t>
                    </m:r>
                    <m:d>
                      <m:dPr>
                        <m:ctrlPr>
                          <a:rPr lang="en-US" altLang="zh-CN" sz="3600" b="1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3600" b="1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US" altLang="zh-CN" sz="3600" b="1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𝑿</m:t>
                        </m:r>
                        <m:r>
                          <a:rPr lang="en-US" altLang="zh-CN" sz="3600" b="1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|≤</m:t>
                        </m:r>
                        <m:r>
                          <a:rPr lang="en-US" altLang="zh-CN" sz="3600" b="1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𝒂</m:t>
                        </m:r>
                      </m:e>
                    </m:d>
                    <m:r>
                      <a:rPr lang="en-US" altLang="zh-CN" sz="3600" b="1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altLang="zh-CN" sz="3600" b="1" dirty="0" smtClean="0">
                    <a:solidFill>
                      <a:srgbClr val="0070C0"/>
                    </a:solidFill>
                    <a:ea typeface="Cambria Math" panose="02040503050406030204" pitchFamily="18" charset="0"/>
                  </a:rPr>
                  <a:t>2</a:t>
                </a:r>
                <a:r>
                  <a:rPr lang="el-GR" altLang="zh-CN" sz="3600" b="1" dirty="0">
                    <a:solidFill>
                      <a:srgbClr val="0070C0"/>
                    </a:solidFill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l-GR" altLang="zh-CN" sz="3600" b="1" i="1">
                        <a:solidFill>
                          <a:srgbClr val="0070C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𝜱</m:t>
                    </m:r>
                    <m:d>
                      <m:dPr>
                        <m:ctrlPr>
                          <a:rPr lang="en-US" altLang="zh-CN" sz="3600" b="1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3600" b="1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𝒂</m:t>
                        </m:r>
                      </m:e>
                    </m:d>
                  </m:oMath>
                </a14:m>
                <a:r>
                  <a:rPr lang="en-US" altLang="zh-CN" sz="3600" b="1" dirty="0" smtClean="0">
                    <a:solidFill>
                      <a:srgbClr val="0070C0"/>
                    </a:solidFill>
                  </a:rPr>
                  <a:t>-1</a:t>
                </a:r>
                <a:endParaRPr lang="zh-CN" altLang="en-US" sz="3600" b="1" dirty="0">
                  <a:solidFill>
                    <a:srgbClr val="0070C0"/>
                  </a:solidFill>
                </a:endParaRPr>
              </a:p>
            </p:txBody>
          </p:sp>
        </mc:Choice>
        <mc:Fallback>
          <p:sp>
            <p:nvSpPr>
              <p:cNvPr id="15" name="矩形 1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49383" y="4770880"/>
                <a:ext cx="4838312" cy="646331"/>
              </a:xfrm>
              <a:prstGeom prst="rect">
                <a:avLst/>
              </a:prstGeom>
              <a:blipFill rotWithShape="1">
                <a:blip r:embed="rId4"/>
                <a:stretch>
                  <a:fillRect l="-8" t="-19" r="13" b="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6" name="文本框 15"/>
              <p:cNvSpPr txBox="1"/>
              <p:nvPr/>
            </p:nvSpPr>
            <p:spPr>
              <a:xfrm>
                <a:off x="965592" y="5720675"/>
                <a:ext cx="4527009" cy="55399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l-GR" altLang="zh-CN" sz="3600" b="1" dirty="0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a:rPr lang="el-GR" altLang="zh-CN" sz="3600" b="1" i="1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𝜱</m:t>
                      </m:r>
                      <m:d>
                        <m:dPr>
                          <m:ctrlPr>
                            <a:rPr lang="en-US" altLang="zh-CN" sz="3600" b="1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3600" b="1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</m:t>
                          </m:r>
                          <m:r>
                            <a:rPr lang="en-US" altLang="zh-CN" sz="3600" b="1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𝒙</m:t>
                          </m:r>
                        </m:e>
                      </m:d>
                      <m:r>
                        <a:rPr lang="en-US" altLang="zh-CN" sz="3600" b="1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US" altLang="zh-CN" sz="3600" b="1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𝟏</m:t>
                      </m:r>
                      <m:r>
                        <a:rPr lang="en-US" altLang="zh-CN" sz="3600" b="1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  <m:r>
                        <m:rPr>
                          <m:nor/>
                        </m:rPr>
                        <a:rPr lang="el-GR" altLang="zh-CN" sz="3600" b="1" dirty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a:rPr lang="el-GR" altLang="zh-CN" sz="3600" b="1" i="1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𝜱</m:t>
                      </m:r>
                      <m:d>
                        <m:dPr>
                          <m:ctrlPr>
                            <a:rPr lang="en-US" altLang="zh-CN" sz="3600" b="1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3600" b="1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𝒙</m:t>
                          </m:r>
                        </m:e>
                      </m:d>
                    </m:oMath>
                  </m:oMathPara>
                </a14:m>
                <a:endParaRPr lang="zh-CN" altLang="en-US" sz="3600" b="1" dirty="0">
                  <a:solidFill>
                    <a:srgbClr val="0070C0"/>
                  </a:solidFill>
                </a:endParaRPr>
              </a:p>
            </p:txBody>
          </p:sp>
        </mc:Choice>
        <mc:Fallback>
          <p:sp>
            <p:nvSpPr>
              <p:cNvPr id="16" name="文本框 1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5592" y="5720675"/>
                <a:ext cx="4527009" cy="553998"/>
              </a:xfrm>
              <a:prstGeom prst="rect">
                <a:avLst/>
              </a:prstGeom>
              <a:blipFill rotWithShape="1">
                <a:blip r:embed="rId5"/>
                <a:stretch>
                  <a:fillRect l="-9" t="-107" r="11" b="4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13" grpId="0"/>
      <p:bldP spid="14" grpId="0"/>
      <p:bldP spid="15" grpId="0"/>
      <p:bldP spid="16" grpId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2"/>
          <p:cNvGraphicFramePr>
            <a:graphicFrameLocks noChangeAspect="1"/>
          </p:cNvGraphicFramePr>
          <p:nvPr/>
        </p:nvGraphicFramePr>
        <p:xfrm>
          <a:off x="764631" y="2213247"/>
          <a:ext cx="6822663" cy="111535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413" name="Equation" r:id="rId1" imgW="2641600" imgH="431800" progId="Equation.DSMT4">
                  <p:embed/>
                </p:oleObj>
              </mc:Choice>
              <mc:Fallback>
                <p:oleObj name="Equation" r:id="rId1" imgW="2641600" imgH="431800" progId="Equation.DSMT4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64631" y="2213247"/>
                        <a:ext cx="6822663" cy="111535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mc:AlternateContent xmlns:mc="http://schemas.openxmlformats.org/markup-compatibility/2006">
        <mc:Choice xmlns:a14="http://schemas.microsoft.com/office/drawing/2010/main" Requires="a14">
          <p:sp>
            <p:nvSpPr>
              <p:cNvPr id="3" name="矩形 2"/>
              <p:cNvSpPr/>
              <p:nvPr/>
            </p:nvSpPr>
            <p:spPr>
              <a:xfrm>
                <a:off x="582414" y="1154553"/>
                <a:ext cx="6233566" cy="1129476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3600" b="0" i="1" smtClean="0">
                          <a:latin typeface="Cambria Math" panose="02040503050406030204" pitchFamily="18" charset="0"/>
                        </a:rPr>
                        <m:t>𝑋</m:t>
                      </m:r>
                      <m:r>
                        <a:rPr lang="en-US" altLang="zh-CN" sz="3600" b="0" i="1" smtClean="0">
                          <a:latin typeface="Cambria Math" panose="02040503050406030204" pitchFamily="18" charset="0"/>
                        </a:rPr>
                        <m:t>~</m:t>
                      </m:r>
                      <m:r>
                        <a:rPr lang="en-US" altLang="zh-CN" sz="3600" b="0" i="1" smtClean="0">
                          <a:latin typeface="Cambria Math" panose="02040503050406030204" pitchFamily="18" charset="0"/>
                        </a:rPr>
                        <m:t>𝑁</m:t>
                      </m:r>
                      <m:d>
                        <m:dPr>
                          <m:ctrlPr>
                            <a:rPr lang="en-US" altLang="zh-CN" sz="36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zh-CN" altLang="en-US" sz="3600" b="0" i="1" smtClean="0">
                              <a:latin typeface="Cambria Math" panose="02040503050406030204" pitchFamily="18" charset="0"/>
                            </a:rPr>
                            <m:t>𝜇</m:t>
                          </m:r>
                          <m:r>
                            <a:rPr lang="en-US" altLang="zh-CN" sz="36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sSup>
                            <m:sSupPr>
                              <m:ctrlPr>
                                <a:rPr lang="en-US" altLang="zh-CN" sz="36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zh-CN" altLang="en-US" sz="3600" b="0" i="1" smtClean="0">
                                  <a:latin typeface="Cambria Math" panose="02040503050406030204" pitchFamily="18" charset="0"/>
                                </a:rPr>
                                <m:t>𝜎</m:t>
                              </m:r>
                            </m:e>
                            <m:sup>
                              <m:r>
                                <a:rPr lang="en-US" altLang="zh-CN" sz="36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d>
                      <m:r>
                        <a:rPr lang="en-US" altLang="zh-CN" sz="36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⇔</m:t>
                      </m:r>
                      <m:f>
                        <m:fPr>
                          <m:ctrlPr>
                            <a:rPr lang="en-US" altLang="zh-CN" sz="3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sz="3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𝑋</m:t>
                          </m:r>
                          <m:r>
                            <a:rPr lang="en-US" altLang="zh-CN" sz="3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</m:t>
                          </m:r>
                          <m:r>
                            <a:rPr lang="zh-CN" altLang="en-US" sz="3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𝜇</m:t>
                          </m:r>
                        </m:num>
                        <m:den>
                          <m:r>
                            <a:rPr lang="zh-CN" altLang="en-US" sz="3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𝜎</m:t>
                          </m:r>
                        </m:den>
                      </m:f>
                      <m:r>
                        <a:rPr lang="en-US" altLang="zh-CN" sz="36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~</m:t>
                      </m:r>
                      <m:r>
                        <a:rPr lang="en-US" altLang="zh-CN" sz="36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𝑁</m:t>
                      </m:r>
                      <m:r>
                        <a:rPr lang="en-US" altLang="zh-CN" sz="36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</m:t>
                      </m:r>
                      <m:r>
                        <a:rPr lang="en-US" altLang="zh-CN" sz="36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0</m:t>
                      </m:r>
                      <m:r>
                        <a:rPr lang="en-US" altLang="zh-CN" sz="36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</m:t>
                      </m:r>
                      <m:r>
                        <a:rPr lang="en-US" altLang="zh-CN" sz="36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1</m:t>
                      </m:r>
                      <m:r>
                        <a:rPr lang="en-US" altLang="zh-CN" sz="36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zh-CN" altLang="en-US" sz="3600" dirty="0"/>
              </a:p>
            </p:txBody>
          </p:sp>
        </mc:Choice>
        <mc:Fallback>
          <p:sp>
            <p:nvSpPr>
              <p:cNvPr id="3" name="矩形 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2414" y="1154553"/>
                <a:ext cx="6233566" cy="1129476"/>
              </a:xfrm>
              <a:prstGeom prst="rect">
                <a:avLst/>
              </a:prstGeom>
              <a:blipFill rotWithShape="1">
                <a:blip r:embed="rId3"/>
                <a:stretch>
                  <a:fillRect l="-2" t="-11" r="8" b="5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" name="文本框 3"/>
              <p:cNvSpPr txBox="1"/>
              <p:nvPr/>
            </p:nvSpPr>
            <p:spPr>
              <a:xfrm>
                <a:off x="764632" y="3328604"/>
                <a:ext cx="8782725" cy="124482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3600" b="1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►</m:t>
                      </m:r>
                      <m:r>
                        <a:rPr lang="en-US" altLang="zh-CN" sz="3600" b="1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𝑷</m:t>
                      </m:r>
                      <m:d>
                        <m:dPr>
                          <m:ctrlPr>
                            <a:rPr lang="en-US" altLang="zh-CN" sz="3600" b="1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3600" b="1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𝒂</m:t>
                          </m:r>
                          <m:r>
                            <a:rPr lang="en-US" altLang="zh-CN" sz="3600" b="1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&lt;</m:t>
                          </m:r>
                          <m:r>
                            <a:rPr lang="en-US" altLang="zh-CN" sz="3600" b="1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𝑿</m:t>
                          </m:r>
                          <m:r>
                            <a:rPr lang="en-US" altLang="zh-CN" sz="3600" b="1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&lt;</m:t>
                          </m:r>
                          <m:r>
                            <a:rPr lang="en-US" altLang="zh-CN" sz="3600" b="1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𝒃</m:t>
                          </m:r>
                        </m:e>
                      </m:d>
                      <m:r>
                        <a:rPr lang="en-US" altLang="zh-CN" sz="3600" b="1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l-GR" altLang="zh-CN" sz="3600" b="1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𝜱</m:t>
                      </m:r>
                      <m:d>
                        <m:dPr>
                          <m:ctrlPr>
                            <a:rPr lang="en-US" altLang="zh-CN" sz="3600" b="1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altLang="zh-CN" sz="3600" b="1" i="1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zh-CN" sz="3600" b="1" i="1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𝒃</m:t>
                              </m:r>
                              <m:r>
                                <a:rPr lang="en-US" altLang="zh-CN" sz="3600" b="1" i="1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zh-CN" altLang="en-US" sz="3600" b="1" i="1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𝝁</m:t>
                              </m:r>
                            </m:num>
                            <m:den>
                              <m:r>
                                <a:rPr lang="zh-CN" altLang="en-US" sz="3600" b="1" i="1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𝝈</m:t>
                              </m:r>
                            </m:den>
                          </m:f>
                        </m:e>
                      </m:d>
                      <m:r>
                        <a:rPr lang="en-US" altLang="zh-CN" sz="3600" b="1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  <m:r>
                        <a:rPr lang="el-GR" altLang="zh-CN" sz="3600" b="1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𝜱</m:t>
                      </m:r>
                      <m:d>
                        <m:dPr>
                          <m:ctrlPr>
                            <a:rPr lang="en-US" altLang="zh-CN" sz="3600" b="1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altLang="zh-CN" sz="3600" b="1" i="1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zh-CN" sz="3600" b="1" i="1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𝒂</m:t>
                              </m:r>
                              <m:r>
                                <a:rPr lang="en-US" altLang="zh-CN" sz="3600" b="1" i="1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zh-CN" altLang="en-US" sz="3600" b="1" i="1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𝝁</m:t>
                              </m:r>
                            </m:num>
                            <m:den>
                              <m:r>
                                <a:rPr lang="zh-CN" altLang="en-US" sz="3600" b="1" i="1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𝝈</m:t>
                              </m:r>
                            </m:den>
                          </m:f>
                        </m:e>
                      </m:d>
                    </m:oMath>
                  </m:oMathPara>
                </a14:m>
                <a:endParaRPr lang="zh-CN" altLang="en-US" sz="3600" b="1" dirty="0">
                  <a:solidFill>
                    <a:srgbClr val="0070C0"/>
                  </a:solidFill>
                </a:endParaRPr>
              </a:p>
            </p:txBody>
          </p:sp>
        </mc:Choice>
        <mc:Fallback>
          <p:sp>
            <p:nvSpPr>
              <p:cNvPr id="4" name="文本框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4632" y="3328604"/>
                <a:ext cx="8782725" cy="1244828"/>
              </a:xfrm>
              <a:prstGeom prst="rect">
                <a:avLst/>
              </a:prstGeom>
              <a:blipFill rotWithShape="1">
                <a:blip r:embed="rId4"/>
                <a:stretch>
                  <a:fillRect l="-1" t="-46" r="2" b="1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" name="文本框 4"/>
              <p:cNvSpPr txBox="1"/>
              <p:nvPr/>
            </p:nvSpPr>
            <p:spPr>
              <a:xfrm>
                <a:off x="965592" y="245342"/>
                <a:ext cx="3712298" cy="92333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zh-CN" altLang="en-US" sz="3600" dirty="0" smtClean="0"/>
                  <a:t>正态分布</a:t>
                </a:r>
                <a14:m>
                  <m:oMath xmlns:m="http://schemas.openxmlformats.org/officeDocument/2006/math">
                    <m:r>
                      <a:rPr lang="en-US" altLang="zh-CN" sz="3600" b="0" i="1" smtClean="0">
                        <a:latin typeface="Cambria Math" panose="02040503050406030204" pitchFamily="18" charset="0"/>
                      </a:rPr>
                      <m:t>𝑁</m:t>
                    </m:r>
                    <m:d>
                      <m:dPr>
                        <m:ctrlPr>
                          <a:rPr lang="en-US" altLang="zh-CN" sz="36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zh-CN" altLang="en-US" sz="3600" b="0" i="1" smtClean="0">
                            <a:latin typeface="Cambria Math" panose="02040503050406030204" pitchFamily="18" charset="0"/>
                          </a:rPr>
                          <m:t>𝜇</m:t>
                        </m:r>
                        <m:r>
                          <a:rPr lang="en-US" altLang="zh-CN" sz="3600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sSup>
                          <m:sSupPr>
                            <m:ctrlPr>
                              <a:rPr lang="en-US" altLang="zh-CN" sz="36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zh-CN" altLang="en-US" sz="3600" b="0" i="1" smtClean="0">
                                <a:latin typeface="Cambria Math" panose="02040503050406030204" pitchFamily="18" charset="0"/>
                              </a:rPr>
                              <m:t>𝜎</m:t>
                            </m:r>
                          </m:e>
                          <m:sup>
                            <m:r>
                              <a:rPr lang="en-US" altLang="zh-CN" sz="36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d>
                  </m:oMath>
                </a14:m>
                <a:endParaRPr lang="zh-CN" altLang="en-US" sz="3600" dirty="0"/>
              </a:p>
            </p:txBody>
          </p:sp>
        </mc:Choice>
        <mc:Fallback>
          <p:sp>
            <p:nvSpPr>
              <p:cNvPr id="5" name="文本框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5592" y="245342"/>
                <a:ext cx="3712298" cy="923330"/>
              </a:xfrm>
              <a:prstGeom prst="rect">
                <a:avLst/>
              </a:prstGeom>
              <a:blipFill rotWithShape="1">
                <a:blip r:embed="rId5"/>
                <a:stretch>
                  <a:fillRect l="-11" t="-25" r="13" b="2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文本框 5"/>
          <p:cNvSpPr txBox="1"/>
          <p:nvPr/>
        </p:nvSpPr>
        <p:spPr>
          <a:xfrm>
            <a:off x="503373" y="452008"/>
            <a:ext cx="64633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600" dirty="0" smtClean="0">
                <a:solidFill>
                  <a:srgbClr val="FF0000"/>
                </a:solidFill>
              </a:rPr>
              <a:t>★</a:t>
            </a:r>
            <a:endParaRPr lang="zh-CN" altLang="en-US" sz="3600" dirty="0">
              <a:solidFill>
                <a:srgbClr val="FF0000"/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矩形 6"/>
              <p:cNvSpPr/>
              <p:nvPr/>
            </p:nvSpPr>
            <p:spPr>
              <a:xfrm>
                <a:off x="764632" y="4373179"/>
                <a:ext cx="5488233" cy="133716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3600" b="1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►</m:t>
                      </m:r>
                      <m:r>
                        <a:rPr lang="en-US" altLang="zh-CN" sz="3600" b="1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𝑷</m:t>
                      </m:r>
                      <m:d>
                        <m:dPr>
                          <m:ctrlPr>
                            <a:rPr lang="en-US" altLang="zh-CN" sz="3600" b="1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3600" b="1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𝑿</m:t>
                          </m:r>
                          <m:r>
                            <a:rPr lang="en-US" altLang="zh-CN" sz="3600" b="1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&lt;</m:t>
                          </m:r>
                          <m:r>
                            <a:rPr lang="en-US" altLang="zh-CN" sz="3600" b="1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𝒃</m:t>
                          </m:r>
                        </m:e>
                      </m:d>
                      <m:r>
                        <a:rPr lang="en-US" altLang="zh-CN" sz="3600" b="1" i="1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l-GR" altLang="zh-CN" sz="3600" b="1" i="1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𝜱</m:t>
                      </m:r>
                      <m:d>
                        <m:dPr>
                          <m:ctrlPr>
                            <a:rPr lang="en-US" altLang="zh-CN" sz="3600" b="1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altLang="zh-CN" sz="3600" b="1" i="1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zh-CN" sz="3600" b="1" i="1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𝒃</m:t>
                              </m:r>
                              <m:r>
                                <a:rPr lang="en-US" altLang="zh-CN" sz="3600" b="1" i="1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zh-CN" altLang="en-US" sz="3600" b="1" i="1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𝝁</m:t>
                              </m:r>
                            </m:num>
                            <m:den>
                              <m:r>
                                <a:rPr lang="zh-CN" altLang="en-US" sz="3600" b="1" i="1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𝝈</m:t>
                              </m:r>
                            </m:den>
                          </m:f>
                        </m:e>
                      </m:d>
                    </m:oMath>
                  </m:oMathPara>
                </a14:m>
                <a:endParaRPr lang="zh-CN" altLang="en-US" sz="3600" b="1" dirty="0">
                  <a:solidFill>
                    <a:srgbClr val="0070C0"/>
                  </a:solidFill>
                </a:endParaRPr>
              </a:p>
            </p:txBody>
          </p:sp>
        </mc:Choice>
        <mc:Fallback>
          <p:sp>
            <p:nvSpPr>
              <p:cNvPr id="7" name="矩形 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4632" y="4373179"/>
                <a:ext cx="5488233" cy="1337161"/>
              </a:xfrm>
              <a:prstGeom prst="rect">
                <a:avLst/>
              </a:prstGeom>
              <a:blipFill rotWithShape="1">
                <a:blip r:embed="rId6"/>
                <a:stretch>
                  <a:fillRect l="-2" t="-43" b="3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8" name="矩形 7"/>
              <p:cNvSpPr/>
              <p:nvPr/>
            </p:nvSpPr>
            <p:spPr>
              <a:xfrm>
                <a:off x="843009" y="5618007"/>
                <a:ext cx="6350520" cy="104900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3600" b="1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► </m:t>
                      </m:r>
                      <m:r>
                        <a:rPr lang="en-US" altLang="zh-CN" sz="3600" b="1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𝑷</m:t>
                      </m:r>
                      <m:d>
                        <m:dPr>
                          <m:ctrlPr>
                            <a:rPr lang="en-US" altLang="zh-CN" sz="3600" b="1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3600" b="1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𝑿</m:t>
                          </m:r>
                          <m:r>
                            <a:rPr lang="en-US" altLang="zh-CN" sz="3600" b="1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&gt;</m:t>
                          </m:r>
                          <m:r>
                            <a:rPr lang="en-US" altLang="zh-CN" sz="3600" b="1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𝒂</m:t>
                          </m:r>
                        </m:e>
                      </m:d>
                      <m:r>
                        <a:rPr lang="en-US" altLang="zh-CN" sz="3600" b="1" i="1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sz="3600" b="1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𝟏</m:t>
                      </m:r>
                      <m:r>
                        <a:rPr lang="en-US" altLang="zh-CN" sz="3600" b="1" i="1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  <m:r>
                        <a:rPr lang="el-GR" altLang="zh-CN" sz="3600" b="1" i="1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𝜱</m:t>
                      </m:r>
                      <m:d>
                        <m:dPr>
                          <m:ctrlPr>
                            <a:rPr lang="en-US" altLang="zh-CN" sz="3600" b="1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altLang="zh-CN" sz="3600" b="1" i="1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zh-CN" sz="3600" b="1" i="1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𝒂</m:t>
                              </m:r>
                              <m:r>
                                <a:rPr lang="en-US" altLang="zh-CN" sz="3600" b="1" i="1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zh-CN" altLang="en-US" sz="3600" b="1" i="1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𝝁</m:t>
                              </m:r>
                            </m:num>
                            <m:den>
                              <m:r>
                                <a:rPr lang="zh-CN" altLang="en-US" sz="3600" b="1" i="1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𝝈</m:t>
                              </m:r>
                            </m:den>
                          </m:f>
                        </m:e>
                      </m:d>
                    </m:oMath>
                  </m:oMathPara>
                </a14:m>
                <a:endParaRPr lang="zh-CN" altLang="en-US" sz="3600" b="1" dirty="0">
                  <a:solidFill>
                    <a:srgbClr val="0070C0"/>
                  </a:solidFill>
                </a:endParaRPr>
              </a:p>
            </p:txBody>
          </p:sp>
        </mc:Choice>
        <mc:Fallback>
          <p:sp>
            <p:nvSpPr>
              <p:cNvPr id="8" name="矩形 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3009" y="5618007"/>
                <a:ext cx="6350520" cy="1049005"/>
              </a:xfrm>
              <a:prstGeom prst="rect">
                <a:avLst/>
              </a:prstGeom>
              <a:blipFill rotWithShape="1">
                <a:blip r:embed="rId7"/>
                <a:stretch>
                  <a:fillRect l="-6" t="-15" r="4" b="1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7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  <p:bldP spid="5" grpId="0"/>
      <p:bldP spid="7" grpId="0"/>
      <p:bldP spid="8" grpId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2509" y="781194"/>
            <a:ext cx="8881754" cy="5061330"/>
          </a:xfrm>
          <a:prstGeom prst="rect">
            <a:avLst/>
          </a:prstGeom>
        </p:spPr>
      </p:pic>
      <p:sp>
        <p:nvSpPr>
          <p:cNvPr id="9" name="文本框 8"/>
          <p:cNvSpPr txBox="1"/>
          <p:nvPr/>
        </p:nvSpPr>
        <p:spPr>
          <a:xfrm>
            <a:off x="1166930" y="304787"/>
            <a:ext cx="1281120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4000" dirty="0" smtClean="0"/>
              <a:t>P157</a:t>
            </a:r>
            <a:endParaRPr lang="zh-CN" altLang="en-US" sz="4000" dirty="0"/>
          </a:p>
        </p:txBody>
      </p:sp>
      <p:sp>
        <p:nvSpPr>
          <p:cNvPr id="10" name="文本框 9"/>
          <p:cNvSpPr txBox="1"/>
          <p:nvPr/>
        </p:nvSpPr>
        <p:spPr>
          <a:xfrm>
            <a:off x="2586426" y="304787"/>
            <a:ext cx="697627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4000" b="1" dirty="0" smtClean="0">
                <a:solidFill>
                  <a:srgbClr val="FF0000"/>
                </a:solidFill>
              </a:rPr>
              <a:t>记</a:t>
            </a:r>
            <a:endParaRPr lang="zh-CN" altLang="en-US" sz="4000" b="1" dirty="0">
              <a:solidFill>
                <a:srgbClr val="FF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0" grpId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1098555" y="178259"/>
            <a:ext cx="4500880" cy="107632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just">
              <a:lnSpc>
                <a:spcPct val="200000"/>
              </a:lnSpc>
              <a:spcAft>
                <a:spcPts val="0"/>
              </a:spcAft>
            </a:pPr>
            <a:r>
              <a:rPr lang="en-US" altLang="zh-CN" sz="3200" b="1" kern="100" dirty="0">
                <a:latin typeface="等线" panose="02010600030101010101" pitchFamily="2" charset="-122"/>
                <a:cs typeface="Times New Roman" panose="02020603050405020304" pitchFamily="18" charset="0"/>
              </a:rPr>
              <a:t>3.4 </a:t>
            </a:r>
            <a:r>
              <a:rPr lang="zh-CN" altLang="zh-CN" sz="3200" b="1" kern="100" dirty="0">
                <a:latin typeface="等线" panose="02010600030101010101" pitchFamily="2" charset="-122"/>
                <a:cs typeface="Times New Roman" panose="02020603050405020304" pitchFamily="18" charset="0"/>
              </a:rPr>
              <a:t>随机变量函数的分布</a:t>
            </a:r>
            <a:endParaRPr lang="zh-CN" altLang="zh-CN" sz="3200" b="1" kern="100" dirty="0">
              <a:latin typeface="等线" panose="02010600030101010101" pitchFamily="2" charset="-122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文本框 2"/>
              <p:cNvSpPr txBox="1"/>
              <p:nvPr/>
            </p:nvSpPr>
            <p:spPr>
              <a:xfrm>
                <a:off x="476362" y="1297009"/>
                <a:ext cx="9424503" cy="55399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altLang="zh-CN" sz="3600" b="0" i="1" smtClean="0"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US" altLang="zh-CN" sz="3600" b="0" i="1" smtClean="0">
                        <a:latin typeface="Cambria Math" panose="02040503050406030204" pitchFamily="18" charset="0"/>
                      </a:rPr>
                      <m:t>~</m:t>
                    </m:r>
                    <m:r>
                      <a:rPr lang="en-US" altLang="zh-CN" sz="3600" b="0" i="1" smtClean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altLang="zh-CN" sz="36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36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altLang="zh-CN" sz="3600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zh-CN" sz="3600" b="0" i="1" smtClean="0">
                        <a:latin typeface="Cambria Math" panose="02040503050406030204" pitchFamily="18" charset="0"/>
                      </a:rPr>
                      <m:t>𝑌</m:t>
                    </m:r>
                    <m:r>
                      <a:rPr lang="en-US" altLang="zh-CN" sz="36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sz="3600" b="0" i="1" smtClean="0">
                        <a:latin typeface="Cambria Math" panose="02040503050406030204" pitchFamily="18" charset="0"/>
                      </a:rPr>
                      <m:t>𝑔</m:t>
                    </m:r>
                    <m:r>
                      <a:rPr lang="en-US" altLang="zh-CN" sz="3600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sz="3600" b="0" i="1" smtClean="0"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US" altLang="zh-CN" sz="3600" b="0" i="1" smtClean="0">
                        <a:latin typeface="Cambria Math" panose="02040503050406030204" pitchFamily="18" charset="0"/>
                      </a:rPr>
                      <m:t>)</m:t>
                    </m:r>
                    <m:r>
                      <a:rPr lang="zh-CN" altLang="en-US" sz="3600" i="1">
                        <a:latin typeface="Cambria Math" panose="02040503050406030204" pitchFamily="18" charset="0"/>
                      </a:rPr>
                      <m:t>连续</m:t>
                    </m:r>
                  </m:oMath>
                </a14:m>
                <a:r>
                  <a:rPr lang="zh-CN" altLang="en-US" sz="3600" dirty="0" smtClean="0"/>
                  <a:t>函数，求</a:t>
                </a:r>
                <a14:m>
                  <m:oMath xmlns:m="http://schemas.openxmlformats.org/officeDocument/2006/math">
                    <m:r>
                      <a:rPr lang="en-US" altLang="zh-CN" sz="3600" b="0" i="1" smtClean="0">
                        <a:latin typeface="Cambria Math" panose="02040503050406030204" pitchFamily="18" charset="0"/>
                      </a:rPr>
                      <m:t>𝑌</m:t>
                    </m:r>
                  </m:oMath>
                </a14:m>
                <a:r>
                  <a:rPr lang="zh-CN" altLang="en-US" sz="3600" dirty="0" smtClean="0"/>
                  <a:t>的分布函数。</a:t>
                </a:r>
                <a:endParaRPr lang="zh-CN" altLang="en-US" sz="3600" dirty="0"/>
              </a:p>
            </p:txBody>
          </p:sp>
        </mc:Choice>
        <mc:Fallback>
          <p:sp>
            <p:nvSpPr>
              <p:cNvPr id="3" name="文本框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6362" y="1297009"/>
                <a:ext cx="9424503" cy="553998"/>
              </a:xfrm>
              <a:prstGeom prst="rect">
                <a:avLst/>
              </a:prstGeom>
              <a:blipFill rotWithShape="1">
                <a:blip r:embed="rId1"/>
                <a:stretch>
                  <a:fillRect l="-1" t="-61" r="6" b="11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" name="文本框 3"/>
              <p:cNvSpPr txBox="1"/>
              <p:nvPr/>
            </p:nvSpPr>
            <p:spPr>
              <a:xfrm>
                <a:off x="3228277" y="2009108"/>
                <a:ext cx="3491725" cy="55399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3600" b="0" i="1" smtClean="0">
                          <a:latin typeface="Cambria Math" panose="02040503050406030204" pitchFamily="18" charset="0"/>
                        </a:rPr>
                        <m:t>𝐹</m:t>
                      </m:r>
                      <m:d>
                        <m:dPr>
                          <m:ctrlPr>
                            <a:rPr lang="en-US" altLang="zh-CN" sz="36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36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d>
                      <m:r>
                        <a:rPr lang="en-US" altLang="zh-CN" sz="36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sz="3600" b="0" i="1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altLang="zh-CN" sz="36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3600" b="0" i="1" smtClean="0">
                              <a:latin typeface="Cambria Math" panose="02040503050406030204" pitchFamily="18" charset="0"/>
                            </a:rPr>
                            <m:t>𝑌</m:t>
                          </m:r>
                          <m:r>
                            <a:rPr lang="en-US" altLang="zh-CN" sz="3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≤</m:t>
                          </m:r>
                          <m:r>
                            <a:rPr lang="en-US" altLang="zh-CN" sz="3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𝑦</m:t>
                          </m:r>
                        </m:e>
                      </m:d>
                    </m:oMath>
                  </m:oMathPara>
                </a14:m>
                <a:endParaRPr lang="en-US" altLang="zh-CN" sz="3600" b="0" i="1" dirty="0" smtClean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>
          <p:sp>
            <p:nvSpPr>
              <p:cNvPr id="4" name="文本框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28277" y="2009108"/>
                <a:ext cx="3491725" cy="553998"/>
              </a:xfrm>
              <a:prstGeom prst="rect">
                <a:avLst/>
              </a:prstGeom>
              <a:blipFill rotWithShape="1">
                <a:blip r:embed="rId2"/>
                <a:stretch>
                  <a:fillRect l="-16" t="-109" r="-897" b="4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" name="文本框 4"/>
              <p:cNvSpPr txBox="1"/>
              <p:nvPr/>
            </p:nvSpPr>
            <p:spPr>
              <a:xfrm>
                <a:off x="3410430" y="5553023"/>
                <a:ext cx="4290405" cy="55399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r>
                  <a:rPr lang="zh-CN" altLang="en-US" sz="3600" dirty="0"/>
                  <a:t>其中</a:t>
                </a:r>
                <a14:m>
                  <m:oMath xmlns:m="http://schemas.openxmlformats.org/officeDocument/2006/math">
                    <m:r>
                      <a:rPr lang="en-US" altLang="zh-CN" sz="3600" b="0" i="1" smtClean="0">
                        <a:latin typeface="Cambria Math" panose="02040503050406030204" pitchFamily="18" charset="0"/>
                      </a:rPr>
                      <m:t>𝐼</m:t>
                    </m:r>
                    <m:r>
                      <a:rPr lang="en-US" altLang="zh-CN" sz="3600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}"/>
                        <m:ctrlPr>
                          <a:rPr lang="en-US" altLang="zh-CN" sz="36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36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altLang="zh-CN" sz="3600" b="0" i="1" smtClean="0"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US" altLang="zh-CN" sz="3600" b="0" i="1" smtClean="0">
                            <a:latin typeface="Cambria Math" panose="02040503050406030204" pitchFamily="18" charset="0"/>
                          </a:rPr>
                          <m:t>𝑔</m:t>
                        </m:r>
                        <m:r>
                          <a:rPr lang="en-US" altLang="zh-CN" sz="3600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altLang="zh-CN" sz="36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altLang="zh-CN" sz="3600" b="0" i="1" smtClean="0">
                            <a:latin typeface="Cambria Math" panose="02040503050406030204" pitchFamily="18" charset="0"/>
                          </a:rPr>
                          <m:t>)≤</m:t>
                        </m:r>
                        <m:r>
                          <a:rPr lang="en-US" altLang="zh-CN" sz="3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𝑦</m:t>
                        </m:r>
                      </m:e>
                    </m:d>
                  </m:oMath>
                </a14:m>
                <a:endParaRPr lang="zh-CN" altLang="en-US" sz="3600" dirty="0"/>
              </a:p>
            </p:txBody>
          </p:sp>
        </mc:Choice>
        <mc:Fallback>
          <p:sp>
            <p:nvSpPr>
              <p:cNvPr id="5" name="文本框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10430" y="5553023"/>
                <a:ext cx="4290405" cy="553998"/>
              </a:xfrm>
              <a:prstGeom prst="rect">
                <a:avLst/>
              </a:prstGeom>
              <a:blipFill rotWithShape="1">
                <a:blip r:embed="rId3"/>
                <a:stretch>
                  <a:fillRect l="-11" t="-105" r="4" b="4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" name="矩形 5"/>
              <p:cNvSpPr/>
              <p:nvPr/>
            </p:nvSpPr>
            <p:spPr>
              <a:xfrm>
                <a:off x="4244586" y="2705421"/>
                <a:ext cx="2968313" cy="58477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320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sz="3200" i="1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altLang="zh-CN" sz="32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3200" i="1">
                              <a:latin typeface="Cambria Math" panose="02040503050406030204" pitchFamily="18" charset="0"/>
                            </a:rPr>
                            <m:t>𝑔</m:t>
                          </m:r>
                          <m:d>
                            <m:dPr>
                              <m:ctrlPr>
                                <a:rPr lang="en-US" altLang="zh-CN" sz="32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sz="3200" i="1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</m:d>
                          <m:r>
                            <a:rPr lang="en-US" altLang="zh-CN" sz="3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≤</m:t>
                          </m:r>
                          <m:r>
                            <a:rPr lang="en-US" altLang="zh-CN" sz="3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𝑦</m:t>
                          </m:r>
                        </m:e>
                      </m:d>
                    </m:oMath>
                  </m:oMathPara>
                </a14:m>
                <a:endParaRPr lang="zh-CN" altLang="en-US" sz="3200" dirty="0"/>
              </a:p>
            </p:txBody>
          </p:sp>
        </mc:Choice>
        <mc:Fallback>
          <p:sp>
            <p:nvSpPr>
              <p:cNvPr id="6" name="矩形 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44586" y="2705421"/>
                <a:ext cx="2968313" cy="584775"/>
              </a:xfrm>
              <a:prstGeom prst="rect">
                <a:avLst/>
              </a:prstGeom>
              <a:blipFill rotWithShape="1">
                <a:blip r:embed="rId4"/>
                <a:stretch>
                  <a:fillRect l="-8" t="-55" r="19" b="4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" name="矩形 6"/>
              <p:cNvSpPr/>
              <p:nvPr/>
            </p:nvSpPr>
            <p:spPr>
              <a:xfrm>
                <a:off x="4284324" y="3466722"/>
                <a:ext cx="2250040" cy="58477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320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sz="3200" i="1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altLang="zh-CN" sz="32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3200" i="1">
                              <a:latin typeface="Cambria Math" panose="02040503050406030204" pitchFamily="18" charset="0"/>
                            </a:rPr>
                            <m:t>𝑋</m:t>
                          </m:r>
                          <m:r>
                            <a:rPr lang="en-US" altLang="zh-CN" sz="3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∈</m:t>
                          </m:r>
                          <m:r>
                            <a:rPr lang="en-US" altLang="zh-CN" sz="3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𝐼</m:t>
                          </m:r>
                        </m:e>
                      </m:d>
                    </m:oMath>
                  </m:oMathPara>
                </a14:m>
                <a:endParaRPr lang="zh-CN" altLang="en-US" sz="3200" dirty="0"/>
              </a:p>
            </p:txBody>
          </p:sp>
        </mc:Choice>
        <mc:Fallback>
          <p:sp>
            <p:nvSpPr>
              <p:cNvPr id="7" name="矩形 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84324" y="3466722"/>
                <a:ext cx="2250040" cy="584775"/>
              </a:xfrm>
              <a:prstGeom prst="rect">
                <a:avLst/>
              </a:prstGeom>
              <a:blipFill rotWithShape="1">
                <a:blip r:embed="rId5"/>
                <a:stretch>
                  <a:fillRect l="-27" t="-44" r="10" b="3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8" name="矩形 7"/>
              <p:cNvSpPr/>
              <p:nvPr/>
            </p:nvSpPr>
            <p:spPr>
              <a:xfrm>
                <a:off x="4244586" y="3751650"/>
                <a:ext cx="2441309" cy="1616918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320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limLoc m:val="undOvr"/>
                          <m:ctrlPr>
                            <a:rPr lang="en-US" altLang="zh-CN" sz="32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4"/>
                            </m:rPr>
                            <a:rPr lang="en-US" altLang="zh-CN" sz="3200" i="1">
                              <a:latin typeface="Cambria Math" panose="02040503050406030204" pitchFamily="18" charset="0"/>
                            </a:rPr>
                            <m:t>𝐼</m:t>
                          </m:r>
                        </m:sub>
                        <m:sup/>
                        <m:e>
                          <m:r>
                            <a:rPr lang="en-US" altLang="zh-CN" sz="3200" i="1">
                              <a:latin typeface="Cambria Math" panose="02040503050406030204" pitchFamily="18" charset="0"/>
                            </a:rPr>
                            <m:t>𝑓</m:t>
                          </m:r>
                          <m:d>
                            <m:dPr>
                              <m:ctrlPr>
                                <a:rPr lang="en-US" altLang="zh-CN" sz="32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sz="32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  <m:r>
                            <a:rPr lang="en-US" altLang="zh-CN" sz="3200" i="1">
                              <a:latin typeface="Cambria Math" panose="02040503050406030204" pitchFamily="18" charset="0"/>
                            </a:rPr>
                            <m:t>𝑑𝑥</m:t>
                          </m:r>
                        </m:e>
                      </m:nary>
                    </m:oMath>
                  </m:oMathPara>
                </a14:m>
                <a:endParaRPr lang="zh-CN" altLang="en-US" sz="3200" dirty="0"/>
              </a:p>
            </p:txBody>
          </p:sp>
        </mc:Choice>
        <mc:Fallback>
          <p:sp>
            <p:nvSpPr>
              <p:cNvPr id="8" name="矩形 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44586" y="3751650"/>
                <a:ext cx="2441309" cy="1616918"/>
              </a:xfrm>
              <a:prstGeom prst="rect">
                <a:avLst/>
              </a:prstGeom>
              <a:blipFill rotWithShape="1">
                <a:blip r:embed="rId6"/>
                <a:stretch>
                  <a:fillRect l="-10" t="-4" r="25" b="1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Rectangle 2"/>
          <p:cNvSpPr>
            <a:spLocks noChangeArrowheads="1"/>
          </p:cNvSpPr>
          <p:nvPr/>
        </p:nvSpPr>
        <p:spPr bwMode="auto">
          <a:xfrm>
            <a:off x="4948920" y="2479365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4" grpId="0"/>
      <p:bldP spid="5" grpId="0"/>
      <p:bldP spid="6" grpId="0"/>
      <p:bldP spid="7" grpId="0"/>
      <p:bldP spid="8" grpId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02740" y="3245485"/>
            <a:ext cx="6953250" cy="2552700"/>
          </a:xfrm>
          <a:prstGeom prst="rect">
            <a:avLst/>
          </a:prstGeom>
        </p:spPr>
      </p:pic>
      <p:sp>
        <p:nvSpPr>
          <p:cNvPr id="8" name="Rectangle 4"/>
          <p:cNvSpPr>
            <a:spLocks noChangeArrowheads="1"/>
          </p:cNvSpPr>
          <p:nvPr/>
        </p:nvSpPr>
        <p:spPr bwMode="auto">
          <a:xfrm>
            <a:off x="-1484010" y="-34477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9" name="对象 8"/>
          <p:cNvGraphicFramePr>
            <a:graphicFrameLocks noChangeAspect="1"/>
          </p:cNvGraphicFramePr>
          <p:nvPr/>
        </p:nvGraphicFramePr>
        <p:xfrm>
          <a:off x="544815" y="496901"/>
          <a:ext cx="8799308" cy="25140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72" name="" r:id="rId2" imgW="4063365" imgH="1155700" progId="Equation.3">
                  <p:embed/>
                </p:oleObj>
              </mc:Choice>
              <mc:Fallback>
                <p:oleObj name="" r:id="rId2" imgW="4063365" imgH="1155700" progId="Equation.3">
                  <p:embed/>
                  <p:pic>
                    <p:nvPicPr>
                      <p:cNvPr id="0" name="对象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4815" y="496901"/>
                        <a:ext cx="8799308" cy="2514088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文本框 11"/>
          <p:cNvSpPr txBox="1"/>
          <p:nvPr/>
        </p:nvSpPr>
        <p:spPr>
          <a:xfrm>
            <a:off x="636706" y="3245304"/>
            <a:ext cx="64633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600" dirty="0" smtClean="0">
                <a:solidFill>
                  <a:srgbClr val="FF0000"/>
                </a:solidFill>
              </a:rPr>
              <a:t>解</a:t>
            </a:r>
            <a:endParaRPr lang="zh-CN" altLang="en-US" sz="3600" dirty="0">
              <a:solidFill>
                <a:srgbClr val="FF0000"/>
              </a:solidFill>
            </a:endParaRPr>
          </a:p>
        </p:txBody>
      </p:sp>
      <p:sp>
        <p:nvSpPr>
          <p:cNvPr id="2" name="圆角矩形 1"/>
          <p:cNvSpPr/>
          <p:nvPr/>
        </p:nvSpPr>
        <p:spPr>
          <a:xfrm>
            <a:off x="1602740" y="3173095"/>
            <a:ext cx="7066280" cy="796290"/>
          </a:xfrm>
          <a:prstGeom prst="round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文本框 19"/>
          <p:cNvSpPr txBox="1"/>
          <p:nvPr/>
        </p:nvSpPr>
        <p:spPr>
          <a:xfrm>
            <a:off x="862631" y="397431"/>
            <a:ext cx="1632567" cy="671509"/>
          </a:xfrm>
          <a:prstGeom prst="rect">
            <a:avLst/>
          </a:prstGeom>
          <a:solidFill>
            <a:srgbClr val="92D050"/>
          </a:solidFill>
        </p:spPr>
        <p:txBody>
          <a:bodyPr wrap="square" rtlCol="0">
            <a:spAutoFit/>
          </a:bodyPr>
          <a:lstStyle/>
          <a:p>
            <a:r>
              <a:rPr lang="zh-CN" altLang="en-US" sz="3600" dirty="0" smtClean="0">
                <a:solidFill>
                  <a:srgbClr val="FF0000"/>
                </a:solidFill>
              </a:rPr>
              <a:t>  例</a:t>
            </a:r>
            <a:endParaRPr lang="zh-CN" altLang="en-US" sz="3600" dirty="0">
              <a:solidFill>
                <a:srgbClr val="FF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2" grpId="0" bldLvl="0" animBg="1"/>
      <p:bldP spid="13" grpId="0" animBg="1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406015" y="4250690"/>
            <a:ext cx="5210810" cy="2263140"/>
          </a:xfrm>
          <a:prstGeom prst="rect">
            <a:avLst/>
          </a:prstGeom>
        </p:spPr>
      </p:pic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2142" y="0"/>
            <a:ext cx="8828368" cy="3147506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1835" y="3208655"/>
            <a:ext cx="8931275" cy="982345"/>
          </a:xfrm>
          <a:prstGeom prst="rect">
            <a:avLst/>
          </a:prstGeom>
        </p:spPr>
      </p:pic>
      <p:sp>
        <p:nvSpPr>
          <p:cNvPr id="9" name="文本框 8"/>
          <p:cNvSpPr txBox="1"/>
          <p:nvPr>
            <p:custDataLst>
              <p:tags r:id="rId4"/>
            </p:custDataLst>
          </p:nvPr>
        </p:nvSpPr>
        <p:spPr>
          <a:xfrm>
            <a:off x="313690" y="339090"/>
            <a:ext cx="4064000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3200" b="1">
                <a:gradFill>
                  <a:gsLst>
                    <a:gs pos="0">
                      <a:srgbClr val="007BD3"/>
                    </a:gs>
                    <a:gs pos="100000">
                      <a:srgbClr val="034373"/>
                    </a:gs>
                  </a:gsLst>
                  <a:lin scaled="0"/>
                </a:gradFill>
              </a:rPr>
              <a:t>练习</a:t>
            </a:r>
            <a:endParaRPr lang="zh-CN" altLang="en-US" sz="3200" b="1">
              <a:gradFill>
                <a:gsLst>
                  <a:gs pos="0">
                    <a:srgbClr val="007BD3"/>
                  </a:gs>
                  <a:gs pos="100000">
                    <a:srgbClr val="034373"/>
                  </a:gs>
                </a:gsLst>
                <a:lin scaled="0"/>
              </a:gra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2027191" y="510123"/>
            <a:ext cx="7689669" cy="600075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200000"/>
              </a:lnSpc>
              <a:spcAft>
                <a:spcPts val="0"/>
              </a:spcAft>
            </a:pPr>
            <a:r>
              <a:rPr lang="zh-CN" altLang="zh-CN" sz="3200" b="1" kern="100" dirty="0">
                <a:latin typeface="等线" panose="02010600030101010101" pitchFamily="2" charset="-122"/>
                <a:cs typeface="Times New Roman" panose="02020603050405020304" pitchFamily="18" charset="0"/>
              </a:rPr>
              <a:t>第</a:t>
            </a:r>
            <a:r>
              <a:rPr lang="en-US" altLang="zh-CN" sz="3200" b="1" kern="100" dirty="0">
                <a:latin typeface="等线" panose="02010600030101010101" pitchFamily="2" charset="-122"/>
                <a:cs typeface="Times New Roman" panose="02020603050405020304" pitchFamily="18" charset="0"/>
              </a:rPr>
              <a:t>4</a:t>
            </a:r>
            <a:r>
              <a:rPr lang="zh-CN" altLang="zh-CN" sz="3200" b="1" kern="100" dirty="0">
                <a:latin typeface="等线" panose="02010600030101010101" pitchFamily="2" charset="-122"/>
                <a:cs typeface="Times New Roman" panose="02020603050405020304" pitchFamily="18" charset="0"/>
              </a:rPr>
              <a:t>章</a:t>
            </a:r>
            <a:r>
              <a:rPr lang="en-US" altLang="zh-CN" sz="3200" b="1" kern="100" dirty="0">
                <a:latin typeface="等线" panose="02010600030101010101" pitchFamily="2" charset="-122"/>
                <a:cs typeface="Times New Roman" panose="02020603050405020304" pitchFamily="18" charset="0"/>
              </a:rPr>
              <a:t>  </a:t>
            </a:r>
            <a:r>
              <a:rPr lang="zh-CN" altLang="zh-CN" sz="3200" b="1" kern="100" dirty="0">
                <a:latin typeface="等线" panose="02010600030101010101" pitchFamily="2" charset="-122"/>
                <a:cs typeface="Times New Roman" panose="02020603050405020304" pitchFamily="18" charset="0"/>
              </a:rPr>
              <a:t>随机向量及其概率分布</a:t>
            </a:r>
            <a:endParaRPr lang="zh-CN" altLang="zh-CN" sz="3200" kern="100" dirty="0">
              <a:latin typeface="等线" panose="02010600030101010101" pitchFamily="2" charset="-122"/>
              <a:cs typeface="Times New Roman" panose="02020603050405020304" pitchFamily="18" charset="0"/>
            </a:endParaRPr>
          </a:p>
          <a:p>
            <a:pPr algn="just">
              <a:lnSpc>
                <a:spcPct val="200000"/>
              </a:lnSpc>
              <a:spcAft>
                <a:spcPts val="0"/>
              </a:spcAft>
            </a:pPr>
            <a:r>
              <a:rPr lang="en-US" altLang="zh-CN" sz="3200" kern="100" dirty="0">
                <a:latin typeface="等线" panose="02010600030101010101" pitchFamily="2" charset="-122"/>
                <a:cs typeface="Times New Roman" panose="02020603050405020304" pitchFamily="18" charset="0"/>
              </a:rPr>
              <a:t>4.1</a:t>
            </a:r>
            <a:r>
              <a:rPr lang="zh-CN" altLang="zh-CN" sz="3200" kern="100" dirty="0">
                <a:latin typeface="等线" panose="02010600030101010101" pitchFamily="2" charset="-122"/>
                <a:cs typeface="Times New Roman" panose="02020603050405020304" pitchFamily="18" charset="0"/>
              </a:rPr>
              <a:t>随机向量的联合分布</a:t>
            </a:r>
            <a:endParaRPr lang="zh-CN" altLang="zh-CN" sz="3200" kern="100" dirty="0">
              <a:latin typeface="等线" panose="02010600030101010101" pitchFamily="2" charset="-122"/>
              <a:cs typeface="Times New Roman" panose="02020603050405020304" pitchFamily="18" charset="0"/>
            </a:endParaRPr>
          </a:p>
          <a:p>
            <a:pPr algn="just">
              <a:lnSpc>
                <a:spcPct val="200000"/>
              </a:lnSpc>
              <a:spcAft>
                <a:spcPts val="0"/>
              </a:spcAft>
            </a:pPr>
            <a:r>
              <a:rPr lang="en-US" altLang="zh-CN" sz="3200" kern="100" dirty="0">
                <a:latin typeface="等线" panose="02010600030101010101" pitchFamily="2" charset="-122"/>
                <a:cs typeface="Times New Roman" panose="02020603050405020304" pitchFamily="18" charset="0"/>
              </a:rPr>
              <a:t>4.2</a:t>
            </a:r>
            <a:r>
              <a:rPr lang="zh-CN" altLang="zh-CN" sz="3200" kern="100" dirty="0">
                <a:latin typeface="等线" panose="02010600030101010101" pitchFamily="2" charset="-122"/>
                <a:cs typeface="Times New Roman" panose="02020603050405020304" pitchFamily="18" charset="0"/>
              </a:rPr>
              <a:t>边缘分布</a:t>
            </a:r>
            <a:endParaRPr lang="zh-CN" altLang="zh-CN" sz="3200" kern="100" dirty="0">
              <a:latin typeface="等线" panose="02010600030101010101" pitchFamily="2" charset="-122"/>
              <a:cs typeface="Times New Roman" panose="02020603050405020304" pitchFamily="18" charset="0"/>
            </a:endParaRPr>
          </a:p>
          <a:p>
            <a:pPr algn="just">
              <a:lnSpc>
                <a:spcPct val="200000"/>
              </a:lnSpc>
              <a:spcAft>
                <a:spcPts val="0"/>
              </a:spcAft>
            </a:pPr>
            <a:r>
              <a:rPr lang="en-US" altLang="zh-CN" sz="3200" kern="100" dirty="0">
                <a:latin typeface="等线" panose="02010600030101010101" pitchFamily="2" charset="-122"/>
                <a:cs typeface="Times New Roman" panose="02020603050405020304" pitchFamily="18" charset="0"/>
              </a:rPr>
              <a:t>4.3</a:t>
            </a:r>
            <a:r>
              <a:rPr lang="zh-CN" altLang="zh-CN" sz="3200" kern="100" dirty="0">
                <a:latin typeface="等线" panose="02010600030101010101" pitchFamily="2" charset="-122"/>
                <a:cs typeface="Times New Roman" panose="02020603050405020304" pitchFamily="18" charset="0"/>
              </a:rPr>
              <a:t>条件分布</a:t>
            </a:r>
            <a:endParaRPr lang="zh-CN" altLang="zh-CN" sz="3200" kern="100" dirty="0">
              <a:latin typeface="等线" panose="02010600030101010101" pitchFamily="2" charset="-122"/>
              <a:cs typeface="Times New Roman" panose="02020603050405020304" pitchFamily="18" charset="0"/>
            </a:endParaRPr>
          </a:p>
          <a:p>
            <a:pPr algn="just">
              <a:lnSpc>
                <a:spcPct val="200000"/>
              </a:lnSpc>
              <a:spcAft>
                <a:spcPts val="0"/>
              </a:spcAft>
            </a:pPr>
            <a:r>
              <a:rPr lang="en-US" altLang="zh-CN" sz="3200" kern="100" dirty="0">
                <a:latin typeface="等线" panose="02010600030101010101" pitchFamily="2" charset="-122"/>
                <a:cs typeface="Times New Roman" panose="02020603050405020304" pitchFamily="18" charset="0"/>
              </a:rPr>
              <a:t>4.4</a:t>
            </a:r>
            <a:r>
              <a:rPr lang="zh-CN" altLang="zh-CN" sz="3200" kern="100" dirty="0">
                <a:latin typeface="等线" panose="02010600030101010101" pitchFamily="2" charset="-122"/>
                <a:cs typeface="Times New Roman" panose="02020603050405020304" pitchFamily="18" charset="0"/>
              </a:rPr>
              <a:t>随机变量的独立性</a:t>
            </a:r>
            <a:endParaRPr lang="zh-CN" altLang="zh-CN" sz="3200" kern="100" dirty="0">
              <a:latin typeface="等线" panose="02010600030101010101" pitchFamily="2" charset="-122"/>
              <a:cs typeface="Times New Roman" panose="02020603050405020304" pitchFamily="18" charset="0"/>
            </a:endParaRPr>
          </a:p>
          <a:p>
            <a:pPr algn="just">
              <a:lnSpc>
                <a:spcPct val="200000"/>
              </a:lnSpc>
              <a:spcAft>
                <a:spcPts val="0"/>
              </a:spcAft>
            </a:pPr>
            <a:r>
              <a:rPr lang="en-US" altLang="zh-CN" sz="3200" kern="100" dirty="0">
                <a:latin typeface="等线" panose="02010600030101010101" pitchFamily="2" charset="-122"/>
                <a:cs typeface="Times New Roman" panose="02020603050405020304" pitchFamily="18" charset="0"/>
              </a:rPr>
              <a:t>4.5</a:t>
            </a:r>
            <a:r>
              <a:rPr lang="zh-CN" altLang="zh-CN" sz="3200" kern="100" dirty="0">
                <a:latin typeface="等线" panose="02010600030101010101" pitchFamily="2" charset="-122"/>
                <a:cs typeface="Times New Roman" panose="02020603050405020304" pitchFamily="18" charset="0"/>
              </a:rPr>
              <a:t>随机向量函数的分布</a:t>
            </a:r>
            <a:endParaRPr lang="zh-CN" altLang="zh-CN" sz="3200" kern="100" dirty="0">
              <a:latin typeface="等线" panose="02010600030101010101" pitchFamily="2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3188" y="393007"/>
            <a:ext cx="8272619" cy="3437214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6" name="表格 5"/>
              <p:cNvGraphicFramePr>
                <a:graphicFrameLocks noGrp="1"/>
              </p:cNvGraphicFramePr>
              <p:nvPr/>
            </p:nvGraphicFramePr>
            <p:xfrm>
              <a:off x="2416629" y="3919975"/>
              <a:ext cx="2743200" cy="857250"/>
            </p:xfrm>
            <a:graphic>
              <a:graphicData uri="http://schemas.openxmlformats.org/drawingml/2006/table">
                <a:tbl>
                  <a:tblPr>
                    <a:tableStyleId>{5C22544A-7EE6-4342-B048-85BDC9FD1C3A}</a:tableStyleId>
                  </a:tblPr>
                  <a:tblGrid>
                    <a:gridCol w="685800"/>
                    <a:gridCol w="685800"/>
                    <a:gridCol w="685800"/>
                    <a:gridCol w="685800"/>
                  </a:tblGrid>
                  <a:tr h="438150">
                    <a:tc>
                      <a:txBody>
                        <a:bodyPr/>
                        <a:lstStyle/>
                        <a:p>
                          <a:pPr algn="ctr" fontAlgn="ctr"/>
                          <a14:m>
                            <m:oMath xmlns:m="http://schemas.openxmlformats.org/officeDocument/2006/math">
                              <m:r>
                                <a:rPr lang="en-US" altLang="zh-CN" sz="2600" b="0" i="1" u="none" strike="noStrike" smtClean="0">
                                  <a:effectLst/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oMath>
                          </a14:m>
                          <a:r>
                            <a:rPr lang="zh-CN" altLang="en-US" sz="2600" u="none" strike="noStrike" dirty="0">
                              <a:effectLst/>
                            </a:rPr>
                            <a:t>　</a:t>
                          </a:r>
                          <a:endParaRPr lang="zh-CN" altLang="en-US" sz="26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等线" panose="02010600030101010101" pitchFamily="2" charset="-122"/>
                            <a:ea typeface="等线" panose="02010600030101010101" pitchFamily="2" charset="-122"/>
                          </a:endParaRPr>
                        </a:p>
                      </a:txBody>
                      <a:tcPr marL="9525" marR="9525" marT="9525" marB="0" anchor="ctr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zh-CN" sz="2600" u="none" strike="noStrike" dirty="0">
                              <a:effectLst/>
                            </a:rPr>
                            <a:t>1</a:t>
                          </a:r>
                          <a:endParaRPr lang="en-US" altLang="zh-CN" sz="26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等线" panose="02010600030101010101" pitchFamily="2" charset="-122"/>
                            <a:ea typeface="等线" panose="02010600030101010101" pitchFamily="2" charset="-122"/>
                          </a:endParaRPr>
                        </a:p>
                      </a:txBody>
                      <a:tcPr marL="9525" marR="9525" marT="9525" marB="0" anchor="ctr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zh-CN" sz="2600" u="none" strike="noStrike" dirty="0">
                              <a:effectLst/>
                            </a:rPr>
                            <a:t>2</a:t>
                          </a:r>
                          <a:endParaRPr lang="en-US" altLang="zh-CN" sz="26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等线" panose="02010600030101010101" pitchFamily="2" charset="-122"/>
                            <a:ea typeface="等线" panose="02010600030101010101" pitchFamily="2" charset="-122"/>
                          </a:endParaRPr>
                        </a:p>
                      </a:txBody>
                      <a:tcPr marL="9525" marR="9525" marT="9525" marB="0" anchor="ctr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zh-CN" sz="2600" u="none" strike="noStrike" dirty="0">
                              <a:effectLst/>
                            </a:rPr>
                            <a:t>3</a:t>
                          </a:r>
                          <a:endParaRPr lang="en-US" altLang="zh-CN" sz="26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等线" panose="02010600030101010101" pitchFamily="2" charset="-122"/>
                            <a:ea typeface="等线" panose="02010600030101010101" pitchFamily="2" charset="-122"/>
                          </a:endParaRPr>
                        </a:p>
                      </a:txBody>
                      <a:tcPr marL="9525" marR="9525" marT="9525" marB="0" anchor="ctr">
                        <a:noFill/>
                      </a:tcPr>
                    </a:tc>
                  </a:tr>
                  <a:tr h="419100">
                    <a:tc>
                      <a:txBody>
                        <a:bodyPr/>
                        <a:lstStyle/>
                        <a:p>
                          <a:pPr algn="ctr" font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CN" sz="2600" b="0" i="1" u="none" strike="noStrike" smtClean="0">
                                    <a:effectLst/>
                                    <a:latin typeface="Cambria Math" panose="02040503050406030204" pitchFamily="18" charset="0"/>
                                  </a:rPr>
                                  <m:t>𝑃</m:t>
                                </m:r>
                              </m:oMath>
                            </m:oMathPara>
                          </a14:m>
                          <a:endParaRPr lang="en-US" sz="26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等线" panose="02010600030101010101" pitchFamily="2" charset="-122"/>
                            <a:ea typeface="等线" panose="02010600030101010101" pitchFamily="2" charset="-122"/>
                          </a:endParaRPr>
                        </a:p>
                      </a:txBody>
                      <a:tcPr marL="9525" marR="9525" marT="9525" marB="0" anchor="ctr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zh-CN" sz="2600" u="none" strike="noStrike" dirty="0">
                              <a:effectLst/>
                            </a:rPr>
                            <a:t>0.2</a:t>
                          </a:r>
                          <a:endParaRPr lang="en-US" altLang="zh-CN" sz="26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等线" panose="02010600030101010101" pitchFamily="2" charset="-122"/>
                            <a:ea typeface="等线" panose="02010600030101010101" pitchFamily="2" charset="-122"/>
                          </a:endParaRPr>
                        </a:p>
                      </a:txBody>
                      <a:tcPr marL="9525" marR="9525" marT="9525" marB="0" anchor="ctr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zh-CN" sz="2600" u="none" strike="noStrike">
                              <a:effectLst/>
                            </a:rPr>
                            <a:t>0.5</a:t>
                          </a:r>
                          <a:endParaRPr lang="en-US" altLang="zh-CN" sz="2600" b="0" i="0" u="none" strike="noStrike">
                            <a:solidFill>
                              <a:srgbClr val="000000"/>
                            </a:solidFill>
                            <a:effectLst/>
                            <a:latin typeface="等线" panose="02010600030101010101" pitchFamily="2" charset="-122"/>
                            <a:ea typeface="等线" panose="02010600030101010101" pitchFamily="2" charset="-122"/>
                          </a:endParaRPr>
                        </a:p>
                      </a:txBody>
                      <a:tcPr marL="9525" marR="9525" marT="9525" marB="0" anchor="ctr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zh-CN" sz="2600" u="none" strike="noStrike" dirty="0">
                              <a:effectLst/>
                            </a:rPr>
                            <a:t>0.3</a:t>
                          </a:r>
                          <a:endParaRPr lang="en-US" altLang="zh-CN" sz="26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等线" panose="02010600030101010101" pitchFamily="2" charset="-122"/>
                            <a:ea typeface="等线" panose="02010600030101010101" pitchFamily="2" charset="-122"/>
                          </a:endParaRPr>
                        </a:p>
                      </a:txBody>
                      <a:tcPr marL="9525" marR="9525" marT="9525" marB="0" anchor="ctr">
                        <a:noFill/>
                      </a:tcPr>
                    </a:tc>
                  </a:tr>
                </a:tbl>
              </a:graphicData>
            </a:graphic>
          </p:graphicFrame>
        </mc:Choice>
        <mc:Fallback xmlns="">
          <p:graphicFrame>
            <p:nvGraphicFramePr>
              <p:cNvPr id="6" name="表格 5"/>
              <p:cNvGraphicFramePr>
                <a:graphicFrameLocks noGrp="1"/>
              </p:cNvGraphicFramePr>
              <p:nvPr/>
            </p:nvGraphicFramePr>
            <p:xfrm>
              <a:off x="2416629" y="3919975"/>
              <a:ext cx="2743200" cy="857250"/>
            </p:xfrm>
            <a:graphic>
              <a:graphicData uri="http://schemas.openxmlformats.org/drawingml/2006/table">
                <a:tbl>
                  <a:tblPr>
                    <a:tableStyleId>{5C22544A-7EE6-4342-B048-85BDC9FD1C3A}</a:tableStyleId>
                  </a:tblPr>
                  <a:tblGrid>
                    <a:gridCol w="685800"/>
                    <a:gridCol w="685800"/>
                    <a:gridCol w="685800"/>
                    <a:gridCol w="685800"/>
                  </a:tblGrid>
                  <a:tr h="438150"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9525" marR="9525" marT="9525" marB="0" anchor="ctr">
                        <a:blipFill>
                          <a:blip r:embed="rId2"/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zh-CN" sz="2600" u="none" strike="noStrike" dirty="0">
                              <a:effectLst/>
                            </a:rPr>
                            <a:t>1</a:t>
                          </a:r>
                          <a:endParaRPr lang="en-US" altLang="zh-CN" sz="26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等线" panose="02010600030101010101" pitchFamily="2" charset="-122"/>
                            <a:ea typeface="等线" panose="02010600030101010101" pitchFamily="2" charset="-122"/>
                          </a:endParaRPr>
                        </a:p>
                      </a:txBody>
                      <a:tcPr marL="9525" marR="9525" marT="9525" marB="0" anchor="ctr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zh-CN" sz="2600" u="none" strike="noStrike" dirty="0">
                              <a:effectLst/>
                            </a:rPr>
                            <a:t>2</a:t>
                          </a:r>
                          <a:endParaRPr lang="en-US" altLang="zh-CN" sz="26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等线" panose="02010600030101010101" pitchFamily="2" charset="-122"/>
                            <a:ea typeface="等线" panose="02010600030101010101" pitchFamily="2" charset="-122"/>
                          </a:endParaRPr>
                        </a:p>
                      </a:txBody>
                      <a:tcPr marL="9525" marR="9525" marT="9525" marB="0" anchor="ctr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zh-CN" sz="2600" u="none" strike="noStrike" dirty="0">
                              <a:effectLst/>
                            </a:rPr>
                            <a:t>3</a:t>
                          </a:r>
                          <a:endParaRPr lang="en-US" altLang="zh-CN" sz="26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等线" panose="02010600030101010101" pitchFamily="2" charset="-122"/>
                            <a:ea typeface="等线" panose="02010600030101010101" pitchFamily="2" charset="-122"/>
                          </a:endParaRPr>
                        </a:p>
                      </a:txBody>
                      <a:tcPr marL="9525" marR="9525" marT="9525" marB="0" anchor="ctr">
                        <a:noFill/>
                      </a:tcPr>
                    </a:tc>
                  </a:tr>
                  <a:tr h="419100"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9525" marR="9525" marT="9525" marB="0" anchor="ctr">
                        <a:blipFill>
                          <a:blip r:embed="rId2"/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zh-CN" sz="2600" u="none" strike="noStrike" dirty="0">
                              <a:effectLst/>
                            </a:rPr>
                            <a:t>0.2</a:t>
                          </a:r>
                          <a:endParaRPr lang="en-US" altLang="zh-CN" sz="26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等线" panose="02010600030101010101" pitchFamily="2" charset="-122"/>
                            <a:ea typeface="等线" panose="02010600030101010101" pitchFamily="2" charset="-122"/>
                          </a:endParaRPr>
                        </a:p>
                      </a:txBody>
                      <a:tcPr marL="9525" marR="9525" marT="9525" marB="0" anchor="ctr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zh-CN" sz="2600" u="none" strike="noStrike">
                              <a:effectLst/>
                            </a:rPr>
                            <a:t>0.5</a:t>
                          </a:r>
                          <a:endParaRPr lang="en-US" altLang="zh-CN" sz="2600" b="0" i="0" u="none" strike="noStrike">
                            <a:solidFill>
                              <a:srgbClr val="000000"/>
                            </a:solidFill>
                            <a:effectLst/>
                            <a:latin typeface="等线" panose="02010600030101010101" pitchFamily="2" charset="-122"/>
                            <a:ea typeface="等线" panose="02010600030101010101" pitchFamily="2" charset="-122"/>
                          </a:endParaRPr>
                        </a:p>
                      </a:txBody>
                      <a:tcPr marL="9525" marR="9525" marT="9525" marB="0" anchor="ctr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zh-CN" sz="2600" u="none" strike="noStrike" dirty="0">
                              <a:effectLst/>
                            </a:rPr>
                            <a:t>0.3</a:t>
                          </a:r>
                          <a:endParaRPr lang="en-US" altLang="zh-CN" sz="26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等线" panose="02010600030101010101" pitchFamily="2" charset="-122"/>
                            <a:ea typeface="等线" panose="02010600030101010101" pitchFamily="2" charset="-122"/>
                          </a:endParaRPr>
                        </a:p>
                      </a:txBody>
                      <a:tcPr marL="9525" marR="9525" marT="9525" marB="0" anchor="ctr">
                        <a:noFill/>
                      </a:tcPr>
                    </a:tc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7" name="表格 6"/>
              <p:cNvGraphicFramePr>
                <a:graphicFrameLocks noGrp="1"/>
              </p:cNvGraphicFramePr>
              <p:nvPr/>
            </p:nvGraphicFramePr>
            <p:xfrm>
              <a:off x="2416629" y="4936130"/>
              <a:ext cx="4800600" cy="874395"/>
            </p:xfrm>
            <a:graphic>
              <a:graphicData uri="http://schemas.openxmlformats.org/drawingml/2006/table">
                <a:tbl>
                  <a:tblPr>
                    <a:tableStyleId>{5C22544A-7EE6-4342-B048-85BDC9FD1C3A}</a:tableStyleId>
                  </a:tblPr>
                  <a:tblGrid>
                    <a:gridCol w="685800"/>
                    <a:gridCol w="685800"/>
                    <a:gridCol w="685800"/>
                    <a:gridCol w="685800"/>
                    <a:gridCol w="685800"/>
                    <a:gridCol w="685800"/>
                    <a:gridCol w="685800"/>
                  </a:tblGrid>
                  <a:tr h="438150">
                    <a:tc>
                      <a:txBody>
                        <a:bodyPr/>
                        <a:lstStyle/>
                        <a:p>
                          <a:pPr algn="l" font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CN" sz="2800" b="0" i="1" u="none" strike="noStrike" smtClean="0">
                                    <a:effectLst/>
                                    <a:latin typeface="Cambria Math" panose="02040503050406030204" pitchFamily="18" charset="0"/>
                                  </a:rPr>
                                  <m:t>𝑋𝑌</m:t>
                                </m:r>
                              </m:oMath>
                            </m:oMathPara>
                          </a14:m>
                          <a:endParaRPr lang="zh-CN" altLang="en-US" sz="28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等线" panose="02010600030101010101" pitchFamily="2" charset="-122"/>
                            <a:ea typeface="等线" panose="02010600030101010101" pitchFamily="2" charset="-122"/>
                          </a:endParaRPr>
                        </a:p>
                      </a:txBody>
                      <a:tcPr marL="9525" marR="9525" marT="9525" marB="0" anchor="ctr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zh-CN" sz="2600" u="none" strike="noStrike" dirty="0">
                              <a:effectLst/>
                            </a:rPr>
                            <a:t>1</a:t>
                          </a:r>
                          <a:endParaRPr lang="en-US" altLang="zh-CN" sz="26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等线" panose="02010600030101010101" pitchFamily="2" charset="-122"/>
                            <a:ea typeface="等线" panose="02010600030101010101" pitchFamily="2" charset="-122"/>
                          </a:endParaRPr>
                        </a:p>
                      </a:txBody>
                      <a:tcPr marL="9525" marR="9525" marT="9525" marB="0" anchor="ctr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zh-CN" sz="2600" u="none" strike="noStrike" dirty="0">
                              <a:effectLst/>
                            </a:rPr>
                            <a:t>2</a:t>
                          </a:r>
                          <a:endParaRPr lang="en-US" altLang="zh-CN" sz="26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等线" panose="02010600030101010101" pitchFamily="2" charset="-122"/>
                            <a:ea typeface="等线" panose="02010600030101010101" pitchFamily="2" charset="-122"/>
                          </a:endParaRPr>
                        </a:p>
                      </a:txBody>
                      <a:tcPr marL="9525" marR="9525" marT="9525" marB="0" anchor="ctr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zh-CN" sz="2600" u="none" strike="noStrike">
                              <a:effectLst/>
                            </a:rPr>
                            <a:t>3</a:t>
                          </a:r>
                          <a:endParaRPr lang="en-US" altLang="zh-CN" sz="2600" b="0" i="0" u="none" strike="noStrike">
                            <a:solidFill>
                              <a:srgbClr val="000000"/>
                            </a:solidFill>
                            <a:effectLst/>
                            <a:latin typeface="等线" panose="02010600030101010101" pitchFamily="2" charset="-122"/>
                            <a:ea typeface="等线" panose="02010600030101010101" pitchFamily="2" charset="-122"/>
                          </a:endParaRPr>
                        </a:p>
                      </a:txBody>
                      <a:tcPr marL="9525" marR="9525" marT="9525" marB="0" anchor="ctr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zh-CN" sz="2600" u="none" strike="noStrike">
                              <a:effectLst/>
                            </a:rPr>
                            <a:t>4</a:t>
                          </a:r>
                          <a:endParaRPr lang="en-US" altLang="zh-CN" sz="2600" b="0" i="0" u="none" strike="noStrike">
                            <a:solidFill>
                              <a:srgbClr val="000000"/>
                            </a:solidFill>
                            <a:effectLst/>
                            <a:latin typeface="等线" panose="02010600030101010101" pitchFamily="2" charset="-122"/>
                            <a:ea typeface="等线" panose="02010600030101010101" pitchFamily="2" charset="-122"/>
                          </a:endParaRPr>
                        </a:p>
                      </a:txBody>
                      <a:tcPr marL="9525" marR="9525" marT="9525" marB="0" anchor="ctr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zh-CN" sz="2600" u="none" strike="noStrike">
                              <a:effectLst/>
                            </a:rPr>
                            <a:t>6</a:t>
                          </a:r>
                          <a:endParaRPr lang="en-US" altLang="zh-CN" sz="2600" b="0" i="0" u="none" strike="noStrike">
                            <a:solidFill>
                              <a:srgbClr val="000000"/>
                            </a:solidFill>
                            <a:effectLst/>
                            <a:latin typeface="等线" panose="02010600030101010101" pitchFamily="2" charset="-122"/>
                            <a:ea typeface="等线" panose="02010600030101010101" pitchFamily="2" charset="-122"/>
                          </a:endParaRPr>
                        </a:p>
                      </a:txBody>
                      <a:tcPr marL="9525" marR="9525" marT="9525" marB="0" anchor="ctr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zh-CN" sz="2600" u="none" strike="noStrike" dirty="0">
                              <a:effectLst/>
                            </a:rPr>
                            <a:t>9</a:t>
                          </a:r>
                          <a:endParaRPr lang="en-US" altLang="zh-CN" sz="26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等线" panose="02010600030101010101" pitchFamily="2" charset="-122"/>
                            <a:ea typeface="等线" panose="02010600030101010101" pitchFamily="2" charset="-122"/>
                          </a:endParaRPr>
                        </a:p>
                      </a:txBody>
                      <a:tcPr marL="9525" marR="9525" marT="9525" marB="0" anchor="ctr">
                        <a:noFill/>
                      </a:tcPr>
                    </a:tc>
                  </a:tr>
                  <a:tr h="419100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ctr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CN" sz="2800" b="0" i="1" u="none" strike="noStrike" smtClean="0">
                                    <a:effectLst/>
                                    <a:latin typeface="Cambria Math" panose="02040503050406030204" pitchFamily="18" charset="0"/>
                                  </a:rPr>
                                  <m:t>𝑃</m:t>
                                </m:r>
                              </m:oMath>
                            </m:oMathPara>
                          </a14:m>
                          <a:endParaRPr lang="zh-CN" altLang="en-US" sz="28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等线" panose="02010600030101010101" pitchFamily="2" charset="-122"/>
                            <a:ea typeface="等线" panose="02010600030101010101" pitchFamily="2" charset="-122"/>
                          </a:endParaRPr>
                        </a:p>
                      </a:txBody>
                      <a:tcPr marL="9525" marR="9525" marT="9525" marB="0" anchor="ctr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zh-CN" sz="2600" u="none" strike="noStrike" dirty="0">
                              <a:effectLst/>
                            </a:rPr>
                            <a:t>0.1</a:t>
                          </a:r>
                          <a:endParaRPr lang="en-US" altLang="zh-CN" sz="26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等线" panose="02010600030101010101" pitchFamily="2" charset="-122"/>
                            <a:ea typeface="等线" panose="02010600030101010101" pitchFamily="2" charset="-122"/>
                          </a:endParaRPr>
                        </a:p>
                      </a:txBody>
                      <a:tcPr marL="9525" marR="9525" marT="9525" marB="0" anchor="ctr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zh-CN" sz="2600" u="none" strike="noStrike">
                              <a:effectLst/>
                            </a:rPr>
                            <a:t>0.2</a:t>
                          </a:r>
                          <a:endParaRPr lang="en-US" altLang="zh-CN" sz="2600" b="0" i="0" u="none" strike="noStrike">
                            <a:solidFill>
                              <a:srgbClr val="000000"/>
                            </a:solidFill>
                            <a:effectLst/>
                            <a:latin typeface="等线" panose="02010600030101010101" pitchFamily="2" charset="-122"/>
                            <a:ea typeface="等线" panose="02010600030101010101" pitchFamily="2" charset="-122"/>
                          </a:endParaRPr>
                        </a:p>
                      </a:txBody>
                      <a:tcPr marL="9525" marR="9525" marT="9525" marB="0" anchor="ctr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zh-CN" sz="2600" u="none" strike="noStrike" dirty="0">
                              <a:effectLst/>
                            </a:rPr>
                            <a:t>0.1</a:t>
                          </a:r>
                          <a:endParaRPr lang="en-US" altLang="zh-CN" sz="26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等线" panose="02010600030101010101" pitchFamily="2" charset="-122"/>
                            <a:ea typeface="等线" panose="02010600030101010101" pitchFamily="2" charset="-122"/>
                          </a:endParaRPr>
                        </a:p>
                      </a:txBody>
                      <a:tcPr marL="9525" marR="9525" marT="9525" marB="0" anchor="ctr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zh-CN" sz="2600" u="none" strike="noStrike">
                              <a:effectLst/>
                            </a:rPr>
                            <a:t>0.1</a:t>
                          </a:r>
                          <a:endParaRPr lang="en-US" altLang="zh-CN" sz="2600" b="0" i="0" u="none" strike="noStrike">
                            <a:solidFill>
                              <a:srgbClr val="000000"/>
                            </a:solidFill>
                            <a:effectLst/>
                            <a:latin typeface="等线" panose="02010600030101010101" pitchFamily="2" charset="-122"/>
                            <a:ea typeface="等线" panose="02010600030101010101" pitchFamily="2" charset="-122"/>
                          </a:endParaRPr>
                        </a:p>
                      </a:txBody>
                      <a:tcPr marL="9525" marR="9525" marT="9525" marB="0" anchor="ctr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zh-CN" sz="2600" u="none" strike="noStrike">
                              <a:effectLst/>
                            </a:rPr>
                            <a:t>0.4</a:t>
                          </a:r>
                          <a:endParaRPr lang="en-US" altLang="zh-CN" sz="2600" b="0" i="0" u="none" strike="noStrike">
                            <a:solidFill>
                              <a:srgbClr val="000000"/>
                            </a:solidFill>
                            <a:effectLst/>
                            <a:latin typeface="等线" panose="02010600030101010101" pitchFamily="2" charset="-122"/>
                            <a:ea typeface="等线" panose="02010600030101010101" pitchFamily="2" charset="-122"/>
                          </a:endParaRPr>
                        </a:p>
                      </a:txBody>
                      <a:tcPr marL="9525" marR="9525" marT="9525" marB="0" anchor="ctr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zh-CN" sz="2600" u="none" strike="noStrike" dirty="0">
                              <a:effectLst/>
                            </a:rPr>
                            <a:t>0.1</a:t>
                          </a:r>
                          <a:endParaRPr lang="en-US" altLang="zh-CN" sz="26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等线" panose="02010600030101010101" pitchFamily="2" charset="-122"/>
                            <a:ea typeface="等线" panose="02010600030101010101" pitchFamily="2" charset="-122"/>
                          </a:endParaRPr>
                        </a:p>
                      </a:txBody>
                      <a:tcPr marL="9525" marR="9525" marT="9525" marB="0" anchor="ctr">
                        <a:noFill/>
                      </a:tcPr>
                    </a:tc>
                  </a:tr>
                </a:tbl>
              </a:graphicData>
            </a:graphic>
          </p:graphicFrame>
        </mc:Choice>
        <mc:Fallback xmlns="">
          <p:graphicFrame>
            <p:nvGraphicFramePr>
              <p:cNvPr id="7" name="表格 6"/>
              <p:cNvGraphicFramePr>
                <a:graphicFrameLocks noGrp="1"/>
              </p:cNvGraphicFramePr>
              <p:nvPr/>
            </p:nvGraphicFramePr>
            <p:xfrm>
              <a:off x="2416629" y="4936130"/>
              <a:ext cx="4800600" cy="874395"/>
            </p:xfrm>
            <a:graphic>
              <a:graphicData uri="http://schemas.openxmlformats.org/drawingml/2006/table">
                <a:tbl>
                  <a:tblPr>
                    <a:tableStyleId>{5C22544A-7EE6-4342-B048-85BDC9FD1C3A}</a:tableStyleId>
                  </a:tblPr>
                  <a:tblGrid>
                    <a:gridCol w="685800"/>
                    <a:gridCol w="685800"/>
                    <a:gridCol w="685800"/>
                    <a:gridCol w="685800"/>
                    <a:gridCol w="685800"/>
                    <a:gridCol w="685800"/>
                    <a:gridCol w="685800"/>
                  </a:tblGrid>
                  <a:tr h="438150"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9525" marR="9525" marT="9525" marB="0" anchor="ctr">
                        <a:blipFill>
                          <a:blip r:embed="rId3"/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zh-CN" sz="2600" u="none" strike="noStrike" dirty="0">
                              <a:effectLst/>
                            </a:rPr>
                            <a:t>1</a:t>
                          </a:r>
                          <a:endParaRPr lang="en-US" altLang="zh-CN" sz="26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等线" panose="02010600030101010101" pitchFamily="2" charset="-122"/>
                            <a:ea typeface="等线" panose="02010600030101010101" pitchFamily="2" charset="-122"/>
                          </a:endParaRPr>
                        </a:p>
                      </a:txBody>
                      <a:tcPr marL="9525" marR="9525" marT="9525" marB="0" anchor="ctr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zh-CN" sz="2600" u="none" strike="noStrike" dirty="0">
                              <a:effectLst/>
                            </a:rPr>
                            <a:t>2</a:t>
                          </a:r>
                          <a:endParaRPr lang="en-US" altLang="zh-CN" sz="26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等线" panose="02010600030101010101" pitchFamily="2" charset="-122"/>
                            <a:ea typeface="等线" panose="02010600030101010101" pitchFamily="2" charset="-122"/>
                          </a:endParaRPr>
                        </a:p>
                      </a:txBody>
                      <a:tcPr marL="9525" marR="9525" marT="9525" marB="0" anchor="ctr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zh-CN" sz="2600" u="none" strike="noStrike">
                              <a:effectLst/>
                            </a:rPr>
                            <a:t>3</a:t>
                          </a:r>
                          <a:endParaRPr lang="en-US" altLang="zh-CN" sz="2600" b="0" i="0" u="none" strike="noStrike">
                            <a:solidFill>
                              <a:srgbClr val="000000"/>
                            </a:solidFill>
                            <a:effectLst/>
                            <a:latin typeface="等线" panose="02010600030101010101" pitchFamily="2" charset="-122"/>
                            <a:ea typeface="等线" panose="02010600030101010101" pitchFamily="2" charset="-122"/>
                          </a:endParaRPr>
                        </a:p>
                      </a:txBody>
                      <a:tcPr marL="9525" marR="9525" marT="9525" marB="0" anchor="ctr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zh-CN" sz="2600" u="none" strike="noStrike">
                              <a:effectLst/>
                            </a:rPr>
                            <a:t>4</a:t>
                          </a:r>
                          <a:endParaRPr lang="en-US" altLang="zh-CN" sz="2600" b="0" i="0" u="none" strike="noStrike">
                            <a:solidFill>
                              <a:srgbClr val="000000"/>
                            </a:solidFill>
                            <a:effectLst/>
                            <a:latin typeface="等线" panose="02010600030101010101" pitchFamily="2" charset="-122"/>
                            <a:ea typeface="等线" panose="02010600030101010101" pitchFamily="2" charset="-122"/>
                          </a:endParaRPr>
                        </a:p>
                      </a:txBody>
                      <a:tcPr marL="9525" marR="9525" marT="9525" marB="0" anchor="ctr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zh-CN" sz="2600" u="none" strike="noStrike">
                              <a:effectLst/>
                            </a:rPr>
                            <a:t>6</a:t>
                          </a:r>
                          <a:endParaRPr lang="en-US" altLang="zh-CN" sz="2600" b="0" i="0" u="none" strike="noStrike">
                            <a:solidFill>
                              <a:srgbClr val="000000"/>
                            </a:solidFill>
                            <a:effectLst/>
                            <a:latin typeface="等线" panose="02010600030101010101" pitchFamily="2" charset="-122"/>
                            <a:ea typeface="等线" panose="02010600030101010101" pitchFamily="2" charset="-122"/>
                          </a:endParaRPr>
                        </a:p>
                      </a:txBody>
                      <a:tcPr marL="9525" marR="9525" marT="9525" marB="0" anchor="ctr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zh-CN" sz="2600" u="none" strike="noStrike" dirty="0">
                              <a:effectLst/>
                            </a:rPr>
                            <a:t>9</a:t>
                          </a:r>
                          <a:endParaRPr lang="en-US" altLang="zh-CN" sz="26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等线" panose="02010600030101010101" pitchFamily="2" charset="-122"/>
                            <a:ea typeface="等线" panose="02010600030101010101" pitchFamily="2" charset="-122"/>
                          </a:endParaRPr>
                        </a:p>
                      </a:txBody>
                      <a:tcPr marL="9525" marR="9525" marT="9525" marB="0" anchor="ctr">
                        <a:noFill/>
                      </a:tcPr>
                    </a:tc>
                  </a:tr>
                  <a:tr h="436245"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9525" marR="9525" marT="9525" marB="0" anchor="ctr">
                        <a:blipFill>
                          <a:blip r:embed="rId3"/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zh-CN" sz="2600" u="none" strike="noStrike" dirty="0">
                              <a:effectLst/>
                            </a:rPr>
                            <a:t>0.1</a:t>
                          </a:r>
                          <a:endParaRPr lang="en-US" altLang="zh-CN" sz="26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等线" panose="02010600030101010101" pitchFamily="2" charset="-122"/>
                            <a:ea typeface="等线" panose="02010600030101010101" pitchFamily="2" charset="-122"/>
                          </a:endParaRPr>
                        </a:p>
                      </a:txBody>
                      <a:tcPr marL="9525" marR="9525" marT="9525" marB="0" anchor="ctr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zh-CN" sz="2600" u="none" strike="noStrike">
                              <a:effectLst/>
                            </a:rPr>
                            <a:t>0.2</a:t>
                          </a:r>
                          <a:endParaRPr lang="en-US" altLang="zh-CN" sz="2600" b="0" i="0" u="none" strike="noStrike">
                            <a:solidFill>
                              <a:srgbClr val="000000"/>
                            </a:solidFill>
                            <a:effectLst/>
                            <a:latin typeface="等线" panose="02010600030101010101" pitchFamily="2" charset="-122"/>
                            <a:ea typeface="等线" panose="02010600030101010101" pitchFamily="2" charset="-122"/>
                          </a:endParaRPr>
                        </a:p>
                      </a:txBody>
                      <a:tcPr marL="9525" marR="9525" marT="9525" marB="0" anchor="ctr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zh-CN" sz="2600" u="none" strike="noStrike" dirty="0">
                              <a:effectLst/>
                            </a:rPr>
                            <a:t>0.1</a:t>
                          </a:r>
                          <a:endParaRPr lang="en-US" altLang="zh-CN" sz="26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等线" panose="02010600030101010101" pitchFamily="2" charset="-122"/>
                            <a:ea typeface="等线" panose="02010600030101010101" pitchFamily="2" charset="-122"/>
                          </a:endParaRPr>
                        </a:p>
                      </a:txBody>
                      <a:tcPr marL="9525" marR="9525" marT="9525" marB="0" anchor="ctr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zh-CN" sz="2600" u="none" strike="noStrike">
                              <a:effectLst/>
                            </a:rPr>
                            <a:t>0.1</a:t>
                          </a:r>
                          <a:endParaRPr lang="en-US" altLang="zh-CN" sz="2600" b="0" i="0" u="none" strike="noStrike">
                            <a:solidFill>
                              <a:srgbClr val="000000"/>
                            </a:solidFill>
                            <a:effectLst/>
                            <a:latin typeface="等线" panose="02010600030101010101" pitchFamily="2" charset="-122"/>
                            <a:ea typeface="等线" panose="02010600030101010101" pitchFamily="2" charset="-122"/>
                          </a:endParaRPr>
                        </a:p>
                      </a:txBody>
                      <a:tcPr marL="9525" marR="9525" marT="9525" marB="0" anchor="ctr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zh-CN" sz="2600" u="none" strike="noStrike">
                              <a:effectLst/>
                            </a:rPr>
                            <a:t>0.4</a:t>
                          </a:r>
                          <a:endParaRPr lang="en-US" altLang="zh-CN" sz="2600" b="0" i="0" u="none" strike="noStrike">
                            <a:solidFill>
                              <a:srgbClr val="000000"/>
                            </a:solidFill>
                            <a:effectLst/>
                            <a:latin typeface="等线" panose="02010600030101010101" pitchFamily="2" charset="-122"/>
                            <a:ea typeface="等线" panose="02010600030101010101" pitchFamily="2" charset="-122"/>
                          </a:endParaRPr>
                        </a:p>
                      </a:txBody>
                      <a:tcPr marL="9525" marR="9525" marT="9525" marB="0" anchor="ctr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zh-CN" sz="2600" u="none" strike="noStrike" dirty="0">
                              <a:effectLst/>
                            </a:rPr>
                            <a:t>0.1</a:t>
                          </a:r>
                          <a:endParaRPr lang="en-US" altLang="zh-CN" sz="26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等线" panose="02010600030101010101" pitchFamily="2" charset="-122"/>
                            <a:ea typeface="等线" panose="02010600030101010101" pitchFamily="2" charset="-122"/>
                          </a:endParaRPr>
                        </a:p>
                      </a:txBody>
                      <a:tcPr marL="9525" marR="9525" marT="9525" marB="0" anchor="ctr">
                        <a:noFill/>
                      </a:tcPr>
                    </a:tc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8" name="文本框 7"/>
              <p:cNvSpPr txBox="1"/>
              <p:nvPr/>
            </p:nvSpPr>
            <p:spPr>
              <a:xfrm>
                <a:off x="6035765" y="3926543"/>
                <a:ext cx="5942965" cy="86614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d>
                      <m:dPr>
                        <m:ctrlPr>
                          <a:rPr lang="en-US" altLang="zh-CN" sz="2800" b="1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800" b="1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𝟑</m:t>
                        </m:r>
                      </m:e>
                    </m:d>
                    <m:r>
                      <a:rPr lang="zh-CN" altLang="en-US" sz="2800" b="1" i="1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求</m:t>
                    </m:r>
                    <m:r>
                      <a:rPr lang="zh-CN" altLang="en-US" sz="2800" b="1" i="1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已知</m:t>
                    </m:r>
                    <m:r>
                      <a:rPr lang="en-US" altLang="zh-CN" sz="2800" b="1" i="1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𝑿</m:t>
                    </m:r>
                    <m:r>
                      <a:rPr lang="en-US" altLang="zh-CN" sz="2800" b="1" i="1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sz="2800" b="1" i="1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𝟐</m:t>
                    </m:r>
                    <m:r>
                      <a:rPr lang="zh-CN" altLang="en-US" sz="2800" b="1" i="1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下</m:t>
                    </m:r>
                  </m:oMath>
                </a14:m>
                <a:r>
                  <a:rPr lang="zh-CN" altLang="en-US" sz="2800" b="1" dirty="0" smtClean="0">
                    <a:solidFill>
                      <a:srgbClr val="00B050"/>
                    </a:solidFill>
                  </a:rPr>
                  <a:t>，</a:t>
                </a:r>
                <a:r>
                  <a:rPr lang="en-US" altLang="zh-CN" sz="2800" b="1" dirty="0">
                    <a:solidFill>
                      <a:srgbClr val="00B050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sz="2800" b="1" i="1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𝒀</m:t>
                    </m:r>
                    <m:r>
                      <a:rPr lang="zh-CN" altLang="en-US" sz="2800" b="1" i="1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的</m:t>
                    </m:r>
                  </m:oMath>
                </a14:m>
                <a:r>
                  <a:rPr lang="zh-CN" altLang="en-US" sz="2800" b="1" dirty="0" smtClean="0">
                    <a:solidFill>
                      <a:srgbClr val="00B050"/>
                    </a:solidFill>
                    <a:latin typeface="等线" panose="02010600030101010101" pitchFamily="2" charset="-122"/>
                  </a:rPr>
                  <a:t>条件分布律。</a:t>
                </a:r>
                <a:endParaRPr lang="zh-CN" altLang="en-US" sz="2800" b="1" dirty="0">
                  <a:solidFill>
                    <a:srgbClr val="00B050"/>
                  </a:solidFill>
                  <a:latin typeface="等线" panose="02010600030101010101" pitchFamily="2" charset="-122"/>
                </a:endParaRPr>
              </a:p>
              <a:p>
                <a:endParaRPr lang="zh-CN" altLang="en-US" sz="2800" b="1" dirty="0">
                  <a:solidFill>
                    <a:srgbClr val="00B050"/>
                  </a:solidFill>
                  <a:latin typeface="等线" panose="02010600030101010101" pitchFamily="2" charset="-122"/>
                </a:endParaRPr>
              </a:p>
            </p:txBody>
          </p:sp>
        </mc:Choice>
        <mc:Fallback>
          <p:sp>
            <p:nvSpPr>
              <p:cNvPr id="8" name="文本框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35765" y="3926543"/>
                <a:ext cx="5942965" cy="866140"/>
              </a:xfrm>
              <a:prstGeom prst="rect">
                <a:avLst/>
              </a:prstGeom>
              <a:blipFill rotWithShape="1">
                <a:blip r:embed="rId4"/>
                <a:stretch>
                  <a:fillRect l="-2" t="-186" r="-4016" b="3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Rectangle 2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1" name="表格 10"/>
              <p:cNvGraphicFramePr>
                <a:graphicFrameLocks noGrp="1"/>
              </p:cNvGraphicFramePr>
              <p:nvPr/>
            </p:nvGraphicFramePr>
            <p:xfrm>
              <a:off x="2416629" y="5938654"/>
              <a:ext cx="3735976" cy="857250"/>
            </p:xfrm>
            <a:graphic>
              <a:graphicData uri="http://schemas.openxmlformats.org/drawingml/2006/table">
                <a:tbl>
                  <a:tblPr>
                    <a:tableStyleId>{5C22544A-7EE6-4342-B048-85BDC9FD1C3A}</a:tableStyleId>
                  </a:tblPr>
                  <a:tblGrid>
                    <a:gridCol w="1393371"/>
                    <a:gridCol w="740229"/>
                    <a:gridCol w="837177"/>
                    <a:gridCol w="765199"/>
                  </a:tblGrid>
                  <a:tr h="438150">
                    <a:tc>
                      <a:txBody>
                        <a:bodyPr/>
                        <a:lstStyle/>
                        <a:p>
                          <a:pPr algn="ctr" font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CN" sz="2600" b="0" i="1" u="none" strike="noStrike" smtClean="0">
                                    <a:solidFill>
                                      <a:srgbClr val="000000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等线" panose="02010600030101010101" pitchFamily="2" charset="-122"/>
                                  </a:rPr>
                                  <m:t>𝑌</m:t>
                                </m:r>
                                <m:r>
                                  <a:rPr lang="en-US" altLang="zh-CN" sz="2600" b="0" i="1" u="none" strike="noStrike" smtClean="0">
                                    <a:solidFill>
                                      <a:srgbClr val="000000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等线" panose="02010600030101010101" pitchFamily="2" charset="-122"/>
                                  </a:rPr>
                                  <m:t>|</m:t>
                                </m:r>
                                <m:r>
                                  <a:rPr lang="en-US" altLang="zh-CN" sz="2600" b="0" i="1" u="none" strike="noStrike" smtClean="0">
                                    <a:solidFill>
                                      <a:srgbClr val="000000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等线" panose="02010600030101010101" pitchFamily="2" charset="-122"/>
                                  </a:rPr>
                                  <m:t>𝑋</m:t>
                                </m:r>
                                <m:r>
                                  <a:rPr lang="en-US" altLang="zh-CN" sz="2600" b="0" i="1" u="none" strike="noStrike" smtClean="0">
                                    <a:solidFill>
                                      <a:srgbClr val="000000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等线" panose="02010600030101010101" pitchFamily="2" charset="-122"/>
                                  </a:rPr>
                                  <m:t>=</m:t>
                                </m:r>
                                <m:r>
                                  <a:rPr lang="en-US" altLang="zh-CN" sz="2600" b="0" i="1" u="none" strike="noStrike" smtClean="0">
                                    <a:solidFill>
                                      <a:srgbClr val="000000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等线" panose="02010600030101010101" pitchFamily="2" charset="-122"/>
                                  </a:rPr>
                                  <m:t>2</m:t>
                                </m:r>
                              </m:oMath>
                            </m:oMathPara>
                          </a14:m>
                          <a:endParaRPr lang="zh-CN" altLang="en-US" sz="26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等线" panose="02010600030101010101" pitchFamily="2" charset="-122"/>
                            <a:ea typeface="等线" panose="02010600030101010101" pitchFamily="2" charset="-122"/>
                          </a:endParaRPr>
                        </a:p>
                      </a:txBody>
                      <a:tcPr marL="9525" marR="9525" marT="9525" marB="0" anchor="ctr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zh-CN" sz="2600" u="none" strike="noStrike" dirty="0">
                              <a:effectLst/>
                            </a:rPr>
                            <a:t>1</a:t>
                          </a:r>
                          <a:endParaRPr lang="en-US" altLang="zh-CN" sz="26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等线" panose="02010600030101010101" pitchFamily="2" charset="-122"/>
                            <a:ea typeface="等线" panose="02010600030101010101" pitchFamily="2" charset="-122"/>
                          </a:endParaRPr>
                        </a:p>
                      </a:txBody>
                      <a:tcPr marL="9525" marR="9525" marT="9525" marB="0" anchor="ctr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zh-CN" sz="2600" u="none" strike="noStrike" dirty="0">
                              <a:effectLst/>
                            </a:rPr>
                            <a:t>2</a:t>
                          </a:r>
                          <a:endParaRPr lang="en-US" altLang="zh-CN" sz="26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等线" panose="02010600030101010101" pitchFamily="2" charset="-122"/>
                            <a:ea typeface="等线" panose="02010600030101010101" pitchFamily="2" charset="-122"/>
                          </a:endParaRPr>
                        </a:p>
                      </a:txBody>
                      <a:tcPr marL="9525" marR="9525" marT="9525" marB="0" anchor="ctr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zh-CN" sz="2600" u="none" strike="noStrike" dirty="0">
                              <a:effectLst/>
                            </a:rPr>
                            <a:t>3</a:t>
                          </a:r>
                          <a:endParaRPr lang="en-US" altLang="zh-CN" sz="26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等线" panose="02010600030101010101" pitchFamily="2" charset="-122"/>
                            <a:ea typeface="等线" panose="02010600030101010101" pitchFamily="2" charset="-122"/>
                          </a:endParaRPr>
                        </a:p>
                      </a:txBody>
                      <a:tcPr marL="9525" marR="9525" marT="9525" marB="0" anchor="ctr">
                        <a:noFill/>
                      </a:tcPr>
                    </a:tc>
                  </a:tr>
                  <a:tr h="41910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ctr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CN" sz="2600" b="0" i="1" u="none" strike="noStrike" smtClean="0">
                                    <a:solidFill>
                                      <a:srgbClr val="000000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+mn-ea"/>
                                  </a:rPr>
                                  <m:t>𝑃</m:t>
                                </m:r>
                              </m:oMath>
                            </m:oMathPara>
                          </a14:m>
                          <a:endParaRPr lang="zh-CN" altLang="en-US" sz="26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等线" panose="02010600030101010101" pitchFamily="2" charset="-122"/>
                            <a:ea typeface="等线" panose="02010600030101010101" pitchFamily="2" charset="-122"/>
                          </a:endParaRPr>
                        </a:p>
                      </a:txBody>
                      <a:tcPr marL="9525" marR="9525" marT="9525" marB="0" anchor="ctr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zh-CN" sz="2600" u="none" strike="noStrike" dirty="0">
                              <a:effectLst/>
                            </a:rPr>
                            <a:t>0.4</a:t>
                          </a:r>
                          <a:endParaRPr lang="en-US" altLang="zh-CN" sz="26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等线" panose="02010600030101010101" pitchFamily="2" charset="-122"/>
                            <a:ea typeface="等线" panose="02010600030101010101" pitchFamily="2" charset="-122"/>
                          </a:endParaRPr>
                        </a:p>
                      </a:txBody>
                      <a:tcPr marL="9525" marR="9525" marT="9525" marB="0" anchor="ctr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zh-CN" sz="2600" u="none" strike="noStrike" dirty="0">
                              <a:effectLst/>
                            </a:rPr>
                            <a:t>0.2</a:t>
                          </a:r>
                          <a:endParaRPr lang="en-US" altLang="zh-CN" sz="26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等线" panose="02010600030101010101" pitchFamily="2" charset="-122"/>
                            <a:ea typeface="等线" panose="02010600030101010101" pitchFamily="2" charset="-122"/>
                          </a:endParaRPr>
                        </a:p>
                      </a:txBody>
                      <a:tcPr marL="9525" marR="9525" marT="9525" marB="0" anchor="ctr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zh-CN" sz="2600" u="none" strike="noStrike" dirty="0">
                              <a:effectLst/>
                            </a:rPr>
                            <a:t>0.4</a:t>
                          </a:r>
                          <a:endParaRPr lang="en-US" altLang="zh-CN" sz="26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等线" panose="02010600030101010101" pitchFamily="2" charset="-122"/>
                            <a:ea typeface="等线" panose="02010600030101010101" pitchFamily="2" charset="-122"/>
                          </a:endParaRPr>
                        </a:p>
                      </a:txBody>
                      <a:tcPr marL="9525" marR="9525" marT="9525" marB="0" anchor="ctr">
                        <a:noFill/>
                      </a:tcPr>
                    </a:tc>
                  </a:tr>
                </a:tbl>
              </a:graphicData>
            </a:graphic>
          </p:graphicFrame>
        </mc:Choice>
        <mc:Fallback xmlns="">
          <p:graphicFrame>
            <p:nvGraphicFramePr>
              <p:cNvPr id="11" name="表格 10"/>
              <p:cNvGraphicFramePr>
                <a:graphicFrameLocks noGrp="1"/>
              </p:cNvGraphicFramePr>
              <p:nvPr/>
            </p:nvGraphicFramePr>
            <p:xfrm>
              <a:off x="2416629" y="5938654"/>
              <a:ext cx="3735976" cy="857250"/>
            </p:xfrm>
            <a:graphic>
              <a:graphicData uri="http://schemas.openxmlformats.org/drawingml/2006/table">
                <a:tbl>
                  <a:tblPr>
                    <a:tableStyleId>{5C22544A-7EE6-4342-B048-85BDC9FD1C3A}</a:tableStyleId>
                  </a:tblPr>
                  <a:tblGrid>
                    <a:gridCol w="1393371"/>
                    <a:gridCol w="740229"/>
                    <a:gridCol w="837177"/>
                    <a:gridCol w="765199"/>
                  </a:tblGrid>
                  <a:tr h="438150"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9525" marR="9525" marT="9525" marB="0" anchor="ctr">
                        <a:blipFill>
                          <a:blip r:embed="rId5"/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zh-CN" sz="2600" u="none" strike="noStrike" dirty="0">
                              <a:effectLst/>
                            </a:rPr>
                            <a:t>1</a:t>
                          </a:r>
                          <a:endParaRPr lang="en-US" altLang="zh-CN" sz="26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等线" panose="02010600030101010101" pitchFamily="2" charset="-122"/>
                            <a:ea typeface="等线" panose="02010600030101010101" pitchFamily="2" charset="-122"/>
                          </a:endParaRPr>
                        </a:p>
                      </a:txBody>
                      <a:tcPr marL="9525" marR="9525" marT="9525" marB="0" anchor="ctr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zh-CN" sz="2600" u="none" strike="noStrike" dirty="0">
                              <a:effectLst/>
                            </a:rPr>
                            <a:t>2</a:t>
                          </a:r>
                          <a:endParaRPr lang="en-US" altLang="zh-CN" sz="26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等线" panose="02010600030101010101" pitchFamily="2" charset="-122"/>
                            <a:ea typeface="等线" panose="02010600030101010101" pitchFamily="2" charset="-122"/>
                          </a:endParaRPr>
                        </a:p>
                      </a:txBody>
                      <a:tcPr marL="9525" marR="9525" marT="9525" marB="0" anchor="ctr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zh-CN" sz="2600" u="none" strike="noStrike" dirty="0">
                              <a:effectLst/>
                            </a:rPr>
                            <a:t>3</a:t>
                          </a:r>
                          <a:endParaRPr lang="en-US" altLang="zh-CN" sz="26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等线" panose="02010600030101010101" pitchFamily="2" charset="-122"/>
                            <a:ea typeface="等线" panose="02010600030101010101" pitchFamily="2" charset="-122"/>
                          </a:endParaRPr>
                        </a:p>
                      </a:txBody>
                      <a:tcPr marL="9525" marR="9525" marT="9525" marB="0" anchor="ctr">
                        <a:noFill/>
                      </a:tcPr>
                    </a:tc>
                  </a:tr>
                  <a:tr h="419100"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9525" marR="9525" marT="9525" marB="0" anchor="ctr">
                        <a:blipFill>
                          <a:blip r:embed="rId5"/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zh-CN" sz="2600" u="none" strike="noStrike" dirty="0">
                              <a:effectLst/>
                            </a:rPr>
                            <a:t>0.4</a:t>
                          </a:r>
                          <a:endParaRPr lang="en-US" altLang="zh-CN" sz="26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等线" panose="02010600030101010101" pitchFamily="2" charset="-122"/>
                            <a:ea typeface="等线" panose="02010600030101010101" pitchFamily="2" charset="-122"/>
                          </a:endParaRPr>
                        </a:p>
                      </a:txBody>
                      <a:tcPr marL="9525" marR="9525" marT="9525" marB="0" anchor="ctr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zh-CN" sz="2600" u="none" strike="noStrike" dirty="0">
                              <a:effectLst/>
                            </a:rPr>
                            <a:t>0.2</a:t>
                          </a:r>
                          <a:endParaRPr lang="en-US" altLang="zh-CN" sz="26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等线" panose="02010600030101010101" pitchFamily="2" charset="-122"/>
                            <a:ea typeface="等线" panose="02010600030101010101" pitchFamily="2" charset="-122"/>
                          </a:endParaRPr>
                        </a:p>
                      </a:txBody>
                      <a:tcPr marL="9525" marR="9525" marT="9525" marB="0" anchor="ctr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zh-CN" sz="2600" u="none" strike="noStrike" dirty="0">
                              <a:effectLst/>
                            </a:rPr>
                            <a:t>0.4</a:t>
                          </a:r>
                          <a:endParaRPr lang="en-US" altLang="zh-CN" sz="26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等线" panose="02010600030101010101" pitchFamily="2" charset="-122"/>
                            <a:ea typeface="等线" panose="02010600030101010101" pitchFamily="2" charset="-122"/>
                          </a:endParaRPr>
                        </a:p>
                      </a:txBody>
                      <a:tcPr marL="9525" marR="9525" marT="9525" marB="0" anchor="ctr">
                        <a:noFill/>
                      </a:tcPr>
                    </a:tc>
                  </a:tr>
                </a:tbl>
              </a:graphicData>
            </a:graphic>
          </p:graphicFrame>
        </mc:Fallback>
      </mc:AlternateContent>
      <p:sp>
        <p:nvSpPr>
          <p:cNvPr id="12" name="文本框 11"/>
          <p:cNvSpPr txBox="1"/>
          <p:nvPr/>
        </p:nvSpPr>
        <p:spPr>
          <a:xfrm>
            <a:off x="1698171" y="4127863"/>
            <a:ext cx="561372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b="1" dirty="0" smtClean="0"/>
              <a:t>(1)</a:t>
            </a:r>
            <a:endParaRPr lang="zh-CN" altLang="en-US" sz="2400" b="1" dirty="0" smtClean="0"/>
          </a:p>
          <a:p>
            <a:endParaRPr lang="zh-CN" altLang="en-US" sz="2400" b="1" dirty="0"/>
          </a:p>
        </p:txBody>
      </p:sp>
      <p:sp>
        <p:nvSpPr>
          <p:cNvPr id="13" name="矩形 12"/>
          <p:cNvSpPr/>
          <p:nvPr/>
        </p:nvSpPr>
        <p:spPr>
          <a:xfrm>
            <a:off x="1698171" y="4887170"/>
            <a:ext cx="561372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400" b="1" dirty="0" smtClean="0"/>
              <a:t>(2)</a:t>
            </a:r>
            <a:endParaRPr lang="zh-CN" altLang="en-US" sz="2400" b="1" dirty="0"/>
          </a:p>
        </p:txBody>
      </p:sp>
      <p:sp>
        <p:nvSpPr>
          <p:cNvPr id="14" name="矩形 13"/>
          <p:cNvSpPr/>
          <p:nvPr/>
        </p:nvSpPr>
        <p:spPr>
          <a:xfrm>
            <a:off x="1698171" y="5938654"/>
            <a:ext cx="561372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400" b="1" dirty="0" smtClean="0"/>
              <a:t>(3)</a:t>
            </a:r>
            <a:endParaRPr lang="zh-CN" altLang="en-US" sz="2400" b="1" dirty="0"/>
          </a:p>
        </p:txBody>
      </p:sp>
      <p:sp>
        <p:nvSpPr>
          <p:cNvPr id="16" name="文本框 15"/>
          <p:cNvSpPr txBox="1"/>
          <p:nvPr/>
        </p:nvSpPr>
        <p:spPr>
          <a:xfrm>
            <a:off x="894754" y="4025434"/>
            <a:ext cx="64633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600" dirty="0" smtClean="0">
                <a:solidFill>
                  <a:srgbClr val="FF0000"/>
                </a:solidFill>
              </a:rPr>
              <a:t>解</a:t>
            </a:r>
            <a:endParaRPr lang="zh-CN" altLang="en-US" sz="3600" dirty="0">
              <a:solidFill>
                <a:srgbClr val="FF0000"/>
              </a:solidFill>
            </a:endParaRPr>
          </a:p>
        </p:txBody>
      </p:sp>
      <p:sp>
        <p:nvSpPr>
          <p:cNvPr id="17" name="文本框 19"/>
          <p:cNvSpPr txBox="1"/>
          <p:nvPr/>
        </p:nvSpPr>
        <p:spPr>
          <a:xfrm>
            <a:off x="1093187" y="393007"/>
            <a:ext cx="1275257" cy="671509"/>
          </a:xfrm>
          <a:prstGeom prst="rect">
            <a:avLst/>
          </a:prstGeom>
          <a:solidFill>
            <a:srgbClr val="92D050"/>
          </a:solidFill>
        </p:spPr>
        <p:txBody>
          <a:bodyPr wrap="square" rtlCol="0">
            <a:spAutoFit/>
          </a:bodyPr>
          <a:lstStyle/>
          <a:p>
            <a:r>
              <a:rPr lang="zh-CN" altLang="en-US" sz="3600" dirty="0" smtClean="0">
                <a:solidFill>
                  <a:srgbClr val="FF0000"/>
                </a:solidFill>
              </a:rPr>
              <a:t> 例</a:t>
            </a:r>
            <a:endParaRPr lang="zh-CN" altLang="en-US" sz="3600" dirty="0">
              <a:solidFill>
                <a:srgbClr val="FF0000"/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文本框 2"/>
              <p:cNvSpPr txBox="1"/>
              <p:nvPr/>
            </p:nvSpPr>
            <p:spPr>
              <a:xfrm>
                <a:off x="6026240" y="4433273"/>
                <a:ext cx="3806825" cy="86169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p>
                <a14:m>
                  <m:oMath xmlns:m="http://schemas.openxmlformats.org/officeDocument/2006/math">
                    <m:d>
                      <m:dPr>
                        <m:ctrlPr>
                          <a:rPr lang="en-US" altLang="zh-CN" sz="2800" b="1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800" b="1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𝟒</m:t>
                        </m:r>
                      </m:e>
                    </m:d>
                    <m:r>
                      <a:rPr lang="zh-CN" altLang="en-US" sz="2800" b="1" i="1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求</m:t>
                    </m:r>
                    <m:r>
                      <a:rPr lang="en-US" altLang="zh-CN" sz="2800" b="1" i="1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𝒎𝒂𝒙</m:t>
                    </m:r>
                    <m:d>
                      <m:dPr>
                        <m:begChr m:val="{"/>
                        <m:endChr m:val="}"/>
                        <m:ctrlPr>
                          <a:rPr lang="en-US" altLang="zh-CN" sz="2800" b="1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800" b="1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𝑿</m:t>
                        </m:r>
                        <m:r>
                          <a:rPr lang="en-US" altLang="zh-CN" sz="2800" b="1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,</m:t>
                        </m:r>
                        <m:r>
                          <a:rPr lang="en-US" altLang="zh-CN" sz="2800" b="1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𝒀</m:t>
                        </m:r>
                      </m:e>
                    </m:d>
                  </m:oMath>
                </a14:m>
                <a:r>
                  <a:rPr lang="zh-CN" altLang="en-US" sz="2800" b="1" dirty="0" smtClean="0">
                    <a:solidFill>
                      <a:srgbClr val="00B050"/>
                    </a:solidFill>
                    <a:latin typeface="等线" panose="02010600030101010101" pitchFamily="2" charset="-122"/>
                  </a:rPr>
                  <a:t>分布律。</a:t>
                </a:r>
                <a:endParaRPr lang="zh-CN" altLang="en-US" sz="2800" b="1" dirty="0">
                  <a:solidFill>
                    <a:srgbClr val="00B050"/>
                  </a:solidFill>
                  <a:latin typeface="等线" panose="02010600030101010101" pitchFamily="2" charset="-122"/>
                </a:endParaRPr>
              </a:p>
              <a:p>
                <a:endParaRPr lang="zh-CN" altLang="en-US" sz="2800" b="1" dirty="0">
                  <a:solidFill>
                    <a:srgbClr val="00B050"/>
                  </a:solidFill>
                  <a:latin typeface="等线" panose="02010600030101010101" pitchFamily="2" charset="-122"/>
                </a:endParaRPr>
              </a:p>
            </p:txBody>
          </p:sp>
        </mc:Choice>
        <mc:Fallback>
          <p:sp>
            <p:nvSpPr>
              <p:cNvPr id="3" name="文本框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26240" y="4433273"/>
                <a:ext cx="3806825" cy="861695"/>
              </a:xfrm>
              <a:prstGeom prst="rect">
                <a:avLst/>
              </a:prstGeom>
              <a:blipFill rotWithShape="1">
                <a:blip r:embed="rId6"/>
                <a:stretch>
                  <a:fillRect l="-2" t="-39" r="-7704" b="3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12" grpId="0"/>
      <p:bldP spid="13" grpId="0"/>
      <p:bldP spid="14" grpId="0"/>
      <p:bldP spid="16" grpId="0"/>
      <p:bldP spid="3" grpId="0"/>
      <p:bldP spid="3" grpId="1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04240" y="139338"/>
            <a:ext cx="8197100" cy="4144192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09942" y="4283529"/>
            <a:ext cx="3220297" cy="1109819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83815" y="5393348"/>
            <a:ext cx="5142095" cy="1303887"/>
          </a:xfrm>
          <a:prstGeom prst="rect">
            <a:avLst/>
          </a:prstGeom>
        </p:spPr>
      </p:pic>
      <p:sp>
        <p:nvSpPr>
          <p:cNvPr id="9" name="文本框 8"/>
          <p:cNvSpPr txBox="1"/>
          <p:nvPr>
            <p:custDataLst>
              <p:tags r:id="rId4"/>
            </p:custDataLst>
          </p:nvPr>
        </p:nvSpPr>
        <p:spPr>
          <a:xfrm>
            <a:off x="358140" y="467995"/>
            <a:ext cx="4064000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3200" b="1">
                <a:gradFill>
                  <a:gsLst>
                    <a:gs pos="0">
                      <a:srgbClr val="007BD3"/>
                    </a:gs>
                    <a:gs pos="100000">
                      <a:srgbClr val="034373"/>
                    </a:gs>
                  </a:gsLst>
                  <a:lin scaled="0"/>
                </a:gradFill>
              </a:rPr>
              <a:t>练习</a:t>
            </a:r>
            <a:endParaRPr lang="zh-CN" altLang="en-US" sz="3200" b="1">
              <a:gradFill>
                <a:gsLst>
                  <a:gs pos="0">
                    <a:srgbClr val="007BD3"/>
                  </a:gs>
                  <a:gs pos="100000">
                    <a:srgbClr val="034373"/>
                  </a:gs>
                </a:gsLst>
                <a:lin scaled="0"/>
              </a:gra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>
            <a:spLocks noChangeArrowheads="1"/>
          </p:cNvSpPr>
          <p:nvPr/>
        </p:nvSpPr>
        <p:spPr bwMode="auto">
          <a:xfrm>
            <a:off x="0" y="-5996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sp>
        <p:nvSpPr>
          <p:cNvPr id="7" name="Rectangle 6"/>
          <p:cNvSpPr>
            <a:spLocks noChangeArrowheads="1"/>
          </p:cNvSpPr>
          <p:nvPr/>
        </p:nvSpPr>
        <p:spPr bwMode="auto">
          <a:xfrm>
            <a:off x="0" y="-5996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sp>
        <p:nvSpPr>
          <p:cNvPr id="8" name="Rectangle 7"/>
          <p:cNvSpPr>
            <a:spLocks noChangeArrowheads="1"/>
          </p:cNvSpPr>
          <p:nvPr/>
        </p:nvSpPr>
        <p:spPr bwMode="auto">
          <a:xfrm>
            <a:off x="0" y="1130665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0" y="247369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0" name="Rectangle 9"/>
              <p:cNvSpPr>
                <a:spLocks noChangeArrowheads="1"/>
              </p:cNvSpPr>
              <p:nvPr/>
            </p:nvSpPr>
            <p:spPr bwMode="auto">
              <a:xfrm>
                <a:off x="1730307" y="3069215"/>
                <a:ext cx="5415992" cy="742383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vert="horz" wrap="square" lIns="91440" tIns="45720" rIns="91440" bIns="45720" numCol="1" anchor="ctr" anchorCtr="0" compatLnSpc="1">
                <a:spAutoFit/>
              </a:bodyPr>
              <a:lstStyle/>
              <a:p>
                <a:r>
                  <a:rPr lang="en-US" altLang="zh-CN" sz="3200" b="0" dirty="0" smtClean="0"/>
                  <a:t>1</a:t>
                </a:r>
                <a:r>
                  <a:rPr lang="zh-CN" altLang="en-US" sz="3200" b="0" dirty="0" smtClean="0"/>
                  <a:t>、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32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3200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US" altLang="zh-CN" sz="3200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sub>
                    </m:sSub>
                    <m:d>
                      <m:dPr>
                        <m:ctrlPr>
                          <a:rPr lang="en-US" altLang="zh-CN" sz="32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32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altLang="zh-CN" sz="3200" b="0" i="1" smtClean="0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trlPr>
                          <a:rPr lang="en-US" altLang="zh-CN" sz="3200" b="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altLang="zh-CN" sz="3200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altLang="zh-CN" sz="3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∞</m:t>
                        </m:r>
                      </m:sub>
                      <m:sup>
                        <m:r>
                          <a:rPr lang="en-US" altLang="zh-CN" sz="3200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altLang="zh-CN" sz="3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∞</m:t>
                        </m:r>
                      </m:sup>
                      <m:e>
                        <m:r>
                          <a:rPr lang="en-US" altLang="zh-CN" sz="3200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  <m:d>
                          <m:dPr>
                            <m:ctrlPr>
                              <a:rPr lang="en-US" altLang="zh-CN" sz="32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32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US" altLang="zh-CN" sz="3200" b="0" i="1" smtClean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altLang="zh-CN" sz="3200" b="0" i="1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</m:d>
                        <m:r>
                          <a:rPr lang="en-US" altLang="zh-CN" sz="3200" b="0" i="1" smtClean="0">
                            <a:latin typeface="Cambria Math" panose="02040503050406030204" pitchFamily="18" charset="0"/>
                          </a:rPr>
                          <m:t>𝑑𝑦</m:t>
                        </m:r>
                      </m:e>
                    </m:nary>
                  </m:oMath>
                </a14:m>
                <a:endParaRPr lang="zh-CN" altLang="en-US" sz="3200" dirty="0"/>
              </a:p>
            </p:txBody>
          </p:sp>
        </mc:Choice>
        <mc:Fallback>
          <p:sp>
            <p:nvSpPr>
              <p:cNvPr id="10" name="Rectangle 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730307" y="3069215"/>
                <a:ext cx="5415992" cy="742383"/>
              </a:xfrm>
              <a:prstGeom prst="rect">
                <a:avLst/>
              </a:prstGeom>
              <a:blipFill rotWithShape="1">
                <a:blip r:embed="rId1"/>
                <a:stretch>
                  <a:fillRect l="-10" t="-35" b="44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5" name="图片 1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6686" y="252247"/>
            <a:ext cx="10002481" cy="2504762"/>
          </a:xfrm>
          <a:prstGeom prst="rect">
            <a:avLst/>
          </a:prstGeom>
        </p:spPr>
      </p:pic>
      <p:pic>
        <p:nvPicPr>
          <p:cNvPr id="17" name="图片 1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82046" y="1865337"/>
            <a:ext cx="2180952" cy="952381"/>
          </a:xfrm>
          <a:prstGeom prst="rect">
            <a:avLst/>
          </a:prstGeom>
        </p:spPr>
      </p:pic>
      <p:sp>
        <p:nvSpPr>
          <p:cNvPr id="18" name="文本框 17"/>
          <p:cNvSpPr txBox="1"/>
          <p:nvPr/>
        </p:nvSpPr>
        <p:spPr>
          <a:xfrm>
            <a:off x="570790" y="395864"/>
            <a:ext cx="646331" cy="646331"/>
          </a:xfrm>
          <a:prstGeom prst="rect">
            <a:avLst/>
          </a:prstGeom>
          <a:solidFill>
            <a:srgbClr val="92D050"/>
          </a:solidFill>
        </p:spPr>
        <p:txBody>
          <a:bodyPr wrap="none" rtlCol="0">
            <a:spAutoFit/>
          </a:bodyPr>
          <a:lstStyle/>
          <a:p>
            <a:r>
              <a:rPr lang="zh-CN" altLang="en-US" sz="3600" dirty="0" smtClean="0">
                <a:solidFill>
                  <a:srgbClr val="FFFF00"/>
                </a:solidFill>
              </a:rPr>
              <a:t>例</a:t>
            </a:r>
            <a:endParaRPr lang="zh-CN" altLang="en-US" sz="3600" dirty="0">
              <a:solidFill>
                <a:srgbClr val="FFFF00"/>
              </a:solidFill>
            </a:endParaRPr>
          </a:p>
        </p:txBody>
      </p:sp>
      <p:sp>
        <p:nvSpPr>
          <p:cNvPr id="19" name="文本框 18"/>
          <p:cNvSpPr txBox="1"/>
          <p:nvPr/>
        </p:nvSpPr>
        <p:spPr>
          <a:xfrm>
            <a:off x="781455" y="2951455"/>
            <a:ext cx="64633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600" dirty="0" smtClean="0">
                <a:solidFill>
                  <a:srgbClr val="FF0000"/>
                </a:solidFill>
              </a:rPr>
              <a:t>解</a:t>
            </a:r>
            <a:endParaRPr lang="zh-CN" altLang="en-US" sz="3600" dirty="0">
              <a:solidFill>
                <a:srgbClr val="FF0000"/>
              </a:solidFill>
            </a:endParaRPr>
          </a:p>
        </p:txBody>
      </p:sp>
      <p:sp>
        <p:nvSpPr>
          <p:cNvPr id="16" name="圆角矩形 15"/>
          <p:cNvSpPr/>
          <p:nvPr/>
        </p:nvSpPr>
        <p:spPr>
          <a:xfrm>
            <a:off x="1546268" y="2982207"/>
            <a:ext cx="5228998" cy="897129"/>
          </a:xfrm>
          <a:prstGeom prst="round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52856" y="3966344"/>
            <a:ext cx="4993443" cy="1165662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8" grpId="0" animBg="1"/>
      <p:bldP spid="19" grpId="0"/>
      <p:bldP spid="16" grpId="0" animBg="1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144624" y="5234502"/>
            <a:ext cx="2227167" cy="1292552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67746" y="4289408"/>
            <a:ext cx="2352381" cy="1047619"/>
          </a:xfrm>
          <a:prstGeom prst="rect">
            <a:avLst/>
          </a:prstGeom>
        </p:spPr>
      </p:pic>
      <p:sp>
        <p:nvSpPr>
          <p:cNvPr id="2" name="Rectangle 2"/>
          <p:cNvSpPr>
            <a:spLocks noChangeArrowheads="1"/>
          </p:cNvSpPr>
          <p:nvPr/>
        </p:nvSpPr>
        <p:spPr bwMode="auto">
          <a:xfrm>
            <a:off x="0" y="-5996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sp>
        <p:nvSpPr>
          <p:cNvPr id="7" name="Rectangle 6"/>
          <p:cNvSpPr>
            <a:spLocks noChangeArrowheads="1"/>
          </p:cNvSpPr>
          <p:nvPr/>
        </p:nvSpPr>
        <p:spPr bwMode="auto">
          <a:xfrm>
            <a:off x="0" y="-5996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sp>
        <p:nvSpPr>
          <p:cNvPr id="8" name="Rectangle 7"/>
          <p:cNvSpPr>
            <a:spLocks noChangeArrowheads="1"/>
          </p:cNvSpPr>
          <p:nvPr/>
        </p:nvSpPr>
        <p:spPr bwMode="auto">
          <a:xfrm>
            <a:off x="0" y="1130665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0" y="247369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sp>
        <p:nvSpPr>
          <p:cNvPr id="10" name="Rectangle 9"/>
          <p:cNvSpPr>
            <a:spLocks noChangeArrowheads="1"/>
          </p:cNvSpPr>
          <p:nvPr/>
        </p:nvSpPr>
        <p:spPr bwMode="auto">
          <a:xfrm>
            <a:off x="0" y="315949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pic>
        <p:nvPicPr>
          <p:cNvPr id="12" name="图片 1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53610" y="3707867"/>
            <a:ext cx="6905037" cy="624486"/>
          </a:xfrm>
          <a:prstGeom prst="rect">
            <a:avLst/>
          </a:prstGeom>
        </p:spPr>
      </p:pic>
      <p:pic>
        <p:nvPicPr>
          <p:cNvPr id="15" name="图片 1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6686" y="252247"/>
            <a:ext cx="10002481" cy="2504762"/>
          </a:xfrm>
          <a:prstGeom prst="rect">
            <a:avLst/>
          </a:prstGeom>
        </p:spPr>
      </p:pic>
      <p:pic>
        <p:nvPicPr>
          <p:cNvPr id="17" name="图片 1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482046" y="1865337"/>
            <a:ext cx="2180952" cy="952381"/>
          </a:xfrm>
          <a:prstGeom prst="rect">
            <a:avLst/>
          </a:prstGeom>
        </p:spPr>
      </p:pic>
      <p:sp>
        <p:nvSpPr>
          <p:cNvPr id="18" name="文本框 17"/>
          <p:cNvSpPr txBox="1"/>
          <p:nvPr/>
        </p:nvSpPr>
        <p:spPr>
          <a:xfrm>
            <a:off x="570790" y="395864"/>
            <a:ext cx="646331" cy="646331"/>
          </a:xfrm>
          <a:prstGeom prst="rect">
            <a:avLst/>
          </a:prstGeom>
          <a:solidFill>
            <a:srgbClr val="92D050"/>
          </a:solidFill>
        </p:spPr>
        <p:txBody>
          <a:bodyPr wrap="none" rtlCol="0">
            <a:spAutoFit/>
          </a:bodyPr>
          <a:lstStyle/>
          <a:p>
            <a:r>
              <a:rPr lang="zh-CN" altLang="en-US" sz="3600" dirty="0" smtClean="0">
                <a:solidFill>
                  <a:srgbClr val="FFFF00"/>
                </a:solidFill>
              </a:rPr>
              <a:t>例</a:t>
            </a:r>
            <a:endParaRPr lang="zh-CN" altLang="en-US" sz="3600" dirty="0">
              <a:solidFill>
                <a:srgbClr val="FFFF00"/>
              </a:solidFill>
            </a:endParaRPr>
          </a:p>
        </p:txBody>
      </p:sp>
      <p:sp>
        <p:nvSpPr>
          <p:cNvPr id="19" name="文本框 18"/>
          <p:cNvSpPr txBox="1"/>
          <p:nvPr/>
        </p:nvSpPr>
        <p:spPr>
          <a:xfrm>
            <a:off x="607279" y="3717805"/>
            <a:ext cx="64633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600" dirty="0" smtClean="0">
                <a:solidFill>
                  <a:srgbClr val="FF0000"/>
                </a:solidFill>
              </a:rPr>
              <a:t>解</a:t>
            </a:r>
            <a:endParaRPr lang="zh-CN" altLang="en-US" sz="3600" dirty="0">
              <a:solidFill>
                <a:srgbClr val="FF0000"/>
              </a:solidFill>
            </a:endParaRPr>
          </a:p>
        </p:txBody>
      </p:sp>
      <p:sp>
        <p:nvSpPr>
          <p:cNvPr id="20" name="圆角矩形 19"/>
          <p:cNvSpPr/>
          <p:nvPr/>
        </p:nvSpPr>
        <p:spPr>
          <a:xfrm>
            <a:off x="1867745" y="4415240"/>
            <a:ext cx="2377769" cy="851516"/>
          </a:xfrm>
          <a:prstGeom prst="round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2" name="Rectangle 9"/>
              <p:cNvSpPr>
                <a:spLocks noChangeArrowheads="1"/>
              </p:cNvSpPr>
              <p:nvPr/>
            </p:nvSpPr>
            <p:spPr bwMode="auto">
              <a:xfrm>
                <a:off x="426721" y="2593220"/>
                <a:ext cx="6889712" cy="105349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vert="horz" wrap="square" lIns="91440" tIns="45720" rIns="91440" bIns="45720" numCol="1" anchor="ctr" anchorCtr="0" compatLnSpc="1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800" b="0" i="1" smtClean="0"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zh-CN" altLang="en-US" sz="2800" i="1">
                          <a:latin typeface="Cambria Math" panose="02040503050406030204" pitchFamily="18" charset="0"/>
                        </a:rPr>
                        <m:t>、</m:t>
                      </m:r>
                      <m:sSub>
                        <m:sSubPr>
                          <m:ctrlPr>
                            <a:rPr lang="en-US" altLang="zh-CN" sz="2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</m:sub>
                      </m:sSub>
                      <m:d>
                        <m:dPr>
                          <m:ctrlPr>
                            <a:rPr lang="en-US" altLang="zh-CN" sz="2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altLang="zh-CN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"/>
                          <m:ctrlPr>
                            <a:rPr lang="en-US" altLang="zh-CN" sz="2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zh-CN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altLang="zh-CN" sz="2800" i="1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  <m:r>
                                  <a:rPr lang="en-US" altLang="zh-CN" sz="2800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  <m:sSup>
                                  <m:sSupPr>
                                    <m:ctrlPr>
                                      <a:rPr lang="en-US" altLang="zh-CN" sz="28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altLang="zh-CN" sz="2800" i="1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p>
                                    <m:r>
                                      <a:rPr lang="en-US" altLang="zh-CN" sz="2800" i="1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  <m:d>
                                  <m:dPr>
                                    <m:ctrlPr>
                                      <a:rPr lang="en-US" altLang="zh-CN" sz="2800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m:rPr>
                                        <m:brk m:alnAt="7"/>
                                      </m:rPr>
                                      <a:rPr lang="en-US" altLang="zh-CN" sz="2800" i="1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  <m:r>
                                      <a:rPr lang="en-US" altLang="zh-CN" sz="2800" i="1"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r>
                                      <a:rPr lang="en-US" altLang="zh-CN" sz="2800" i="1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</m:d>
                                <m:r>
                                  <a:rPr lang="zh-CN" altLang="en-US" sz="2800" i="1" smtClean="0">
                                    <a:latin typeface="Cambria Math" panose="02040503050406030204" pitchFamily="18" charset="0"/>
                                  </a:rPr>
                                  <m:t>，</m:t>
                                </m:r>
                              </m:e>
                              <m:e>
                                <m:r>
                                  <a:rPr lang="en-US" altLang="zh-CN" sz="2800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  <m:r>
                                  <a:rPr lang="en-US" altLang="zh-CN" sz="2800" b="0" i="1" smtClean="0">
                                    <a:latin typeface="Cambria Math" panose="02040503050406030204" pitchFamily="18" charset="0"/>
                                  </a:rPr>
                                  <m:t>&lt;</m:t>
                                </m:r>
                                <m:r>
                                  <a:rPr lang="en-US" altLang="zh-CN" sz="2800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a:rPr lang="en-US" altLang="zh-CN" sz="2800" b="0" i="1" smtClean="0">
                                    <a:latin typeface="Cambria Math" panose="02040503050406030204" pitchFamily="18" charset="0"/>
                                  </a:rPr>
                                  <m:t>&lt;</m:t>
                                </m:r>
                                <m:r>
                                  <a:rPr lang="en-US" altLang="zh-CN" sz="2800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altLang="zh-CN" sz="2800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zh-CN" altLang="en-US" sz="2800" i="1">
                                    <a:latin typeface="Cambria Math" panose="02040503050406030204" pitchFamily="18" charset="0"/>
                                  </a:rPr>
                                  <m:t>其它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zh-CN" altLang="en-US" sz="2800" dirty="0"/>
              </a:p>
            </p:txBody>
          </p:sp>
        </mc:Choice>
        <mc:Fallback>
          <p:sp>
            <p:nvSpPr>
              <p:cNvPr id="22" name="Rectangle 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26721" y="2593220"/>
                <a:ext cx="6889712" cy="1053494"/>
              </a:xfrm>
              <a:prstGeom prst="rect">
                <a:avLst/>
              </a:prstGeom>
              <a:blipFill rotWithShape="1">
                <a:blip r:embed="rId6"/>
                <a:stretch>
                  <a:fillRect t="-49" r="9" b="52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19" grpId="0"/>
      <p:bldP spid="20" grpId="0" animBg="1"/>
      <p:bldP spid="22" grpId="0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>
            <a:spLocks noChangeArrowheads="1"/>
          </p:cNvSpPr>
          <p:nvPr/>
        </p:nvSpPr>
        <p:spPr bwMode="auto">
          <a:xfrm>
            <a:off x="0" y="-5996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sp>
        <p:nvSpPr>
          <p:cNvPr id="7" name="Rectangle 6"/>
          <p:cNvSpPr>
            <a:spLocks noChangeArrowheads="1"/>
          </p:cNvSpPr>
          <p:nvPr/>
        </p:nvSpPr>
        <p:spPr bwMode="auto">
          <a:xfrm>
            <a:off x="0" y="-5996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sp>
        <p:nvSpPr>
          <p:cNvPr id="8" name="Rectangle 7"/>
          <p:cNvSpPr>
            <a:spLocks noChangeArrowheads="1"/>
          </p:cNvSpPr>
          <p:nvPr/>
        </p:nvSpPr>
        <p:spPr bwMode="auto">
          <a:xfrm>
            <a:off x="0" y="1130665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0" y="247369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sp>
        <p:nvSpPr>
          <p:cNvPr id="10" name="Rectangle 9"/>
          <p:cNvSpPr>
            <a:spLocks noChangeArrowheads="1"/>
          </p:cNvSpPr>
          <p:nvPr/>
        </p:nvSpPr>
        <p:spPr bwMode="auto">
          <a:xfrm>
            <a:off x="0" y="315949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pic>
        <p:nvPicPr>
          <p:cNvPr id="15" name="图片 1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6686" y="252247"/>
            <a:ext cx="10002481" cy="2504762"/>
          </a:xfrm>
          <a:prstGeom prst="rect">
            <a:avLst/>
          </a:prstGeom>
        </p:spPr>
      </p:pic>
      <p:pic>
        <p:nvPicPr>
          <p:cNvPr id="17" name="图片 1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82046" y="1865337"/>
            <a:ext cx="2180952" cy="952381"/>
          </a:xfrm>
          <a:prstGeom prst="rect">
            <a:avLst/>
          </a:prstGeom>
        </p:spPr>
      </p:pic>
      <p:sp>
        <p:nvSpPr>
          <p:cNvPr id="18" name="文本框 17"/>
          <p:cNvSpPr txBox="1"/>
          <p:nvPr/>
        </p:nvSpPr>
        <p:spPr>
          <a:xfrm>
            <a:off x="570790" y="395864"/>
            <a:ext cx="646331" cy="646331"/>
          </a:xfrm>
          <a:prstGeom prst="rect">
            <a:avLst/>
          </a:prstGeom>
          <a:solidFill>
            <a:srgbClr val="92D050"/>
          </a:solidFill>
        </p:spPr>
        <p:txBody>
          <a:bodyPr wrap="none" rtlCol="0">
            <a:spAutoFit/>
          </a:bodyPr>
          <a:lstStyle/>
          <a:p>
            <a:r>
              <a:rPr lang="zh-CN" altLang="en-US" sz="3600" dirty="0" smtClean="0">
                <a:solidFill>
                  <a:srgbClr val="FFFF00"/>
                </a:solidFill>
              </a:rPr>
              <a:t>例</a:t>
            </a:r>
            <a:endParaRPr lang="zh-CN" altLang="en-US" sz="3600" dirty="0">
              <a:solidFill>
                <a:srgbClr val="FFFF00"/>
              </a:solidFill>
            </a:endParaRPr>
          </a:p>
        </p:txBody>
      </p:sp>
      <p:sp>
        <p:nvSpPr>
          <p:cNvPr id="19" name="文本框 18"/>
          <p:cNvSpPr txBox="1"/>
          <p:nvPr/>
        </p:nvSpPr>
        <p:spPr>
          <a:xfrm>
            <a:off x="781455" y="2951455"/>
            <a:ext cx="64633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600" dirty="0" smtClean="0">
                <a:solidFill>
                  <a:srgbClr val="FF0000"/>
                </a:solidFill>
              </a:rPr>
              <a:t>解</a:t>
            </a:r>
            <a:endParaRPr lang="zh-CN" altLang="en-US" sz="3600" dirty="0">
              <a:solidFill>
                <a:srgbClr val="FF0000"/>
              </a:solidFill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06988" y="4295215"/>
            <a:ext cx="3419419" cy="1382774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08401" y="2990452"/>
            <a:ext cx="3542868" cy="1329789"/>
          </a:xfrm>
          <a:prstGeom prst="rect">
            <a:avLst/>
          </a:prstGeom>
        </p:spPr>
      </p:pic>
      <p:sp>
        <p:nvSpPr>
          <p:cNvPr id="21" name="圆角矩形 20"/>
          <p:cNvSpPr/>
          <p:nvPr/>
        </p:nvSpPr>
        <p:spPr>
          <a:xfrm>
            <a:off x="1906988" y="3159491"/>
            <a:ext cx="3344281" cy="1135724"/>
          </a:xfrm>
          <a:prstGeom prst="round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2" name="Rectangle 9"/>
              <p:cNvSpPr>
                <a:spLocks noChangeArrowheads="1"/>
              </p:cNvSpPr>
              <p:nvPr/>
            </p:nvSpPr>
            <p:spPr bwMode="auto">
              <a:xfrm>
                <a:off x="0" y="5746662"/>
                <a:ext cx="6498916" cy="91614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vert="horz" wrap="square" lIns="91440" tIns="45720" rIns="91440" bIns="45720" numCol="1" anchor="ctr" anchorCtr="0" compatLnSpc="1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2400" b="1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400" b="1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𝒇</m:t>
                          </m:r>
                        </m:e>
                        <m:sub>
                          <m:r>
                            <a:rPr lang="en-US" altLang="zh-CN" sz="2400" b="1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𝑿</m:t>
                          </m:r>
                        </m:sub>
                      </m:sSub>
                      <m:d>
                        <m:dPr>
                          <m:ctrlPr>
                            <a:rPr lang="en-US" altLang="zh-CN" sz="2400" b="1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400" b="1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</m:d>
                      <m:r>
                        <a:rPr lang="en-US" altLang="zh-CN" sz="2400" b="1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"/>
                          <m:ctrlPr>
                            <a:rPr lang="en-US" altLang="zh-CN" sz="2400" b="1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zh-CN" sz="2400" b="1" i="1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altLang="zh-CN" sz="2400" b="1" i="1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𝟏</m:t>
                                </m:r>
                                <m:r>
                                  <a:rPr lang="en-US" altLang="zh-CN" sz="2400" b="1" i="1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𝟐</m:t>
                                </m:r>
                                <m:sSup>
                                  <m:sSupPr>
                                    <m:ctrlPr>
                                      <a:rPr lang="en-US" altLang="zh-CN" sz="2400" b="1" i="1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altLang="zh-CN" sz="2400" b="1" i="1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p>
                                    <m:r>
                                      <a:rPr lang="en-US" altLang="zh-CN" sz="2400" b="1" i="1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</m:sup>
                                </m:sSup>
                                <m:d>
                                  <m:dPr>
                                    <m:ctrlPr>
                                      <a:rPr lang="en-US" altLang="zh-CN" sz="2400" b="1" i="1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m:rPr>
                                        <m:brk m:alnAt="7"/>
                                      </m:rPr>
                                      <a:rPr lang="en-US" altLang="zh-CN" sz="2400" b="1" i="1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  <m:r>
                                      <a:rPr lang="en-US" altLang="zh-CN" sz="2400" b="1" i="1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r>
                                      <a:rPr lang="en-US" altLang="zh-CN" sz="2400" b="1" i="1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</m:d>
                                <m:r>
                                  <a:rPr lang="zh-CN" altLang="en-US" sz="2400" b="1" i="1" smtClean="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，</m:t>
                                </m:r>
                              </m:e>
                              <m:e>
                                <m:r>
                                  <a:rPr lang="en-US" altLang="zh-CN" sz="2400" b="1" i="1" smtClean="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𝟎</m:t>
                                </m:r>
                                <m:r>
                                  <a:rPr lang="en-US" altLang="zh-CN" sz="2400" b="1" i="1" smtClean="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&lt;</m:t>
                                </m:r>
                                <m:r>
                                  <a:rPr lang="en-US" altLang="zh-CN" sz="2400" b="1" i="1" smtClean="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𝒙</m:t>
                                </m:r>
                                <m:r>
                                  <a:rPr lang="en-US" altLang="zh-CN" sz="2400" b="1" i="1" smtClean="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&lt;</m:t>
                                </m:r>
                                <m:r>
                                  <a:rPr lang="en-US" altLang="zh-CN" sz="2400" b="1" i="1" smtClean="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𝟏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altLang="zh-CN" sz="2400" b="1" i="1" smtClean="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𝟎</m:t>
                                </m:r>
                              </m:e>
                              <m:e>
                                <m:r>
                                  <a:rPr lang="zh-CN" altLang="en-US" sz="2400" b="1" i="1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其它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zh-CN" altLang="en-US" sz="2400" b="1" dirty="0">
                  <a:solidFill>
                    <a:srgbClr val="002060"/>
                  </a:solidFill>
                </a:endParaRPr>
              </a:p>
            </p:txBody>
          </p:sp>
        </mc:Choice>
        <mc:Fallback>
          <p:sp>
            <p:nvSpPr>
              <p:cNvPr id="22" name="Rectangle 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0" y="5746662"/>
                <a:ext cx="6498916" cy="916148"/>
              </a:xfrm>
              <a:prstGeom prst="rect">
                <a:avLst/>
              </a:prstGeom>
              <a:blipFill rotWithShape="1">
                <a:blip r:embed="rId5"/>
                <a:stretch>
                  <a:fillRect t="-60" r="5" b="43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" name="文本框 4"/>
              <p:cNvSpPr txBox="1"/>
              <p:nvPr/>
            </p:nvSpPr>
            <p:spPr>
              <a:xfrm>
                <a:off x="8420396" y="2979728"/>
                <a:ext cx="1484317" cy="82984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b="1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𝑷</m:t>
                      </m:r>
                      <m:d>
                        <m:dPr>
                          <m:ctrlPr>
                            <a:rPr lang="en-US" altLang="zh-CN" sz="2400" b="1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400" b="1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𝑿</m:t>
                          </m:r>
                          <m:r>
                            <a:rPr lang="en-US" altLang="zh-CN" sz="2400" b="1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&lt;</m:t>
                          </m:r>
                          <m:f>
                            <m:fPr>
                              <m:ctrlPr>
                                <a:rPr lang="en-US" altLang="zh-CN" sz="2400" b="1" i="1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zh-CN" sz="2400" b="1" i="1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𝟏</m:t>
                              </m:r>
                            </m:num>
                            <m:den>
                              <m:r>
                                <a:rPr lang="en-US" altLang="zh-CN" sz="2400" b="1" i="1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𝟐</m:t>
                              </m:r>
                            </m:den>
                          </m:f>
                        </m:e>
                      </m:d>
                    </m:oMath>
                  </m:oMathPara>
                </a14:m>
                <a:endParaRPr lang="zh-CN" altLang="en-US" sz="2400" b="1" dirty="0">
                  <a:solidFill>
                    <a:srgbClr val="002060"/>
                  </a:solidFill>
                </a:endParaRPr>
              </a:p>
            </p:txBody>
          </p:sp>
        </mc:Choice>
        <mc:Fallback>
          <p:sp>
            <p:nvSpPr>
              <p:cNvPr id="5" name="文本框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20396" y="2979728"/>
                <a:ext cx="1484317" cy="829843"/>
              </a:xfrm>
              <a:prstGeom prst="rect">
                <a:avLst/>
              </a:prstGeom>
              <a:blipFill rotWithShape="1">
                <a:blip r:embed="rId6"/>
                <a:stretch>
                  <a:fillRect l="-20" t="-37" r="-600" b="2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" name="矩形 5"/>
              <p:cNvSpPr/>
              <p:nvPr/>
            </p:nvSpPr>
            <p:spPr>
              <a:xfrm>
                <a:off x="8225519" y="4706177"/>
                <a:ext cx="3057055" cy="106311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b="1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trlPr>
                            <a:rPr lang="en-US" altLang="zh-CN" sz="2400" b="1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altLang="zh-CN" sz="2400" b="1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𝟎</m:t>
                          </m:r>
                        </m:sub>
                        <m:sup>
                          <m:f>
                            <m:fPr>
                              <m:ctrlPr>
                                <a:rPr lang="en-US" altLang="zh-CN" sz="2400" b="1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zh-CN" sz="2400" b="1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𝟏</m:t>
                              </m:r>
                            </m:num>
                            <m:den>
                              <m:r>
                                <a:rPr lang="en-US" altLang="zh-CN" sz="2400" b="1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𝟐</m:t>
                              </m:r>
                            </m:den>
                          </m:f>
                        </m:sup>
                        <m:e>
                          <m:r>
                            <m:rPr>
                              <m:brk m:alnAt="7"/>
                            </m:rPr>
                            <a:rPr lang="en-US" altLang="zh-CN" sz="2400" b="1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  <m:r>
                            <a:rPr lang="en-US" altLang="zh-CN" sz="2400" b="1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  <m:sSup>
                            <m:sSupPr>
                              <m:ctrlPr>
                                <a:rPr lang="en-US" altLang="zh-CN" sz="2400" b="1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sz="2400" b="1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</m:e>
                            <m:sup>
                              <m:r>
                                <a:rPr lang="en-US" altLang="zh-CN" sz="2400" b="1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sup>
                          </m:sSup>
                          <m:d>
                            <m:dPr>
                              <m:ctrlPr>
                                <a:rPr lang="en-US" altLang="zh-CN" sz="2400" b="1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m:rPr>
                                  <m:brk m:alnAt="7"/>
                                </m:rPr>
                                <a:rPr lang="en-US" altLang="zh-CN" sz="2400" b="1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  <m:r>
                                <a:rPr lang="en-US" altLang="zh-CN" sz="2400" b="1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altLang="zh-CN" sz="2400" b="1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</m:e>
                          </m:d>
                          <m:r>
                            <a:rPr lang="en-US" altLang="zh-CN" sz="2400" b="1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𝒅𝒙</m:t>
                          </m:r>
                        </m:e>
                      </m:nary>
                    </m:oMath>
                  </m:oMathPara>
                </a14:m>
                <a:endParaRPr lang="zh-CN" altLang="en-US" sz="2400" b="1" dirty="0">
                  <a:solidFill>
                    <a:srgbClr val="002060"/>
                  </a:solidFill>
                </a:endParaRPr>
              </a:p>
            </p:txBody>
          </p:sp>
        </mc:Choice>
        <mc:Fallback>
          <p:sp>
            <p:nvSpPr>
              <p:cNvPr id="6" name="矩形 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25519" y="4706177"/>
                <a:ext cx="3057055" cy="1063112"/>
              </a:xfrm>
              <a:prstGeom prst="rect">
                <a:avLst/>
              </a:prstGeom>
              <a:blipFill rotWithShape="1">
                <a:blip r:embed="rId7"/>
                <a:stretch>
                  <a:fillRect l="-12" t="-18" r="17" b="3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3" name="矩形 22"/>
              <p:cNvSpPr/>
              <p:nvPr/>
            </p:nvSpPr>
            <p:spPr>
              <a:xfrm>
                <a:off x="8325813" y="5767558"/>
                <a:ext cx="936988" cy="793679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b="1" i="1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CN" sz="2400" b="1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sz="2400" b="1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𝟓</m:t>
                          </m:r>
                        </m:num>
                        <m:den>
                          <m:r>
                            <a:rPr lang="en-US" altLang="zh-CN" sz="2400" b="1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𝟏𝟔</m:t>
                          </m:r>
                        </m:den>
                      </m:f>
                    </m:oMath>
                  </m:oMathPara>
                </a14:m>
                <a:endParaRPr lang="zh-CN" altLang="en-US" sz="2400" dirty="0"/>
              </a:p>
            </p:txBody>
          </p:sp>
        </mc:Choice>
        <mc:Fallback>
          <p:sp>
            <p:nvSpPr>
              <p:cNvPr id="23" name="矩形 2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25813" y="5767558"/>
                <a:ext cx="936988" cy="793679"/>
              </a:xfrm>
              <a:prstGeom prst="rect">
                <a:avLst/>
              </a:prstGeom>
              <a:blipFill rotWithShape="1">
                <a:blip r:embed="rId8"/>
                <a:stretch>
                  <a:fillRect l="-35" t="-61" r="6" b="5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4" name="矩形 23"/>
              <p:cNvSpPr/>
              <p:nvPr/>
            </p:nvSpPr>
            <p:spPr>
              <a:xfrm>
                <a:off x="8150381" y="3764524"/>
                <a:ext cx="2224840" cy="106138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b="1" i="1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trlPr>
                            <a:rPr lang="en-US" altLang="zh-CN" sz="2400" b="1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altLang="zh-CN" sz="2400" b="1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altLang="zh-CN" sz="2400" b="1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∞</m:t>
                          </m:r>
                        </m:sub>
                        <m:sup>
                          <m:f>
                            <m:fPr>
                              <m:ctrlPr>
                                <a:rPr lang="en-US" altLang="zh-CN" sz="2400" b="1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zh-CN" sz="2400" b="1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𝟏</m:t>
                              </m:r>
                            </m:num>
                            <m:den>
                              <m:r>
                                <a:rPr lang="en-US" altLang="zh-CN" sz="2400" b="1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𝟐</m:t>
                              </m:r>
                            </m:den>
                          </m:f>
                        </m:sup>
                        <m:e>
                          <m:sSub>
                            <m:sSubPr>
                              <m:ctrlPr>
                                <a:rPr lang="en-US" altLang="zh-CN" sz="2400" b="1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400" b="1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𝒇</m:t>
                              </m:r>
                            </m:e>
                            <m:sub>
                              <m:r>
                                <a:rPr lang="en-US" altLang="zh-CN" sz="2400" b="1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𝑿</m:t>
                              </m:r>
                            </m:sub>
                          </m:sSub>
                          <m:d>
                            <m:dPr>
                              <m:ctrlPr>
                                <a:rPr lang="en-US" altLang="zh-CN" sz="2400" b="1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sz="2400" b="1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</m:e>
                          </m:d>
                          <m:r>
                            <a:rPr lang="en-US" altLang="zh-CN" sz="2400" b="1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𝒅𝒙</m:t>
                          </m:r>
                        </m:e>
                      </m:nary>
                    </m:oMath>
                  </m:oMathPara>
                </a14:m>
                <a:endParaRPr lang="zh-CN" altLang="en-US" sz="2400" dirty="0"/>
              </a:p>
            </p:txBody>
          </p:sp>
        </mc:Choice>
        <mc:Fallback>
          <p:sp>
            <p:nvSpPr>
              <p:cNvPr id="24" name="矩形 2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50381" y="3764524"/>
                <a:ext cx="2224840" cy="1061381"/>
              </a:xfrm>
              <a:prstGeom prst="rect">
                <a:avLst/>
              </a:prstGeom>
              <a:blipFill rotWithShape="1">
                <a:blip r:embed="rId9"/>
                <a:stretch>
                  <a:fillRect l="-7" t="-23" r="27" b="5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5" name="文本框 24"/>
          <p:cNvSpPr txBox="1"/>
          <p:nvPr/>
        </p:nvSpPr>
        <p:spPr>
          <a:xfrm>
            <a:off x="7350034" y="2951455"/>
            <a:ext cx="80034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4000" dirty="0" smtClean="0">
                <a:solidFill>
                  <a:srgbClr val="00B050"/>
                </a:solidFill>
              </a:rPr>
              <a:t>or</a:t>
            </a:r>
            <a:endParaRPr lang="zh-CN" altLang="en-US" sz="4000" dirty="0">
              <a:solidFill>
                <a:srgbClr val="00B05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19" grpId="0"/>
      <p:bldP spid="21" grpId="0" animBg="1"/>
      <p:bldP spid="22" grpId="0"/>
      <p:bldP spid="5" grpId="0"/>
      <p:bldP spid="6" grpId="0"/>
      <p:bldP spid="23" grpId="0"/>
      <p:bldP spid="24" grpId="0"/>
      <p:bldP spid="25" grpId="0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>
            <a:spLocks noChangeArrowheads="1"/>
          </p:cNvSpPr>
          <p:nvPr/>
        </p:nvSpPr>
        <p:spPr bwMode="auto">
          <a:xfrm>
            <a:off x="0" y="-5996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sp>
        <p:nvSpPr>
          <p:cNvPr id="7" name="Rectangle 6"/>
          <p:cNvSpPr>
            <a:spLocks noChangeArrowheads="1"/>
          </p:cNvSpPr>
          <p:nvPr/>
        </p:nvSpPr>
        <p:spPr bwMode="auto">
          <a:xfrm>
            <a:off x="0" y="-5996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sp>
        <p:nvSpPr>
          <p:cNvPr id="8" name="Rectangle 7"/>
          <p:cNvSpPr>
            <a:spLocks noChangeArrowheads="1"/>
          </p:cNvSpPr>
          <p:nvPr/>
        </p:nvSpPr>
        <p:spPr bwMode="auto">
          <a:xfrm>
            <a:off x="0" y="1130665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0" y="247369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sp>
        <p:nvSpPr>
          <p:cNvPr id="10" name="Rectangle 9"/>
          <p:cNvSpPr>
            <a:spLocks noChangeArrowheads="1"/>
          </p:cNvSpPr>
          <p:nvPr/>
        </p:nvSpPr>
        <p:spPr bwMode="auto">
          <a:xfrm>
            <a:off x="0" y="315949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pic>
        <p:nvPicPr>
          <p:cNvPr id="15" name="图片 1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6686" y="252247"/>
            <a:ext cx="10002481" cy="2504762"/>
          </a:xfrm>
          <a:prstGeom prst="rect">
            <a:avLst/>
          </a:prstGeom>
        </p:spPr>
      </p:pic>
      <p:pic>
        <p:nvPicPr>
          <p:cNvPr id="17" name="图片 1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82046" y="1865337"/>
            <a:ext cx="2180952" cy="952381"/>
          </a:xfrm>
          <a:prstGeom prst="rect">
            <a:avLst/>
          </a:prstGeom>
        </p:spPr>
      </p:pic>
      <p:sp>
        <p:nvSpPr>
          <p:cNvPr id="18" name="文本框 17"/>
          <p:cNvSpPr txBox="1"/>
          <p:nvPr/>
        </p:nvSpPr>
        <p:spPr>
          <a:xfrm>
            <a:off x="570790" y="395864"/>
            <a:ext cx="646331" cy="646331"/>
          </a:xfrm>
          <a:prstGeom prst="rect">
            <a:avLst/>
          </a:prstGeom>
          <a:solidFill>
            <a:srgbClr val="92D050"/>
          </a:solidFill>
        </p:spPr>
        <p:txBody>
          <a:bodyPr wrap="none" rtlCol="0">
            <a:spAutoFit/>
          </a:bodyPr>
          <a:lstStyle/>
          <a:p>
            <a:r>
              <a:rPr lang="zh-CN" altLang="en-US" sz="3600" dirty="0" smtClean="0">
                <a:solidFill>
                  <a:srgbClr val="FFFF00"/>
                </a:solidFill>
              </a:rPr>
              <a:t>例</a:t>
            </a:r>
            <a:endParaRPr lang="zh-CN" altLang="en-US" sz="3600" dirty="0">
              <a:solidFill>
                <a:srgbClr val="FFFF00"/>
              </a:solidFill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1176655" y="3209925"/>
            <a:ext cx="9242425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800" b="1"/>
              <a:t>4</a:t>
            </a:r>
            <a:r>
              <a:rPr lang="zh-CN" altLang="en-US" sz="2800" b="1"/>
              <a:t>、</a:t>
            </a:r>
            <a:r>
              <a:rPr lang="en-US" altLang="zh-CN" sz="2800" b="1"/>
              <a:t>Y</a:t>
            </a:r>
            <a:r>
              <a:rPr lang="zh-CN" altLang="en-US" sz="2800" b="1"/>
              <a:t>的边缘分布密度；</a:t>
            </a:r>
            <a:r>
              <a:rPr lang="en-US" altLang="zh-CN" sz="2800" b="1"/>
              <a:t>5</a:t>
            </a:r>
            <a:r>
              <a:rPr lang="zh-CN" altLang="en-US" sz="2800" b="1"/>
              <a:t>、判断</a:t>
            </a:r>
            <a:r>
              <a:rPr lang="en-US" altLang="zh-CN" sz="2800" b="1"/>
              <a:t>X</a:t>
            </a:r>
            <a:r>
              <a:rPr lang="zh-CN" altLang="en-US" sz="2800" b="1"/>
              <a:t>、</a:t>
            </a:r>
            <a:r>
              <a:rPr lang="en-US" altLang="zh-CN" sz="2800" b="1"/>
              <a:t>Y</a:t>
            </a:r>
            <a:r>
              <a:rPr lang="zh-CN" altLang="en-US" sz="2800" b="1"/>
              <a:t>是否独立。</a:t>
            </a:r>
            <a:endParaRPr lang="zh-CN" altLang="en-US" sz="2800" b="1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bldLvl="0" animBg="1"/>
      <p:bldP spid="10" grpId="0" animBg="1"/>
      <p:bldP spid="10" grpId="1" animBg="1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7070" y="0"/>
            <a:ext cx="7793090" cy="4176117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95863" y="4810721"/>
            <a:ext cx="3752381" cy="895238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13477" y="4249296"/>
            <a:ext cx="4752381" cy="1885714"/>
          </a:xfrm>
          <a:prstGeom prst="rect">
            <a:avLst/>
          </a:prstGeom>
        </p:spPr>
      </p:pic>
      <p:sp>
        <p:nvSpPr>
          <p:cNvPr id="9" name="文本框 8"/>
          <p:cNvSpPr txBox="1"/>
          <p:nvPr>
            <p:custDataLst>
              <p:tags r:id="rId4"/>
            </p:custDataLst>
          </p:nvPr>
        </p:nvSpPr>
        <p:spPr>
          <a:xfrm>
            <a:off x="386715" y="391795"/>
            <a:ext cx="4064000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3200" b="1">
                <a:gradFill>
                  <a:gsLst>
                    <a:gs pos="0">
                      <a:srgbClr val="007BD3"/>
                    </a:gs>
                    <a:gs pos="100000">
                      <a:srgbClr val="034373"/>
                    </a:gs>
                  </a:gsLst>
                  <a:lin scaled="0"/>
                </a:gradFill>
              </a:rPr>
              <a:t>练习</a:t>
            </a:r>
            <a:endParaRPr lang="zh-CN" altLang="en-US" sz="3200" b="1">
              <a:gradFill>
                <a:gsLst>
                  <a:gs pos="0">
                    <a:srgbClr val="007BD3"/>
                  </a:gs>
                  <a:gs pos="100000">
                    <a:srgbClr val="034373"/>
                  </a:gs>
                </a:gsLst>
                <a:lin scaled="0"/>
              </a:gra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7070" y="0"/>
            <a:ext cx="7793090" cy="4176117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5751" y="4201426"/>
            <a:ext cx="7894286" cy="2582699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00513" y="5054317"/>
            <a:ext cx="2952381" cy="127619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4487" y="78377"/>
            <a:ext cx="7793090" cy="4176117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9985" y="4317365"/>
            <a:ext cx="9554210" cy="1494155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2065" y="4301490"/>
            <a:ext cx="4744720" cy="151320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3" name="对象 2"/>
          <p:cNvGraphicFramePr>
            <a:graphicFrameLocks noChangeAspect="1"/>
          </p:cNvGraphicFramePr>
          <p:nvPr/>
        </p:nvGraphicFramePr>
        <p:xfrm>
          <a:off x="616424" y="633749"/>
          <a:ext cx="10922733" cy="101019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573" name="" r:id="rId1" imgW="4940300" imgH="457200" progId="Equation.DSMT4">
                  <p:embed/>
                </p:oleObj>
              </mc:Choice>
              <mc:Fallback>
                <p:oleObj name="" r:id="rId1" imgW="4940300" imgH="457200" progId="Equation.DSMT4">
                  <p:embed/>
                  <p:pic>
                    <p:nvPicPr>
                      <p:cNvPr id="0" name="对象 2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16424" y="633749"/>
                        <a:ext cx="10922733" cy="1010195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Rectangle 4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6" name="对象 5"/>
          <p:cNvGraphicFramePr>
            <a:graphicFrameLocks noChangeAspect="1"/>
          </p:cNvGraphicFramePr>
          <p:nvPr/>
        </p:nvGraphicFramePr>
        <p:xfrm>
          <a:off x="189383" y="2465460"/>
          <a:ext cx="10337075" cy="192366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574" name="" r:id="rId3" imgW="4648200" imgH="862965" progId="Equation.DSMT4">
                  <p:embed/>
                </p:oleObj>
              </mc:Choice>
              <mc:Fallback>
                <p:oleObj name="" r:id="rId3" imgW="4648200" imgH="862965" progId="Equation.DSMT4">
                  <p:embed/>
                  <p:pic>
                    <p:nvPicPr>
                      <p:cNvPr id="0" name="对象 4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9383" y="2465460"/>
                        <a:ext cx="10337075" cy="1923668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mc:AlternateContent xmlns:mc="http://schemas.openxmlformats.org/markup-compatibility/2006">
        <mc:Choice xmlns:a14="http://schemas.microsoft.com/office/drawing/2010/main" Requires="a14">
          <p:sp>
            <p:nvSpPr>
              <p:cNvPr id="7" name="文本框 6"/>
              <p:cNvSpPr txBox="1"/>
              <p:nvPr/>
            </p:nvSpPr>
            <p:spPr>
              <a:xfrm>
                <a:off x="1018894" y="1789199"/>
                <a:ext cx="3457311" cy="492443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3200" b="1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𝑷</m:t>
                      </m:r>
                      <m:r>
                        <a:rPr lang="en-US" altLang="zh-CN" sz="3200" b="1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altLang="zh-CN" sz="3200" b="1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𝑿</m:t>
                      </m:r>
                      <m:r>
                        <a:rPr lang="en-US" altLang="zh-CN" sz="3200" b="1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sz="3200" b="1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𝟏</m:t>
                      </m:r>
                      <m:r>
                        <a:rPr lang="en-US" altLang="zh-CN" sz="3200" b="1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altLang="zh-CN" sz="3200" b="1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𝒀</m:t>
                      </m:r>
                      <m:r>
                        <a:rPr lang="en-US" altLang="zh-CN" sz="3200" b="1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sz="3200" b="1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𝟏</m:t>
                      </m:r>
                      <m:r>
                        <a:rPr lang="en-US" altLang="zh-CN" sz="3200" b="1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zh-CN" altLang="en-US" sz="3200" b="1" dirty="0">
                  <a:solidFill>
                    <a:srgbClr val="0070C0"/>
                  </a:solidFill>
                </a:endParaRPr>
              </a:p>
            </p:txBody>
          </p:sp>
        </mc:Choice>
        <mc:Fallback>
          <p:sp>
            <p:nvSpPr>
              <p:cNvPr id="7" name="文本框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18894" y="1789199"/>
                <a:ext cx="3457311" cy="492443"/>
              </a:xfrm>
              <a:prstGeom prst="rect">
                <a:avLst/>
              </a:prstGeom>
              <a:blipFill rotWithShape="1">
                <a:blip r:embed="rId5"/>
                <a:stretch>
                  <a:fillRect l="-10" t="-82" r="3" b="1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8" name="矩形 7"/>
              <p:cNvSpPr/>
              <p:nvPr/>
            </p:nvSpPr>
            <p:spPr>
              <a:xfrm>
                <a:off x="3997482" y="1737175"/>
                <a:ext cx="4159472" cy="58477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3200" b="1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sz="3200" b="1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𝑷</m:t>
                      </m:r>
                      <m:r>
                        <a:rPr lang="en-US" altLang="zh-CN" sz="3200" b="1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altLang="zh-CN" sz="3200" b="1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𝑿</m:t>
                      </m:r>
                      <m:r>
                        <a:rPr lang="en-US" altLang="zh-CN" sz="3200" b="1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sz="3200" b="1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𝟏</m:t>
                      </m:r>
                      <m:r>
                        <a:rPr lang="en-US" altLang="zh-CN" sz="3200" b="1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  <m:r>
                        <a:rPr lang="en-US" altLang="zh-CN" sz="3200" b="1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𝑷</m:t>
                      </m:r>
                      <m:r>
                        <a:rPr lang="en-US" altLang="zh-CN" sz="3200" b="1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altLang="zh-CN" sz="3200" b="1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𝒀</m:t>
                      </m:r>
                      <m:r>
                        <a:rPr lang="en-US" altLang="zh-CN" sz="3200" b="1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sz="3200" b="1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𝟏</m:t>
                      </m:r>
                      <m:r>
                        <a:rPr lang="en-US" altLang="zh-CN" sz="3200" b="1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zh-CN" altLang="en-US" sz="3200" b="1" dirty="0">
                  <a:solidFill>
                    <a:srgbClr val="0070C0"/>
                  </a:solidFill>
                </a:endParaRPr>
              </a:p>
            </p:txBody>
          </p:sp>
        </mc:Choice>
        <mc:Fallback>
          <p:sp>
            <p:nvSpPr>
              <p:cNvPr id="8" name="矩形 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97482" y="1737175"/>
                <a:ext cx="4159472" cy="584775"/>
              </a:xfrm>
              <a:prstGeom prst="rect">
                <a:avLst/>
              </a:prstGeom>
              <a:blipFill rotWithShape="1">
                <a:blip r:embed="rId6"/>
                <a:stretch>
                  <a:fillRect l="-4" t="-77" r="9" b="6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9" name="矩形 8"/>
              <p:cNvSpPr/>
              <p:nvPr/>
            </p:nvSpPr>
            <p:spPr>
              <a:xfrm>
                <a:off x="7868370" y="1728626"/>
                <a:ext cx="707245" cy="58477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altLang="zh-CN" sz="3200" b="1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altLang="zh-CN" sz="3200" b="1" dirty="0" smtClean="0">
                    <a:solidFill>
                      <a:srgbClr val="0070C0"/>
                    </a:solidFill>
                  </a:rPr>
                  <a:t>0</a:t>
                </a:r>
                <a:endParaRPr lang="zh-CN" altLang="en-US" sz="3200" b="1" dirty="0">
                  <a:solidFill>
                    <a:srgbClr val="0070C0"/>
                  </a:solidFill>
                </a:endParaRPr>
              </a:p>
            </p:txBody>
          </p:sp>
        </mc:Choice>
        <mc:Fallback>
          <p:sp>
            <p:nvSpPr>
              <p:cNvPr id="9" name="矩形 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68370" y="1728626"/>
                <a:ext cx="707245" cy="584775"/>
              </a:xfrm>
              <a:prstGeom prst="rect">
                <a:avLst/>
              </a:prstGeom>
              <a:blipFill rotWithShape="1">
                <a:blip r:embed="rId7"/>
                <a:stretch>
                  <a:fillRect l="-12" t="-27" r="81" b="1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0" name="文本框 9"/>
              <p:cNvSpPr txBox="1"/>
              <p:nvPr/>
            </p:nvSpPr>
            <p:spPr>
              <a:xfrm>
                <a:off x="567840" y="4495020"/>
                <a:ext cx="3094373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800" b="1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𝑷</m:t>
                      </m:r>
                      <m:d>
                        <m:dPr>
                          <m:ctrlPr>
                            <a:rPr lang="en-US" altLang="zh-CN" sz="2800" b="1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800" b="1" i="0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𝐦𝐚𝐱</m:t>
                          </m:r>
                          <m:d>
                            <m:dPr>
                              <m:begChr m:val="{"/>
                              <m:endChr m:val="}"/>
                              <m:ctrlPr>
                                <a:rPr lang="en-US" altLang="zh-CN" sz="2800" b="1" i="1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sz="2800" b="1" i="1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𝑿</m:t>
                              </m:r>
                              <m:r>
                                <a:rPr lang="en-US" altLang="zh-CN" sz="2800" b="1" i="1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altLang="zh-CN" sz="2800" b="1" i="1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𝒀</m:t>
                              </m:r>
                            </m:e>
                          </m:d>
                          <m:r>
                            <a:rPr lang="en-US" altLang="zh-CN" sz="2800" b="1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≤</m:t>
                          </m:r>
                          <m:r>
                            <a:rPr lang="en-US" altLang="zh-CN" sz="2800" b="1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𝟏</m:t>
                          </m:r>
                        </m:e>
                      </m:d>
                    </m:oMath>
                  </m:oMathPara>
                </a14:m>
                <a:endParaRPr lang="zh-CN" altLang="en-US" sz="2800" b="1" dirty="0">
                  <a:solidFill>
                    <a:srgbClr val="0070C0"/>
                  </a:solidFill>
                </a:endParaRPr>
              </a:p>
            </p:txBody>
          </p:sp>
        </mc:Choice>
        <mc:Fallback>
          <p:sp>
            <p:nvSpPr>
              <p:cNvPr id="10" name="文本框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7840" y="4495020"/>
                <a:ext cx="3094373" cy="523220"/>
              </a:xfrm>
              <a:prstGeom prst="rect">
                <a:avLst/>
              </a:prstGeom>
              <a:blipFill rotWithShape="1">
                <a:blip r:embed="rId8"/>
                <a:stretch>
                  <a:fillRect l="-5" t="-94" r="5" b="9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1" name="文本框 10"/>
              <p:cNvSpPr txBox="1"/>
              <p:nvPr/>
            </p:nvSpPr>
            <p:spPr>
              <a:xfrm>
                <a:off x="3486011" y="4541187"/>
                <a:ext cx="3070584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800" b="1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sz="2800" b="1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𝑷</m:t>
                      </m:r>
                      <m:r>
                        <a:rPr lang="en-US" altLang="zh-CN" sz="2800" b="1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altLang="zh-CN" sz="2800" b="1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𝑿</m:t>
                      </m:r>
                      <m:r>
                        <a:rPr lang="en-US" altLang="zh-CN" sz="2800" b="1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≤</m:t>
                      </m:r>
                      <m:r>
                        <a:rPr lang="en-US" altLang="zh-CN" sz="2800" b="1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𝟏</m:t>
                      </m:r>
                      <m:r>
                        <a:rPr lang="en-US" altLang="zh-CN" sz="2800" b="1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</m:t>
                      </m:r>
                      <m:r>
                        <a:rPr lang="en-US" altLang="zh-CN" sz="2800" b="1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𝒀</m:t>
                      </m:r>
                      <m:r>
                        <a:rPr lang="en-US" altLang="zh-CN" sz="2800" b="1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≤</m:t>
                      </m:r>
                      <m:r>
                        <a:rPr lang="en-US" altLang="zh-CN" sz="2800" b="1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𝟏</m:t>
                      </m:r>
                      <m:r>
                        <a:rPr lang="en-US" altLang="zh-CN" sz="2800" b="1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zh-CN" altLang="en-US" sz="2800" b="1" dirty="0">
                  <a:solidFill>
                    <a:srgbClr val="0070C0"/>
                  </a:solidFill>
                </a:endParaRPr>
              </a:p>
            </p:txBody>
          </p:sp>
        </mc:Choice>
        <mc:Fallback>
          <p:sp>
            <p:nvSpPr>
              <p:cNvPr id="11" name="文本框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86011" y="4541187"/>
                <a:ext cx="3070584" cy="430887"/>
              </a:xfrm>
              <a:prstGeom prst="rect">
                <a:avLst/>
              </a:prstGeom>
              <a:blipFill rotWithShape="1">
                <a:blip r:embed="rId9"/>
                <a:stretch>
                  <a:fillRect l="-16" t="-70" r="7" b="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2" name="矩形 11"/>
              <p:cNvSpPr/>
              <p:nvPr/>
            </p:nvSpPr>
            <p:spPr>
              <a:xfrm>
                <a:off x="6206131" y="4477592"/>
                <a:ext cx="3666581" cy="52322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800" b="1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sz="2800" b="1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𝑷</m:t>
                      </m:r>
                      <m:d>
                        <m:dPr>
                          <m:ctrlPr>
                            <a:rPr lang="en-US" altLang="zh-CN" sz="2800" b="1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800" b="1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𝑿</m:t>
                          </m:r>
                          <m:r>
                            <a:rPr lang="en-US" altLang="zh-CN" sz="2800" b="1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≤</m:t>
                          </m:r>
                          <m:r>
                            <a:rPr lang="en-US" altLang="zh-CN" sz="2800" b="1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𝟏</m:t>
                          </m:r>
                        </m:e>
                      </m:d>
                      <m:r>
                        <a:rPr lang="en-US" altLang="zh-CN" sz="2800" b="1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𝑷</m:t>
                      </m:r>
                      <m:r>
                        <a:rPr lang="en-US" altLang="zh-CN" sz="2800" b="1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</m:t>
                      </m:r>
                      <m:r>
                        <a:rPr lang="en-US" altLang="zh-CN" sz="2800" b="1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𝒀</m:t>
                      </m:r>
                      <m:r>
                        <a:rPr lang="en-US" altLang="zh-CN" sz="2800" b="1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≤</m:t>
                      </m:r>
                      <m:r>
                        <a:rPr lang="en-US" altLang="zh-CN" sz="2800" b="1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𝟏</m:t>
                      </m:r>
                      <m:r>
                        <a:rPr lang="en-US" altLang="zh-CN" sz="2800" b="1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zh-CN" altLang="en-US" sz="2800" b="1" dirty="0">
                  <a:solidFill>
                    <a:srgbClr val="0070C0"/>
                  </a:solidFill>
                </a:endParaRPr>
              </a:p>
            </p:txBody>
          </p:sp>
        </mc:Choice>
        <mc:Fallback>
          <p:sp>
            <p:nvSpPr>
              <p:cNvPr id="12" name="矩形 1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06131" y="4477592"/>
                <a:ext cx="3666581" cy="523220"/>
              </a:xfrm>
              <a:prstGeom prst="rect">
                <a:avLst/>
              </a:prstGeom>
              <a:blipFill rotWithShape="1">
                <a:blip r:embed="rId10"/>
                <a:stretch>
                  <a:fillRect l="-8" t="-40" r="10" b="3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3" name="矩形 12"/>
              <p:cNvSpPr/>
              <p:nvPr/>
            </p:nvSpPr>
            <p:spPr>
              <a:xfrm>
                <a:off x="650696" y="5192117"/>
                <a:ext cx="1860381" cy="52322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altLang="zh-CN" sz="2800" b="1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𝑷</m:t>
                    </m:r>
                    <m:d>
                      <m:dPr>
                        <m:ctrlPr>
                          <a:rPr lang="en-US" altLang="zh-CN" sz="2800" b="1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800" b="1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𝑿</m:t>
                        </m:r>
                        <m:r>
                          <a:rPr lang="en-US" altLang="zh-CN" sz="2800" b="1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≤</m:t>
                        </m:r>
                        <m:r>
                          <a:rPr lang="en-US" altLang="zh-CN" sz="2800" b="1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𝟏</m:t>
                        </m:r>
                      </m:e>
                    </m:d>
                  </m:oMath>
                </a14:m>
                <a:r>
                  <a:rPr lang="en-US" altLang="zh-CN" sz="2800" b="1" dirty="0" smtClean="0">
                    <a:solidFill>
                      <a:srgbClr val="0070C0"/>
                    </a:solidFill>
                  </a:rPr>
                  <a:t>=</a:t>
                </a:r>
                <a:endParaRPr lang="zh-CN" altLang="en-US" sz="2800" b="1" dirty="0">
                  <a:solidFill>
                    <a:srgbClr val="0070C0"/>
                  </a:solidFill>
                </a:endParaRPr>
              </a:p>
            </p:txBody>
          </p:sp>
        </mc:Choice>
        <mc:Fallback>
          <p:sp>
            <p:nvSpPr>
              <p:cNvPr id="13" name="矩形 1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0696" y="5192117"/>
                <a:ext cx="1860381" cy="523220"/>
              </a:xfrm>
              <a:prstGeom prst="rect">
                <a:avLst/>
              </a:prstGeom>
              <a:blipFill rotWithShape="1">
                <a:blip r:embed="rId11"/>
                <a:stretch>
                  <a:fillRect l="-25" t="-68" r="15" b="6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4" name="矩形 13"/>
              <p:cNvSpPr/>
              <p:nvPr/>
            </p:nvSpPr>
            <p:spPr>
              <a:xfrm>
                <a:off x="2436541" y="5210181"/>
                <a:ext cx="3294043" cy="52322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altLang="zh-CN" sz="2800" b="1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𝑷</m:t>
                    </m:r>
                    <m:d>
                      <m:dPr>
                        <m:ctrlPr>
                          <a:rPr lang="en-US" altLang="zh-CN" sz="2800" b="1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800" b="1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𝑿</m:t>
                        </m:r>
                        <m:r>
                          <a:rPr lang="en-US" altLang="zh-CN" sz="2800" b="1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=</m:t>
                        </m:r>
                        <m:r>
                          <a:rPr lang="en-US" altLang="zh-CN" sz="2800" b="1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𝟎</m:t>
                        </m:r>
                      </m:e>
                    </m:d>
                  </m:oMath>
                </a14:m>
                <a:r>
                  <a:rPr lang="en-US" altLang="zh-CN" sz="2800" b="1" dirty="0" smtClean="0">
                    <a:solidFill>
                      <a:srgbClr val="0070C0"/>
                    </a:solidFill>
                  </a:rPr>
                  <a:t>+</a:t>
                </a:r>
                <a14:m>
                  <m:oMath xmlns:m="http://schemas.openxmlformats.org/officeDocument/2006/math">
                    <m:r>
                      <a:rPr lang="en-US" altLang="zh-CN" sz="2800" b="1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𝑷</m:t>
                    </m:r>
                    <m:d>
                      <m:dPr>
                        <m:ctrlPr>
                          <a:rPr lang="en-US" altLang="zh-CN" sz="2800" b="1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800" b="1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𝑿</m:t>
                        </m:r>
                        <m:r>
                          <a:rPr lang="en-US" altLang="zh-CN" sz="2800" b="1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=</m:t>
                        </m:r>
                        <m:r>
                          <a:rPr lang="en-US" altLang="zh-CN" sz="2800" b="1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𝟏</m:t>
                        </m:r>
                      </m:e>
                    </m:d>
                  </m:oMath>
                </a14:m>
                <a:endParaRPr lang="zh-CN" altLang="en-US" sz="2800" b="1" dirty="0">
                  <a:solidFill>
                    <a:srgbClr val="0070C0"/>
                  </a:solidFill>
                </a:endParaRPr>
              </a:p>
            </p:txBody>
          </p:sp>
        </mc:Choice>
        <mc:Fallback>
          <p:sp>
            <p:nvSpPr>
              <p:cNvPr id="14" name="矩形 1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36541" y="5210181"/>
                <a:ext cx="3294043" cy="523220"/>
              </a:xfrm>
              <a:prstGeom prst="rect">
                <a:avLst/>
              </a:prstGeom>
              <a:blipFill rotWithShape="1">
                <a:blip r:embed="rId12"/>
                <a:stretch>
                  <a:fillRect l="-1" t="-1" r="10" b="11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5" name="文本框 14"/>
              <p:cNvSpPr txBox="1"/>
              <p:nvPr/>
            </p:nvSpPr>
            <p:spPr>
              <a:xfrm>
                <a:off x="5515996" y="5035669"/>
                <a:ext cx="2624821" cy="77899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sz="2800" b="1" dirty="0" smtClean="0">
                    <a:solidFill>
                      <a:srgbClr val="0070C0"/>
                    </a:solidFill>
                  </a:rPr>
                  <a:t>=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2800" b="1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n-US" altLang="zh-CN" sz="2800" b="1" i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sz="2800" b="1" i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𝟏</m:t>
                            </m:r>
                          </m:e>
                          <m:sup>
                            <m:r>
                              <a:rPr lang="en-US" altLang="zh-CN" sz="2800" b="1" i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𝟎</m:t>
                            </m:r>
                          </m:sup>
                        </m:sSup>
                      </m:num>
                      <m:den>
                        <m:r>
                          <a:rPr lang="en-US" altLang="zh-CN" sz="2800" b="1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𝟎</m:t>
                        </m:r>
                        <m:r>
                          <a:rPr lang="en-US" altLang="zh-CN" sz="2800" b="1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!</m:t>
                        </m:r>
                      </m:den>
                    </m:f>
                    <m:sSup>
                      <m:sSupPr>
                        <m:ctrlPr>
                          <a:rPr lang="en-US" altLang="zh-CN" sz="2800" b="1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800" b="1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𝒆</m:t>
                        </m:r>
                      </m:e>
                      <m:sup>
                        <m:r>
                          <a:rPr lang="en-US" altLang="zh-CN" sz="2800" b="1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altLang="zh-CN" sz="2800" b="1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</m:sup>
                    </m:sSup>
                    <m:r>
                      <a:rPr lang="en-US" altLang="zh-CN" sz="2800" b="1" i="0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ctrlPr>
                          <a:rPr lang="en-US" altLang="zh-CN" sz="2800" b="1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n-US" altLang="zh-CN" sz="2800" b="1" i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sz="2800" b="1" i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𝟏</m:t>
                            </m:r>
                          </m:e>
                          <m:sup>
                            <m:r>
                              <a:rPr lang="en-US" altLang="zh-CN" sz="2800" b="1" i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𝟏</m:t>
                            </m:r>
                          </m:sup>
                        </m:sSup>
                      </m:num>
                      <m:den>
                        <m:r>
                          <a:rPr lang="en-US" altLang="zh-CN" sz="2800" b="1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  <m:r>
                          <a:rPr lang="en-US" altLang="zh-CN" sz="2800" b="1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!</m:t>
                        </m:r>
                      </m:den>
                    </m:f>
                    <m:sSup>
                      <m:sSupPr>
                        <m:ctrlPr>
                          <a:rPr lang="en-US" altLang="zh-CN" sz="2800" b="1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800" b="1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𝒆</m:t>
                        </m:r>
                      </m:e>
                      <m:sup>
                        <m:r>
                          <a:rPr lang="en-US" altLang="zh-CN" sz="2800" b="1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altLang="zh-CN" sz="2800" b="1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</m:sup>
                    </m:sSup>
                  </m:oMath>
                </a14:m>
                <a:endParaRPr lang="zh-CN" altLang="en-US" sz="2800" b="1" dirty="0">
                  <a:solidFill>
                    <a:srgbClr val="0070C0"/>
                  </a:solidFill>
                </a:endParaRPr>
              </a:p>
            </p:txBody>
          </p:sp>
        </mc:Choice>
        <mc:Fallback>
          <p:sp>
            <p:nvSpPr>
              <p:cNvPr id="15" name="文本框 1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15996" y="5035669"/>
                <a:ext cx="2624821" cy="778996"/>
              </a:xfrm>
              <a:prstGeom prst="rect">
                <a:avLst/>
              </a:prstGeom>
              <a:blipFill rotWithShape="1">
                <a:blip r:embed="rId13"/>
                <a:stretch>
                  <a:fillRect l="-15" t="-15" r="4" b="7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6" name="文本框 15"/>
              <p:cNvSpPr txBox="1"/>
              <p:nvPr/>
            </p:nvSpPr>
            <p:spPr>
              <a:xfrm>
                <a:off x="8097696" y="5202509"/>
                <a:ext cx="955839" cy="44063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r>
                  <a:rPr lang="en-US" altLang="zh-CN" sz="2800" b="1" dirty="0" smtClean="0">
                    <a:solidFill>
                      <a:srgbClr val="0070C0"/>
                    </a:solidFill>
                  </a:rPr>
                  <a:t>=</a:t>
                </a:r>
                <a14:m>
                  <m:oMath xmlns:m="http://schemas.openxmlformats.org/officeDocument/2006/math">
                    <m:r>
                      <a:rPr lang="en-US" altLang="zh-CN" sz="2800" b="1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𝟐</m:t>
                    </m:r>
                    <m:sSup>
                      <m:sSupPr>
                        <m:ctrlPr>
                          <a:rPr lang="en-US" altLang="zh-CN" sz="2800" b="1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800" b="1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𝒆</m:t>
                        </m:r>
                      </m:e>
                      <m:sup>
                        <m:r>
                          <a:rPr lang="en-US" altLang="zh-CN" sz="2800" b="1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altLang="zh-CN" sz="2800" b="1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</m:sup>
                    </m:sSup>
                  </m:oMath>
                </a14:m>
                <a:endParaRPr lang="zh-CN" altLang="en-US" sz="2800" b="1" dirty="0">
                  <a:solidFill>
                    <a:srgbClr val="0070C0"/>
                  </a:solidFill>
                </a:endParaRPr>
              </a:p>
            </p:txBody>
          </p:sp>
        </mc:Choice>
        <mc:Fallback>
          <p:sp>
            <p:nvSpPr>
              <p:cNvPr id="16" name="文本框 1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97696" y="5202509"/>
                <a:ext cx="955839" cy="440633"/>
              </a:xfrm>
              <a:prstGeom prst="rect">
                <a:avLst/>
              </a:prstGeom>
              <a:blipFill rotWithShape="1">
                <a:blip r:embed="rId14"/>
                <a:stretch>
                  <a:fillRect l="-18" t="-134" r="-7073" b="-305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7" name="矩形 16"/>
              <p:cNvSpPr/>
              <p:nvPr/>
            </p:nvSpPr>
            <p:spPr>
              <a:xfrm>
                <a:off x="616424" y="5986363"/>
                <a:ext cx="1822101" cy="52322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800" b="1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𝑷</m:t>
                      </m:r>
                      <m:r>
                        <a:rPr lang="en-US" altLang="zh-CN" sz="2800" b="1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</m:t>
                      </m:r>
                      <m:r>
                        <a:rPr lang="en-US" altLang="zh-CN" sz="2800" b="1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𝒀</m:t>
                      </m:r>
                      <m:r>
                        <a:rPr lang="en-US" altLang="zh-CN" sz="2800" b="1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≤</m:t>
                      </m:r>
                      <m:r>
                        <a:rPr lang="en-US" altLang="zh-CN" sz="2800" b="1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𝟏</m:t>
                      </m:r>
                      <m:r>
                        <a:rPr lang="en-US" altLang="zh-CN" sz="2800" b="1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zh-CN" altLang="en-US" sz="2800" b="1" dirty="0">
                  <a:solidFill>
                    <a:srgbClr val="0070C0"/>
                  </a:solidFill>
                </a:endParaRPr>
              </a:p>
            </p:txBody>
          </p:sp>
        </mc:Choice>
        <mc:Fallback>
          <p:sp>
            <p:nvSpPr>
              <p:cNvPr id="17" name="矩形 1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6424" y="5986363"/>
                <a:ext cx="1822101" cy="523220"/>
              </a:xfrm>
              <a:prstGeom prst="rect">
                <a:avLst/>
              </a:prstGeom>
              <a:blipFill rotWithShape="1">
                <a:blip r:embed="rId15"/>
                <a:stretch>
                  <a:fillRect l="-26" t="-42" r="7" b="3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8" name="文本框 17"/>
              <p:cNvSpPr txBox="1"/>
              <p:nvPr/>
            </p:nvSpPr>
            <p:spPr>
              <a:xfrm>
                <a:off x="2150084" y="5733401"/>
                <a:ext cx="1825821" cy="97712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800" b="1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trlPr>
                            <a:rPr lang="en-US" altLang="zh-CN" sz="2800" b="1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altLang="zh-CN" sz="2800" b="1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altLang="zh-CN" sz="2800" b="1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  <m:sup>
                          <m:r>
                            <a:rPr lang="en-US" altLang="zh-CN" sz="2800" b="1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sup>
                        <m:e>
                          <m:f>
                            <m:fPr>
                              <m:ctrlPr>
                                <a:rPr lang="en-US" altLang="zh-CN" sz="2800" b="1" i="1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zh-CN" sz="2800" b="1" i="1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num>
                            <m:den>
                              <m:r>
                                <a:rPr lang="en-US" altLang="zh-CN" sz="2800" b="1" i="1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𝟒</m:t>
                              </m:r>
                            </m:den>
                          </m:f>
                          <m:r>
                            <a:rPr lang="en-US" altLang="zh-CN" sz="2800" b="1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𝒅𝒙</m:t>
                          </m:r>
                        </m:e>
                      </m:nary>
                    </m:oMath>
                  </m:oMathPara>
                </a14:m>
                <a:endParaRPr lang="zh-CN" altLang="en-US" sz="2800" b="1" dirty="0">
                  <a:solidFill>
                    <a:srgbClr val="0070C0"/>
                  </a:solidFill>
                </a:endParaRPr>
              </a:p>
            </p:txBody>
          </p:sp>
        </mc:Choice>
        <mc:Fallback>
          <p:sp>
            <p:nvSpPr>
              <p:cNvPr id="18" name="文本框 1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50084" y="5733401"/>
                <a:ext cx="1825821" cy="977127"/>
              </a:xfrm>
              <a:prstGeom prst="rect">
                <a:avLst/>
              </a:prstGeom>
              <a:blipFill rotWithShape="1">
                <a:blip r:embed="rId16"/>
                <a:stretch>
                  <a:fillRect l="-33" t="-64" r="-964" b="4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9" name="文本框 18"/>
              <p:cNvSpPr txBox="1"/>
              <p:nvPr/>
            </p:nvSpPr>
            <p:spPr>
              <a:xfrm>
                <a:off x="3659215" y="5748246"/>
                <a:ext cx="948080" cy="89896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800" b="1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CN" sz="2800" b="1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sz="2800" b="1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num>
                        <m:den>
                          <m:r>
                            <a:rPr lang="en-US" altLang="zh-CN" sz="2800" b="1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den>
                      </m:f>
                    </m:oMath>
                  </m:oMathPara>
                </a14:m>
                <a:endParaRPr lang="zh-CN" altLang="en-US" sz="2800" b="1" dirty="0">
                  <a:solidFill>
                    <a:srgbClr val="0070C0"/>
                  </a:solidFill>
                </a:endParaRPr>
              </a:p>
            </p:txBody>
          </p:sp>
        </mc:Choice>
        <mc:Fallback>
          <p:sp>
            <p:nvSpPr>
              <p:cNvPr id="19" name="文本框 1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59215" y="5748246"/>
                <a:ext cx="948080" cy="898964"/>
              </a:xfrm>
              <a:prstGeom prst="rect">
                <a:avLst/>
              </a:prstGeom>
              <a:blipFill rotWithShape="1">
                <a:blip r:embed="rId17"/>
                <a:stretch>
                  <a:fillRect l="-36" t="-25" r="39" b="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0" name="文本框 19"/>
              <p:cNvSpPr txBox="1"/>
              <p:nvPr/>
            </p:nvSpPr>
            <p:spPr>
              <a:xfrm>
                <a:off x="9547792" y="4477592"/>
                <a:ext cx="925703" cy="53296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sz="2800" b="1" dirty="0" smtClean="0">
                    <a:solidFill>
                      <a:srgbClr val="0070C0"/>
                    </a:solidFill>
                  </a:rPr>
                  <a:t>=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2800" b="1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800" b="1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𝒆</m:t>
                        </m:r>
                      </m:e>
                      <m:sup>
                        <m:r>
                          <a:rPr lang="en-US" altLang="zh-CN" sz="2800" b="1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altLang="zh-CN" sz="2800" b="1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</m:sup>
                    </m:sSup>
                  </m:oMath>
                </a14:m>
                <a:endParaRPr lang="zh-CN" altLang="en-US" sz="2800" b="1" dirty="0">
                  <a:solidFill>
                    <a:srgbClr val="0070C0"/>
                  </a:solidFill>
                </a:endParaRPr>
              </a:p>
            </p:txBody>
          </p:sp>
        </mc:Choice>
        <mc:Fallback>
          <p:sp>
            <p:nvSpPr>
              <p:cNvPr id="20" name="文本框 1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547792" y="4477592"/>
                <a:ext cx="925703" cy="532966"/>
              </a:xfrm>
              <a:prstGeom prst="rect">
                <a:avLst/>
              </a:prstGeom>
              <a:blipFill rotWithShape="1">
                <a:blip r:embed="rId18"/>
                <a:stretch>
                  <a:fillRect l="-61" t="-39" r="48" b="7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1" name="文本框 20"/>
          <p:cNvSpPr txBox="1"/>
          <p:nvPr/>
        </p:nvSpPr>
        <p:spPr>
          <a:xfrm flipH="1">
            <a:off x="10876977" y="1123311"/>
            <a:ext cx="43545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b="1" dirty="0" smtClean="0"/>
              <a:t>√</a:t>
            </a:r>
            <a:endParaRPr lang="zh-CN" altLang="en-US" sz="3200" b="1" dirty="0"/>
          </a:p>
        </p:txBody>
      </p:sp>
      <p:sp>
        <p:nvSpPr>
          <p:cNvPr id="22" name="文本框 21"/>
          <p:cNvSpPr txBox="1"/>
          <p:nvPr/>
        </p:nvSpPr>
        <p:spPr>
          <a:xfrm>
            <a:off x="9936480" y="3683725"/>
            <a:ext cx="43313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3200" b="1" dirty="0" smtClean="0"/>
              <a:t>B</a:t>
            </a:r>
            <a:endParaRPr lang="zh-CN" altLang="en-US" sz="3200" b="1" dirty="0"/>
          </a:p>
        </p:txBody>
      </p:sp>
      <p:sp>
        <p:nvSpPr>
          <p:cNvPr id="23" name="文本框 17"/>
          <p:cNvSpPr txBox="1"/>
          <p:nvPr/>
        </p:nvSpPr>
        <p:spPr>
          <a:xfrm>
            <a:off x="650696" y="485852"/>
            <a:ext cx="646331" cy="646331"/>
          </a:xfrm>
          <a:prstGeom prst="rect">
            <a:avLst/>
          </a:prstGeom>
          <a:solidFill>
            <a:srgbClr val="92D050"/>
          </a:solidFill>
        </p:spPr>
        <p:txBody>
          <a:bodyPr wrap="none" rtlCol="0">
            <a:spAutoFit/>
          </a:bodyPr>
          <a:lstStyle/>
          <a:p>
            <a:r>
              <a:rPr lang="zh-CN" altLang="en-US" sz="3600" dirty="0" smtClean="0">
                <a:solidFill>
                  <a:srgbClr val="FFFF00"/>
                </a:solidFill>
              </a:rPr>
              <a:t>例</a:t>
            </a:r>
            <a:endParaRPr lang="zh-CN" altLang="en-US" sz="3600" dirty="0">
              <a:solidFill>
                <a:srgbClr val="FFFF00"/>
              </a:solidFill>
            </a:endParaRPr>
          </a:p>
        </p:txBody>
      </p:sp>
      <p:sp>
        <p:nvSpPr>
          <p:cNvPr id="24" name="文本框 17"/>
          <p:cNvSpPr txBox="1"/>
          <p:nvPr/>
        </p:nvSpPr>
        <p:spPr>
          <a:xfrm>
            <a:off x="616424" y="2345812"/>
            <a:ext cx="646331" cy="646331"/>
          </a:xfrm>
          <a:prstGeom prst="rect">
            <a:avLst/>
          </a:prstGeom>
          <a:solidFill>
            <a:srgbClr val="92D050"/>
          </a:solidFill>
        </p:spPr>
        <p:txBody>
          <a:bodyPr wrap="none" rtlCol="0">
            <a:spAutoFit/>
          </a:bodyPr>
          <a:lstStyle/>
          <a:p>
            <a:r>
              <a:rPr lang="zh-CN" altLang="en-US" sz="3600" dirty="0" smtClean="0">
                <a:solidFill>
                  <a:srgbClr val="FFFF00"/>
                </a:solidFill>
              </a:rPr>
              <a:t>例</a:t>
            </a:r>
            <a:endParaRPr lang="zh-CN" altLang="en-US" sz="3600" dirty="0">
              <a:solidFill>
                <a:srgbClr val="FFFF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  <p:bldP spid="18" grpId="0"/>
      <p:bldP spid="19" grpId="0"/>
      <p:bldP spid="20" grpId="0"/>
      <p:bldP spid="21" grpId="0"/>
      <p:bldP spid="22" grpId="0"/>
      <p:bldP spid="23" grpId="0" animBg="1"/>
      <p:bldP spid="24" grpId="0" animBg="1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30959" y="250302"/>
            <a:ext cx="9194335" cy="1849967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97639" y="2639756"/>
            <a:ext cx="7402285" cy="4218244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4" name="文本框 3"/>
              <p:cNvSpPr txBox="1"/>
              <p:nvPr/>
            </p:nvSpPr>
            <p:spPr>
              <a:xfrm>
                <a:off x="1397722" y="2163312"/>
                <a:ext cx="3367973" cy="55399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3600" b="1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𝑷</m:t>
                      </m:r>
                      <m:d>
                        <m:dPr>
                          <m:ctrlPr>
                            <a:rPr lang="en-US" altLang="zh-CN" sz="3600" b="1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3600" b="1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𝑿</m:t>
                          </m:r>
                          <m:r>
                            <a:rPr lang="en-US" altLang="zh-CN" sz="3600" b="1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≤</m:t>
                          </m:r>
                          <m:r>
                            <a:rPr lang="en-US" altLang="zh-CN" sz="3600" b="1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𝟑</m:t>
                          </m:r>
                          <m:r>
                            <a:rPr lang="en-US" altLang="zh-CN" sz="3600" b="1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CN" sz="3600" b="1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𝒀</m:t>
                          </m:r>
                          <m:r>
                            <a:rPr lang="en-US" altLang="zh-CN" sz="3600" b="1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&gt;</m:t>
                          </m:r>
                          <m:r>
                            <a:rPr lang="en-US" altLang="zh-CN" sz="3600" b="1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𝟎</m:t>
                          </m:r>
                        </m:e>
                      </m:d>
                    </m:oMath>
                  </m:oMathPara>
                </a14:m>
                <a:endParaRPr lang="zh-CN" altLang="en-US" sz="3600" b="1" dirty="0">
                  <a:solidFill>
                    <a:srgbClr val="002060"/>
                  </a:solidFill>
                </a:endParaRPr>
              </a:p>
            </p:txBody>
          </p:sp>
        </mc:Choice>
        <mc:Fallback>
          <p:sp>
            <p:nvSpPr>
              <p:cNvPr id="4" name="文本框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97722" y="2163312"/>
                <a:ext cx="3367973" cy="553998"/>
              </a:xfrm>
              <a:prstGeom prst="rect">
                <a:avLst/>
              </a:prstGeom>
              <a:blipFill rotWithShape="1">
                <a:blip r:embed="rId3"/>
                <a:stretch>
                  <a:fillRect l="-3" t="-91" r="-1055" b="2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" name="矩形 4"/>
              <p:cNvSpPr/>
              <p:nvPr/>
            </p:nvSpPr>
            <p:spPr>
              <a:xfrm>
                <a:off x="4587154" y="2104588"/>
                <a:ext cx="4554580" cy="64633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3600" b="1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sz="3600" b="1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𝑷</m:t>
                      </m:r>
                      <m:d>
                        <m:dPr>
                          <m:ctrlPr>
                            <a:rPr lang="en-US" altLang="zh-CN" sz="3600" b="1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3600" b="1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𝑿</m:t>
                          </m:r>
                          <m:r>
                            <a:rPr lang="en-US" altLang="zh-CN" sz="3600" b="1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≤</m:t>
                          </m:r>
                          <m:r>
                            <a:rPr lang="en-US" altLang="zh-CN" sz="3600" b="1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𝟑</m:t>
                          </m:r>
                        </m:e>
                      </m:d>
                      <m:r>
                        <a:rPr lang="en-US" altLang="zh-CN" sz="3600" b="1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𝑷</m:t>
                      </m:r>
                      <m:d>
                        <m:dPr>
                          <m:ctrlPr>
                            <a:rPr lang="en-US" altLang="zh-CN" sz="3600" b="1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3600" b="1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𝒀</m:t>
                          </m:r>
                          <m:r>
                            <a:rPr lang="en-US" altLang="zh-CN" sz="3600" b="1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&gt;</m:t>
                          </m:r>
                          <m:r>
                            <a:rPr lang="en-US" altLang="zh-CN" sz="3600" b="1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𝟎</m:t>
                          </m:r>
                        </m:e>
                      </m:d>
                    </m:oMath>
                  </m:oMathPara>
                </a14:m>
                <a:endParaRPr lang="zh-CN" altLang="en-US" sz="3600" b="1" dirty="0">
                  <a:solidFill>
                    <a:srgbClr val="002060"/>
                  </a:solidFill>
                </a:endParaRPr>
              </a:p>
            </p:txBody>
          </p:sp>
        </mc:Choice>
        <mc:Fallback>
          <p:sp>
            <p:nvSpPr>
              <p:cNvPr id="5" name="矩形 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87154" y="2104588"/>
                <a:ext cx="4554580" cy="646331"/>
              </a:xfrm>
              <a:prstGeom prst="rect">
                <a:avLst/>
              </a:prstGeom>
              <a:blipFill rotWithShape="1">
                <a:blip r:embed="rId4"/>
                <a:stretch>
                  <a:fillRect l="-12" t="-31" r="6" b="1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" name="矩形 5"/>
              <p:cNvSpPr/>
              <p:nvPr/>
            </p:nvSpPr>
            <p:spPr>
              <a:xfrm>
                <a:off x="8966603" y="1948450"/>
                <a:ext cx="707245" cy="889924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altLang="zh-CN" sz="3600" b="1" dirty="0" smtClean="0">
                    <a:solidFill>
                      <a:srgbClr val="002060"/>
                    </a:solidFill>
                  </a:rPr>
                  <a:t>=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36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sz="36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𝟏</m:t>
                        </m:r>
                      </m:num>
                      <m:den>
                        <m:r>
                          <a:rPr lang="en-US" altLang="zh-CN" sz="36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𝟐</m:t>
                        </m:r>
                      </m:den>
                    </m:f>
                  </m:oMath>
                </a14:m>
                <a:endParaRPr lang="zh-CN" altLang="en-US" sz="3600" b="1" dirty="0">
                  <a:solidFill>
                    <a:srgbClr val="002060"/>
                  </a:solidFill>
                </a:endParaRPr>
              </a:p>
            </p:txBody>
          </p:sp>
        </mc:Choice>
        <mc:Fallback>
          <p:sp>
            <p:nvSpPr>
              <p:cNvPr id="6" name="矩形 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66603" y="1948450"/>
                <a:ext cx="707245" cy="889924"/>
              </a:xfrm>
              <a:prstGeom prst="rect">
                <a:avLst/>
              </a:prstGeom>
              <a:blipFill rotWithShape="1">
                <a:blip r:embed="rId5"/>
                <a:stretch>
                  <a:fillRect l="-57" t="-30" r="36" b="6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文本框 6"/>
          <p:cNvSpPr txBox="1"/>
          <p:nvPr/>
        </p:nvSpPr>
        <p:spPr>
          <a:xfrm>
            <a:off x="9577967" y="1400516"/>
            <a:ext cx="4716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3600" b="1" dirty="0" smtClean="0"/>
              <a:t>B</a:t>
            </a:r>
            <a:endParaRPr lang="zh-CN" altLang="en-US" sz="3600" b="1" dirty="0"/>
          </a:p>
        </p:txBody>
      </p:sp>
      <p:sp>
        <p:nvSpPr>
          <p:cNvPr id="9" name="文本框 8"/>
          <p:cNvSpPr txBox="1"/>
          <p:nvPr>
            <p:custDataLst>
              <p:tags r:id="rId6"/>
            </p:custDataLst>
          </p:nvPr>
        </p:nvSpPr>
        <p:spPr>
          <a:xfrm>
            <a:off x="358140" y="315595"/>
            <a:ext cx="4064000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3200" b="1">
                <a:gradFill>
                  <a:gsLst>
                    <a:gs pos="0">
                      <a:srgbClr val="007BD3"/>
                    </a:gs>
                    <a:gs pos="100000">
                      <a:srgbClr val="034373"/>
                    </a:gs>
                  </a:gsLst>
                  <a:lin scaled="0"/>
                </a:gradFill>
              </a:rPr>
              <a:t>练习</a:t>
            </a:r>
            <a:endParaRPr lang="zh-CN" altLang="en-US" sz="3200" b="1">
              <a:gradFill>
                <a:gsLst>
                  <a:gs pos="0">
                    <a:srgbClr val="007BD3"/>
                  </a:gs>
                  <a:gs pos="100000">
                    <a:srgbClr val="034373"/>
                  </a:gs>
                </a:gsLst>
                <a:lin scaled="0"/>
              </a:gra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6" grpId="0"/>
      <p:bldP spid="7" grpId="0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>
            <a:spLocks noChangeArrowheads="1"/>
          </p:cNvSpPr>
          <p:nvPr/>
        </p:nvSpPr>
        <p:spPr bwMode="auto">
          <a:xfrm>
            <a:off x="0" y="1254027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8" name="Rectangle 6"/>
              <p:cNvSpPr>
                <a:spLocks noChangeArrowheads="1"/>
              </p:cNvSpPr>
              <p:nvPr/>
            </p:nvSpPr>
            <p:spPr bwMode="auto">
              <a:xfrm>
                <a:off x="109719" y="3191914"/>
                <a:ext cx="12012613" cy="584775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vert="horz" wrap="square" lIns="91440" tIns="45720" rIns="91440" bIns="45720" numCol="1" anchor="ctr" anchorCtr="0" compatLnSpc="1">
                <a:spAutoFit/>
              </a:bodyPr>
              <a:lstStyle/>
              <a:p>
                <a:pPr marL="0" marR="0" lvl="0" indent="212725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r>
                  <a:rPr kumimoji="0" lang="en-US" altLang="zh-CN" sz="3200" b="0" i="0" u="none" strike="noStrike" cap="none" normalizeH="0" baseline="0" dirty="0" smtClean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2</a:t>
                </a:r>
                <a:r>
                  <a:rPr kumimoji="0" lang="zh-CN" altLang="en-US" sz="3200" b="0" i="0" u="none" strike="noStrike" cap="none" normalizeH="0" baseline="0" dirty="0" smtClean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、</a:t>
                </a:r>
                <a:r>
                  <a:rPr kumimoji="0" lang="zh-CN" altLang="en-US" sz="3200" b="0" i="0" u="none" strike="noStrike" cap="none" normalizeH="0" baseline="0" dirty="0" smtClean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宋体" panose="02010600030101010101" pitchFamily="2" charset="-122"/>
                    <a:ea typeface="宋体" panose="02010600030101010101" pitchFamily="2" charset="-122"/>
                    <a:cs typeface="Times New Roman" panose="02020603050405020304" pitchFamily="18" charset="0"/>
                  </a:rPr>
                  <a:t>设</a:t>
                </a:r>
                <a:r>
                  <a:rPr kumimoji="0" lang="zh-CN" altLang="en-US" sz="3200" b="0" i="1" u="none" strike="noStrike" cap="none" normalizeH="0" baseline="0" dirty="0" smtClean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 </a:t>
                </a:r>
                <a:r>
                  <a:rPr kumimoji="0" lang="en-US" altLang="zh-CN" sz="3200" b="0" i="1" u="none" strike="noStrike" cap="none" normalizeH="0" baseline="0" dirty="0" smtClean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X</a:t>
                </a:r>
                <a:r>
                  <a:rPr kumimoji="0" lang="zh-CN" altLang="en-US" sz="3200" b="0" i="1" u="none" strike="noStrike" cap="none" normalizeH="0" baseline="0" dirty="0" smtClean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、</a:t>
                </a:r>
                <a:r>
                  <a:rPr kumimoji="0" lang="en-US" altLang="zh-CN" sz="3200" b="0" i="1" u="none" strike="noStrike" cap="none" normalizeH="0" baseline="0" dirty="0" smtClean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Y</a:t>
                </a:r>
                <a:r>
                  <a:rPr kumimoji="0" lang="zh-CN" altLang="en-US" sz="3200" b="0" i="0" u="none" strike="noStrike" cap="none" normalizeH="0" baseline="0" dirty="0" smtClean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宋体" panose="02010600030101010101" pitchFamily="2" charset="-122"/>
                    <a:ea typeface="宋体" panose="02010600030101010101" pitchFamily="2" charset="-122"/>
                    <a:cs typeface="Times New Roman" panose="02020603050405020304" pitchFamily="18" charset="0"/>
                  </a:rPr>
                  <a:t>为两个相互独立的随机变量</a:t>
                </a:r>
                <a:r>
                  <a:rPr kumimoji="0" lang="en-US" altLang="zh-CN" sz="3200" b="0" i="0" u="none" strike="noStrike" cap="none" normalizeH="0" baseline="0" dirty="0" smtClean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宋体" panose="02010600030101010101" pitchFamily="2" charset="-122"/>
                    <a:ea typeface="宋体" panose="02010600030101010101" pitchFamily="2" charset="-122"/>
                    <a:cs typeface="Times New Roman" panose="02020603050405020304" pitchFamily="18" charset="0"/>
                  </a:rPr>
                  <a:t>,</a:t>
                </a:r>
                <a14:m>
                  <m:oMath xmlns:m="http://schemas.openxmlformats.org/officeDocument/2006/math">
                    <m:r>
                      <a:rPr kumimoji="0" lang="en-US" altLang="zh-CN" sz="3200" b="0" i="1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𝑋</m:t>
                    </m:r>
                    <m:r>
                      <a:rPr kumimoji="0" lang="en-US" altLang="zh-CN" sz="3200" b="0" i="1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~</m:t>
                    </m:r>
                    <m:r>
                      <a:rPr kumimoji="0" lang="en-US" altLang="zh-CN" sz="3200" b="0" i="1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𝑁</m:t>
                    </m:r>
                    <m:d>
                      <m:dPr>
                        <m:ctrlPr>
                          <a:rPr kumimoji="0" lang="en-US" altLang="zh-CN" sz="3200" b="0" i="1" u="none" strike="noStrike" cap="none" normalizeH="0" baseline="0" dirty="0" smtClean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kumimoji="0" lang="en-US" altLang="zh-CN" sz="3200" b="0" i="1" u="none" strike="noStrike" cap="none" normalizeH="0" baseline="0" dirty="0" smtClean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0</m:t>
                        </m:r>
                        <m:r>
                          <a:rPr kumimoji="0" lang="en-US" altLang="zh-CN" sz="3200" b="0" i="1" u="none" strike="noStrike" cap="none" normalizeH="0" baseline="0" dirty="0" smtClean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,</m:t>
                        </m:r>
                        <m:r>
                          <a:rPr kumimoji="0" lang="en-US" altLang="zh-CN" sz="3200" b="0" i="1" u="none" strike="noStrike" cap="none" normalizeH="0" baseline="0" dirty="0" smtClean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1</m:t>
                        </m:r>
                      </m:e>
                    </m:d>
                    <m:r>
                      <a:rPr kumimoji="0" lang="en-US" altLang="zh-CN" sz="3200" b="0" i="1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,</m:t>
                    </m:r>
                    <m:r>
                      <a:rPr kumimoji="0" lang="en-US" altLang="zh-CN" sz="3200" b="0" i="1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𝑌</m:t>
                    </m:r>
                    <m:r>
                      <a:rPr kumimoji="0" lang="en-US" altLang="zh-CN" sz="3200" b="0" i="1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~</m:t>
                    </m:r>
                    <m:r>
                      <a:rPr kumimoji="0" lang="en-US" altLang="zh-CN" sz="3200" b="0" i="1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𝑁</m:t>
                    </m:r>
                    <m:d>
                      <m:dPr>
                        <m:ctrlPr>
                          <a:rPr kumimoji="0" lang="en-US" altLang="zh-CN" sz="3200" b="0" i="1" u="none" strike="noStrike" cap="none" normalizeH="0" baseline="0" dirty="0" smtClean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kumimoji="0" lang="en-US" altLang="zh-CN" sz="3200" b="0" i="1" u="none" strike="noStrike" cap="none" normalizeH="0" baseline="0" dirty="0" smtClean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1</m:t>
                        </m:r>
                        <m:r>
                          <a:rPr kumimoji="0" lang="en-US" altLang="zh-CN" sz="3200" b="0" i="1" u="none" strike="noStrike" cap="none" normalizeH="0" baseline="0" dirty="0" smtClean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,</m:t>
                        </m:r>
                        <m:r>
                          <a:rPr kumimoji="0" lang="en-US" altLang="zh-CN" sz="3200" b="0" i="1" u="none" strike="noStrike" cap="none" normalizeH="0" baseline="0" dirty="0" smtClean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1</m:t>
                        </m:r>
                      </m:e>
                    </m:d>
                    <m:r>
                      <a:rPr kumimoji="0" lang="en-US" altLang="zh-CN" sz="3200" b="0" i="1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,</m:t>
                    </m:r>
                  </m:oMath>
                </a14:m>
                <a:r>
                  <a:rPr kumimoji="0" lang="zh-CN" altLang="en-US" sz="3200" b="0" i="0" u="none" strike="noStrike" cap="none" normalizeH="0" baseline="0" dirty="0" smtClean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宋体" panose="02010600030101010101" pitchFamily="2" charset="-122"/>
                    <a:ea typeface="宋体" panose="02010600030101010101" pitchFamily="2" charset="-122"/>
                    <a:cs typeface="Times New Roman" panose="02020603050405020304" pitchFamily="18" charset="0"/>
                  </a:rPr>
                  <a:t> 则       </a:t>
                </a:r>
                <a:endParaRPr kumimoji="0" lang="zh-CN" altLang="en-US" sz="3200" b="0" i="0" u="none" strike="noStrike" cap="none" normalizeH="0" baseline="0" dirty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</p:txBody>
          </p:sp>
        </mc:Choice>
        <mc:Fallback>
          <p:sp>
            <p:nvSpPr>
              <p:cNvPr id="8" name="Rectangle 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09719" y="3191914"/>
                <a:ext cx="12012613" cy="584775"/>
              </a:xfrm>
              <a:prstGeom prst="rect">
                <a:avLst/>
              </a:prstGeom>
              <a:blipFill rotWithShape="1">
                <a:blip r:embed="rId1"/>
                <a:stretch>
                  <a:fillRect l="-4" t="-69" r="2" b="59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5" name="文本框 14"/>
              <p:cNvSpPr txBox="1"/>
              <p:nvPr/>
            </p:nvSpPr>
            <p:spPr>
              <a:xfrm>
                <a:off x="740229" y="3787242"/>
                <a:ext cx="5312801" cy="56816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altLang="zh-CN" sz="2800" b="0" i="1" smtClean="0"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US" altLang="zh-CN" sz="2800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sz="2800" b="0" i="1" smtClean="0">
                        <a:latin typeface="Cambria Math" panose="02040503050406030204" pitchFamily="18" charset="0"/>
                      </a:rPr>
                      <m:t>2</m:t>
                    </m:r>
                    <m:r>
                      <a:rPr lang="en-US" altLang="zh-CN" sz="2800" b="0" i="1" smtClean="0"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US" altLang="zh-CN" sz="2800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altLang="zh-CN" sz="2800" b="0" i="1" smtClean="0">
                        <a:latin typeface="Cambria Math" panose="02040503050406030204" pitchFamily="18" charset="0"/>
                      </a:rPr>
                      <m:t>𝑌</m:t>
                    </m:r>
                    <m:r>
                      <a:rPr lang="en-US" altLang="zh-CN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</m:t>
                    </m:r>
                    <m:r>
                      <a:rPr lang="en-US" altLang="zh-CN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1</m:t>
                    </m:r>
                    <m:r>
                      <a:rPr lang="en-US" altLang="zh-CN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rad>
                      <m:radPr>
                        <m:degHide m:val="on"/>
                        <m:ctrlPr>
                          <a:rPr lang="en-US" altLang="zh-CN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US" altLang="zh-CN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5</m:t>
                        </m:r>
                      </m:e>
                    </m:rad>
                    <m:r>
                      <a:rPr lang="en-US" altLang="zh-CN" sz="28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altLang="zh-CN" sz="2800" dirty="0" smtClean="0"/>
                  <a:t>= </a:t>
                </a:r>
                <a:r>
                  <a:rPr lang="en-US" altLang="zh-CN" sz="2800" u="sng" dirty="0" smtClean="0"/>
                  <a:t>                     </a:t>
                </a:r>
                <a:endParaRPr lang="zh-CN" altLang="en-US" sz="2800" dirty="0"/>
              </a:p>
            </p:txBody>
          </p:sp>
        </mc:Choice>
        <mc:Fallback>
          <p:sp>
            <p:nvSpPr>
              <p:cNvPr id="15" name="文本框 1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0229" y="3787242"/>
                <a:ext cx="5312801" cy="568169"/>
              </a:xfrm>
              <a:prstGeom prst="rect">
                <a:avLst/>
              </a:prstGeom>
              <a:blipFill rotWithShape="1">
                <a:blip r:embed="rId2"/>
                <a:stretch>
                  <a:fillRect l="-9" t="-18" r="-31670" b="10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" name="文本框 15"/>
          <p:cNvSpPr txBox="1"/>
          <p:nvPr/>
        </p:nvSpPr>
        <p:spPr>
          <a:xfrm>
            <a:off x="4160246" y="3831802"/>
            <a:ext cx="193033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800" u="sng" dirty="0" smtClean="0"/>
              <a:t> </a:t>
            </a:r>
            <a:r>
              <a:rPr lang="en-US" altLang="zh-CN" sz="2800" b="1" u="sng" dirty="0"/>
              <a:t>0.8413</a:t>
            </a:r>
            <a:r>
              <a:rPr lang="en-US" altLang="zh-CN" sz="2800" b="1" u="sng" dirty="0" smtClean="0"/>
              <a:t> </a:t>
            </a:r>
            <a:r>
              <a:rPr lang="en-US" altLang="zh-CN" sz="2800" u="sng" dirty="0" smtClean="0"/>
              <a:t>       </a:t>
            </a:r>
            <a:endParaRPr lang="zh-CN" altLang="en-US" sz="2800" u="sng" dirty="0"/>
          </a:p>
        </p:txBody>
      </p:sp>
      <p:sp>
        <p:nvSpPr>
          <p:cNvPr id="18" name="文本框 17"/>
          <p:cNvSpPr txBox="1"/>
          <p:nvPr/>
        </p:nvSpPr>
        <p:spPr>
          <a:xfrm>
            <a:off x="654792" y="612601"/>
            <a:ext cx="1014572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600" b="1" dirty="0" smtClean="0">
                <a:solidFill>
                  <a:srgbClr val="FF0000"/>
                </a:solidFill>
              </a:rPr>
              <a:t>★</a:t>
            </a:r>
            <a:r>
              <a:rPr lang="zh-CN" altLang="en-US" sz="3600" b="1" dirty="0" smtClean="0">
                <a:solidFill>
                  <a:srgbClr val="0070C0"/>
                </a:solidFill>
              </a:rPr>
              <a:t>独立的正态分布的线性组合仍然服从正态分布</a:t>
            </a:r>
            <a:r>
              <a:rPr lang="en-US" altLang="zh-CN" sz="3600" b="1" dirty="0" smtClean="0">
                <a:solidFill>
                  <a:srgbClr val="0070C0"/>
                </a:solidFill>
              </a:rPr>
              <a:t>.</a:t>
            </a:r>
            <a:endParaRPr lang="zh-CN" altLang="en-US" sz="3600" b="1" dirty="0">
              <a:solidFill>
                <a:srgbClr val="0070C0"/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9" name="文本框 18"/>
              <p:cNvSpPr txBox="1"/>
              <p:nvPr/>
            </p:nvSpPr>
            <p:spPr>
              <a:xfrm>
                <a:off x="1438010" y="1425951"/>
                <a:ext cx="4637873" cy="101066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altLang="zh-CN" sz="2800" b="1" i="1" smtClean="0">
                        <a:latin typeface="Cambria Math" panose="02040503050406030204" pitchFamily="18" charset="0"/>
                      </a:rPr>
                      <m:t>𝑿</m:t>
                    </m:r>
                    <m:r>
                      <a:rPr lang="en-US" altLang="zh-CN" sz="28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~</m:t>
                    </m:r>
                    <m:r>
                      <a:rPr lang="en-US" altLang="zh-CN" sz="28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𝑵</m:t>
                    </m:r>
                    <m:r>
                      <a:rPr lang="en-US" altLang="zh-CN" sz="28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altLang="zh-CN" sz="28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sz="28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𝝁</m:t>
                        </m:r>
                      </m:e>
                      <m:sub>
                        <m:r>
                          <a:rPr lang="en-US" altLang="zh-CN" sz="28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𝟏</m:t>
                        </m:r>
                      </m:sub>
                    </m:sSub>
                    <m:r>
                      <a:rPr lang="en-US" altLang="zh-CN" sz="28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  <m:sSubSup>
                      <m:sSubSupPr>
                        <m:ctrlPr>
                          <a:rPr lang="en-US" altLang="zh-CN" sz="28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zh-CN" altLang="en-US" sz="28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𝝈</m:t>
                        </m:r>
                      </m:e>
                      <m:sub>
                        <m:r>
                          <a:rPr lang="en-US" altLang="zh-CN" sz="28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𝟏</m:t>
                        </m:r>
                      </m:sub>
                      <m:sup>
                        <m:r>
                          <a:rPr lang="en-US" altLang="zh-CN" sz="28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𝟐</m:t>
                        </m:r>
                      </m:sup>
                    </m:sSubSup>
                    <m:r>
                      <a:rPr lang="en-US" altLang="zh-CN" sz="28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altLang="zh-CN" sz="2800" b="1" dirty="0" smtClean="0"/>
                  <a:t>, </a:t>
                </a:r>
                <a14:m>
                  <m:oMath xmlns:m="http://schemas.openxmlformats.org/officeDocument/2006/math">
                    <m:r>
                      <a:rPr lang="en-US" altLang="zh-CN" sz="2800" b="1" i="1" smtClean="0">
                        <a:latin typeface="Cambria Math" panose="02040503050406030204" pitchFamily="18" charset="0"/>
                      </a:rPr>
                      <m:t>𝒀</m:t>
                    </m:r>
                    <m:r>
                      <a:rPr lang="en-US" altLang="zh-CN" sz="28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~</m:t>
                    </m:r>
                    <m:r>
                      <a:rPr lang="en-US" altLang="zh-CN" sz="28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𝑵</m:t>
                    </m:r>
                    <m:d>
                      <m:dPr>
                        <m:ctrlPr>
                          <a:rPr lang="en-US" altLang="zh-CN" sz="28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sz="2800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CN" altLang="en-US" sz="2800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𝝁</m:t>
                            </m:r>
                          </m:e>
                          <m:sub>
                            <m:r>
                              <a:rPr lang="en-US" altLang="zh-CN" sz="2800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𝟐</m:t>
                            </m:r>
                          </m:sub>
                        </m:sSub>
                        <m:r>
                          <a:rPr lang="en-US" altLang="zh-CN" sz="28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</m:t>
                        </m:r>
                        <m:sSubSup>
                          <m:sSubSupPr>
                            <m:ctrlPr>
                              <a:rPr lang="en-US" altLang="zh-CN" sz="2800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zh-CN" altLang="en-US" sz="2800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𝝈</m:t>
                            </m:r>
                          </m:e>
                          <m:sub>
                            <m:r>
                              <a:rPr lang="en-US" altLang="zh-CN" sz="2800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𝟐</m:t>
                            </m:r>
                          </m:sub>
                          <m:sup>
                            <m:r>
                              <a:rPr lang="en-US" altLang="zh-CN" sz="2800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𝟐</m:t>
                            </m:r>
                          </m:sup>
                        </m:sSubSup>
                      </m:e>
                    </m:d>
                    <m:r>
                      <a:rPr lang="en-US" altLang="zh-CN" sz="28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</m:oMath>
                </a14:m>
                <a:endParaRPr lang="zh-CN" altLang="en-US" sz="2800" b="1" dirty="0"/>
              </a:p>
              <a:p>
                <a:endParaRPr lang="zh-CN" altLang="en-US" sz="2800" b="1" dirty="0"/>
              </a:p>
            </p:txBody>
          </p:sp>
        </mc:Choice>
        <mc:Fallback>
          <p:sp>
            <p:nvSpPr>
              <p:cNvPr id="19" name="文本框 1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38010" y="1425951"/>
                <a:ext cx="4637873" cy="1010661"/>
              </a:xfrm>
              <a:prstGeom prst="rect">
                <a:avLst/>
              </a:prstGeom>
              <a:blipFill rotWithShape="1">
                <a:blip r:embed="rId3"/>
                <a:stretch>
                  <a:fillRect l="-8" t="-37" r="4" b="1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0" name="文本框 19"/>
              <p:cNvSpPr txBox="1"/>
              <p:nvPr/>
            </p:nvSpPr>
            <p:spPr>
              <a:xfrm>
                <a:off x="6096000" y="1484138"/>
                <a:ext cx="2462534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altLang="zh-CN" sz="2800" b="1" i="1" smtClean="0">
                        <a:latin typeface="Cambria Math" panose="02040503050406030204" pitchFamily="18" charset="0"/>
                      </a:rPr>
                      <m:t>𝑿</m:t>
                    </m:r>
                    <m:r>
                      <a:rPr lang="zh-CN" altLang="en-US" sz="2800" b="1" i="1">
                        <a:latin typeface="Cambria Math" panose="02040503050406030204" pitchFamily="18" charset="0"/>
                      </a:rPr>
                      <m:t>、</m:t>
                    </m:r>
                    <m:r>
                      <a:rPr lang="en-US" altLang="zh-CN" sz="2800" b="1" i="1" smtClean="0">
                        <a:latin typeface="Cambria Math" panose="02040503050406030204" pitchFamily="18" charset="0"/>
                      </a:rPr>
                      <m:t>𝒀</m:t>
                    </m:r>
                  </m:oMath>
                </a14:m>
                <a:r>
                  <a:rPr lang="zh-CN" altLang="en-US" sz="2800" b="1" dirty="0" smtClean="0"/>
                  <a:t>独立，则</a:t>
                </a:r>
                <a:endParaRPr lang="zh-CN" altLang="en-US" sz="2800" b="1" dirty="0"/>
              </a:p>
            </p:txBody>
          </p:sp>
        </mc:Choice>
        <mc:Fallback>
          <p:sp>
            <p:nvSpPr>
              <p:cNvPr id="20" name="文本框 1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96000" y="1484138"/>
                <a:ext cx="2462534" cy="523220"/>
              </a:xfrm>
              <a:prstGeom prst="rect">
                <a:avLst/>
              </a:prstGeom>
              <a:blipFill rotWithShape="1">
                <a:blip r:embed="rId4"/>
                <a:stretch>
                  <a:fillRect t="-27" b="2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1" name="文本框 20"/>
              <p:cNvSpPr txBox="1"/>
              <p:nvPr/>
            </p:nvSpPr>
            <p:spPr>
              <a:xfrm>
                <a:off x="1529868" y="2211507"/>
                <a:ext cx="6903108" cy="57977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altLang="zh-CN" sz="28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⇒</m:t>
                    </m:r>
                    <m:sSub>
                      <m:sSubPr>
                        <m:ctrlPr>
                          <a:rPr lang="en-US" altLang="zh-CN" sz="2800" b="1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800" b="1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𝑪</m:t>
                        </m:r>
                      </m:e>
                      <m:sub>
                        <m:r>
                          <a:rPr lang="en-US" altLang="zh-CN" sz="2800" b="1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  <m:r>
                      <a:rPr lang="en-US" altLang="zh-CN" sz="2800" b="1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𝑿</m:t>
                    </m:r>
                  </m:oMath>
                </a14:m>
                <a:r>
                  <a:rPr lang="en-US" altLang="zh-CN" sz="2800" b="1" dirty="0" smtClean="0">
                    <a:solidFill>
                      <a:srgbClr val="0070C0"/>
                    </a:solidFill>
                  </a:rPr>
                  <a:t>+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800" b="1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800" b="1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𝑪</m:t>
                        </m:r>
                      </m:e>
                      <m:sub>
                        <m:r>
                          <a:rPr lang="en-US" altLang="zh-CN" sz="2800" b="1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𝟐</m:t>
                        </m:r>
                      </m:sub>
                    </m:sSub>
                    <m:r>
                      <a:rPr lang="en-US" altLang="zh-CN" sz="2800" b="1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𝒀</m:t>
                    </m:r>
                    <m:r>
                      <a:rPr lang="en-US" altLang="zh-CN" sz="2800" b="1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~</m:t>
                    </m:r>
                    <m:r>
                      <a:rPr lang="en-US" altLang="zh-CN" sz="2800" b="1" i="1" dirty="0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𝑵</m:t>
                    </m:r>
                    <m:d>
                      <m:dPr>
                        <m:ctrlPr>
                          <a:rPr lang="en-US" altLang="zh-CN" sz="2800" b="1" i="1" dirty="0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sz="2800" b="1" i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800" b="1" i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𝑪</m:t>
                            </m:r>
                          </m:e>
                          <m:sub>
                            <m:r>
                              <a:rPr lang="en-US" altLang="zh-CN" sz="2800" b="1" i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𝟏</m:t>
                            </m:r>
                          </m:sub>
                        </m:sSub>
                        <m:sSub>
                          <m:sSubPr>
                            <m:ctrlPr>
                              <a:rPr lang="en-US" altLang="zh-CN" sz="2800" b="1" i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CN" altLang="en-US" sz="2800" b="1" i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𝝁</m:t>
                            </m:r>
                          </m:e>
                          <m:sub>
                            <m:r>
                              <a:rPr lang="en-US" altLang="zh-CN" sz="2800" b="1" i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𝟏</m:t>
                            </m:r>
                          </m:sub>
                        </m:sSub>
                        <m:r>
                          <m:rPr>
                            <m:nor/>
                          </m:rPr>
                          <a:rPr lang="en-US" altLang="zh-CN" sz="2800" b="1" dirty="0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en-US" altLang="zh-CN" sz="2800" b="1" i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800" b="1" i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𝑪</m:t>
                            </m:r>
                          </m:e>
                          <m:sub>
                            <m:r>
                              <a:rPr lang="en-US" altLang="zh-CN" sz="2800" b="1" i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𝟐</m:t>
                            </m:r>
                          </m:sub>
                        </m:sSub>
                        <m:sSub>
                          <m:sSubPr>
                            <m:ctrlPr>
                              <a:rPr lang="en-US" altLang="zh-CN" sz="2800" b="1" i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CN" altLang="en-US" sz="2800" b="1" i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𝝁</m:t>
                            </m:r>
                          </m:e>
                          <m:sub>
                            <m:r>
                              <a:rPr lang="en-US" altLang="zh-CN" sz="2800" b="1" i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𝟐</m:t>
                            </m:r>
                          </m:sub>
                        </m:sSub>
                        <m:r>
                          <a:rPr lang="en-US" altLang="zh-CN" sz="2800" b="1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</m:t>
                        </m:r>
                        <m:sSubSup>
                          <m:sSubSupPr>
                            <m:ctrlPr>
                              <a:rPr lang="en-US" altLang="zh-CN" sz="2800" b="1" i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altLang="zh-CN" sz="2800" b="1" i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𝑪</m:t>
                            </m:r>
                          </m:e>
                          <m:sub>
                            <m:r>
                              <a:rPr lang="en-US" altLang="zh-CN" sz="2800" b="1" i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𝟏</m:t>
                            </m:r>
                          </m:sub>
                          <m:sup>
                            <m:r>
                              <a:rPr lang="en-US" altLang="zh-CN" sz="2800" b="1" i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𝟐</m:t>
                            </m:r>
                          </m:sup>
                        </m:sSubSup>
                        <m:sSubSup>
                          <m:sSubSupPr>
                            <m:ctrlPr>
                              <a:rPr lang="en-US" altLang="zh-CN" sz="2800" b="1" i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zh-CN" altLang="en-US" sz="2800" b="1" i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𝝈</m:t>
                            </m:r>
                          </m:e>
                          <m:sub>
                            <m:r>
                              <a:rPr lang="en-US" altLang="zh-CN" sz="2800" b="1" i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𝟏</m:t>
                            </m:r>
                          </m:sub>
                          <m:sup>
                            <m:r>
                              <a:rPr lang="en-US" altLang="zh-CN" sz="2800" b="1" i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𝟐</m:t>
                            </m:r>
                          </m:sup>
                        </m:sSubSup>
                        <m:r>
                          <a:rPr lang="en-US" altLang="zh-CN" sz="2800" b="1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+</m:t>
                        </m:r>
                        <m:sSubSup>
                          <m:sSubSupPr>
                            <m:ctrlPr>
                              <a:rPr lang="en-US" altLang="zh-CN" sz="2800" b="1" i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altLang="zh-CN" sz="2800" b="1" i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𝑪</m:t>
                            </m:r>
                          </m:e>
                          <m:sub>
                            <m:r>
                              <a:rPr lang="en-US" altLang="zh-CN" sz="2800" b="1" i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𝟐</m:t>
                            </m:r>
                          </m:sub>
                          <m:sup>
                            <m:r>
                              <a:rPr lang="en-US" altLang="zh-CN" sz="2800" b="1" i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𝟐</m:t>
                            </m:r>
                          </m:sup>
                        </m:sSubSup>
                        <m:sSubSup>
                          <m:sSubSupPr>
                            <m:ctrlPr>
                              <a:rPr lang="en-US" altLang="zh-CN" sz="2800" b="1" i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zh-CN" altLang="en-US" sz="2800" b="1" i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𝝈</m:t>
                            </m:r>
                          </m:e>
                          <m:sub>
                            <m:r>
                              <a:rPr lang="en-US" altLang="zh-CN" sz="2800" b="1" i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𝟐</m:t>
                            </m:r>
                          </m:sub>
                          <m:sup>
                            <m:r>
                              <a:rPr lang="en-US" altLang="zh-CN" sz="2800" b="1" i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𝟐</m:t>
                            </m:r>
                          </m:sup>
                        </m:sSubSup>
                      </m:e>
                    </m:d>
                    <m:r>
                      <a:rPr lang="en-US" altLang="zh-CN" sz="2800" b="1" i="1" dirty="0" smtClean="0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endParaRPr lang="zh-CN" altLang="en-US" sz="2800" b="1" dirty="0"/>
              </a:p>
            </p:txBody>
          </p:sp>
        </mc:Choice>
        <mc:Fallback>
          <p:sp>
            <p:nvSpPr>
              <p:cNvPr id="21" name="文本框 2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29868" y="2211507"/>
                <a:ext cx="6903108" cy="579774"/>
              </a:xfrm>
              <a:prstGeom prst="rect">
                <a:avLst/>
              </a:prstGeom>
              <a:blipFill rotWithShape="1">
                <a:blip r:embed="rId5"/>
                <a:stretch>
                  <a:fillRect l="-2" t="-75" r="3" b="7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2" name="文本框 21"/>
              <p:cNvSpPr txBox="1"/>
              <p:nvPr/>
            </p:nvSpPr>
            <p:spPr>
              <a:xfrm>
                <a:off x="764738" y="4598388"/>
                <a:ext cx="2689582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800" b="1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𝟐</m:t>
                      </m:r>
                      <m:r>
                        <a:rPr lang="en-US" altLang="zh-CN" sz="2800" b="1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𝑿</m:t>
                      </m:r>
                      <m:r>
                        <a:rPr lang="en-US" altLang="zh-CN" sz="2800" b="1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zh-CN" sz="2800" b="1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𝒀</m:t>
                      </m:r>
                      <m:r>
                        <a:rPr lang="en-US" altLang="zh-CN" sz="2800" b="1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~</m:t>
                      </m:r>
                      <m:r>
                        <a:rPr lang="en-US" altLang="zh-CN" sz="2800" b="1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𝑵</m:t>
                      </m:r>
                      <m:r>
                        <a:rPr lang="en-US" altLang="zh-CN" sz="2800" b="1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altLang="zh-CN" sz="2800" b="1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𝟏</m:t>
                      </m:r>
                      <m:r>
                        <a:rPr lang="en-US" altLang="zh-CN" sz="2800" b="1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altLang="zh-CN" sz="2800" b="1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𝟓</m:t>
                      </m:r>
                      <m:r>
                        <a:rPr lang="en-US" altLang="zh-CN" sz="2800" b="1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zh-CN" altLang="en-US" sz="2800" b="1" dirty="0">
                  <a:solidFill>
                    <a:srgbClr val="0070C0"/>
                  </a:solidFill>
                </a:endParaRPr>
              </a:p>
            </p:txBody>
          </p:sp>
        </mc:Choice>
        <mc:Fallback>
          <p:sp>
            <p:nvSpPr>
              <p:cNvPr id="22" name="文本框 2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4738" y="4598388"/>
                <a:ext cx="2689582" cy="430887"/>
              </a:xfrm>
              <a:prstGeom prst="rect">
                <a:avLst/>
              </a:prstGeom>
              <a:blipFill rotWithShape="1">
                <a:blip r:embed="rId6"/>
                <a:stretch>
                  <a:fillRect l="-7" t="-82" r="21" b="1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3" name="文本框 22"/>
              <p:cNvSpPr txBox="1"/>
              <p:nvPr/>
            </p:nvSpPr>
            <p:spPr>
              <a:xfrm>
                <a:off x="3108878" y="4514836"/>
                <a:ext cx="4001224" cy="58272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800" b="1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⇒</m:t>
                      </m:r>
                      <m:r>
                        <a:rPr lang="en-US" altLang="zh-CN" sz="2800" b="1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𝑷</m:t>
                      </m:r>
                      <m:r>
                        <a:rPr lang="en-US" altLang="zh-CN" sz="2800" b="1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altLang="zh-CN" sz="2800" b="1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𝟐</m:t>
                      </m:r>
                      <m:r>
                        <a:rPr lang="en-US" altLang="zh-CN" sz="2800" b="1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𝑿</m:t>
                      </m:r>
                      <m:r>
                        <a:rPr lang="en-US" altLang="zh-CN" sz="2800" b="1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zh-CN" sz="2800" b="1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𝒀</m:t>
                      </m:r>
                      <m:r>
                        <a:rPr lang="en-US" altLang="zh-CN" sz="2800" b="1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≤</m:t>
                      </m:r>
                      <m:r>
                        <a:rPr lang="en-US" altLang="zh-CN" sz="2800" b="1" i="1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𝟏</m:t>
                      </m:r>
                      <m:r>
                        <a:rPr lang="en-US" altLang="zh-CN" sz="2800" b="1" i="1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rad>
                        <m:radPr>
                          <m:degHide m:val="on"/>
                          <m:ctrlPr>
                            <a:rPr lang="en-US" altLang="zh-CN" sz="2800" b="1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en-US" altLang="zh-CN" sz="2800" b="1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𝟓</m:t>
                          </m:r>
                        </m:e>
                      </m:rad>
                      <m:r>
                        <a:rPr lang="en-US" altLang="zh-CN" sz="2800" b="1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zh-CN" altLang="en-US" sz="2800" b="1" dirty="0">
                  <a:solidFill>
                    <a:srgbClr val="0070C0"/>
                  </a:solidFill>
                </a:endParaRPr>
              </a:p>
            </p:txBody>
          </p:sp>
        </mc:Choice>
        <mc:Fallback>
          <p:sp>
            <p:nvSpPr>
              <p:cNvPr id="23" name="文本框 2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08878" y="4514836"/>
                <a:ext cx="4001224" cy="582724"/>
              </a:xfrm>
              <a:prstGeom prst="rect">
                <a:avLst/>
              </a:prstGeom>
              <a:blipFill rotWithShape="1">
                <a:blip r:embed="rId7"/>
                <a:stretch>
                  <a:fillRect l="-14" t="-107" b="7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4" name="文本框 23"/>
              <p:cNvSpPr txBox="1"/>
              <p:nvPr/>
            </p:nvSpPr>
            <p:spPr>
              <a:xfrm>
                <a:off x="6702155" y="4264350"/>
                <a:ext cx="3062697" cy="108369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800" b="1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l-GR" altLang="zh-CN" sz="2800" b="1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𝜱</m:t>
                      </m:r>
                      <m:r>
                        <a:rPr lang="en-US" altLang="zh-CN" sz="2800" b="1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</m:t>
                      </m:r>
                      <m:f>
                        <m:fPr>
                          <m:ctrlPr>
                            <a:rPr lang="en-US" altLang="zh-CN" sz="2800" b="1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sz="2800" b="1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𝟏</m:t>
                          </m:r>
                          <m:r>
                            <a:rPr lang="en-US" altLang="zh-CN" sz="2800" b="1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</m:t>
                          </m:r>
                          <m:rad>
                            <m:radPr>
                              <m:degHide m:val="on"/>
                              <m:ctrlPr>
                                <a:rPr lang="en-US" altLang="zh-CN" sz="2800" b="1" i="1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altLang="zh-CN" sz="2800" b="1" i="1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𝟓</m:t>
                              </m:r>
                            </m:e>
                          </m:rad>
                          <m:r>
                            <a:rPr lang="en-US" altLang="zh-CN" sz="2800" b="1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</m:t>
                          </m:r>
                          <m:r>
                            <a:rPr lang="en-US" altLang="zh-CN" sz="2800" b="1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𝟏</m:t>
                          </m:r>
                        </m:num>
                        <m:den>
                          <m:rad>
                            <m:radPr>
                              <m:degHide m:val="on"/>
                              <m:ctrlPr>
                                <a:rPr lang="en-US" altLang="zh-CN" sz="2800" b="1" i="1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altLang="zh-CN" sz="2800" b="1" i="1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𝟓</m:t>
                              </m:r>
                            </m:e>
                          </m:rad>
                        </m:den>
                      </m:f>
                      <m:r>
                        <a:rPr lang="en-US" altLang="zh-CN" sz="2800" b="1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zh-CN" altLang="en-US" sz="2800" b="1" dirty="0">
                  <a:solidFill>
                    <a:srgbClr val="0070C0"/>
                  </a:solidFill>
                </a:endParaRPr>
              </a:p>
            </p:txBody>
          </p:sp>
        </mc:Choice>
        <mc:Fallback>
          <p:sp>
            <p:nvSpPr>
              <p:cNvPr id="24" name="文本框 2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02155" y="4264350"/>
                <a:ext cx="3062697" cy="1083695"/>
              </a:xfrm>
              <a:prstGeom prst="rect">
                <a:avLst/>
              </a:prstGeom>
              <a:blipFill rotWithShape="1">
                <a:blip r:embed="rId8"/>
                <a:stretch>
                  <a:fillRect l="-12" t="-30" r="15" b="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5" name="文本框 24"/>
              <p:cNvSpPr txBox="1"/>
              <p:nvPr/>
            </p:nvSpPr>
            <p:spPr>
              <a:xfrm>
                <a:off x="9441458" y="4598388"/>
                <a:ext cx="2629631" cy="95410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altLang="zh-CN" sz="2800" b="1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l-GR" altLang="zh-CN" sz="2800" b="1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𝜱</m:t>
                    </m:r>
                    <m:r>
                      <a:rPr lang="en-US" altLang="zh-CN" sz="2800" b="1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r>
                      <a:rPr lang="en-US" altLang="zh-CN" sz="2800" b="1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𝟏</m:t>
                    </m:r>
                    <m:r>
                      <a:rPr lang="en-US" altLang="zh-CN" sz="2800" b="1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altLang="zh-CN" sz="2800" b="1" dirty="0" smtClean="0">
                    <a:solidFill>
                      <a:srgbClr val="0070C0"/>
                    </a:solidFill>
                  </a:rPr>
                  <a:t>=0.8413</a:t>
                </a:r>
                <a:endParaRPr lang="zh-CN" altLang="en-US" sz="2800" b="1" dirty="0">
                  <a:solidFill>
                    <a:srgbClr val="0070C0"/>
                  </a:solidFill>
                </a:endParaRPr>
              </a:p>
              <a:p>
                <a:endParaRPr lang="zh-CN" altLang="en-US" sz="2800" b="1" dirty="0">
                  <a:solidFill>
                    <a:srgbClr val="0070C0"/>
                  </a:solidFill>
                </a:endParaRPr>
              </a:p>
            </p:txBody>
          </p:sp>
        </mc:Choice>
        <mc:Fallback>
          <p:sp>
            <p:nvSpPr>
              <p:cNvPr id="25" name="文本框 2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441458" y="4598388"/>
                <a:ext cx="2629631" cy="954107"/>
              </a:xfrm>
              <a:prstGeom prst="rect">
                <a:avLst/>
              </a:prstGeom>
              <a:blipFill rotWithShape="1">
                <a:blip r:embed="rId9"/>
                <a:stretch>
                  <a:fillRect l="-11" t="-37" r="14" b="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26" name="对象 25"/>
          <p:cNvGraphicFramePr>
            <a:graphicFrameLocks noChangeAspect="1"/>
          </p:cNvGraphicFramePr>
          <p:nvPr/>
        </p:nvGraphicFramePr>
        <p:xfrm>
          <a:off x="0" y="5476073"/>
          <a:ext cx="11972654" cy="112819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52" name="" r:id="rId10" imgW="4927600" imgH="457200" progId="Equation.3">
                  <p:embed/>
                </p:oleObj>
              </mc:Choice>
              <mc:Fallback>
                <p:oleObj name="" r:id="rId10" imgW="4927600" imgH="457200" progId="Equation.3">
                  <p:embed/>
                  <p:pic>
                    <p:nvPicPr>
                      <p:cNvPr id="0" name="对象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5476073"/>
                        <a:ext cx="11972654" cy="1128193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7" name="文本框 26"/>
          <p:cNvSpPr txBox="1"/>
          <p:nvPr/>
        </p:nvSpPr>
        <p:spPr>
          <a:xfrm>
            <a:off x="842975" y="1399271"/>
            <a:ext cx="59503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200" b="1" dirty="0" smtClean="0"/>
              <a:t>即</a:t>
            </a:r>
            <a:endParaRPr lang="zh-CN" altLang="en-US" sz="3200" b="1" dirty="0"/>
          </a:p>
        </p:txBody>
      </p:sp>
      <p:sp>
        <p:nvSpPr>
          <p:cNvPr id="17" name="文本框 17"/>
          <p:cNvSpPr txBox="1"/>
          <p:nvPr/>
        </p:nvSpPr>
        <p:spPr>
          <a:xfrm>
            <a:off x="331626" y="3052374"/>
            <a:ext cx="646331" cy="646331"/>
          </a:xfrm>
          <a:prstGeom prst="rect">
            <a:avLst/>
          </a:prstGeom>
          <a:solidFill>
            <a:srgbClr val="92D050"/>
          </a:solidFill>
        </p:spPr>
        <p:txBody>
          <a:bodyPr wrap="none" rtlCol="0">
            <a:spAutoFit/>
          </a:bodyPr>
          <a:lstStyle/>
          <a:p>
            <a:r>
              <a:rPr lang="zh-CN" altLang="en-US" sz="3600" dirty="0" smtClean="0">
                <a:solidFill>
                  <a:srgbClr val="FFFF00"/>
                </a:solidFill>
              </a:rPr>
              <a:t>例</a:t>
            </a:r>
            <a:endParaRPr lang="zh-CN" altLang="en-US" sz="3600" dirty="0">
              <a:solidFill>
                <a:srgbClr val="FFFF00"/>
              </a:solidFill>
            </a:endParaRPr>
          </a:p>
        </p:txBody>
      </p:sp>
      <p:sp>
        <p:nvSpPr>
          <p:cNvPr id="28" name="文本框 17"/>
          <p:cNvSpPr txBox="1"/>
          <p:nvPr/>
        </p:nvSpPr>
        <p:spPr>
          <a:xfrm>
            <a:off x="247624" y="5334259"/>
            <a:ext cx="646331" cy="646331"/>
          </a:xfrm>
          <a:prstGeom prst="rect">
            <a:avLst/>
          </a:prstGeom>
          <a:solidFill>
            <a:srgbClr val="92D050"/>
          </a:solidFill>
        </p:spPr>
        <p:txBody>
          <a:bodyPr wrap="none" rtlCol="0">
            <a:spAutoFit/>
          </a:bodyPr>
          <a:lstStyle/>
          <a:p>
            <a:r>
              <a:rPr lang="zh-CN" altLang="en-US" sz="3600" dirty="0" smtClean="0">
                <a:solidFill>
                  <a:srgbClr val="FFFF00"/>
                </a:solidFill>
              </a:rPr>
              <a:t>例</a:t>
            </a:r>
            <a:endParaRPr lang="zh-CN" altLang="en-US" sz="3600" dirty="0">
              <a:solidFill>
                <a:srgbClr val="FFFF00"/>
              </a:solidFill>
            </a:endParaRPr>
          </a:p>
        </p:txBody>
      </p:sp>
      <p:sp>
        <p:nvSpPr>
          <p:cNvPr id="29" name="圆角矩形 28"/>
          <p:cNvSpPr/>
          <p:nvPr/>
        </p:nvSpPr>
        <p:spPr>
          <a:xfrm>
            <a:off x="331626" y="397464"/>
            <a:ext cx="10746105" cy="2505009"/>
          </a:xfrm>
          <a:prstGeom prst="round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/>
          <p:cNvSpPr/>
          <p:nvPr/>
        </p:nvSpPr>
        <p:spPr>
          <a:xfrm>
            <a:off x="3390611" y="6054795"/>
            <a:ext cx="1846320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800" b="1" u="sng" dirty="0" smtClean="0"/>
              <a:t>    0.1587     </a:t>
            </a:r>
            <a:endParaRPr lang="zh-CN" altLang="en-US" sz="28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0" name="文本框 29"/>
              <p:cNvSpPr txBox="1"/>
              <p:nvPr/>
            </p:nvSpPr>
            <p:spPr>
              <a:xfrm>
                <a:off x="5357364" y="6063527"/>
                <a:ext cx="3072701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800" b="1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𝑿</m:t>
                      </m:r>
                      <m:r>
                        <a:rPr lang="en-US" altLang="zh-CN" sz="2800" b="1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altLang="zh-CN" sz="2800" b="1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𝟐</m:t>
                      </m:r>
                      <m:r>
                        <a:rPr lang="en-US" altLang="zh-CN" sz="2800" b="1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𝒀</m:t>
                      </m:r>
                      <m:r>
                        <a:rPr lang="en-US" altLang="zh-CN" sz="2800" b="1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~</m:t>
                      </m:r>
                      <m:r>
                        <a:rPr lang="en-US" altLang="zh-CN" sz="2800" b="1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𝑵</m:t>
                      </m:r>
                      <m:r>
                        <a:rPr lang="en-US" altLang="zh-CN" sz="2800" b="1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(−</m:t>
                      </m:r>
                      <m:r>
                        <a:rPr lang="en-US" altLang="zh-CN" sz="2800" b="1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𝟒</m:t>
                      </m:r>
                      <m:r>
                        <a:rPr lang="en-US" altLang="zh-CN" sz="2800" b="1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altLang="zh-CN" sz="2800" b="1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𝟏𝟔</m:t>
                      </m:r>
                      <m:r>
                        <a:rPr lang="en-US" altLang="zh-CN" sz="2800" b="1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zh-CN" altLang="en-US" sz="2800" b="1" dirty="0">
                  <a:solidFill>
                    <a:srgbClr val="0070C0"/>
                  </a:solidFill>
                </a:endParaRPr>
              </a:p>
            </p:txBody>
          </p:sp>
        </mc:Choice>
        <mc:Fallback>
          <p:sp>
            <p:nvSpPr>
              <p:cNvPr id="30" name="文本框 2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57364" y="6063527"/>
                <a:ext cx="3072701" cy="430887"/>
              </a:xfrm>
              <a:prstGeom prst="rect">
                <a:avLst/>
              </a:prstGeom>
              <a:blipFill rotWithShape="1">
                <a:blip r:embed="rId12"/>
                <a:stretch>
                  <a:fillRect l="-16" t="-127" r="-1081" b="6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15" grpId="0"/>
      <p:bldP spid="16" grpId="0"/>
      <p:bldP spid="18" grpId="0"/>
      <p:bldP spid="19" grpId="0"/>
      <p:bldP spid="20" grpId="0"/>
      <p:bldP spid="21" grpId="0"/>
      <p:bldP spid="22" grpId="0"/>
      <p:bldP spid="23" grpId="0"/>
      <p:bldP spid="24" grpId="0"/>
      <p:bldP spid="25" grpId="0"/>
      <p:bldP spid="27" grpId="0"/>
      <p:bldP spid="17" grpId="0" animBg="1"/>
      <p:bldP spid="28" grpId="0" animBg="1"/>
      <p:bldP spid="29" grpId="0" animBg="1"/>
      <p:bldP spid="3" grpId="0"/>
      <p:bldP spid="30" grpId="0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图片 3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1022648" y="1219156"/>
            <a:ext cx="9374059" cy="1093955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8" name="文本框 7"/>
              <p:cNvSpPr txBox="1"/>
              <p:nvPr>
                <p:custDataLst>
                  <p:tags r:id="rId3"/>
                </p:custDataLst>
              </p:nvPr>
            </p:nvSpPr>
            <p:spPr>
              <a:xfrm>
                <a:off x="1171301" y="2335492"/>
                <a:ext cx="9412770" cy="5959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3200" b="1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altLang="zh-CN" sz="3200" b="1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𝟑</m:t>
                      </m:r>
                      <m:r>
                        <a:rPr lang="en-US" altLang="zh-CN" sz="3200" b="1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𝑿</m:t>
                      </m:r>
                      <m:r>
                        <a:rPr lang="en-US" altLang="zh-CN" sz="3200" b="1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zh-CN" sz="3200" b="1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𝟐</m:t>
                      </m:r>
                      <m:r>
                        <a:rPr lang="en-US" altLang="zh-CN" sz="3200" b="1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𝒀</m:t>
                      </m:r>
                      <m:r>
                        <a:rPr lang="en-US" altLang="zh-CN" sz="3200" b="1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~</m:t>
                      </m:r>
                      <m:r>
                        <a:rPr lang="en-US" altLang="zh-CN" sz="3200" b="1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𝑵</m:t>
                      </m:r>
                      <m:r>
                        <a:rPr lang="en-US" altLang="zh-CN" sz="3200" b="1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(−</m:t>
                      </m:r>
                      <m:r>
                        <a:rPr lang="en-US" altLang="zh-CN" sz="3200" b="1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𝟑</m:t>
                      </m:r>
                      <m:r>
                        <a:rPr lang="en-US" altLang="zh-CN" sz="3200" b="1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r>
                        <a:rPr lang="en-US" altLang="zh-CN" sz="3200" b="1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𝟑</m:t>
                      </m:r>
                      <m:r>
                        <a:rPr lang="en-US" altLang="zh-CN" sz="3200" b="1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r>
                        <a:rPr lang="en-US" altLang="zh-CN" sz="3200" b="1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𝟐</m:t>
                      </m:r>
                      <m:r>
                        <a:rPr lang="en-US" altLang="zh-CN" sz="3200" b="1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r>
                        <a:rPr lang="en-US" altLang="zh-CN" sz="3200" b="1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𝟏</m:t>
                      </m:r>
                      <m:r>
                        <a:rPr lang="en-US" altLang="zh-CN" sz="3200" b="1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</m:t>
                      </m:r>
                      <m:sSup>
                        <m:sSupPr>
                          <m:ctrlPr>
                            <a:rPr lang="en-US" altLang="zh-CN" sz="3200" b="1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altLang="zh-CN" sz="3200" b="1" i="1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sz="3200" b="1" i="1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altLang="zh-CN" sz="3200" b="1" i="1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𝟑</m:t>
                              </m:r>
                            </m:e>
                          </m:d>
                        </m:e>
                        <m:sup>
                          <m:r>
                            <a:rPr lang="en-US" altLang="zh-CN" sz="3200" b="1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  <m:r>
                        <a:rPr lang="en-US" altLang="zh-CN" sz="3200" b="1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r>
                        <a:rPr lang="en-US" altLang="zh-CN" sz="3200" b="1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𝟏</m:t>
                      </m:r>
                      <m:r>
                        <a:rPr lang="en-US" altLang="zh-CN" sz="3200" b="1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sSup>
                        <m:sSupPr>
                          <m:ctrlPr>
                            <a:rPr lang="en-US" altLang="zh-CN" sz="3200" b="1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sz="3200" b="1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𝟐</m:t>
                          </m:r>
                        </m:e>
                        <m:sup>
                          <m:r>
                            <a:rPr lang="en-US" altLang="zh-CN" sz="3200" b="1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  <m:r>
                        <a:rPr lang="en-US" altLang="zh-CN" sz="3200" b="1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r>
                        <a:rPr lang="en-US" altLang="zh-CN" sz="3200" b="1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𝟒</m:t>
                      </m:r>
                      <m:r>
                        <a:rPr lang="en-US" altLang="zh-CN" sz="3200" b="1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zh-CN" altLang="en-US" sz="3200" b="1" dirty="0">
                  <a:solidFill>
                    <a:srgbClr val="002060"/>
                  </a:solidFill>
                </a:endParaRPr>
              </a:p>
            </p:txBody>
          </p:sp>
        </mc:Choice>
        <mc:Fallback>
          <p:sp>
            <p:nvSpPr>
              <p:cNvPr id="8" name="文本框 7"/>
              <p:cNvSpPr txBox="1">
                <a:spLocks noRot="1" noChangeAspect="1" noMove="1" noResize="1" noEditPoints="1" noAdjustHandles="1" noChangeArrowheads="1" noChangeShapeType="1" noTextEdit="1"/>
              </p:cNvSpPr>
              <p:nvPr>
                <p:custDataLst>
                  <p:tags r:id="rId4"/>
                </p:custDataLst>
              </p:nvPr>
            </p:nvSpPr>
            <p:spPr>
              <a:xfrm>
                <a:off x="1171301" y="2335492"/>
                <a:ext cx="9412770" cy="595932"/>
              </a:xfrm>
              <a:prstGeom prst="rect">
                <a:avLst/>
              </a:prstGeom>
              <a:blipFill rotWithShape="1">
                <a:blip r:embed="rId5"/>
                <a:stretch>
                  <a:fillRect l="-4" t="-100" r="6" b="4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9" name="文本框 8"/>
              <p:cNvSpPr txBox="1"/>
              <p:nvPr>
                <p:custDataLst>
                  <p:tags r:id="rId6"/>
                </p:custDataLst>
              </p:nvPr>
            </p:nvSpPr>
            <p:spPr>
              <a:xfrm>
                <a:off x="3866339" y="1766133"/>
                <a:ext cx="1715726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800" b="1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𝑵</m:t>
                      </m:r>
                      <m:r>
                        <a:rPr lang="en-US" altLang="zh-CN" sz="2800" b="1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(−</m:t>
                      </m:r>
                      <m:r>
                        <a:rPr lang="en-US" altLang="zh-CN" sz="2800" b="1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𝟕</m:t>
                      </m:r>
                      <m:r>
                        <a:rPr lang="en-US" altLang="zh-CN" sz="2800" b="1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altLang="zh-CN" sz="2800" b="1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𝟐𝟓</m:t>
                      </m:r>
                      <m:r>
                        <a:rPr lang="en-US" altLang="zh-CN" sz="2800" b="1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zh-CN" altLang="en-US" sz="2800" b="1" dirty="0">
                  <a:solidFill>
                    <a:srgbClr val="002060"/>
                  </a:solidFill>
                </a:endParaRPr>
              </a:p>
            </p:txBody>
          </p:sp>
        </mc:Choice>
        <mc:Fallback>
          <p:sp>
            <p:nvSpPr>
              <p:cNvPr id="9" name="文本框 8"/>
              <p:cNvSpPr txBox="1">
                <a:spLocks noRot="1" noChangeAspect="1" noMove="1" noResize="1" noEditPoints="1" noAdjustHandles="1" noChangeArrowheads="1" noChangeShapeType="1" noTextEdit="1"/>
              </p:cNvSpPr>
              <p:nvPr>
                <p:custDataLst>
                  <p:tags r:id="rId7"/>
                </p:custDataLst>
              </p:nvPr>
            </p:nvSpPr>
            <p:spPr>
              <a:xfrm>
                <a:off x="3866339" y="1766133"/>
                <a:ext cx="1715726" cy="430887"/>
              </a:xfrm>
              <a:prstGeom prst="rect">
                <a:avLst/>
              </a:prstGeom>
              <a:blipFill rotWithShape="1">
                <a:blip r:embed="rId8"/>
                <a:stretch>
                  <a:fillRect l="-27" t="-46" r="-1752" b="12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文本框 4"/>
          <p:cNvSpPr txBox="1"/>
          <p:nvPr>
            <p:custDataLst>
              <p:tags r:id="rId9"/>
            </p:custDataLst>
          </p:nvPr>
        </p:nvSpPr>
        <p:spPr>
          <a:xfrm>
            <a:off x="215265" y="1239520"/>
            <a:ext cx="4064000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3200" b="1">
                <a:gradFill>
                  <a:gsLst>
                    <a:gs pos="0">
                      <a:srgbClr val="007BD3"/>
                    </a:gs>
                    <a:gs pos="100000">
                      <a:srgbClr val="034373"/>
                    </a:gs>
                  </a:gsLst>
                  <a:lin scaled="0"/>
                </a:gradFill>
              </a:rPr>
              <a:t>练习</a:t>
            </a:r>
            <a:endParaRPr lang="zh-CN" altLang="en-US" sz="3200" b="1">
              <a:gradFill>
                <a:gsLst>
                  <a:gs pos="0">
                    <a:srgbClr val="007BD3"/>
                  </a:gs>
                  <a:gs pos="100000">
                    <a:srgbClr val="034373"/>
                  </a:gs>
                </a:gsLst>
                <a:lin scaled="0"/>
              </a:gra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9" grpId="0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sp>
        <p:nvSpPr>
          <p:cNvPr id="3" name="Rectangle 2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sp>
        <p:nvSpPr>
          <p:cNvPr id="16" name="矩形 15"/>
          <p:cNvSpPr/>
          <p:nvPr/>
        </p:nvSpPr>
        <p:spPr>
          <a:xfrm>
            <a:off x="2229394" y="1229809"/>
            <a:ext cx="6096000" cy="4325223"/>
          </a:xfrm>
          <a:prstGeom prst="rect">
            <a:avLst/>
          </a:prstGeom>
        </p:spPr>
        <p:txBody>
          <a:bodyPr>
            <a:spAutoFit/>
          </a:bodyPr>
          <a:lstStyle/>
          <a:p>
            <a:pPr algn="just">
              <a:lnSpc>
                <a:spcPct val="200000"/>
              </a:lnSpc>
              <a:spcAft>
                <a:spcPts val="0"/>
              </a:spcAft>
            </a:pPr>
            <a:r>
              <a:rPr lang="zh-CN" altLang="zh-CN" sz="3600" b="1" kern="100" dirty="0">
                <a:latin typeface="等线" panose="02010600030101010101" pitchFamily="2" charset="-122"/>
                <a:cs typeface="Times New Roman" panose="02020603050405020304" pitchFamily="18" charset="0"/>
              </a:rPr>
              <a:t>第</a:t>
            </a:r>
            <a:r>
              <a:rPr lang="en-US" altLang="zh-CN" sz="3600" b="1" kern="100" dirty="0">
                <a:latin typeface="等线" panose="02010600030101010101" pitchFamily="2" charset="-122"/>
                <a:cs typeface="Times New Roman" panose="02020603050405020304" pitchFamily="18" charset="0"/>
              </a:rPr>
              <a:t>5</a:t>
            </a:r>
            <a:r>
              <a:rPr lang="zh-CN" altLang="zh-CN" sz="3600" b="1" kern="100" dirty="0">
                <a:latin typeface="等线" panose="02010600030101010101" pitchFamily="2" charset="-122"/>
                <a:cs typeface="Times New Roman" panose="02020603050405020304" pitchFamily="18" charset="0"/>
              </a:rPr>
              <a:t>章</a:t>
            </a:r>
            <a:r>
              <a:rPr lang="en-US" altLang="zh-CN" sz="3600" b="1" kern="100" dirty="0">
                <a:latin typeface="等线" panose="02010600030101010101" pitchFamily="2" charset="-122"/>
                <a:cs typeface="Times New Roman" panose="02020603050405020304" pitchFamily="18" charset="0"/>
              </a:rPr>
              <a:t>  </a:t>
            </a:r>
            <a:r>
              <a:rPr lang="zh-CN" altLang="zh-CN" sz="3600" b="1" kern="100" dirty="0">
                <a:latin typeface="等线" panose="02010600030101010101" pitchFamily="2" charset="-122"/>
                <a:cs typeface="Times New Roman" panose="02020603050405020304" pitchFamily="18" charset="0"/>
              </a:rPr>
              <a:t>随机变量的数字特征</a:t>
            </a:r>
            <a:endParaRPr lang="zh-CN" altLang="zh-CN" sz="3600" b="1" kern="100" dirty="0">
              <a:latin typeface="等线" panose="02010600030101010101" pitchFamily="2" charset="-122"/>
              <a:cs typeface="Times New Roman" panose="02020603050405020304" pitchFamily="18" charset="0"/>
            </a:endParaRPr>
          </a:p>
          <a:p>
            <a:pPr algn="just">
              <a:lnSpc>
                <a:spcPct val="200000"/>
              </a:lnSpc>
              <a:spcAft>
                <a:spcPts val="0"/>
              </a:spcAft>
            </a:pPr>
            <a:r>
              <a:rPr lang="en-US" altLang="zh-CN" sz="3600" b="1" kern="100" dirty="0">
                <a:latin typeface="等线" panose="02010600030101010101" pitchFamily="2" charset="-122"/>
                <a:cs typeface="Times New Roman" panose="02020603050405020304" pitchFamily="18" charset="0"/>
              </a:rPr>
              <a:t>5.1</a:t>
            </a:r>
            <a:r>
              <a:rPr lang="zh-CN" altLang="zh-CN" sz="3600" b="1" kern="100" dirty="0">
                <a:latin typeface="等线" panose="02010600030101010101" pitchFamily="2" charset="-122"/>
                <a:cs typeface="Times New Roman" panose="02020603050405020304" pitchFamily="18" charset="0"/>
              </a:rPr>
              <a:t>随机变量的数学期望</a:t>
            </a:r>
            <a:endParaRPr lang="zh-CN" altLang="zh-CN" sz="3600" b="1" kern="100" dirty="0">
              <a:latin typeface="等线" panose="02010600030101010101" pitchFamily="2" charset="-122"/>
              <a:cs typeface="Times New Roman" panose="02020603050405020304" pitchFamily="18" charset="0"/>
            </a:endParaRPr>
          </a:p>
          <a:p>
            <a:pPr algn="just">
              <a:lnSpc>
                <a:spcPct val="200000"/>
              </a:lnSpc>
              <a:spcAft>
                <a:spcPts val="0"/>
              </a:spcAft>
            </a:pPr>
            <a:r>
              <a:rPr lang="en-US" altLang="zh-CN" sz="3600" b="1" kern="100" dirty="0">
                <a:latin typeface="等线" panose="02010600030101010101" pitchFamily="2" charset="-122"/>
                <a:cs typeface="Times New Roman" panose="02020603050405020304" pitchFamily="18" charset="0"/>
              </a:rPr>
              <a:t>5.2</a:t>
            </a:r>
            <a:r>
              <a:rPr lang="zh-CN" altLang="zh-CN" sz="3600" b="1" kern="100" dirty="0">
                <a:latin typeface="等线" panose="02010600030101010101" pitchFamily="2" charset="-122"/>
                <a:cs typeface="Times New Roman" panose="02020603050405020304" pitchFamily="18" charset="0"/>
              </a:rPr>
              <a:t>随机变量的方差</a:t>
            </a:r>
            <a:endParaRPr lang="zh-CN" altLang="zh-CN" sz="3600" b="1" kern="100" dirty="0">
              <a:latin typeface="等线" panose="02010600030101010101" pitchFamily="2" charset="-122"/>
              <a:cs typeface="Times New Roman" panose="02020603050405020304" pitchFamily="18" charset="0"/>
            </a:endParaRPr>
          </a:p>
          <a:p>
            <a:pPr algn="just">
              <a:lnSpc>
                <a:spcPct val="200000"/>
              </a:lnSpc>
              <a:spcAft>
                <a:spcPts val="0"/>
              </a:spcAft>
            </a:pPr>
            <a:r>
              <a:rPr lang="en-US" altLang="zh-CN" sz="3600" b="1" kern="100" dirty="0">
                <a:latin typeface="等线" panose="02010600030101010101" pitchFamily="2" charset="-122"/>
                <a:cs typeface="Times New Roman" panose="02020603050405020304" pitchFamily="18" charset="0"/>
              </a:rPr>
              <a:t>5.3</a:t>
            </a:r>
            <a:r>
              <a:rPr lang="zh-CN" altLang="zh-CN" sz="3600" b="1" kern="100" dirty="0">
                <a:latin typeface="等线" panose="02010600030101010101" pitchFamily="2" charset="-122"/>
                <a:cs typeface="Times New Roman" panose="02020603050405020304" pitchFamily="18" charset="0"/>
              </a:rPr>
              <a:t>协方差与相关系数</a:t>
            </a:r>
            <a:endParaRPr lang="zh-CN" altLang="zh-CN" sz="3600" b="1" kern="100" dirty="0">
              <a:latin typeface="等线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9" name="文本框 18"/>
          <p:cNvSpPr txBox="1"/>
          <p:nvPr/>
        </p:nvSpPr>
        <p:spPr>
          <a:xfrm>
            <a:off x="7245531" y="3648891"/>
            <a:ext cx="2471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 smtClean="0"/>
              <a:t> </a:t>
            </a:r>
            <a:endParaRPr lang="zh-CN" altLang="en-US" dirty="0"/>
          </a:p>
        </p:txBody>
      </p:sp>
      <p:sp>
        <p:nvSpPr>
          <p:cNvPr id="20" name="文本框 19"/>
          <p:cNvSpPr txBox="1"/>
          <p:nvPr/>
        </p:nvSpPr>
        <p:spPr>
          <a:xfrm>
            <a:off x="6766560" y="3835343"/>
            <a:ext cx="1989647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4000" b="1" dirty="0" smtClean="0"/>
              <a:t>P157 </a:t>
            </a:r>
            <a:r>
              <a:rPr lang="zh-CN" altLang="en-US" sz="4000" b="1" dirty="0" smtClean="0"/>
              <a:t>表</a:t>
            </a:r>
            <a:endParaRPr lang="zh-CN" altLang="en-US" sz="4000" b="1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20" grpId="0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文本框 3"/>
          <p:cNvSpPr txBox="1"/>
          <p:nvPr/>
        </p:nvSpPr>
        <p:spPr>
          <a:xfrm>
            <a:off x="1331595" y="850265"/>
            <a:ext cx="6096000" cy="5835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zh-CN" sz="3200" b="1" kern="100" dirty="0">
                <a:latin typeface="等线" panose="02010600030101010101" pitchFamily="2" charset="-122"/>
                <a:cs typeface="Times New Roman" panose="02020603050405020304" pitchFamily="18" charset="0"/>
                <a:sym typeface="+mn-ea"/>
              </a:rPr>
              <a:t>5.1 </a:t>
            </a:r>
            <a:r>
              <a:rPr lang="zh-CN" altLang="zh-CN" sz="3200" b="1" kern="100" dirty="0">
                <a:latin typeface="等线" panose="02010600030101010101" pitchFamily="2" charset="-122"/>
                <a:cs typeface="Times New Roman" panose="02020603050405020304" pitchFamily="18" charset="0"/>
                <a:sym typeface="+mn-ea"/>
              </a:rPr>
              <a:t>随机变量的数学期望</a:t>
            </a:r>
            <a:endParaRPr lang="zh-CN" altLang="zh-CN" sz="3200" b="1" kern="100" dirty="0">
              <a:latin typeface="等线" panose="02010600030101010101" pitchFamily="2" charset="-122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323975" y="1677035"/>
            <a:ext cx="406400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800" b="1"/>
              <a:t>（</a:t>
            </a:r>
            <a:r>
              <a:rPr lang="en-US" altLang="zh-CN" sz="2800" b="1"/>
              <a:t>1</a:t>
            </a:r>
            <a:r>
              <a:rPr lang="zh-CN" altLang="en-US" sz="2800" b="1"/>
              <a:t>）离散型</a:t>
            </a:r>
            <a:endParaRPr lang="zh-CN" altLang="en-US" sz="2800" b="1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文本框 2"/>
              <p:cNvSpPr txBox="1"/>
              <p:nvPr/>
            </p:nvSpPr>
            <p:spPr>
              <a:xfrm>
                <a:off x="1948751" y="2217991"/>
                <a:ext cx="4276090" cy="521970"/>
              </a:xfrm>
              <a:prstGeom prst="rect">
                <a:avLst/>
              </a:prstGeom>
              <a:noFill/>
            </p:spPr>
            <p:txBody>
              <a:bodyPr wrap="none" rtlCol="0" anchor="t">
                <a:spAutoFit/>
              </a:bodyPr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800" b="1" i="1">
                          <a:latin typeface="Cambria Math" panose="02040503050406030204" pitchFamily="18" charset="0"/>
                          <a:cs typeface="Cambria Math" panose="02040503050406030204" pitchFamily="18" charset="0"/>
                        </a:rPr>
                        <m:t>𝑷</m:t>
                      </m:r>
                      <m:r>
                        <a:rPr lang="en-US" altLang="zh-CN" sz="2800" b="1" i="1">
                          <a:latin typeface="Cambria Math" panose="02040503050406030204" pitchFamily="18" charset="0"/>
                          <a:cs typeface="Cambria Math" panose="02040503050406030204" pitchFamily="18" charset="0"/>
                        </a:rPr>
                        <m:t>(</m:t>
                      </m:r>
                      <m:r>
                        <a:rPr lang="en-US" altLang="zh-CN" sz="2800" b="1" i="1">
                          <a:latin typeface="Cambria Math" panose="02040503050406030204" pitchFamily="18" charset="0"/>
                          <a:cs typeface="Cambria Math" panose="02040503050406030204" pitchFamily="18" charset="0"/>
                        </a:rPr>
                        <m:t>𝑿</m:t>
                      </m:r>
                      <m:r>
                        <a:rPr lang="en-US" altLang="zh-CN" sz="2800" b="1" i="1">
                          <a:latin typeface="Cambria Math" panose="02040503050406030204" pitchFamily="18" charset="0"/>
                          <a:cs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altLang="zh-CN" sz="2800" b="1" i="1">
                              <a:latin typeface="Cambria Math" panose="02040503050406030204" pitchFamily="18" charset="0"/>
                              <a:cs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800" b="1" i="1">
                              <a:latin typeface="Cambria Math" panose="02040503050406030204" pitchFamily="18" charset="0"/>
                              <a:cs typeface="Cambria Math" panose="02040503050406030204" pitchFamily="18" charset="0"/>
                            </a:rPr>
                            <m:t>𝒙</m:t>
                          </m:r>
                        </m:e>
                        <m:sub>
                          <m:r>
                            <a:rPr lang="en-US" altLang="zh-CN" sz="2800" b="1" i="1">
                              <a:latin typeface="Cambria Math" panose="02040503050406030204" pitchFamily="18" charset="0"/>
                              <a:cs typeface="Cambria Math" panose="02040503050406030204" pitchFamily="18" charset="0"/>
                            </a:rPr>
                            <m:t>𝒌</m:t>
                          </m:r>
                        </m:sub>
                      </m:sSub>
                      <m:r>
                        <a:rPr lang="en-US" altLang="zh-CN" sz="2800" b="1" i="1">
                          <a:latin typeface="Cambria Math" panose="02040503050406030204" pitchFamily="18" charset="0"/>
                          <a:cs typeface="Cambria Math" panose="02040503050406030204" pitchFamily="18" charset="0"/>
                        </a:rPr>
                        <m:t>)=</m:t>
                      </m:r>
                      <m:sSub>
                        <m:sSubPr>
                          <m:ctrlPr>
                            <a:rPr lang="en-US" altLang="zh-CN" sz="2800" b="1" i="1">
                              <a:latin typeface="Cambria Math" panose="02040503050406030204" pitchFamily="18" charset="0"/>
                              <a:cs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800" b="1" i="1">
                              <a:latin typeface="Cambria Math" panose="02040503050406030204" pitchFamily="18" charset="0"/>
                              <a:cs typeface="Cambria Math" panose="02040503050406030204" pitchFamily="18" charset="0"/>
                            </a:rPr>
                            <m:t>𝒑</m:t>
                          </m:r>
                        </m:e>
                        <m:sub>
                          <m:r>
                            <a:rPr lang="en-US" altLang="zh-CN" sz="2800" b="1" i="1">
                              <a:latin typeface="Cambria Math" panose="02040503050406030204" pitchFamily="18" charset="0"/>
                              <a:cs typeface="Cambria Math" panose="02040503050406030204" pitchFamily="18" charset="0"/>
                            </a:rPr>
                            <m:t>𝒌</m:t>
                          </m:r>
                        </m:sub>
                      </m:sSub>
                      <m:r>
                        <a:rPr lang="en-US" altLang="zh-CN" sz="2800" b="1" i="1">
                          <a:latin typeface="Cambria Math" panose="02040503050406030204" pitchFamily="18" charset="0"/>
                          <a:cs typeface="Cambria Math" panose="02040503050406030204" pitchFamily="18" charset="0"/>
                        </a:rPr>
                        <m:t>,</m:t>
                      </m:r>
                      <m:r>
                        <a:rPr lang="en-US" altLang="zh-CN" sz="2800" b="1" i="1">
                          <a:latin typeface="Cambria Math" panose="02040503050406030204" pitchFamily="18" charset="0"/>
                          <a:cs typeface="Cambria Math" panose="02040503050406030204" pitchFamily="18" charset="0"/>
                        </a:rPr>
                        <m:t>𝒌</m:t>
                      </m:r>
                      <m:r>
                        <a:rPr lang="en-US" altLang="zh-CN" sz="2800" b="1" i="1">
                          <a:latin typeface="Cambria Math" panose="02040503050406030204" pitchFamily="18" charset="0"/>
                          <a:cs typeface="Cambria Math" panose="02040503050406030204" pitchFamily="18" charset="0"/>
                        </a:rPr>
                        <m:t>=</m:t>
                      </m:r>
                      <m:r>
                        <a:rPr lang="en-US" altLang="zh-CN" sz="2800" b="1" i="1">
                          <a:latin typeface="Cambria Math" panose="02040503050406030204" pitchFamily="18" charset="0"/>
                          <a:cs typeface="Cambria Math" panose="02040503050406030204" pitchFamily="18" charset="0"/>
                        </a:rPr>
                        <m:t>𝟏</m:t>
                      </m:r>
                      <m:r>
                        <a:rPr lang="en-US" altLang="zh-CN" sz="2800" b="1" i="1">
                          <a:latin typeface="Cambria Math" panose="02040503050406030204" pitchFamily="18" charset="0"/>
                          <a:cs typeface="Cambria Math" panose="02040503050406030204" pitchFamily="18" charset="0"/>
                        </a:rPr>
                        <m:t>,</m:t>
                      </m:r>
                      <m:r>
                        <a:rPr lang="en-US" altLang="zh-CN" sz="2800" b="1" i="1">
                          <a:latin typeface="Cambria Math" panose="02040503050406030204" pitchFamily="18" charset="0"/>
                          <a:cs typeface="Cambria Math" panose="02040503050406030204" pitchFamily="18" charset="0"/>
                        </a:rPr>
                        <m:t>𝟐</m:t>
                      </m:r>
                      <m:r>
                        <a:rPr lang="en-US" altLang="zh-CN" sz="2800" b="1" i="1">
                          <a:latin typeface="Cambria Math" panose="02040503050406030204" pitchFamily="18" charset="0"/>
                          <a:cs typeface="Cambria Math" panose="02040503050406030204" pitchFamily="18" charset="0"/>
                        </a:rPr>
                        <m:t>,</m:t>
                      </m:r>
                      <m:r>
                        <a:rPr lang="en-US" altLang="zh-CN" sz="2800" b="1" i="1">
                          <a:latin typeface="Cambria Math" panose="02040503050406030204" pitchFamily="18" charset="0"/>
                          <a:cs typeface="Cambria Math" panose="02040503050406030204" pitchFamily="18" charset="0"/>
                        </a:rPr>
                        <m:t>⋯</m:t>
                      </m:r>
                    </m:oMath>
                  </m:oMathPara>
                </a14:m>
                <a:endParaRPr lang="zh-CN" altLang="en-US" sz="2800" b="1"/>
              </a:p>
            </p:txBody>
          </p:sp>
        </mc:Choice>
        <mc:Fallback>
          <p:sp>
            <p:nvSpPr>
              <p:cNvPr id="3" name="文本框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48751" y="2217991"/>
                <a:ext cx="4276090" cy="521970"/>
              </a:xfrm>
              <a:prstGeom prst="rect">
                <a:avLst/>
              </a:prstGeom>
              <a:blipFill rotWithShape="1">
                <a:blip r:embed="rId1"/>
                <a:stretch>
                  <a:fillRect l="-13" t="-109" r="-4531" b="10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" name="文本框 4"/>
              <p:cNvSpPr txBox="1"/>
              <p:nvPr/>
            </p:nvSpPr>
            <p:spPr>
              <a:xfrm>
                <a:off x="2020506" y="2635186"/>
                <a:ext cx="2351405" cy="1267460"/>
              </a:xfrm>
              <a:prstGeom prst="rect">
                <a:avLst/>
              </a:prstGeom>
              <a:noFill/>
            </p:spPr>
            <p:txBody>
              <a:bodyPr wrap="none" rtlCol="0" anchor="t">
                <a:spAutoFit/>
              </a:bodyPr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800" b="1" i="1">
                          <a:latin typeface="Cambria Math" panose="02040503050406030204" pitchFamily="18" charset="0"/>
                          <a:cs typeface="Cambria Math" panose="02040503050406030204" pitchFamily="18" charset="0"/>
                        </a:rPr>
                        <m:t>𝑬𝑿</m:t>
                      </m:r>
                      <m:r>
                        <a:rPr lang="en-US" altLang="zh-CN" sz="2800" b="1" i="1">
                          <a:latin typeface="Cambria Math" panose="02040503050406030204" pitchFamily="18" charset="0"/>
                          <a:cs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limLoc m:val="undOvr"/>
                          <m:ctrlPr>
                            <a:rPr lang="en-US" altLang="zh-CN" sz="2800" b="1" i="1">
                              <a:latin typeface="Cambria Math" panose="02040503050406030204" pitchFamily="18" charset="0"/>
                              <a:cs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altLang="zh-CN" sz="2800" b="1" i="1">
                              <a:latin typeface="Cambria Math" panose="02040503050406030204" pitchFamily="18" charset="0"/>
                              <a:cs typeface="Cambria Math" panose="02040503050406030204" pitchFamily="18" charset="0"/>
                            </a:rPr>
                            <m:t>𝒌</m:t>
                          </m:r>
                          <m:r>
                            <a:rPr lang="en-US" altLang="zh-CN" sz="2800" b="1" i="1">
                              <a:latin typeface="Cambria Math" panose="02040503050406030204" pitchFamily="18" charset="0"/>
                              <a:cs typeface="Cambria Math" panose="02040503050406030204" pitchFamily="18" charset="0"/>
                            </a:rPr>
                            <m:t>=</m:t>
                          </m:r>
                          <m:r>
                            <a:rPr lang="en-US" altLang="zh-CN" sz="2800" b="1" i="1">
                              <a:latin typeface="Cambria Math" panose="02040503050406030204" pitchFamily="18" charset="0"/>
                              <a:cs typeface="Cambria Math" panose="02040503050406030204" pitchFamily="18" charset="0"/>
                            </a:rPr>
                            <m:t>𝟏</m:t>
                          </m:r>
                        </m:sub>
                        <m:sup>
                          <m:r>
                            <a:rPr lang="en-US" altLang="zh-CN" sz="2800" b="1" i="1">
                              <a:latin typeface="Cambria Math" panose="02040503050406030204" pitchFamily="18" charset="0"/>
                              <a:cs typeface="Cambria Math" panose="02040503050406030204" pitchFamily="18" charset="0"/>
                            </a:rPr>
                            <m:t>∞</m:t>
                          </m:r>
                        </m:sup>
                        <m:e>
                          <m:sSub>
                            <m:sSubPr>
                              <m:ctrlPr>
                                <a:rPr lang="en-US" altLang="zh-CN" sz="2800" b="1" i="1">
                                  <a:latin typeface="Cambria Math" panose="02040503050406030204" pitchFamily="18" charset="0"/>
                                  <a:cs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800" b="1" i="1">
                                  <a:latin typeface="Cambria Math" panose="02040503050406030204" pitchFamily="18" charset="0"/>
                                  <a:cs typeface="Cambria Math" panose="02040503050406030204" pitchFamily="18" charset="0"/>
                                </a:rPr>
                                <m:t>𝒙</m:t>
                              </m:r>
                            </m:e>
                            <m:sub>
                              <m:r>
                                <a:rPr lang="en-US" altLang="zh-CN" sz="2800" b="1" i="1">
                                  <a:latin typeface="Cambria Math" panose="02040503050406030204" pitchFamily="18" charset="0"/>
                                  <a:cs typeface="Cambria Math" panose="02040503050406030204" pitchFamily="18" charset="0"/>
                                </a:rPr>
                                <m:t>𝒌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altLang="zh-CN" sz="2800" b="1" i="1">
                                  <a:latin typeface="Cambria Math" panose="02040503050406030204" pitchFamily="18" charset="0"/>
                                  <a:cs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800" b="1" i="1">
                                  <a:latin typeface="Cambria Math" panose="02040503050406030204" pitchFamily="18" charset="0"/>
                                  <a:cs typeface="Cambria Math" panose="02040503050406030204" pitchFamily="18" charset="0"/>
                                </a:rPr>
                                <m:t>𝒑</m:t>
                              </m:r>
                            </m:e>
                            <m:sub>
                              <m:r>
                                <a:rPr lang="en-US" altLang="zh-CN" sz="2800" b="1" i="1">
                                  <a:latin typeface="Cambria Math" panose="02040503050406030204" pitchFamily="18" charset="0"/>
                                  <a:cs typeface="Cambria Math" panose="02040503050406030204" pitchFamily="18" charset="0"/>
                                </a:rPr>
                                <m:t>𝒌</m:t>
                              </m:r>
                            </m:sub>
                          </m:sSub>
                        </m:e>
                      </m:nary>
                    </m:oMath>
                  </m:oMathPara>
                </a14:m>
                <a:endParaRPr lang="zh-CN" altLang="en-US" sz="2800" b="1"/>
              </a:p>
            </p:txBody>
          </p:sp>
        </mc:Choice>
        <mc:Fallback>
          <p:sp>
            <p:nvSpPr>
              <p:cNvPr id="5" name="文本框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20506" y="2635186"/>
                <a:ext cx="2351405" cy="1267460"/>
              </a:xfrm>
              <a:prstGeom prst="rect">
                <a:avLst/>
              </a:prstGeom>
              <a:blipFill rotWithShape="1">
                <a:blip r:embed="rId2"/>
                <a:stretch>
                  <a:fillRect l="-24" t="-45" r="-3918" b="4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" name="文本框 5"/>
              <p:cNvSpPr txBox="1"/>
              <p:nvPr/>
            </p:nvSpPr>
            <p:spPr>
              <a:xfrm>
                <a:off x="5490210" y="2699385"/>
                <a:ext cx="4077970" cy="1267460"/>
              </a:xfrm>
              <a:prstGeom prst="rect">
                <a:avLst/>
              </a:prstGeom>
              <a:noFill/>
            </p:spPr>
            <p:txBody>
              <a:bodyPr wrap="square" rtlCol="0" anchor="t">
                <a:spAutoFit/>
              </a:bodyPr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800" b="1" i="1">
                          <a:latin typeface="Cambria Math" panose="02040503050406030204" pitchFamily="18" charset="0"/>
                          <a:cs typeface="Cambria Math" panose="02040503050406030204" pitchFamily="18" charset="0"/>
                        </a:rPr>
                        <m:t>𝑬𝒈</m:t>
                      </m:r>
                      <m:r>
                        <a:rPr lang="en-US" altLang="zh-CN" sz="2800" b="1" i="1">
                          <a:latin typeface="Cambria Math" panose="02040503050406030204" pitchFamily="18" charset="0"/>
                          <a:cs typeface="Cambria Math" panose="02040503050406030204" pitchFamily="18" charset="0"/>
                        </a:rPr>
                        <m:t>(</m:t>
                      </m:r>
                      <m:r>
                        <a:rPr lang="en-US" altLang="zh-CN" sz="2800" b="1" i="1">
                          <a:latin typeface="Cambria Math" panose="02040503050406030204" pitchFamily="18" charset="0"/>
                          <a:cs typeface="Cambria Math" panose="02040503050406030204" pitchFamily="18" charset="0"/>
                        </a:rPr>
                        <m:t>𝑿</m:t>
                      </m:r>
                      <m:r>
                        <a:rPr lang="en-US" altLang="zh-CN" sz="2800" b="1" i="1">
                          <a:latin typeface="Cambria Math" panose="02040503050406030204" pitchFamily="18" charset="0"/>
                          <a:cs typeface="Cambria Math" panose="02040503050406030204" pitchFamily="18" charset="0"/>
                        </a:rPr>
                        <m:t>)=</m:t>
                      </m:r>
                      <m:nary>
                        <m:naryPr>
                          <m:chr m:val="∑"/>
                          <m:limLoc m:val="undOvr"/>
                          <m:ctrlPr>
                            <a:rPr lang="en-US" altLang="zh-CN" sz="2800" b="1" i="1">
                              <a:latin typeface="Cambria Math" panose="02040503050406030204" pitchFamily="18" charset="0"/>
                              <a:cs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altLang="zh-CN" sz="2800" b="1" i="1">
                              <a:latin typeface="Cambria Math" panose="02040503050406030204" pitchFamily="18" charset="0"/>
                              <a:cs typeface="Cambria Math" panose="02040503050406030204" pitchFamily="18" charset="0"/>
                            </a:rPr>
                            <m:t>𝒌</m:t>
                          </m:r>
                          <m:r>
                            <a:rPr lang="en-US" altLang="zh-CN" sz="2800" b="1" i="1">
                              <a:latin typeface="Cambria Math" panose="02040503050406030204" pitchFamily="18" charset="0"/>
                              <a:cs typeface="Cambria Math" panose="02040503050406030204" pitchFamily="18" charset="0"/>
                            </a:rPr>
                            <m:t>=</m:t>
                          </m:r>
                          <m:r>
                            <a:rPr lang="en-US" altLang="zh-CN" sz="2800" b="1" i="1">
                              <a:latin typeface="Cambria Math" panose="02040503050406030204" pitchFamily="18" charset="0"/>
                              <a:cs typeface="Cambria Math" panose="02040503050406030204" pitchFamily="18" charset="0"/>
                            </a:rPr>
                            <m:t>𝟏</m:t>
                          </m:r>
                        </m:sub>
                        <m:sup>
                          <m:r>
                            <a:rPr lang="en-US" altLang="zh-CN" sz="2800" b="1" i="1">
                              <a:latin typeface="Cambria Math" panose="02040503050406030204" pitchFamily="18" charset="0"/>
                              <a:cs typeface="Cambria Math" panose="02040503050406030204" pitchFamily="18" charset="0"/>
                            </a:rPr>
                            <m:t>∞</m:t>
                          </m:r>
                        </m:sup>
                        <m:e>
                          <m:sSub>
                            <m:sSubPr>
                              <m:ctrlPr>
                                <a:rPr lang="en-US" altLang="zh-CN" sz="2800" b="1" i="1">
                                  <a:latin typeface="Cambria Math" panose="02040503050406030204" pitchFamily="18" charset="0"/>
                                  <a:cs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800" b="1" i="1">
                                  <a:latin typeface="Cambria Math" panose="02040503050406030204" pitchFamily="18" charset="0"/>
                                  <a:cs typeface="Cambria Math" panose="02040503050406030204" pitchFamily="18" charset="0"/>
                                </a:rPr>
                                <m:t>𝒈</m:t>
                              </m:r>
                              <m:r>
                                <a:rPr lang="en-US" altLang="zh-CN" sz="2800" b="1" i="1">
                                  <a:latin typeface="Cambria Math" panose="02040503050406030204" pitchFamily="18" charset="0"/>
                                  <a:cs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altLang="zh-CN" sz="2800" b="1" i="1">
                                  <a:latin typeface="Cambria Math" panose="02040503050406030204" pitchFamily="18" charset="0"/>
                                  <a:cs typeface="Cambria Math" panose="02040503050406030204" pitchFamily="18" charset="0"/>
                                </a:rPr>
                                <m:t>𝒙</m:t>
                              </m:r>
                            </m:e>
                            <m:sub>
                              <m:r>
                                <a:rPr lang="en-US" altLang="zh-CN" sz="2800" b="1" i="1">
                                  <a:latin typeface="Cambria Math" panose="02040503050406030204" pitchFamily="18" charset="0"/>
                                  <a:cs typeface="Cambria Math" panose="02040503050406030204" pitchFamily="18" charset="0"/>
                                </a:rPr>
                                <m:t>𝒌</m:t>
                              </m:r>
                            </m:sub>
                          </m:sSub>
                          <m:r>
                            <a:rPr lang="en-US" altLang="zh-CN" sz="2800" b="1" i="1">
                              <a:latin typeface="Cambria Math" panose="02040503050406030204" pitchFamily="18" charset="0"/>
                              <a:cs typeface="Cambria Math" panose="02040503050406030204" pitchFamily="18" charset="0"/>
                            </a:rPr>
                            <m:t>)</m:t>
                          </m:r>
                          <m:sSub>
                            <m:sSubPr>
                              <m:ctrlPr>
                                <a:rPr lang="en-US" altLang="zh-CN" sz="2800" b="1" i="1">
                                  <a:latin typeface="Cambria Math" panose="02040503050406030204" pitchFamily="18" charset="0"/>
                                  <a:cs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800" b="1" i="1">
                                  <a:latin typeface="Cambria Math" panose="02040503050406030204" pitchFamily="18" charset="0"/>
                                  <a:cs typeface="Cambria Math" panose="02040503050406030204" pitchFamily="18" charset="0"/>
                                </a:rPr>
                                <m:t>𝒑</m:t>
                              </m:r>
                            </m:e>
                            <m:sub>
                              <m:r>
                                <a:rPr lang="en-US" altLang="zh-CN" sz="2800" b="1" i="1">
                                  <a:latin typeface="Cambria Math" panose="02040503050406030204" pitchFamily="18" charset="0"/>
                                  <a:cs typeface="Cambria Math" panose="02040503050406030204" pitchFamily="18" charset="0"/>
                                </a:rPr>
                                <m:t>𝒌</m:t>
                              </m:r>
                            </m:sub>
                          </m:sSub>
                        </m:e>
                      </m:nary>
                    </m:oMath>
                  </m:oMathPara>
                </a14:m>
                <a:endParaRPr lang="zh-CN" altLang="en-US" sz="2800" b="1"/>
              </a:p>
            </p:txBody>
          </p:sp>
        </mc:Choice>
        <mc:Fallback>
          <p:sp>
            <p:nvSpPr>
              <p:cNvPr id="6" name="文本框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90210" y="2699385"/>
                <a:ext cx="4077970" cy="1267460"/>
              </a:xfrm>
              <a:prstGeom prst="rect">
                <a:avLst/>
              </a:prstGeom>
              <a:blipFill rotWithShape="1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文本框 6"/>
          <p:cNvSpPr txBox="1"/>
          <p:nvPr/>
        </p:nvSpPr>
        <p:spPr>
          <a:xfrm>
            <a:off x="1336675" y="3955415"/>
            <a:ext cx="406400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800" b="1"/>
              <a:t>（</a:t>
            </a:r>
            <a:r>
              <a:rPr lang="en-US" altLang="zh-CN" sz="2800" b="1"/>
              <a:t>2</a:t>
            </a:r>
            <a:r>
              <a:rPr lang="zh-CN" altLang="en-US" sz="2800" b="1"/>
              <a:t>）连续型</a:t>
            </a:r>
            <a:endParaRPr lang="zh-CN" altLang="en-US" sz="2800" b="1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8" name="文本框 7"/>
              <p:cNvSpPr txBox="1"/>
              <p:nvPr/>
            </p:nvSpPr>
            <p:spPr>
              <a:xfrm>
                <a:off x="2075751" y="4591621"/>
                <a:ext cx="1344930" cy="521970"/>
              </a:xfrm>
              <a:prstGeom prst="rect">
                <a:avLst/>
              </a:prstGeom>
              <a:noFill/>
            </p:spPr>
            <p:txBody>
              <a:bodyPr wrap="none" rtlCol="0" anchor="t">
                <a:spAutoFit/>
              </a:bodyPr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800" b="1" i="1">
                          <a:latin typeface="Cambria Math" panose="02040503050406030204" pitchFamily="18" charset="0"/>
                          <a:cs typeface="Cambria Math" panose="02040503050406030204" pitchFamily="18" charset="0"/>
                        </a:rPr>
                        <m:t>𝑿</m:t>
                      </m:r>
                      <m:r>
                        <a:rPr lang="en-US" altLang="zh-CN" sz="2800" b="1" i="1">
                          <a:latin typeface="Cambria Math" panose="02040503050406030204" pitchFamily="18" charset="0"/>
                          <a:cs typeface="Cambria Math" panose="02040503050406030204" pitchFamily="18" charset="0"/>
                        </a:rPr>
                        <m:t>~</m:t>
                      </m:r>
                      <m:r>
                        <a:rPr lang="en-US" altLang="zh-CN" sz="2800" b="1" i="1">
                          <a:latin typeface="Cambria Math" panose="02040503050406030204" pitchFamily="18" charset="0"/>
                          <a:cs typeface="Cambria Math" panose="02040503050406030204" pitchFamily="18" charset="0"/>
                        </a:rPr>
                        <m:t>𝒇</m:t>
                      </m:r>
                      <m:r>
                        <a:rPr lang="en-US" altLang="zh-CN" sz="2800" b="1" i="1">
                          <a:latin typeface="Cambria Math" panose="02040503050406030204" pitchFamily="18" charset="0"/>
                          <a:cs typeface="Cambria Math" panose="02040503050406030204" pitchFamily="18" charset="0"/>
                        </a:rPr>
                        <m:t>(</m:t>
                      </m:r>
                      <m:r>
                        <a:rPr lang="en-US" altLang="zh-CN" sz="2800" b="1" i="1">
                          <a:latin typeface="Cambria Math" panose="02040503050406030204" pitchFamily="18" charset="0"/>
                          <a:cs typeface="Cambria Math" panose="02040503050406030204" pitchFamily="18" charset="0"/>
                        </a:rPr>
                        <m:t>𝒙</m:t>
                      </m:r>
                      <m:r>
                        <a:rPr lang="en-US" altLang="zh-CN" sz="2800" b="1" i="1">
                          <a:latin typeface="Cambria Math" panose="02040503050406030204" pitchFamily="18" charset="0"/>
                          <a:cs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zh-CN" altLang="en-US" sz="2800" b="1"/>
              </a:p>
            </p:txBody>
          </p:sp>
        </mc:Choice>
        <mc:Fallback>
          <p:sp>
            <p:nvSpPr>
              <p:cNvPr id="8" name="文本框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75751" y="4591621"/>
                <a:ext cx="1344930" cy="521970"/>
              </a:xfrm>
              <a:prstGeom prst="rect">
                <a:avLst/>
              </a:prstGeom>
              <a:blipFill rotWithShape="1">
                <a:blip r:embed="rId4"/>
                <a:stretch>
                  <a:fillRect l="-42" t="-109" r="-2507" b="10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9" name="文本框 8"/>
              <p:cNvSpPr txBox="1"/>
              <p:nvPr/>
            </p:nvSpPr>
            <p:spPr>
              <a:xfrm>
                <a:off x="2109406" y="5104066"/>
                <a:ext cx="3173730" cy="1038860"/>
              </a:xfrm>
              <a:prstGeom prst="rect">
                <a:avLst/>
              </a:prstGeom>
              <a:noFill/>
            </p:spPr>
            <p:txBody>
              <a:bodyPr wrap="none" rtlCol="0" anchor="t">
                <a:spAutoFit/>
              </a:bodyPr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800" b="1" i="1">
                          <a:latin typeface="Cambria Math" panose="02040503050406030204" pitchFamily="18" charset="0"/>
                          <a:cs typeface="Cambria Math" panose="02040503050406030204" pitchFamily="18" charset="0"/>
                        </a:rPr>
                        <m:t>𝑬𝑿</m:t>
                      </m:r>
                      <m:r>
                        <a:rPr lang="en-US" altLang="zh-CN" sz="2800" b="1" i="1">
                          <a:latin typeface="Cambria Math" panose="02040503050406030204" pitchFamily="18" charset="0"/>
                          <a:cs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limLoc m:val="subSup"/>
                          <m:ctrlPr>
                            <a:rPr lang="en-US" altLang="zh-CN" sz="2800" b="1" i="1">
                              <a:latin typeface="Cambria Math" panose="02040503050406030204" pitchFamily="18" charset="0"/>
                              <a:cs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altLang="zh-CN" sz="2800" b="1" i="1">
                              <a:latin typeface="Cambria Math" panose="02040503050406030204" pitchFamily="18" charset="0"/>
                              <a:cs typeface="Cambria Math" panose="02040503050406030204" pitchFamily="18" charset="0"/>
                            </a:rPr>
                            <m:t>−</m:t>
                          </m:r>
                          <m:r>
                            <a:rPr lang="en-US" altLang="zh-CN" sz="2800" b="1" i="1">
                              <a:latin typeface="Cambria Math" panose="02040503050406030204" pitchFamily="18" charset="0"/>
                              <a:cs typeface="Cambria Math" panose="02040503050406030204" pitchFamily="18" charset="0"/>
                            </a:rPr>
                            <m:t>∞</m:t>
                          </m:r>
                        </m:sub>
                        <m:sup>
                          <m:r>
                            <a:rPr lang="en-US" altLang="zh-CN" sz="2800" b="1" i="1">
                              <a:latin typeface="Cambria Math" panose="02040503050406030204" pitchFamily="18" charset="0"/>
                              <a:cs typeface="Cambria Math" panose="02040503050406030204" pitchFamily="18" charset="0"/>
                            </a:rPr>
                            <m:t>+</m:t>
                          </m:r>
                          <m:r>
                            <a:rPr lang="en-US" altLang="zh-CN" sz="2800" b="1" i="1">
                              <a:latin typeface="Cambria Math" panose="02040503050406030204" pitchFamily="18" charset="0"/>
                              <a:cs typeface="Cambria Math" panose="02040503050406030204" pitchFamily="18" charset="0"/>
                            </a:rPr>
                            <m:t>∞</m:t>
                          </m:r>
                        </m:sup>
                        <m:e>
                          <m:r>
                            <a:rPr lang="en-US" altLang="zh-CN" sz="2800" b="1" i="1">
                              <a:latin typeface="Cambria Math" panose="02040503050406030204" pitchFamily="18" charset="0"/>
                              <a:cs typeface="Cambria Math" panose="02040503050406030204" pitchFamily="18" charset="0"/>
                            </a:rPr>
                            <m:t>𝒙𝒇</m:t>
                          </m:r>
                          <m:r>
                            <a:rPr lang="en-US" altLang="zh-CN" sz="2800" b="1" i="1">
                              <a:latin typeface="Cambria Math" panose="02040503050406030204" pitchFamily="18" charset="0"/>
                              <a:cs typeface="Cambria Math" panose="02040503050406030204" pitchFamily="18" charset="0"/>
                            </a:rPr>
                            <m:t>(</m:t>
                          </m:r>
                          <m:r>
                            <a:rPr lang="en-US" altLang="zh-CN" sz="2800" b="1" i="1">
                              <a:latin typeface="Cambria Math" panose="02040503050406030204" pitchFamily="18" charset="0"/>
                              <a:cs typeface="Cambria Math" panose="02040503050406030204" pitchFamily="18" charset="0"/>
                            </a:rPr>
                            <m:t>𝒙</m:t>
                          </m:r>
                          <m:r>
                            <a:rPr lang="en-US" altLang="zh-CN" sz="2800" b="1" i="1">
                              <a:latin typeface="Cambria Math" panose="02040503050406030204" pitchFamily="18" charset="0"/>
                              <a:cs typeface="Cambria Math" panose="02040503050406030204" pitchFamily="18" charset="0"/>
                            </a:rPr>
                            <m:t>)</m:t>
                          </m:r>
                        </m:e>
                      </m:nary>
                      <m:r>
                        <a:rPr lang="en-US" altLang="zh-CN" sz="2800" b="1" i="1">
                          <a:latin typeface="Cambria Math" panose="02040503050406030204" pitchFamily="18" charset="0"/>
                          <a:cs typeface="Cambria Math" panose="02040503050406030204" pitchFamily="18" charset="0"/>
                        </a:rPr>
                        <m:t>𝒅𝒙</m:t>
                      </m:r>
                    </m:oMath>
                  </m:oMathPara>
                </a14:m>
                <a:endParaRPr lang="zh-CN" altLang="en-US" sz="2800" b="1"/>
              </a:p>
            </p:txBody>
          </p:sp>
        </mc:Choice>
        <mc:Fallback>
          <p:sp>
            <p:nvSpPr>
              <p:cNvPr id="9" name="文本框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09406" y="5104066"/>
                <a:ext cx="3173730" cy="1038860"/>
              </a:xfrm>
              <a:prstGeom prst="rect">
                <a:avLst/>
              </a:prstGeom>
              <a:blipFill rotWithShape="1">
                <a:blip r:embed="rId5"/>
                <a:stretch>
                  <a:fillRect l="-18" t="-55" r="-3103" b="5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0" name="文本框 9"/>
              <p:cNvSpPr txBox="1"/>
              <p:nvPr/>
            </p:nvSpPr>
            <p:spPr>
              <a:xfrm>
                <a:off x="5769546" y="5130101"/>
                <a:ext cx="4198620" cy="1038860"/>
              </a:xfrm>
              <a:prstGeom prst="rect">
                <a:avLst/>
              </a:prstGeom>
              <a:noFill/>
            </p:spPr>
            <p:txBody>
              <a:bodyPr wrap="none" rtlCol="0" anchor="t">
                <a:spAutoFit/>
              </a:bodyPr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800" b="1" i="1">
                          <a:latin typeface="Cambria Math" panose="02040503050406030204" pitchFamily="18" charset="0"/>
                          <a:cs typeface="Cambria Math" panose="02040503050406030204" pitchFamily="18" charset="0"/>
                        </a:rPr>
                        <m:t>𝑬𝒈</m:t>
                      </m:r>
                      <m:r>
                        <a:rPr lang="en-US" altLang="zh-CN" sz="2800" b="1" i="1">
                          <a:latin typeface="Cambria Math" panose="02040503050406030204" pitchFamily="18" charset="0"/>
                          <a:cs typeface="Cambria Math" panose="02040503050406030204" pitchFamily="18" charset="0"/>
                        </a:rPr>
                        <m:t>(</m:t>
                      </m:r>
                      <m:r>
                        <a:rPr lang="en-US" altLang="zh-CN" sz="2800" b="1" i="1">
                          <a:latin typeface="Cambria Math" panose="02040503050406030204" pitchFamily="18" charset="0"/>
                          <a:cs typeface="Cambria Math" panose="02040503050406030204" pitchFamily="18" charset="0"/>
                        </a:rPr>
                        <m:t>𝑿</m:t>
                      </m:r>
                      <m:r>
                        <a:rPr lang="en-US" altLang="zh-CN" sz="2800" b="1" i="1">
                          <a:latin typeface="Cambria Math" panose="02040503050406030204" pitchFamily="18" charset="0"/>
                          <a:cs typeface="Cambria Math" panose="02040503050406030204" pitchFamily="18" charset="0"/>
                        </a:rPr>
                        <m:t>)=</m:t>
                      </m:r>
                      <m:nary>
                        <m:naryPr>
                          <m:limLoc m:val="subSup"/>
                          <m:ctrlPr>
                            <a:rPr lang="en-US" altLang="zh-CN" sz="2800" b="1" i="1">
                              <a:latin typeface="Cambria Math" panose="02040503050406030204" pitchFamily="18" charset="0"/>
                              <a:cs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altLang="zh-CN" sz="2800" b="1" i="1">
                              <a:latin typeface="Cambria Math" panose="02040503050406030204" pitchFamily="18" charset="0"/>
                              <a:cs typeface="Cambria Math" panose="02040503050406030204" pitchFamily="18" charset="0"/>
                            </a:rPr>
                            <m:t>−∞</m:t>
                          </m:r>
                        </m:sub>
                        <m:sup>
                          <m:r>
                            <a:rPr lang="en-US" altLang="zh-CN" sz="2800" b="1" i="1">
                              <a:latin typeface="Cambria Math" panose="02040503050406030204" pitchFamily="18" charset="0"/>
                              <a:cs typeface="Cambria Math" panose="02040503050406030204" pitchFamily="18" charset="0"/>
                            </a:rPr>
                            <m:t>+∞</m:t>
                          </m:r>
                        </m:sup>
                        <m:e>
                          <m:r>
                            <a:rPr lang="en-US" altLang="zh-CN" sz="2800" b="1" i="1">
                              <a:latin typeface="Cambria Math" panose="02040503050406030204" pitchFamily="18" charset="0"/>
                              <a:cs typeface="Cambria Math" panose="02040503050406030204" pitchFamily="18" charset="0"/>
                            </a:rPr>
                            <m:t>𝒈</m:t>
                          </m:r>
                          <m:r>
                            <a:rPr lang="en-US" altLang="zh-CN" sz="2800" b="1" i="1">
                              <a:latin typeface="Cambria Math" panose="02040503050406030204" pitchFamily="18" charset="0"/>
                              <a:cs typeface="Cambria Math" panose="02040503050406030204" pitchFamily="18" charset="0"/>
                            </a:rPr>
                            <m:t>(</m:t>
                          </m:r>
                          <m:r>
                            <a:rPr lang="en-US" altLang="zh-CN" sz="2800" b="1" i="1">
                              <a:latin typeface="Cambria Math" panose="02040503050406030204" pitchFamily="18" charset="0"/>
                              <a:cs typeface="Cambria Math" panose="02040503050406030204" pitchFamily="18" charset="0"/>
                            </a:rPr>
                            <m:t>𝒙</m:t>
                          </m:r>
                          <m:r>
                            <a:rPr lang="en-US" altLang="zh-CN" sz="2800" b="1" i="1">
                              <a:latin typeface="Cambria Math" panose="02040503050406030204" pitchFamily="18" charset="0"/>
                              <a:cs typeface="Cambria Math" panose="02040503050406030204" pitchFamily="18" charset="0"/>
                            </a:rPr>
                            <m:t>)</m:t>
                          </m:r>
                          <m:r>
                            <a:rPr lang="en-US" altLang="zh-CN" sz="2800" b="1" i="1">
                              <a:latin typeface="Cambria Math" panose="02040503050406030204" pitchFamily="18" charset="0"/>
                              <a:cs typeface="Cambria Math" panose="02040503050406030204" pitchFamily="18" charset="0"/>
                            </a:rPr>
                            <m:t>𝒇</m:t>
                          </m:r>
                          <m:r>
                            <a:rPr lang="en-US" altLang="zh-CN" sz="2800" b="1" i="1">
                              <a:latin typeface="Cambria Math" panose="02040503050406030204" pitchFamily="18" charset="0"/>
                              <a:cs typeface="Cambria Math" panose="02040503050406030204" pitchFamily="18" charset="0"/>
                            </a:rPr>
                            <m:t>(</m:t>
                          </m:r>
                          <m:r>
                            <a:rPr lang="en-US" altLang="zh-CN" sz="2800" b="1" i="1">
                              <a:latin typeface="Cambria Math" panose="02040503050406030204" pitchFamily="18" charset="0"/>
                              <a:cs typeface="Cambria Math" panose="02040503050406030204" pitchFamily="18" charset="0"/>
                            </a:rPr>
                            <m:t>𝒙</m:t>
                          </m:r>
                          <m:r>
                            <a:rPr lang="en-US" altLang="zh-CN" sz="2800" b="1" i="1">
                              <a:latin typeface="Cambria Math" panose="02040503050406030204" pitchFamily="18" charset="0"/>
                              <a:cs typeface="Cambria Math" panose="02040503050406030204" pitchFamily="18" charset="0"/>
                            </a:rPr>
                            <m:t>)</m:t>
                          </m:r>
                        </m:e>
                      </m:nary>
                      <m:r>
                        <a:rPr lang="en-US" altLang="zh-CN" sz="2800" b="1" i="1">
                          <a:latin typeface="Cambria Math" panose="02040503050406030204" pitchFamily="18" charset="0"/>
                          <a:cs typeface="Cambria Math" panose="02040503050406030204" pitchFamily="18" charset="0"/>
                        </a:rPr>
                        <m:t>𝒅𝒙</m:t>
                      </m:r>
                    </m:oMath>
                  </m:oMathPara>
                </a14:m>
                <a:endParaRPr lang="zh-CN" altLang="en-US" sz="2800" b="1"/>
              </a:p>
            </p:txBody>
          </p:sp>
        </mc:Choice>
        <mc:Fallback>
          <p:sp>
            <p:nvSpPr>
              <p:cNvPr id="10" name="文本框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69546" y="5130101"/>
                <a:ext cx="4198620" cy="1038860"/>
              </a:xfrm>
              <a:prstGeom prst="rect">
                <a:avLst/>
              </a:prstGeom>
              <a:blipFill rotWithShape="1">
                <a:blip r:embed="rId6"/>
                <a:stretch>
                  <a:fillRect l="-14" t="-55" r="-3435" b="5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2" grpId="0"/>
      <p:bldP spid="3" grpId="0"/>
      <p:bldP spid="5" grpId="0"/>
      <p:bldP spid="6" grpId="0"/>
      <p:bldP spid="7" grpId="0"/>
      <p:bldP spid="8" grpId="0"/>
      <p:bldP spid="9" grpId="0"/>
      <p:bldP spid="10" grpId="0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文本框 3"/>
          <p:cNvSpPr txBox="1"/>
          <p:nvPr/>
        </p:nvSpPr>
        <p:spPr>
          <a:xfrm>
            <a:off x="1166495" y="714375"/>
            <a:ext cx="595630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800" b="1"/>
              <a:t>六个常见分布的数学期望</a:t>
            </a:r>
            <a:endParaRPr lang="zh-CN" altLang="en-US" sz="2800" b="1"/>
          </a:p>
        </p:txBody>
      </p:sp>
      <p:sp>
        <p:nvSpPr>
          <p:cNvPr id="5" name="文本框 4"/>
          <p:cNvSpPr txBox="1"/>
          <p:nvPr/>
        </p:nvSpPr>
        <p:spPr>
          <a:xfrm>
            <a:off x="1166495" y="1447165"/>
            <a:ext cx="595630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800" b="1"/>
              <a:t>性质：</a:t>
            </a:r>
            <a:endParaRPr lang="zh-CN" altLang="en-US" sz="2800" b="1"/>
          </a:p>
        </p:txBody>
      </p:sp>
      <p:grpSp>
        <p:nvGrpSpPr>
          <p:cNvPr id="6" name="Group 22"/>
          <p:cNvGrpSpPr/>
          <p:nvPr/>
        </p:nvGrpSpPr>
        <p:grpSpPr>
          <a:xfrm>
            <a:off x="2523808" y="4064000"/>
            <a:ext cx="5283200" cy="561975"/>
            <a:chOff x="323" y="2614"/>
            <a:chExt cx="3328" cy="354"/>
          </a:xfrm>
        </p:grpSpPr>
        <p:graphicFrame>
          <p:nvGraphicFramePr>
            <p:cNvPr id="26640" name="Object 9"/>
            <p:cNvGraphicFramePr>
              <a:graphicFrameLocks noChangeAspect="1"/>
            </p:cNvGraphicFramePr>
            <p:nvPr>
              <p:custDataLst>
                <p:tags r:id="rId1"/>
              </p:custDataLst>
            </p:nvPr>
          </p:nvGraphicFramePr>
          <p:xfrm>
            <a:off x="1882" y="2614"/>
            <a:ext cx="590" cy="35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40" name="" r:id="rId2" imgW="330200" imgH="203200" progId="Equation.DSMT4">
                    <p:embed/>
                  </p:oleObj>
                </mc:Choice>
                <mc:Fallback>
                  <p:oleObj name="" r:id="rId2" imgW="330200" imgH="203200" progId="Equation.DSMT4">
                    <p:embed/>
                    <p:pic>
                      <p:nvPicPr>
                        <p:cNvPr id="0" name="图片 3139"/>
                        <p:cNvPicPr/>
                        <p:nvPr/>
                      </p:nvPicPr>
                      <p:blipFill>
                        <a:blip r:embed="rId3"/>
                        <a:stretch>
                          <a:fillRect/>
                        </a:stretch>
                      </p:blipFill>
                      <p:spPr>
                        <a:xfrm>
                          <a:off x="1882" y="2614"/>
                          <a:ext cx="590" cy="354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6641" name="Rectangle 10"/>
            <p:cNvSpPr/>
            <p:nvPr>
              <p:custDataLst>
                <p:tags r:id="rId4"/>
              </p:custDataLst>
            </p:nvPr>
          </p:nvSpPr>
          <p:spPr>
            <a:xfrm>
              <a:off x="2410" y="2614"/>
              <a:ext cx="1241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>
              <a:lvl1pPr marL="469900" indent="-469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o"/>
                <a:defRPr sz="3000" b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08050" indent="-43688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n"/>
                <a:defRPr sz="26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304925" indent="-395605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o"/>
                <a:defRPr sz="23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94180" indent="-3873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94230" indent="-398780" algn="l" rtl="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469900" lvl="0" indent="-469900" eaLnBrk="1" hangingPunct="1">
                <a:spcBef>
                  <a:spcPct val="50000"/>
                </a:spcBef>
                <a:buNone/>
              </a:pPr>
              <a:r>
                <a:rPr lang="zh-CN" altLang="en-US" sz="2800" b="1" dirty="0">
                  <a:solidFill>
                    <a:srgbClr val="FF0000"/>
                  </a:solidFill>
                </a:rPr>
                <a:t>相互独立时</a:t>
              </a:r>
              <a:endParaRPr lang="zh-CN" altLang="en-US" sz="2800" b="1" dirty="0">
                <a:solidFill>
                  <a:srgbClr val="FF0000"/>
                </a:solidFill>
              </a:endParaRPr>
            </a:p>
          </p:txBody>
        </p:sp>
        <p:sp>
          <p:nvSpPr>
            <p:cNvPr id="26642" name="Rectangle 11"/>
            <p:cNvSpPr/>
            <p:nvPr>
              <p:custDataLst>
                <p:tags r:id="rId5"/>
              </p:custDataLst>
            </p:nvPr>
          </p:nvSpPr>
          <p:spPr>
            <a:xfrm>
              <a:off x="323" y="2614"/>
              <a:ext cx="1691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>
              <a:lvl1pPr marL="469900" indent="-469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o"/>
                <a:defRPr sz="3000" b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08050" indent="-43688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n"/>
                <a:defRPr sz="26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304925" indent="-395605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o"/>
                <a:defRPr sz="23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94180" indent="-3873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94230" indent="-398780" algn="l" rtl="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469900" lvl="0" indent="-469900" eaLnBrk="1" hangingPunct="1">
                <a:spcBef>
                  <a:spcPct val="50000"/>
                </a:spcBef>
                <a:buFont typeface="Wingdings" panose="05000000000000000000" pitchFamily="2" charset="2"/>
                <a:buChar char="u"/>
              </a:pPr>
              <a:r>
                <a:rPr lang="zh-CN" altLang="en-US" sz="2800" b="1" dirty="0"/>
                <a:t>当随机变量  </a:t>
              </a:r>
              <a:endParaRPr lang="zh-CN" altLang="en-US" sz="2800" b="1" dirty="0"/>
            </a:p>
          </p:txBody>
        </p:sp>
      </p:grpSp>
      <p:graphicFrame>
        <p:nvGraphicFramePr>
          <p:cNvPr id="66572" name="Object 12"/>
          <p:cNvGraphicFramePr>
            <a:graphicFrameLocks noChangeAspect="1"/>
          </p:cNvGraphicFramePr>
          <p:nvPr>
            <p:custDataLst>
              <p:tags r:id="rId6"/>
            </p:custDataLst>
          </p:nvPr>
        </p:nvGraphicFramePr>
        <p:xfrm>
          <a:off x="4363085" y="4872990"/>
          <a:ext cx="3744913" cy="577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41" name="" r:id="rId7" imgW="781050" imgH="115570" progId="Equation.DSMT4">
                  <p:embed/>
                </p:oleObj>
              </mc:Choice>
              <mc:Fallback>
                <p:oleObj name="" r:id="rId7" imgW="781050" imgH="115570" progId="Equation.DSMT4">
                  <p:embed/>
                  <p:pic>
                    <p:nvPicPr>
                      <p:cNvPr id="0" name="图片 3140"/>
                      <p:cNvPicPr/>
                      <p:nvPr/>
                    </p:nvPicPr>
                    <p:blipFill>
                      <a:blip r:embed="rId8">
                        <a:clrChange>
                          <a:clrFrom>
                            <a:srgbClr val="000000"/>
                          </a:clrFrom>
                          <a:clrTo>
                            <a:srgbClr val="CC0000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4363085" y="4872990"/>
                        <a:ext cx="3744913" cy="57785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7" name="Group 19"/>
          <p:cNvGrpSpPr/>
          <p:nvPr/>
        </p:nvGrpSpPr>
        <p:grpSpPr>
          <a:xfrm>
            <a:off x="2524125" y="1447165"/>
            <a:ext cx="5399088" cy="563563"/>
            <a:chOff x="340" y="754"/>
            <a:chExt cx="3401" cy="355"/>
          </a:xfrm>
        </p:grpSpPr>
        <p:graphicFrame>
          <p:nvGraphicFramePr>
            <p:cNvPr id="26637" name="Object 3"/>
            <p:cNvGraphicFramePr>
              <a:graphicFrameLocks noChangeAspect="1"/>
            </p:cNvGraphicFramePr>
            <p:nvPr>
              <p:custDataLst>
                <p:tags r:id="rId9"/>
              </p:custDataLst>
            </p:nvPr>
          </p:nvGraphicFramePr>
          <p:xfrm>
            <a:off x="845" y="754"/>
            <a:ext cx="1134" cy="35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42" name="" r:id="rId10" imgW="635000" imgH="203200" progId="Equation.DSMT4">
                    <p:embed/>
                  </p:oleObj>
                </mc:Choice>
                <mc:Fallback>
                  <p:oleObj name="" r:id="rId10" imgW="635000" imgH="203200" progId="Equation.DSMT4">
                    <p:embed/>
                    <p:pic>
                      <p:nvPicPr>
                        <p:cNvPr id="0" name="图片 3141"/>
                        <p:cNvPicPr/>
                        <p:nvPr/>
                      </p:nvPicPr>
                      <p:blipFill>
                        <a:blip r:embed="rId11"/>
                        <a:stretch>
                          <a:fillRect/>
                        </a:stretch>
                      </p:blipFill>
                      <p:spPr>
                        <a:xfrm>
                          <a:off x="845" y="754"/>
                          <a:ext cx="1134" cy="355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6638" name="Rectangle 4"/>
            <p:cNvSpPr/>
            <p:nvPr>
              <p:custDataLst>
                <p:tags r:id="rId12"/>
              </p:custDataLst>
            </p:nvPr>
          </p:nvSpPr>
          <p:spPr>
            <a:xfrm>
              <a:off x="340" y="754"/>
              <a:ext cx="493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>
              <a:lvl1pPr marL="469900" indent="-469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o"/>
                <a:defRPr sz="3000" b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08050" indent="-43688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n"/>
                <a:defRPr sz="26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304925" indent="-395605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o"/>
                <a:defRPr sz="23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94180" indent="-3873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94230" indent="-398780" algn="l" rtl="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469900" lvl="0" indent="-469900" eaLnBrk="1" hangingPunct="1">
                <a:spcBef>
                  <a:spcPct val="50000"/>
                </a:spcBef>
                <a:buFont typeface="Wingdings" panose="05000000000000000000" pitchFamily="2" charset="2"/>
                <a:buChar char="u"/>
              </a:pPr>
              <a:r>
                <a:rPr lang="en-US" altLang="zh-CN" sz="2800" b="1" dirty="0"/>
                <a:t>.</a:t>
              </a:r>
              <a:endParaRPr lang="en-US" altLang="zh-CN" sz="2800" b="1" dirty="0"/>
            </a:p>
          </p:txBody>
        </p:sp>
        <p:sp>
          <p:nvSpPr>
            <p:cNvPr id="26639" name="Rectangle 13"/>
            <p:cNvSpPr/>
            <p:nvPr>
              <p:custDataLst>
                <p:tags r:id="rId13"/>
              </p:custDataLst>
            </p:nvPr>
          </p:nvSpPr>
          <p:spPr>
            <a:xfrm>
              <a:off x="1977" y="778"/>
              <a:ext cx="1764" cy="300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none" lIns="90000" tIns="46800" rIns="90000" bIns="46800" anchor="t" anchorCtr="1">
              <a:spAutoFit/>
            </a:bodyPr>
            <a:lstStyle>
              <a:lvl1pPr marL="469900" indent="-469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o"/>
                <a:defRPr sz="3000" b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08050" indent="-43688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n"/>
                <a:defRPr sz="26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304925" indent="-395605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o"/>
                <a:defRPr sz="23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94180" indent="-3873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94230" indent="-398780" algn="l" rtl="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908050" lvl="0" indent="-436245" eaLnBrk="1" hangingPunct="1">
                <a:lnSpc>
                  <a:spcPct val="90000"/>
                </a:lnSpc>
                <a:spcBef>
                  <a:spcPct val="50000"/>
                </a:spcBef>
                <a:buNone/>
              </a:pPr>
              <a:r>
                <a:rPr lang="en-US" altLang="zh-CN" sz="2800" b="1" dirty="0">
                  <a:latin typeface="宋体" panose="02010600030101010101" pitchFamily="2" charset="-122"/>
                </a:rPr>
                <a:t>C </a:t>
              </a:r>
              <a:r>
                <a:rPr lang="zh-CN" altLang="en-US" sz="2800" b="1" dirty="0">
                  <a:latin typeface="宋体" panose="02010600030101010101" pitchFamily="2" charset="-122"/>
                </a:rPr>
                <a:t>为</a:t>
              </a:r>
              <a:r>
                <a:rPr lang="zh-CN" altLang="en-US" sz="2800" b="1" dirty="0">
                  <a:latin typeface="宋体" panose="02010600030101010101" pitchFamily="2" charset="-122"/>
                </a:rPr>
                <a:t>常数    </a:t>
              </a:r>
              <a:endParaRPr lang="zh-CN" altLang="en-US" sz="2800" b="1" dirty="0">
                <a:latin typeface="宋体" panose="02010600030101010101" pitchFamily="2" charset="-122"/>
              </a:endParaRPr>
            </a:p>
          </p:txBody>
        </p:sp>
      </p:grpSp>
      <p:grpSp>
        <p:nvGrpSpPr>
          <p:cNvPr id="8" name="Group 20"/>
          <p:cNvGrpSpPr/>
          <p:nvPr/>
        </p:nvGrpSpPr>
        <p:grpSpPr>
          <a:xfrm>
            <a:off x="2524125" y="2116455"/>
            <a:ext cx="3835400" cy="549275"/>
            <a:chOff x="340" y="1344"/>
            <a:chExt cx="2416" cy="346"/>
          </a:xfrm>
        </p:grpSpPr>
        <p:graphicFrame>
          <p:nvGraphicFramePr>
            <p:cNvPr id="26635" name="Object 5"/>
            <p:cNvGraphicFramePr>
              <a:graphicFrameLocks noChangeAspect="1"/>
            </p:cNvGraphicFramePr>
            <p:nvPr>
              <p:custDataLst>
                <p:tags r:id="rId14"/>
              </p:custDataLst>
            </p:nvPr>
          </p:nvGraphicFramePr>
          <p:xfrm>
            <a:off x="866" y="1344"/>
            <a:ext cx="1890" cy="34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79" name="" r:id="rId15" imgW="1078865" imgH="203200" progId="Equation.DSMT4">
                    <p:embed/>
                  </p:oleObj>
                </mc:Choice>
                <mc:Fallback>
                  <p:oleObj name="" r:id="rId15" imgW="1078865" imgH="203200" progId="Equation.DSMT4">
                    <p:embed/>
                    <p:pic>
                      <p:nvPicPr>
                        <p:cNvPr id="0" name="图片 3078"/>
                        <p:cNvPicPr/>
                        <p:nvPr/>
                      </p:nvPicPr>
                      <p:blipFill>
                        <a:blip r:embed="rId16"/>
                        <a:stretch>
                          <a:fillRect/>
                        </a:stretch>
                      </p:blipFill>
                      <p:spPr>
                        <a:xfrm>
                          <a:off x="866" y="1344"/>
                          <a:ext cx="1890" cy="346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6636" name="Rectangle 14"/>
            <p:cNvSpPr/>
            <p:nvPr>
              <p:custDataLst>
                <p:tags r:id="rId17"/>
              </p:custDataLst>
            </p:nvPr>
          </p:nvSpPr>
          <p:spPr>
            <a:xfrm>
              <a:off x="340" y="1344"/>
              <a:ext cx="493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>
              <a:lvl1pPr marL="469900" indent="-469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o"/>
                <a:defRPr sz="3000" b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08050" indent="-43688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n"/>
                <a:defRPr sz="26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304925" indent="-395605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o"/>
                <a:defRPr sz="23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94180" indent="-3873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94230" indent="-398780" algn="l" rtl="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469900" lvl="0" indent="-469900" eaLnBrk="1" hangingPunct="1">
                <a:spcBef>
                  <a:spcPct val="50000"/>
                </a:spcBef>
                <a:buFont typeface="Wingdings" panose="05000000000000000000" pitchFamily="2" charset="2"/>
                <a:buChar char="u"/>
              </a:pPr>
              <a:r>
                <a:rPr lang="en-US" altLang="zh-CN" sz="2800" b="1" dirty="0"/>
                <a:t>.</a:t>
              </a:r>
              <a:endParaRPr lang="en-US" altLang="zh-CN" sz="2800" b="1" dirty="0"/>
            </a:p>
          </p:txBody>
        </p:sp>
      </p:grpSp>
      <p:grpSp>
        <p:nvGrpSpPr>
          <p:cNvPr id="9" name="Group 21"/>
          <p:cNvGrpSpPr/>
          <p:nvPr/>
        </p:nvGrpSpPr>
        <p:grpSpPr>
          <a:xfrm>
            <a:off x="2524125" y="2982278"/>
            <a:ext cx="5822950" cy="630237"/>
            <a:chOff x="340" y="1933"/>
            <a:chExt cx="3668" cy="397"/>
          </a:xfrm>
        </p:grpSpPr>
        <p:graphicFrame>
          <p:nvGraphicFramePr>
            <p:cNvPr id="26633" name="Object 7"/>
            <p:cNvGraphicFramePr>
              <a:graphicFrameLocks noChangeAspect="1"/>
            </p:cNvGraphicFramePr>
            <p:nvPr>
              <p:custDataLst>
                <p:tags r:id="rId18"/>
              </p:custDataLst>
            </p:nvPr>
          </p:nvGraphicFramePr>
          <p:xfrm>
            <a:off x="833" y="1933"/>
            <a:ext cx="3175" cy="39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82" name="" r:id="rId19" imgW="1600200" imgH="203200" progId="Equation.DSMT4">
                    <p:embed/>
                  </p:oleObj>
                </mc:Choice>
                <mc:Fallback>
                  <p:oleObj name="" r:id="rId19" imgW="1600200" imgH="203200" progId="Equation.DSMT4">
                    <p:embed/>
                    <p:pic>
                      <p:nvPicPr>
                        <p:cNvPr id="0" name="图片 3081"/>
                        <p:cNvPicPr/>
                        <p:nvPr/>
                      </p:nvPicPr>
                      <p:blipFill>
                        <a:blip r:embed="rId20"/>
                        <a:stretch>
                          <a:fillRect/>
                        </a:stretch>
                      </p:blipFill>
                      <p:spPr>
                        <a:xfrm>
                          <a:off x="833" y="1933"/>
                          <a:ext cx="3175" cy="397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6634" name="Rectangle 15"/>
            <p:cNvSpPr/>
            <p:nvPr>
              <p:custDataLst>
                <p:tags r:id="rId21"/>
              </p:custDataLst>
            </p:nvPr>
          </p:nvSpPr>
          <p:spPr>
            <a:xfrm>
              <a:off x="340" y="1951"/>
              <a:ext cx="493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>
              <a:lvl1pPr marL="469900" indent="-469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o"/>
                <a:defRPr sz="3000" b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08050" indent="-43688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n"/>
                <a:defRPr sz="26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304925" indent="-395605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o"/>
                <a:defRPr sz="23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94180" indent="-3873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94230" indent="-398780" algn="l" rtl="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469900" lvl="0" indent="-469900" eaLnBrk="1" hangingPunct="1">
                <a:spcBef>
                  <a:spcPct val="50000"/>
                </a:spcBef>
                <a:buFont typeface="Wingdings" panose="05000000000000000000" pitchFamily="2" charset="2"/>
                <a:buChar char="u"/>
              </a:pPr>
              <a:r>
                <a:rPr lang="en-US" altLang="zh-CN" sz="2800" b="1" dirty="0"/>
                <a:t>.</a:t>
              </a:r>
              <a:endParaRPr lang="en-US" altLang="zh-CN" sz="2800" b="1" dirty="0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5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665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</p:bld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2"/>
          <p:cNvSpPr>
            <a:spLocks noChangeArrowheads="1"/>
          </p:cNvSpPr>
          <p:nvPr/>
        </p:nvSpPr>
        <p:spPr bwMode="auto">
          <a:xfrm>
            <a:off x="636527" y="3205471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sp>
        <p:nvSpPr>
          <p:cNvPr id="8" name="Rectangle 4"/>
          <p:cNvSpPr>
            <a:spLocks noChangeArrowheads="1"/>
          </p:cNvSpPr>
          <p:nvPr/>
        </p:nvSpPr>
        <p:spPr bwMode="auto">
          <a:xfrm>
            <a:off x="-1484010" y="-34477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9" name="对象 8"/>
          <p:cNvGraphicFramePr>
            <a:graphicFrameLocks noChangeAspect="1"/>
          </p:cNvGraphicFramePr>
          <p:nvPr/>
        </p:nvGraphicFramePr>
        <p:xfrm>
          <a:off x="544815" y="496901"/>
          <a:ext cx="8799308" cy="25140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72" name="" r:id="rId1" imgW="4063365" imgH="1155700" progId="Equation.3">
                  <p:embed/>
                </p:oleObj>
              </mc:Choice>
              <mc:Fallback>
                <p:oleObj name="" r:id="rId1" imgW="4063365" imgH="1155700" progId="Equation.3">
                  <p:embed/>
                  <p:pic>
                    <p:nvPicPr>
                      <p:cNvPr id="0" name="对象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4815" y="496901"/>
                        <a:ext cx="8799308" cy="2514088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0" name="图片 9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1578467" y="3010989"/>
            <a:ext cx="7266377" cy="3421606"/>
          </a:xfrm>
          <a:prstGeom prst="rect">
            <a:avLst/>
          </a:prstGeom>
        </p:spPr>
      </p:pic>
      <p:sp>
        <p:nvSpPr>
          <p:cNvPr id="12" name="文本框 11"/>
          <p:cNvSpPr txBox="1"/>
          <p:nvPr/>
        </p:nvSpPr>
        <p:spPr>
          <a:xfrm>
            <a:off x="362386" y="3010989"/>
            <a:ext cx="64633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600" dirty="0" smtClean="0">
                <a:solidFill>
                  <a:srgbClr val="FF0000"/>
                </a:solidFill>
              </a:rPr>
              <a:t>解</a:t>
            </a:r>
            <a:endParaRPr lang="zh-CN" altLang="en-US" sz="3600" dirty="0">
              <a:solidFill>
                <a:srgbClr val="FF0000"/>
              </a:solidFill>
            </a:endParaRPr>
          </a:p>
        </p:txBody>
      </p:sp>
      <p:sp>
        <p:nvSpPr>
          <p:cNvPr id="2" name="圆角矩形 1"/>
          <p:cNvSpPr/>
          <p:nvPr/>
        </p:nvSpPr>
        <p:spPr>
          <a:xfrm>
            <a:off x="1678940" y="3011170"/>
            <a:ext cx="7066280" cy="796290"/>
          </a:xfrm>
          <a:prstGeom prst="round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圆角矩形 10"/>
          <p:cNvSpPr/>
          <p:nvPr/>
        </p:nvSpPr>
        <p:spPr>
          <a:xfrm>
            <a:off x="1888490" y="5636260"/>
            <a:ext cx="3094355" cy="796290"/>
          </a:xfrm>
          <a:prstGeom prst="round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文本框 19"/>
          <p:cNvSpPr txBox="1"/>
          <p:nvPr/>
        </p:nvSpPr>
        <p:spPr>
          <a:xfrm>
            <a:off x="862631" y="397431"/>
            <a:ext cx="1632567" cy="671509"/>
          </a:xfrm>
          <a:prstGeom prst="rect">
            <a:avLst/>
          </a:prstGeom>
          <a:solidFill>
            <a:srgbClr val="92D050"/>
          </a:solidFill>
        </p:spPr>
        <p:txBody>
          <a:bodyPr wrap="square" rtlCol="0">
            <a:spAutoFit/>
          </a:bodyPr>
          <a:lstStyle/>
          <a:p>
            <a:r>
              <a:rPr lang="zh-CN" altLang="en-US" sz="3600" dirty="0" smtClean="0">
                <a:solidFill>
                  <a:srgbClr val="FF0000"/>
                </a:solidFill>
              </a:rPr>
              <a:t>  例</a:t>
            </a:r>
            <a:endParaRPr lang="zh-CN" altLang="en-US" sz="3600" dirty="0">
              <a:solidFill>
                <a:srgbClr val="FF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2" grpId="0" bldLvl="0" animBg="1"/>
      <p:bldP spid="11" grpId="0" bldLvl="0" animBg="1"/>
      <p:bldP spid="13" grpId="0" bldLvl="0" animBg="1"/>
    </p:bld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12049" y="3213243"/>
            <a:ext cx="4683884" cy="1154930"/>
          </a:xfrm>
          <a:prstGeom prst="rect">
            <a:avLst/>
          </a:prstGeom>
        </p:spPr>
      </p:pic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2142" y="0"/>
            <a:ext cx="8828368" cy="3147506"/>
          </a:xfrm>
          <a:prstGeom prst="rect">
            <a:avLst/>
          </a:prstGeom>
        </p:spPr>
      </p:pic>
      <p:sp>
        <p:nvSpPr>
          <p:cNvPr id="9" name="文本框 8"/>
          <p:cNvSpPr txBox="1"/>
          <p:nvPr>
            <p:custDataLst>
              <p:tags r:id="rId3"/>
            </p:custDataLst>
          </p:nvPr>
        </p:nvSpPr>
        <p:spPr>
          <a:xfrm>
            <a:off x="313690" y="339090"/>
            <a:ext cx="4064000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3200" b="1">
                <a:gradFill>
                  <a:gsLst>
                    <a:gs pos="0">
                      <a:srgbClr val="007BD3"/>
                    </a:gs>
                    <a:gs pos="100000">
                      <a:srgbClr val="034373"/>
                    </a:gs>
                  </a:gsLst>
                  <a:lin scaled="0"/>
                </a:gradFill>
              </a:rPr>
              <a:t>练习</a:t>
            </a:r>
            <a:endParaRPr lang="zh-CN" altLang="en-US" sz="3200" b="1">
              <a:gradFill>
                <a:gsLst>
                  <a:gs pos="0">
                    <a:srgbClr val="007BD3"/>
                  </a:gs>
                  <a:gs pos="100000">
                    <a:srgbClr val="034373"/>
                  </a:gs>
                </a:gsLst>
                <a:lin scaled="0"/>
              </a:gra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文本框 3"/>
          <p:cNvSpPr txBox="1"/>
          <p:nvPr/>
        </p:nvSpPr>
        <p:spPr>
          <a:xfrm>
            <a:off x="1331595" y="850265"/>
            <a:ext cx="9253220" cy="5835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zh-CN" sz="3200" b="1" kern="100" dirty="0">
                <a:latin typeface="等线" panose="02010600030101010101" pitchFamily="2" charset="-122"/>
                <a:cs typeface="Times New Roman" panose="02020603050405020304" pitchFamily="18" charset="0"/>
                <a:sym typeface="+mn-ea"/>
              </a:rPr>
              <a:t>5.2and5.3   </a:t>
            </a:r>
            <a:r>
              <a:rPr lang="zh-CN" altLang="zh-CN" sz="3200" b="1" kern="100" dirty="0">
                <a:latin typeface="等线" panose="02010600030101010101" pitchFamily="2" charset="-122"/>
                <a:cs typeface="Times New Roman" panose="02020603050405020304" pitchFamily="18" charset="0"/>
                <a:sym typeface="+mn-ea"/>
              </a:rPr>
              <a:t>随机变量的方差、协方差和相关系数</a:t>
            </a:r>
            <a:endParaRPr lang="zh-CN" altLang="zh-CN" sz="3200" b="1" kern="100" dirty="0">
              <a:latin typeface="等线" panose="02010600030101010101" pitchFamily="2" charset="-122"/>
              <a:cs typeface="Times New Roman" panose="02020603050405020304" pitchFamily="18" charset="0"/>
              <a:sym typeface="+mn-ea"/>
            </a:endParaRPr>
          </a:p>
        </p:txBody>
      </p:sp>
      <p:graphicFrame>
        <p:nvGraphicFramePr>
          <p:cNvPr id="24582" name="Object 6"/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2068830" y="1433830"/>
          <a:ext cx="4387850" cy="80708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6" name="" r:id="rId2" imgW="908685" imgH="167640" progId="Equation.DSMT4">
                  <p:embed/>
                </p:oleObj>
              </mc:Choice>
              <mc:Fallback>
                <p:oleObj name="" r:id="rId2" imgW="908685" imgH="167640" progId="Equation.DSMT4">
                  <p:embed/>
                  <p:pic>
                    <p:nvPicPr>
                      <p:cNvPr id="0" name="图片 3075"/>
                      <p:cNvPicPr/>
                      <p:nvPr/>
                    </p:nvPicPr>
                    <p:blipFill>
                      <a:blip r:embed="rId3">
                        <a:clrChange>
                          <a:clrFrom>
                            <a:srgbClr val="000000"/>
                          </a:clrFrom>
                          <a:clrTo>
                            <a:srgbClr val="FF0000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2068830" y="1433830"/>
                        <a:ext cx="4387850" cy="80708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2771" name="Object 3"/>
          <p:cNvGraphicFramePr>
            <a:graphicFrameLocks noChangeAspect="1"/>
          </p:cNvGraphicFramePr>
          <p:nvPr>
            <p:custDataLst>
              <p:tags r:id="rId4"/>
            </p:custDataLst>
          </p:nvPr>
        </p:nvGraphicFramePr>
        <p:xfrm>
          <a:off x="2127250" y="2366010"/>
          <a:ext cx="4398963" cy="6334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1" name="" r:id="rId5" imgW="1587500" imgH="228600" progId="Equation.DSMT4">
                  <p:embed/>
                </p:oleObj>
              </mc:Choice>
              <mc:Fallback>
                <p:oleObj name="" r:id="rId5" imgW="1587500" imgH="228600" progId="Equation.DSMT4">
                  <p:embed/>
                  <p:pic>
                    <p:nvPicPr>
                      <p:cNvPr id="0" name="图片 3080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2127250" y="2366010"/>
                        <a:ext cx="4398963" cy="633413"/>
                      </a:xfrm>
                      <a:prstGeom prst="rect">
                        <a:avLst/>
                      </a:prstGeom>
                      <a:noFill/>
                      <a:ln w="9525" cap="rnd" cmpd="sng">
                        <a:solidFill>
                          <a:schemeClr val="tx1"/>
                        </a:solidFill>
                        <a:prstDash val="sysDot"/>
                        <a:miter/>
                        <a:headEnd type="none" w="med" len="med"/>
                        <a:tailEnd type="none" w="med" len="med"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文本框 10"/>
          <p:cNvSpPr txBox="1"/>
          <p:nvPr/>
        </p:nvSpPr>
        <p:spPr>
          <a:xfrm>
            <a:off x="2127250" y="3235325"/>
            <a:ext cx="595630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800" b="1"/>
              <a:t>六个常见分布的方差</a:t>
            </a:r>
            <a:endParaRPr lang="zh-CN" altLang="en-US" sz="2800" b="1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2" name="文本框 11"/>
              <p:cNvSpPr txBox="1"/>
              <p:nvPr/>
            </p:nvSpPr>
            <p:spPr>
              <a:xfrm>
                <a:off x="2068766" y="3859466"/>
                <a:ext cx="5953760" cy="583565"/>
              </a:xfrm>
              <a:prstGeom prst="rect">
                <a:avLst/>
              </a:prstGeom>
              <a:noFill/>
            </p:spPr>
            <p:txBody>
              <a:bodyPr wrap="none" rtlCol="0" anchor="t">
                <a:spAutoFit/>
              </a:bodyPr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3200" b="1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cs typeface="Cambria Math" panose="02040503050406030204" pitchFamily="18" charset="0"/>
                        </a:rPr>
                        <m:t>𝒄𝒐𝒗</m:t>
                      </m:r>
                      <m:r>
                        <a:rPr lang="en-US" altLang="zh-CN" sz="3200" b="1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cs typeface="Cambria Math" panose="02040503050406030204" pitchFamily="18" charset="0"/>
                        </a:rPr>
                        <m:t>(</m:t>
                      </m:r>
                      <m:r>
                        <a:rPr lang="en-US" altLang="zh-CN" sz="3200" b="1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cs typeface="Cambria Math" panose="02040503050406030204" pitchFamily="18" charset="0"/>
                        </a:rPr>
                        <m:t>𝑿</m:t>
                      </m:r>
                      <m:r>
                        <a:rPr lang="en-US" altLang="zh-CN" sz="3200" b="1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cs typeface="Cambria Math" panose="02040503050406030204" pitchFamily="18" charset="0"/>
                        </a:rPr>
                        <m:t>,</m:t>
                      </m:r>
                      <m:r>
                        <a:rPr lang="en-US" altLang="zh-CN" sz="3200" b="1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cs typeface="Cambria Math" panose="02040503050406030204" pitchFamily="18" charset="0"/>
                        </a:rPr>
                        <m:t>𝒀</m:t>
                      </m:r>
                      <m:r>
                        <a:rPr lang="en-US" altLang="zh-CN" sz="3200" b="1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cs typeface="Cambria Math" panose="02040503050406030204" pitchFamily="18" charset="0"/>
                        </a:rPr>
                        <m:t>)=</m:t>
                      </m:r>
                      <m:r>
                        <a:rPr lang="en-US" altLang="zh-CN" sz="3200" b="1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cs typeface="Cambria Math" panose="02040503050406030204" pitchFamily="18" charset="0"/>
                        </a:rPr>
                        <m:t>𝑬</m:t>
                      </m:r>
                      <m:r>
                        <a:rPr lang="en-US" altLang="zh-CN" sz="3200" b="1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cs typeface="Cambria Math" panose="02040503050406030204" pitchFamily="18" charset="0"/>
                        </a:rPr>
                        <m:t>(</m:t>
                      </m:r>
                      <m:r>
                        <a:rPr lang="en-US" altLang="zh-CN" sz="3200" b="1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cs typeface="Cambria Math" panose="02040503050406030204" pitchFamily="18" charset="0"/>
                        </a:rPr>
                        <m:t>𝑿</m:t>
                      </m:r>
                      <m:r>
                        <a:rPr lang="en-US" altLang="zh-CN" sz="3200" b="1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cs typeface="Cambria Math" panose="02040503050406030204" pitchFamily="18" charset="0"/>
                        </a:rPr>
                        <m:t>−</m:t>
                      </m:r>
                      <m:r>
                        <a:rPr lang="en-US" altLang="zh-CN" sz="3200" b="1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cs typeface="Cambria Math" panose="02040503050406030204" pitchFamily="18" charset="0"/>
                        </a:rPr>
                        <m:t>𝑬𝑿</m:t>
                      </m:r>
                      <m:r>
                        <a:rPr lang="en-US" altLang="zh-CN" sz="3200" b="1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cs typeface="Cambria Math" panose="02040503050406030204" pitchFamily="18" charset="0"/>
                        </a:rPr>
                        <m:t>)(</m:t>
                      </m:r>
                      <m:r>
                        <a:rPr lang="en-US" altLang="zh-CN" sz="3200" b="1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cs typeface="Cambria Math" panose="02040503050406030204" pitchFamily="18" charset="0"/>
                        </a:rPr>
                        <m:t>𝒀</m:t>
                      </m:r>
                      <m:r>
                        <a:rPr lang="en-US" altLang="zh-CN" sz="3200" b="1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cs typeface="Cambria Math" panose="02040503050406030204" pitchFamily="18" charset="0"/>
                        </a:rPr>
                        <m:t>−</m:t>
                      </m:r>
                      <m:r>
                        <a:rPr lang="en-US" altLang="zh-CN" sz="3200" b="1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cs typeface="Cambria Math" panose="02040503050406030204" pitchFamily="18" charset="0"/>
                        </a:rPr>
                        <m:t>𝑬𝒀</m:t>
                      </m:r>
                      <m:r>
                        <a:rPr lang="en-US" altLang="zh-CN" sz="3200" b="1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MS Mincho" charset="0"/>
                          <a:cs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altLang="zh-CN" sz="3200" b="1" i="1">
                  <a:solidFill>
                    <a:srgbClr val="FF0000"/>
                  </a:solidFill>
                  <a:latin typeface="Cambria Math" panose="02040503050406030204" pitchFamily="18" charset="0"/>
                  <a:ea typeface="MS Mincho" charset="0"/>
                  <a:cs typeface="Cambria Math" panose="02040503050406030204" pitchFamily="18" charset="0"/>
                </a:endParaRPr>
              </a:p>
            </p:txBody>
          </p:sp>
        </mc:Choice>
        <mc:Fallback>
          <p:sp>
            <p:nvSpPr>
              <p:cNvPr id="12" name="文本框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68766" y="3859466"/>
                <a:ext cx="5953760" cy="583565"/>
              </a:xfrm>
              <a:prstGeom prst="rect">
                <a:avLst/>
              </a:prstGeom>
              <a:blipFill rotWithShape="1">
                <a:blip r:embed="rId7"/>
                <a:stretch>
                  <a:fillRect l="-10" t="-98" r="-353" b="9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3" name="文本框 12"/>
              <p:cNvSpPr txBox="1"/>
              <p:nvPr/>
            </p:nvSpPr>
            <p:spPr>
              <a:xfrm>
                <a:off x="1412240" y="4712335"/>
                <a:ext cx="6096000" cy="583565"/>
              </a:xfrm>
              <a:prstGeom prst="rect">
                <a:avLst/>
              </a:prstGeom>
              <a:noFill/>
            </p:spPr>
            <p:txBody>
              <a:bodyPr wrap="square" rtlCol="0" anchor="t">
                <a:spAutoFit/>
              </a:bodyPr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3200" b="1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cs typeface="Cambria Math" panose="02040503050406030204" pitchFamily="18" charset="0"/>
                        </a:rPr>
                        <m:t>𝒄𝒐𝒗</m:t>
                      </m:r>
                      <m:r>
                        <a:rPr lang="en-US" altLang="zh-CN" sz="3200" b="1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cs typeface="Cambria Math" panose="02040503050406030204" pitchFamily="18" charset="0"/>
                        </a:rPr>
                        <m:t>(</m:t>
                      </m:r>
                      <m:r>
                        <a:rPr lang="en-US" altLang="zh-CN" sz="3200" b="1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cs typeface="Cambria Math" panose="02040503050406030204" pitchFamily="18" charset="0"/>
                        </a:rPr>
                        <m:t>𝑿</m:t>
                      </m:r>
                      <m:r>
                        <a:rPr lang="en-US" altLang="zh-CN" sz="3200" b="1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cs typeface="Cambria Math" panose="02040503050406030204" pitchFamily="18" charset="0"/>
                        </a:rPr>
                        <m:t>,</m:t>
                      </m:r>
                      <m:r>
                        <a:rPr lang="en-US" altLang="zh-CN" sz="3200" b="1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cs typeface="Cambria Math" panose="02040503050406030204" pitchFamily="18" charset="0"/>
                        </a:rPr>
                        <m:t>𝒀</m:t>
                      </m:r>
                      <m:r>
                        <a:rPr lang="en-US" altLang="zh-CN" sz="3200" b="1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cs typeface="Cambria Math" panose="02040503050406030204" pitchFamily="18" charset="0"/>
                        </a:rPr>
                        <m:t>)=</m:t>
                      </m:r>
                      <m:r>
                        <a:rPr lang="en-US" altLang="zh-CN" sz="3200" b="1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cs typeface="Cambria Math" panose="02040503050406030204" pitchFamily="18" charset="0"/>
                        </a:rPr>
                        <m:t>𝑬𝑿𝒀</m:t>
                      </m:r>
                      <m:r>
                        <a:rPr lang="en-US" altLang="zh-CN" sz="3200" b="1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cs typeface="Cambria Math" panose="02040503050406030204" pitchFamily="18" charset="0"/>
                        </a:rPr>
                        <m:t>−</m:t>
                      </m:r>
                      <m:r>
                        <a:rPr lang="en-US" altLang="zh-CN" sz="3200" b="1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cs typeface="Cambria Math" panose="02040503050406030204" pitchFamily="18" charset="0"/>
                        </a:rPr>
                        <m:t>𝑬𝑿𝑬𝒀</m:t>
                      </m:r>
                    </m:oMath>
                  </m:oMathPara>
                </a14:m>
                <a:endParaRPr lang="en-US" altLang="zh-CN" sz="3200" b="1" i="1">
                  <a:solidFill>
                    <a:srgbClr val="FF0000"/>
                  </a:solidFill>
                  <a:latin typeface="Cambria Math" panose="02040503050406030204" pitchFamily="18" charset="0"/>
                  <a:cs typeface="Cambria Math" panose="02040503050406030204" pitchFamily="18" charset="0"/>
                </a:endParaRPr>
              </a:p>
            </p:txBody>
          </p:sp>
        </mc:Choice>
        <mc:Fallback>
          <p:sp>
            <p:nvSpPr>
              <p:cNvPr id="13" name="文本框 1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12240" y="4712335"/>
                <a:ext cx="6096000" cy="583565"/>
              </a:xfrm>
              <a:prstGeom prst="rect">
                <a:avLst/>
              </a:prstGeom>
              <a:blipFill rotWithShape="1"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4" name="文本框 13"/>
              <p:cNvSpPr txBox="1"/>
              <p:nvPr/>
            </p:nvSpPr>
            <p:spPr>
              <a:xfrm>
                <a:off x="755015" y="5431790"/>
                <a:ext cx="6096000" cy="1112520"/>
              </a:xfrm>
              <a:prstGeom prst="rect">
                <a:avLst/>
              </a:prstGeom>
              <a:noFill/>
            </p:spPr>
            <p:txBody>
              <a:bodyPr wrap="square" rtlCol="0" anchor="t">
                <a:spAutoFit/>
              </a:bodyPr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3200" b="1" i="1">
                              <a:latin typeface="Cambria Math" panose="02040503050406030204" pitchFamily="18" charset="0"/>
                              <a:cs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3200" b="1" i="1">
                              <a:latin typeface="Cambria Math" panose="02040503050406030204" pitchFamily="18" charset="0"/>
                              <a:cs typeface="Cambria Math" panose="02040503050406030204" pitchFamily="18" charset="0"/>
                            </a:rPr>
                            <m:t>𝝆</m:t>
                          </m:r>
                        </m:e>
                        <m:sub>
                          <m:r>
                            <a:rPr lang="en-US" altLang="zh-CN" sz="3200" b="1" i="1">
                              <a:latin typeface="Cambria Math" panose="02040503050406030204" pitchFamily="18" charset="0"/>
                              <a:cs typeface="Cambria Math" panose="02040503050406030204" pitchFamily="18" charset="0"/>
                            </a:rPr>
                            <m:t>𝑿𝒀</m:t>
                          </m:r>
                        </m:sub>
                      </m:sSub>
                      <m:r>
                        <a:rPr lang="en-US" altLang="zh-CN" sz="3200" b="1" i="1">
                          <a:latin typeface="Cambria Math" panose="02040503050406030204" pitchFamily="18" charset="0"/>
                          <a:cs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CN" sz="3200" b="1" i="1">
                              <a:latin typeface="Cambria Math" panose="02040503050406030204" pitchFamily="18" charset="0"/>
                              <a:cs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sz="3200" b="1" i="1">
                              <a:latin typeface="Cambria Math" panose="02040503050406030204" pitchFamily="18" charset="0"/>
                              <a:cs typeface="Cambria Math" panose="02040503050406030204" pitchFamily="18" charset="0"/>
                            </a:rPr>
                            <m:t>𝒄𝒐𝒗</m:t>
                          </m:r>
                          <m:r>
                            <a:rPr lang="en-US" altLang="zh-CN" sz="3200" b="1" i="1">
                              <a:latin typeface="Cambria Math" panose="02040503050406030204" pitchFamily="18" charset="0"/>
                              <a:cs typeface="Cambria Math" panose="02040503050406030204" pitchFamily="18" charset="0"/>
                            </a:rPr>
                            <m:t>(</m:t>
                          </m:r>
                          <m:r>
                            <a:rPr lang="en-US" altLang="zh-CN" sz="3200" b="1" i="1">
                              <a:latin typeface="Cambria Math" panose="02040503050406030204" pitchFamily="18" charset="0"/>
                              <a:cs typeface="Cambria Math" panose="02040503050406030204" pitchFamily="18" charset="0"/>
                            </a:rPr>
                            <m:t>𝑿</m:t>
                          </m:r>
                          <m:r>
                            <a:rPr lang="en-US" altLang="zh-CN" sz="3200" b="1" i="1">
                              <a:latin typeface="Cambria Math" panose="02040503050406030204" pitchFamily="18" charset="0"/>
                              <a:cs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CN" sz="3200" b="1" i="1">
                              <a:latin typeface="Cambria Math" panose="02040503050406030204" pitchFamily="18" charset="0"/>
                              <a:cs typeface="Cambria Math" panose="02040503050406030204" pitchFamily="18" charset="0"/>
                            </a:rPr>
                            <m:t>𝒀</m:t>
                          </m:r>
                          <m:r>
                            <a:rPr lang="en-US" altLang="zh-CN" sz="3200" b="1" i="1">
                              <a:latin typeface="Cambria Math" panose="02040503050406030204" pitchFamily="18" charset="0"/>
                              <a:cs typeface="Cambria Math" panose="02040503050406030204" pitchFamily="18" charset="0"/>
                            </a:rPr>
                            <m:t>)</m:t>
                          </m:r>
                        </m:num>
                        <m:den>
                          <m:rad>
                            <m:radPr>
                              <m:degHide m:val="on"/>
                              <m:ctrlPr>
                                <a:rPr lang="en-US" altLang="zh-CN" sz="3200" b="1" i="1">
                                  <a:latin typeface="Cambria Math" panose="02040503050406030204" pitchFamily="18" charset="0"/>
                                  <a:cs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altLang="zh-CN" sz="3200" b="1" i="1">
                                  <a:latin typeface="Cambria Math" panose="02040503050406030204" pitchFamily="18" charset="0"/>
                                  <a:cs typeface="Cambria Math" panose="02040503050406030204" pitchFamily="18" charset="0"/>
                                </a:rPr>
                                <m:t>𝑫𝑿</m:t>
                              </m:r>
                            </m:e>
                          </m:rad>
                          <m:rad>
                            <m:radPr>
                              <m:degHide m:val="on"/>
                              <m:ctrlPr>
                                <a:rPr lang="en-US" altLang="zh-CN" sz="3200" b="1" i="1">
                                  <a:latin typeface="Cambria Math" panose="02040503050406030204" pitchFamily="18" charset="0"/>
                                  <a:cs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altLang="zh-CN" sz="3200" b="1" i="1">
                                  <a:latin typeface="Cambria Math" panose="02040503050406030204" pitchFamily="18" charset="0"/>
                                  <a:cs typeface="Cambria Math" panose="02040503050406030204" pitchFamily="18" charset="0"/>
                                </a:rPr>
                                <m:t>𝑫𝒀</m:t>
                              </m:r>
                            </m:e>
                          </m:rad>
                        </m:den>
                      </m:f>
                    </m:oMath>
                  </m:oMathPara>
                </a14:m>
                <a:endParaRPr lang="en-US" altLang="zh-CN" sz="3200" b="1" i="1">
                  <a:latin typeface="Cambria Math" panose="02040503050406030204" pitchFamily="18" charset="0"/>
                  <a:cs typeface="Cambria Math" panose="02040503050406030204" pitchFamily="18" charset="0"/>
                </a:endParaRPr>
              </a:p>
            </p:txBody>
          </p:sp>
        </mc:Choice>
        <mc:Fallback>
          <p:sp>
            <p:nvSpPr>
              <p:cNvPr id="14" name="文本框 1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5015" y="5431790"/>
                <a:ext cx="6096000" cy="1112520"/>
              </a:xfrm>
              <a:prstGeom prst="rect">
                <a:avLst/>
              </a:prstGeom>
              <a:blipFill rotWithShape="1"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45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2" grpId="0"/>
      <p:bldP spid="13" grpId="0"/>
      <p:bldP spid="14" grpId="0"/>
    </p:bld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aphicFrame>
        <p:nvGraphicFramePr>
          <p:cNvPr id="282629" name="Object 3"/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3071495" y="3337878"/>
          <a:ext cx="6477000" cy="11207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7" name="" r:id="rId2" imgW="2641600" imgH="457200" progId="Equation.DSMT4">
                  <p:embed/>
                </p:oleObj>
              </mc:Choice>
              <mc:Fallback>
                <p:oleObj name="" r:id="rId2" imgW="2641600" imgH="457200" progId="Equation.DSMT4">
                  <p:embed/>
                  <p:pic>
                    <p:nvPicPr>
                      <p:cNvPr id="0" name="图片 3086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3071495" y="3337878"/>
                        <a:ext cx="6477000" cy="1120775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文本框 4"/>
          <p:cNvSpPr txBox="1"/>
          <p:nvPr/>
        </p:nvSpPr>
        <p:spPr>
          <a:xfrm>
            <a:off x="899795" y="1037590"/>
            <a:ext cx="595630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800" b="1"/>
              <a:t>方差性质：</a:t>
            </a:r>
            <a:endParaRPr lang="zh-CN" altLang="en-US" sz="2800" b="1"/>
          </a:p>
        </p:txBody>
      </p:sp>
      <p:grpSp>
        <p:nvGrpSpPr>
          <p:cNvPr id="2" name="Group 22"/>
          <p:cNvGrpSpPr/>
          <p:nvPr/>
        </p:nvGrpSpPr>
        <p:grpSpPr>
          <a:xfrm>
            <a:off x="2446020" y="1037273"/>
            <a:ext cx="4932363" cy="608012"/>
            <a:chOff x="316" y="507"/>
            <a:chExt cx="3107" cy="383"/>
          </a:xfrm>
        </p:grpSpPr>
        <p:graphicFrame>
          <p:nvGraphicFramePr>
            <p:cNvPr id="18441" name="Object 3"/>
            <p:cNvGraphicFramePr>
              <a:graphicFrameLocks noChangeAspect="1"/>
            </p:cNvGraphicFramePr>
            <p:nvPr>
              <p:custDataLst>
                <p:tags r:id="rId4"/>
              </p:custDataLst>
            </p:nvPr>
          </p:nvGraphicFramePr>
          <p:xfrm>
            <a:off x="884" y="535"/>
            <a:ext cx="1089" cy="35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21" name="" r:id="rId5" imgW="609600" imgH="203200" progId="Equation.DSMT4">
                    <p:embed/>
                  </p:oleObj>
                </mc:Choice>
                <mc:Fallback>
                  <p:oleObj name="" r:id="rId5" imgW="609600" imgH="203200" progId="Equation.DSMT4">
                    <p:embed/>
                    <p:pic>
                      <p:nvPicPr>
                        <p:cNvPr id="0" name="图片 3120"/>
                        <p:cNvPicPr/>
                        <p:nvPr/>
                      </p:nvPicPr>
                      <p:blipFill>
                        <a:blip r:embed="rId6"/>
                        <a:stretch>
                          <a:fillRect/>
                        </a:stretch>
                      </p:blipFill>
                      <p:spPr>
                        <a:xfrm>
                          <a:off x="884" y="535"/>
                          <a:ext cx="1089" cy="355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8442" name="Rectangle 11"/>
            <p:cNvSpPr/>
            <p:nvPr>
              <p:custDataLst>
                <p:tags r:id="rId7"/>
              </p:custDataLst>
            </p:nvPr>
          </p:nvSpPr>
          <p:spPr>
            <a:xfrm>
              <a:off x="2111" y="545"/>
              <a:ext cx="1312" cy="300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none" lIns="90000" tIns="46800" rIns="90000" bIns="46800" anchor="t" anchorCtr="1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b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908050" lvl="0" indent="-436245" eaLnBrk="1" hangingPunct="1">
                <a:lnSpc>
                  <a:spcPct val="90000"/>
                </a:lnSpc>
                <a:spcBef>
                  <a:spcPct val="50000"/>
                </a:spcBef>
                <a:buClr>
                  <a:schemeClr val="accent2"/>
                </a:buClr>
                <a:buFont typeface="Wingdings" panose="05000000000000000000" pitchFamily="2" charset="2"/>
                <a:buNone/>
              </a:pPr>
              <a:r>
                <a:rPr lang="en-US" altLang="zh-CN" sz="2800" b="1" dirty="0">
                  <a:latin typeface="宋体" panose="02010600030101010101" pitchFamily="2" charset="-122"/>
                </a:rPr>
                <a:t>C </a:t>
              </a:r>
              <a:r>
                <a:rPr lang="zh-CN" altLang="en-US" sz="2800" b="1" dirty="0">
                  <a:latin typeface="宋体" panose="02010600030101010101" pitchFamily="2" charset="-122"/>
                </a:rPr>
                <a:t>为</a:t>
              </a:r>
              <a:r>
                <a:rPr lang="zh-CN" altLang="en-US" sz="2800" b="1" dirty="0">
                  <a:latin typeface="宋体" panose="02010600030101010101" pitchFamily="2" charset="-122"/>
                </a:rPr>
                <a:t>常数</a:t>
              </a:r>
              <a:endParaRPr lang="zh-CN" altLang="en-US" sz="2800" b="1" dirty="0">
                <a:latin typeface="宋体" panose="02010600030101010101" pitchFamily="2" charset="-122"/>
              </a:endParaRPr>
            </a:p>
          </p:txBody>
        </p:sp>
        <p:sp>
          <p:nvSpPr>
            <p:cNvPr id="18443" name="Text Box 20"/>
            <p:cNvSpPr txBox="1"/>
            <p:nvPr>
              <p:custDataLst>
                <p:tags r:id="rId8"/>
              </p:custDataLst>
            </p:nvPr>
          </p:nvSpPr>
          <p:spPr>
            <a:xfrm>
              <a:off x="316" y="507"/>
              <a:ext cx="394" cy="33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b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Clr>
                  <a:srgbClr val="FF0000"/>
                </a:buClr>
                <a:buNone/>
              </a:pPr>
              <a:r>
                <a:rPr lang="en-US" altLang="zh-CN" sz="2800" b="1" dirty="0"/>
                <a:t>(1)</a:t>
              </a:r>
              <a:endParaRPr lang="en-US" altLang="zh-CN" sz="2800" b="1" dirty="0"/>
            </a:p>
          </p:txBody>
        </p:sp>
      </p:grpSp>
      <p:grpSp>
        <p:nvGrpSpPr>
          <p:cNvPr id="3" name="Group 25"/>
          <p:cNvGrpSpPr/>
          <p:nvPr/>
        </p:nvGrpSpPr>
        <p:grpSpPr>
          <a:xfrm>
            <a:off x="2524125" y="1731010"/>
            <a:ext cx="6806301" cy="668020"/>
            <a:chOff x="283" y="935"/>
            <a:chExt cx="4494" cy="470"/>
          </a:xfrm>
        </p:grpSpPr>
        <p:grpSp>
          <p:nvGrpSpPr>
            <p:cNvPr id="18437" name="Group 23"/>
            <p:cNvGrpSpPr/>
            <p:nvPr/>
          </p:nvGrpSpPr>
          <p:grpSpPr>
            <a:xfrm>
              <a:off x="283" y="935"/>
              <a:ext cx="2673" cy="470"/>
              <a:chOff x="283" y="935"/>
              <a:chExt cx="2673" cy="470"/>
            </a:xfrm>
          </p:grpSpPr>
          <p:graphicFrame>
            <p:nvGraphicFramePr>
              <p:cNvPr id="18439" name="Object 13"/>
              <p:cNvGraphicFramePr>
                <a:graphicFrameLocks noChangeAspect="1"/>
              </p:cNvGraphicFramePr>
              <p:nvPr>
                <p:custDataLst>
                  <p:tags r:id="rId9"/>
                </p:custDataLst>
              </p:nvPr>
            </p:nvGraphicFramePr>
            <p:xfrm>
              <a:off x="884" y="935"/>
              <a:ext cx="2072" cy="47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3123" name="" r:id="rId10" imgW="1117600" imgH="228600" progId="Equation.DSMT4">
                      <p:embed/>
                    </p:oleObj>
                  </mc:Choice>
                  <mc:Fallback>
                    <p:oleObj name="" r:id="rId10" imgW="1117600" imgH="228600" progId="Equation.DSMT4">
                      <p:embed/>
                      <p:pic>
                        <p:nvPicPr>
                          <p:cNvPr id="0" name="图片 3122"/>
                          <p:cNvPicPr/>
                          <p:nvPr/>
                        </p:nvPicPr>
                        <p:blipFill>
                          <a:blip r:embed="rId11"/>
                          <a:stretch>
                            <a:fillRect/>
                          </a:stretch>
                        </p:blipFill>
                        <p:spPr>
                          <a:xfrm>
                            <a:off x="884" y="935"/>
                            <a:ext cx="2072" cy="470"/>
                          </a:xfrm>
                          <a:prstGeom prst="rect">
                            <a:avLst/>
                          </a:prstGeom>
                          <a:noFill/>
                          <a:ln w="38100">
                            <a:noFill/>
                            <a:miter/>
                          </a:ln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18440" name="Text Box 21"/>
              <p:cNvSpPr txBox="1"/>
              <p:nvPr>
                <p:custDataLst>
                  <p:tags r:id="rId12"/>
                </p:custDataLst>
              </p:nvPr>
            </p:nvSpPr>
            <p:spPr>
              <a:xfrm>
                <a:off x="283" y="1026"/>
                <a:ext cx="394" cy="367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square"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 b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eaLnBrk="1" hangingPunct="1">
                  <a:spcBef>
                    <a:spcPct val="0"/>
                  </a:spcBef>
                  <a:buClr>
                    <a:srgbClr val="FF0000"/>
                  </a:buClr>
                  <a:buNone/>
                </a:pPr>
                <a:r>
                  <a:rPr lang="en-US" altLang="zh-CN" sz="2800" b="1" dirty="0"/>
                  <a:t>(2)</a:t>
                </a:r>
                <a:endParaRPr lang="en-US" altLang="zh-CN" sz="2800" b="1" dirty="0"/>
              </a:p>
            </p:txBody>
          </p:sp>
        </p:grp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8438" name="Text Box 24"/>
                <p:cNvSpPr txBox="1"/>
                <p:nvPr>
                  <p:custDataLst>
                    <p:tags r:id="rId13"/>
                  </p:custDataLst>
                </p:nvPr>
              </p:nvSpPr>
              <p:spPr>
                <a:xfrm>
                  <a:off x="3358" y="949"/>
                  <a:ext cx="1419" cy="367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>
                  <a:spAutoFit/>
                </a:bodyPr>
                <a:lstStyle>
                  <a:lvl1pPr marL="342900" indent="-3429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sz="3200" b="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742950" indent="-28575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–"/>
                    <a:defRPr sz="2800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2pPr>
                  <a:lvl3pPr marL="11430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sz="2400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3pPr>
                  <a:lvl4pPr marL="16002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–"/>
                    <a:defRPr sz="2000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4pPr>
                  <a:lvl5pPr marL="20574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5pPr>
                </a:lstStyle>
                <a:p>
                  <a:pPr marL="0" lvl="0" indent="0" eaLnBrk="1" hangingPunct="1">
                    <a:spcBef>
                      <a:spcPct val="0"/>
                    </a:spcBef>
                    <a:buNone/>
                  </a:pPr>
                  <a14:m>
                    <m:oMath xmlns:m="http://schemas.openxmlformats.org/officeDocument/2006/math">
                      <m:r>
                        <a:rPr lang="en-US" altLang="zh-CN" sz="2800" b="1" i="1" dirty="0">
                          <a:latin typeface="Cambria Math" panose="02040503050406030204" pitchFamily="18" charset="0"/>
                          <a:cs typeface="Cambria Math" panose="02040503050406030204" pitchFamily="18" charset="0"/>
                        </a:rPr>
                        <m:t>𝒂</m:t>
                      </m:r>
                    </m:oMath>
                  </a14:m>
                  <a:r>
                    <a:rPr lang="zh-CN" altLang="en-US" sz="2800" b="1" dirty="0"/>
                    <a:t>为</a:t>
                  </a:r>
                  <a:r>
                    <a:rPr lang="zh-CN" altLang="en-US" sz="2800" b="1" dirty="0"/>
                    <a:t>常数</a:t>
                  </a:r>
                  <a:endParaRPr lang="zh-CN" altLang="en-US" sz="2800" b="1" dirty="0"/>
                </a:p>
              </p:txBody>
            </p:sp>
          </mc:Choice>
          <mc:Fallback>
            <p:sp>
              <p:nvSpPr>
                <p:cNvPr id="18438" name="Text Box 24"/>
                <p:cNvSpPr txBox="1">
                  <a:spLocks noRot="1" noChangeAspect="1" noMove="1" noResize="1" noEditPoints="1" noAdjustHandles="1" noChangeArrowheads="1" noChangeShapeType="1" noTextEdit="1"/>
                </p:cNvSpPr>
                <p:nvPr>
                  <p:custDataLst>
                    <p:tags r:id="rId14"/>
                  </p:custDataLst>
                </p:nvPr>
              </p:nvSpPr>
              <p:spPr>
                <a:xfrm>
                  <a:off x="3358" y="949"/>
                  <a:ext cx="1419" cy="367"/>
                </a:xfrm>
                <a:prstGeom prst="rect">
                  <a:avLst/>
                </a:prstGeom>
                <a:blipFill rotWithShape="1">
                  <a:blip r:embed="rId15"/>
                </a:blipFill>
                <a:ln w="9525">
                  <a:noFill/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281602" name="Text Box 2"/>
          <p:cNvSpPr txBox="1"/>
          <p:nvPr>
            <p:custDataLst>
              <p:tags r:id="rId16"/>
            </p:custDataLst>
          </p:nvPr>
        </p:nvSpPr>
        <p:spPr>
          <a:xfrm>
            <a:off x="2493328" y="2630170"/>
            <a:ext cx="7967662" cy="583565"/>
          </a:xfrm>
          <a:prstGeom prst="rect">
            <a:avLst/>
          </a:prstGeom>
          <a:noFill/>
          <a:ln w="12700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>
              <a:spcBef>
                <a:spcPct val="50000"/>
              </a:spcBef>
              <a:buNone/>
            </a:pPr>
            <a:r>
              <a:rPr lang="en-US" altLang="zh-CN" b="1" dirty="0"/>
              <a:t>(3) </a:t>
            </a:r>
            <a:r>
              <a:rPr lang="zh-CN" altLang="en-US" b="1" dirty="0">
                <a:latin typeface="宋体" panose="02010600030101010101" pitchFamily="2" charset="-122"/>
              </a:rPr>
              <a:t>若</a:t>
            </a:r>
            <a:r>
              <a:rPr lang="en-US" altLang="zh-CN" b="1" dirty="0">
                <a:sym typeface="+mn-ea"/>
              </a:rPr>
              <a:t>X</a:t>
            </a:r>
            <a:r>
              <a:rPr lang="zh-CN" altLang="en-US" b="1" dirty="0">
                <a:sym typeface="+mn-ea"/>
              </a:rPr>
              <a:t>、</a:t>
            </a:r>
            <a:r>
              <a:rPr lang="en-US" altLang="zh-CN" b="1" dirty="0">
                <a:sym typeface="+mn-ea"/>
              </a:rPr>
              <a:t>Y</a:t>
            </a:r>
            <a:r>
              <a:rPr lang="zh-CN" altLang="en-US" b="1" dirty="0">
                <a:latin typeface="宋体" panose="02010600030101010101" pitchFamily="2" charset="-122"/>
              </a:rPr>
              <a:t>独立，</a:t>
            </a:r>
            <a:r>
              <a:rPr lang="zh-CN" altLang="en-US" b="1" dirty="0"/>
              <a:t>则 </a:t>
            </a:r>
            <a:r>
              <a:rPr lang="en-US" altLang="zh-CN" b="1" dirty="0"/>
              <a:t>D(X+Y)=D(X)+D(Y);</a:t>
            </a:r>
            <a:endParaRPr lang="en-US" altLang="zh-CN" b="1" dirty="0"/>
          </a:p>
        </p:txBody>
      </p:sp>
      <p:sp>
        <p:nvSpPr>
          <p:cNvPr id="10" name="文本框 9"/>
          <p:cNvSpPr txBox="1"/>
          <p:nvPr/>
        </p:nvSpPr>
        <p:spPr>
          <a:xfrm>
            <a:off x="9651365" y="2630170"/>
            <a:ext cx="406400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800" b="1">
                <a:solidFill>
                  <a:schemeClr val="accent1"/>
                </a:solidFill>
              </a:rPr>
              <a:t>推广</a:t>
            </a:r>
            <a:endParaRPr lang="zh-CN" altLang="en-US" sz="2800" b="1">
              <a:solidFill>
                <a:schemeClr val="accent1"/>
              </a:solidFill>
            </a:endParaRPr>
          </a:p>
        </p:txBody>
      </p:sp>
      <p:graphicFrame>
        <p:nvGraphicFramePr>
          <p:cNvPr id="282627" name="Object 2"/>
          <p:cNvGraphicFramePr>
            <a:graphicFrameLocks noChangeAspect="1"/>
          </p:cNvGraphicFramePr>
          <p:nvPr>
            <p:custDataLst>
              <p:tags r:id="rId17"/>
            </p:custDataLst>
          </p:nvPr>
        </p:nvGraphicFramePr>
        <p:xfrm>
          <a:off x="6195060" y="4458970"/>
          <a:ext cx="4265295" cy="117919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7" name="" r:id="rId18" imgW="1562100" imgH="431800" progId="Equation.DSMT4">
                  <p:embed/>
                </p:oleObj>
              </mc:Choice>
              <mc:Fallback>
                <p:oleObj name="" r:id="rId18" imgW="1562100" imgH="431800" progId="Equation.DSMT4">
                  <p:embed/>
                  <p:pic>
                    <p:nvPicPr>
                      <p:cNvPr id="0" name="图片 3076"/>
                      <p:cNvPicPr/>
                      <p:nvPr/>
                    </p:nvPicPr>
                    <p:blipFill>
                      <a:blip r:embed="rId19"/>
                      <a:stretch>
                        <a:fillRect/>
                      </a:stretch>
                    </p:blipFill>
                    <p:spPr>
                      <a:xfrm>
                        <a:off x="6195060" y="4458970"/>
                        <a:ext cx="4265295" cy="117919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16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75"/>
                                        <p:tgtEl>
                                          <p:spTgt spid="2816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26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2826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6" presetClass="entr" presetSubtype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26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35" dur="500"/>
                                        <p:tgtEl>
                                          <p:spTgt spid="2826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1602" grpId="0"/>
      <p:bldP spid="5" grpId="0"/>
      <p:bldP spid="10" grpId="0"/>
    </p:bld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" name="文本框 4"/>
          <p:cNvSpPr txBox="1"/>
          <p:nvPr/>
        </p:nvSpPr>
        <p:spPr>
          <a:xfrm>
            <a:off x="899795" y="875665"/>
            <a:ext cx="595630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800" b="1"/>
              <a:t>协方差性质：</a:t>
            </a:r>
            <a:endParaRPr lang="zh-CN" altLang="en-US" sz="2800" b="1"/>
          </a:p>
        </p:txBody>
      </p:sp>
      <p:sp>
        <p:nvSpPr>
          <p:cNvPr id="28676" name="Rectangle 5"/>
          <p:cNvSpPr/>
          <p:nvPr>
            <p:custDataLst>
              <p:tags r:id="rId1"/>
            </p:custDataLst>
          </p:nvPr>
        </p:nvSpPr>
        <p:spPr>
          <a:xfrm>
            <a:off x="3185636" y="934403"/>
            <a:ext cx="4660265" cy="521970"/>
          </a:xfrm>
          <a:prstGeom prst="rect">
            <a:avLst/>
          </a:prstGeom>
          <a:noFill/>
          <a:ln w="730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en-US" altLang="zh-CN" sz="2800" b="1" dirty="0">
                <a:latin typeface="Tahoma" panose="020B0604030504040204" pitchFamily="34" charset="0"/>
                <a:sym typeface="Wingdings" panose="05000000000000000000" pitchFamily="2" charset="2"/>
              </a:rPr>
              <a:t>(1)</a:t>
            </a:r>
            <a:r>
              <a:rPr lang="en-US" altLang="zh-CN" sz="2800" b="1" dirty="0">
                <a:latin typeface="Tahoma" panose="020B0604030504040204" pitchFamily="34" charset="0"/>
              </a:rPr>
              <a:t>   Cov(X,Y) </a:t>
            </a:r>
            <a:r>
              <a:rPr lang="zh-CN" altLang="en-US" sz="2800" b="1" dirty="0">
                <a:latin typeface="Tahoma" panose="020B0604030504040204" pitchFamily="34" charset="0"/>
              </a:rPr>
              <a:t>＝</a:t>
            </a:r>
            <a:r>
              <a:rPr lang="en-US" altLang="zh-CN" sz="2800" b="1" dirty="0">
                <a:latin typeface="Tahoma" panose="020B0604030504040204" pitchFamily="34" charset="0"/>
              </a:rPr>
              <a:t>Cov(Y,X)</a:t>
            </a:r>
            <a:endParaRPr lang="en-US" altLang="zh-CN" sz="2800" b="1" dirty="0">
              <a:latin typeface="Tahoma" panose="020B0604030504040204" pitchFamily="34" charset="0"/>
            </a:endParaRPr>
          </a:p>
        </p:txBody>
      </p:sp>
      <p:sp>
        <p:nvSpPr>
          <p:cNvPr id="168966" name="Rectangle 6"/>
          <p:cNvSpPr/>
          <p:nvPr>
            <p:custDataLst>
              <p:tags r:id="rId2"/>
            </p:custDataLst>
          </p:nvPr>
        </p:nvSpPr>
        <p:spPr>
          <a:xfrm>
            <a:off x="3185795" y="1567815"/>
            <a:ext cx="3218815" cy="521970"/>
          </a:xfrm>
          <a:prstGeom prst="rect">
            <a:avLst/>
          </a:prstGeom>
          <a:noFill/>
          <a:ln w="730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en-US" altLang="zh-CN" sz="2800" b="1" dirty="0">
                <a:latin typeface="Tahoma" panose="020B0604030504040204" pitchFamily="34" charset="0"/>
              </a:rPr>
              <a:t>(2)   Cov(X,a) =0</a:t>
            </a:r>
            <a:endParaRPr lang="en-US" altLang="zh-CN" sz="2800" b="1" dirty="0">
              <a:latin typeface="Tahoma" panose="020B0604030504040204" pitchFamily="34" charset="0"/>
            </a:endParaRPr>
          </a:p>
        </p:txBody>
      </p:sp>
      <p:sp>
        <p:nvSpPr>
          <p:cNvPr id="168967" name="Rectangle 7"/>
          <p:cNvSpPr/>
          <p:nvPr>
            <p:custDataLst>
              <p:tags r:id="rId3"/>
            </p:custDataLst>
          </p:nvPr>
        </p:nvSpPr>
        <p:spPr>
          <a:xfrm>
            <a:off x="3206591" y="2705100"/>
            <a:ext cx="5366385" cy="521970"/>
          </a:xfrm>
          <a:prstGeom prst="rect">
            <a:avLst/>
          </a:prstGeom>
          <a:noFill/>
          <a:ln w="730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en-US" altLang="zh-CN" sz="2800" b="1" dirty="0">
                <a:latin typeface="Tahoma" panose="020B0604030504040204" pitchFamily="34" charset="0"/>
              </a:rPr>
              <a:t>(4)   Cov(aX,bY)=abCov(X,Y)</a:t>
            </a:r>
            <a:endParaRPr lang="en-US" altLang="zh-CN" sz="2800" b="1" dirty="0">
              <a:latin typeface="Tahoma" panose="020B0604030504040204" pitchFamily="34" charset="0"/>
            </a:endParaRPr>
          </a:p>
        </p:txBody>
      </p:sp>
      <p:sp>
        <p:nvSpPr>
          <p:cNvPr id="168968" name="Rectangle 8"/>
          <p:cNvSpPr/>
          <p:nvPr>
            <p:custDataLst>
              <p:tags r:id="rId4"/>
            </p:custDataLst>
          </p:nvPr>
        </p:nvSpPr>
        <p:spPr>
          <a:xfrm>
            <a:off x="3265329" y="3273108"/>
            <a:ext cx="6834505" cy="521970"/>
          </a:xfrm>
          <a:prstGeom prst="rect">
            <a:avLst/>
          </a:prstGeom>
          <a:noFill/>
          <a:ln w="730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en-US" altLang="zh-CN" sz="2800" b="1" dirty="0">
                <a:latin typeface="Tahoma" panose="020B0604030504040204" pitchFamily="34" charset="0"/>
              </a:rPr>
              <a:t>(5)   </a:t>
            </a:r>
            <a:r>
              <a:rPr lang="en-US" altLang="en-US" sz="2800" b="1" dirty="0">
                <a:latin typeface="Tahoma" panose="020B0604030504040204" pitchFamily="34" charset="0"/>
              </a:rPr>
              <a:t>Cov(X+Y,Z)=</a:t>
            </a:r>
            <a:r>
              <a:rPr lang="en-US" altLang="zh-CN" sz="2800" b="1" dirty="0">
                <a:latin typeface="Tahoma" panose="020B0604030504040204" pitchFamily="34" charset="0"/>
              </a:rPr>
              <a:t>Cov(X,Z)+Cov(Y,Z)</a:t>
            </a:r>
            <a:endParaRPr lang="en-US" altLang="en-US" sz="2800" b="1" dirty="0">
              <a:latin typeface="Tahoma" panose="020B0604030504040204" pitchFamily="34" charset="0"/>
            </a:endParaRPr>
          </a:p>
        </p:txBody>
      </p:sp>
      <p:sp>
        <p:nvSpPr>
          <p:cNvPr id="168970" name="Rectangle 10"/>
          <p:cNvSpPr/>
          <p:nvPr>
            <p:custDataLst>
              <p:tags r:id="rId5"/>
            </p:custDataLst>
          </p:nvPr>
        </p:nvSpPr>
        <p:spPr>
          <a:xfrm>
            <a:off x="3289141" y="5039360"/>
            <a:ext cx="5755005" cy="521970"/>
          </a:xfrm>
          <a:prstGeom prst="rect">
            <a:avLst/>
          </a:prstGeom>
          <a:noFill/>
          <a:ln w="730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en-US" altLang="zh-CN" sz="2800" b="1" dirty="0">
                <a:latin typeface="Tahoma" panose="020B0604030504040204" pitchFamily="34" charset="0"/>
              </a:rPr>
              <a:t>(8)   </a:t>
            </a:r>
            <a:r>
              <a:rPr lang="zh-CN" altLang="en-US" sz="2800" b="1" dirty="0">
                <a:latin typeface="Tahoma" panose="020B0604030504040204" pitchFamily="34" charset="0"/>
              </a:rPr>
              <a:t>若</a:t>
            </a:r>
            <a:r>
              <a:rPr lang="en-US" altLang="zh-CN" sz="2800" b="1" dirty="0">
                <a:latin typeface="Tahoma" panose="020B0604030504040204" pitchFamily="34" charset="0"/>
              </a:rPr>
              <a:t>X</a:t>
            </a:r>
            <a:r>
              <a:rPr lang="zh-CN" altLang="en-US" sz="2800" b="1" dirty="0">
                <a:latin typeface="Tahoma" panose="020B0604030504040204" pitchFamily="34" charset="0"/>
              </a:rPr>
              <a:t>与</a:t>
            </a:r>
            <a:r>
              <a:rPr lang="en-US" altLang="zh-CN" sz="2800" b="1" dirty="0">
                <a:latin typeface="Tahoma" panose="020B0604030504040204" pitchFamily="34" charset="0"/>
              </a:rPr>
              <a:t>Y</a:t>
            </a:r>
            <a:r>
              <a:rPr lang="zh-CN" altLang="en-US" sz="2800" b="1" dirty="0">
                <a:latin typeface="Tahoma" panose="020B0604030504040204" pitchFamily="34" charset="0"/>
              </a:rPr>
              <a:t>独立，则</a:t>
            </a:r>
            <a:r>
              <a:rPr lang="en-US" altLang="zh-CN" sz="2800" b="1" dirty="0">
                <a:latin typeface="Tahoma" panose="020B0604030504040204" pitchFamily="34" charset="0"/>
              </a:rPr>
              <a:t>Cov(X,Y)=0</a:t>
            </a:r>
            <a:endParaRPr lang="en-US" altLang="zh-CN" sz="2800" b="1" dirty="0">
              <a:latin typeface="Tahoma" panose="020B0604030504040204" pitchFamily="34" charset="0"/>
            </a:endParaRPr>
          </a:p>
        </p:txBody>
      </p:sp>
      <p:sp>
        <p:nvSpPr>
          <p:cNvPr id="10" name="Rectangle 6"/>
          <p:cNvSpPr/>
          <p:nvPr>
            <p:custDataLst>
              <p:tags r:id="rId6"/>
            </p:custDataLst>
          </p:nvPr>
        </p:nvSpPr>
        <p:spPr>
          <a:xfrm>
            <a:off x="3206433" y="2173923"/>
            <a:ext cx="3535045" cy="521970"/>
          </a:xfrm>
          <a:prstGeom prst="rect">
            <a:avLst/>
          </a:prstGeom>
          <a:noFill/>
          <a:ln w="730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en-US" altLang="zh-CN" sz="2800" b="1" dirty="0">
                <a:latin typeface="Tahoma" panose="020B0604030504040204" pitchFamily="34" charset="0"/>
              </a:rPr>
              <a:t>(3)   Cov(X,X) =DX</a:t>
            </a:r>
            <a:endParaRPr lang="en-US" altLang="zh-CN" sz="2800" b="1" dirty="0">
              <a:latin typeface="Tahoma" panose="020B0604030504040204" pitchFamily="34" charset="0"/>
            </a:endParaRPr>
          </a:p>
        </p:txBody>
      </p:sp>
      <p:sp>
        <p:nvSpPr>
          <p:cNvPr id="11" name="Rectangle 8"/>
          <p:cNvSpPr/>
          <p:nvPr>
            <p:custDataLst>
              <p:tags r:id="rId7"/>
            </p:custDataLst>
          </p:nvPr>
        </p:nvSpPr>
        <p:spPr>
          <a:xfrm>
            <a:off x="3265329" y="3874770"/>
            <a:ext cx="7709535" cy="521970"/>
          </a:xfrm>
          <a:prstGeom prst="rect">
            <a:avLst/>
          </a:prstGeom>
          <a:noFill/>
          <a:ln w="730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en-US" altLang="zh-CN" sz="2800" b="1" dirty="0">
                <a:latin typeface="Tahoma" panose="020B0604030504040204" pitchFamily="34" charset="0"/>
              </a:rPr>
              <a:t>(6)   </a:t>
            </a:r>
            <a:r>
              <a:rPr lang="en-US" altLang="en-US" sz="2800" b="1" dirty="0">
                <a:latin typeface="Tahoma" panose="020B0604030504040204" pitchFamily="34" charset="0"/>
              </a:rPr>
              <a:t>Cov(aX+bY,Z)=a</a:t>
            </a:r>
            <a:r>
              <a:rPr lang="en-US" altLang="zh-CN" sz="2800" b="1" dirty="0">
                <a:latin typeface="Tahoma" panose="020B0604030504040204" pitchFamily="34" charset="0"/>
              </a:rPr>
              <a:t>Cov(X,Z)+bCov(Y,Z)</a:t>
            </a:r>
            <a:endParaRPr lang="en-US" altLang="en-US" sz="2800" b="1" dirty="0">
              <a:latin typeface="Tahoma" panose="020B0604030504040204" pitchFamily="34" charset="0"/>
            </a:endParaRPr>
          </a:p>
        </p:txBody>
      </p:sp>
      <p:sp>
        <p:nvSpPr>
          <p:cNvPr id="4" name="Rectangle 8"/>
          <p:cNvSpPr/>
          <p:nvPr>
            <p:custDataLst>
              <p:tags r:id="rId8"/>
            </p:custDataLst>
          </p:nvPr>
        </p:nvSpPr>
        <p:spPr>
          <a:xfrm>
            <a:off x="3289459" y="4466590"/>
            <a:ext cx="5591175" cy="521970"/>
          </a:xfrm>
          <a:prstGeom prst="rect">
            <a:avLst/>
          </a:prstGeom>
          <a:noFill/>
          <a:ln w="730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en-US" altLang="zh-CN" sz="2800" b="1" dirty="0">
                <a:latin typeface="Tahoma" panose="020B0604030504040204" pitchFamily="34" charset="0"/>
              </a:rPr>
              <a:t>(7)   D(X</a:t>
            </a:r>
            <a:r>
              <a:rPr lang="en-US" altLang="zh-CN" sz="2800" b="1" dirty="0">
                <a:latin typeface="Arial" panose="020B0604020202020204" pitchFamily="34" charset="0"/>
              </a:rPr>
              <a:t>±Y)=DX+DY</a:t>
            </a:r>
            <a:r>
              <a:rPr lang="en-US" altLang="zh-CN" sz="2800" b="1" dirty="0">
                <a:latin typeface="Arial" panose="020B0604020202020204" pitchFamily="34" charset="0"/>
                <a:sym typeface="+mn-ea"/>
              </a:rPr>
              <a:t>±2cov(X,Y)</a:t>
            </a:r>
            <a:endParaRPr lang="en-US" altLang="en-US" sz="2800" b="1" dirty="0">
              <a:latin typeface="Tahoma" panose="020B0604030504040204" pitchFamily="34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矩形 5"/>
              <p:cNvSpPr/>
              <p:nvPr>
                <p:custDataLst>
                  <p:tags r:id="rId9"/>
                </p:custDataLst>
              </p:nvPr>
            </p:nvSpPr>
            <p:spPr>
              <a:xfrm>
                <a:off x="59539" y="5795532"/>
                <a:ext cx="11906401" cy="584775"/>
              </a:xfrm>
              <a:prstGeom prst="rect">
                <a:avLst/>
              </a:prstGeom>
            </p:spPr>
            <p:txBody>
              <a:bodyPr wrap="none">
                <a:spAutoFit/>
              </a:bodyPr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3200" b="1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𝑪𝒐𝒗</m:t>
                      </m:r>
                      <m:d>
                        <m:dPr>
                          <m:ctrlPr>
                            <a:rPr lang="en-US" altLang="zh-CN" sz="3200" b="1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3200" b="1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𝒂𝑿</m:t>
                          </m:r>
                          <m:r>
                            <a:rPr lang="en-US" altLang="zh-CN" sz="3200" b="1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altLang="zh-CN" sz="3200" b="1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𝒃𝒀</m:t>
                          </m:r>
                          <m:r>
                            <a:rPr lang="en-US" altLang="zh-CN" sz="3200" b="1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CN" sz="3200" b="1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𝒄𝑿</m:t>
                          </m:r>
                          <m:r>
                            <a:rPr lang="en-US" altLang="zh-CN" sz="3200" b="1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altLang="zh-CN" sz="3200" b="1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𝒅𝒀</m:t>
                          </m:r>
                        </m:e>
                      </m:d>
                      <m:r>
                        <a:rPr lang="en-US" altLang="zh-CN" sz="3200" b="1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sz="3200" b="1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𝒂𝒄𝑫𝑿</m:t>
                      </m:r>
                      <m:r>
                        <a:rPr lang="en-US" altLang="zh-CN" sz="3200" b="1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zh-CN" sz="3200" b="1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𝒃𝒅𝑫𝒀</m:t>
                      </m:r>
                      <m:r>
                        <a:rPr lang="en-US" altLang="zh-CN" sz="3200" b="1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d>
                        <m:dPr>
                          <m:ctrlPr>
                            <a:rPr lang="en-US" altLang="zh-CN" sz="3200" b="1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3200" b="1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𝒂𝒅</m:t>
                          </m:r>
                          <m:r>
                            <a:rPr lang="en-US" altLang="zh-CN" sz="3200" b="1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altLang="zh-CN" sz="3200" b="1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𝒃𝒄</m:t>
                          </m:r>
                        </m:e>
                      </m:d>
                      <m:r>
                        <a:rPr lang="en-US" altLang="zh-CN" sz="3200" b="1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𝒄𝒐𝒗</m:t>
                      </m:r>
                      <m:r>
                        <a:rPr lang="en-US" altLang="zh-CN" sz="3200" b="1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altLang="zh-CN" sz="3200" b="1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𝑿</m:t>
                      </m:r>
                      <m:r>
                        <a:rPr lang="en-US" altLang="zh-CN" sz="3200" b="1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altLang="zh-CN" sz="3200" b="1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𝒀</m:t>
                      </m:r>
                      <m:r>
                        <a:rPr lang="en-US" altLang="zh-CN" sz="3200" b="1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zh-CN" altLang="en-US" sz="3200" b="1" dirty="0">
                  <a:solidFill>
                    <a:srgbClr val="0070C0"/>
                  </a:solidFill>
                </a:endParaRPr>
              </a:p>
            </p:txBody>
          </p:sp>
        </mc:Choice>
        <mc:Fallback>
          <p:sp>
            <p:nvSpPr>
              <p:cNvPr id="6" name="矩形 5"/>
              <p:cNvSpPr>
                <a:spLocks noRot="1" noChangeAspect="1" noMove="1" noResize="1" noEditPoints="1" noAdjustHandles="1" noChangeArrowheads="1" noChangeShapeType="1" noTextEdit="1"/>
              </p:cNvSpPr>
              <p:nvPr>
                <p:custDataLst>
                  <p:tags r:id="rId10"/>
                </p:custDataLst>
              </p:nvPr>
            </p:nvSpPr>
            <p:spPr>
              <a:xfrm>
                <a:off x="59539" y="5795532"/>
                <a:ext cx="11906401" cy="584775"/>
              </a:xfrm>
              <a:prstGeom prst="rect">
                <a:avLst/>
              </a:prstGeom>
              <a:blipFill rotWithShape="1">
                <a:blip r:embed="rId11"/>
                <a:stretch>
                  <a:fillRect l="-4" t="-89" r="5" b="7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9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9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9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9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676" grpId="0"/>
      <p:bldP spid="168966" grpId="0"/>
      <p:bldP spid="168967" grpId="0"/>
      <p:bldP spid="168968" grpId="0"/>
      <p:bldP spid="168970" grpId="0"/>
      <p:bldP spid="10" grpId="0"/>
      <p:bldP spid="11" grpId="0"/>
      <p:bldP spid="4" grpId="0"/>
      <p:bldP spid="6" grpId="0"/>
      <p:bldP spid="5" grpId="0"/>
    </p:bld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>
            <a:spLocks noChangeArrowheads="1"/>
          </p:cNvSpPr>
          <p:nvPr/>
        </p:nvSpPr>
        <p:spPr bwMode="auto">
          <a:xfrm>
            <a:off x="0" y="-228211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 b="1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文本框 2"/>
              <p:cNvSpPr txBox="1"/>
              <p:nvPr/>
            </p:nvSpPr>
            <p:spPr>
              <a:xfrm>
                <a:off x="870175" y="342764"/>
                <a:ext cx="3122971" cy="64633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zh-CN" altLang="en-US" sz="3600" b="1" dirty="0" smtClean="0"/>
                  <a:t>①数学期望</a:t>
                </a:r>
                <a14:m>
                  <m:oMath xmlns:m="http://schemas.openxmlformats.org/officeDocument/2006/math">
                    <m:r>
                      <a:rPr lang="en-US" altLang="zh-CN" sz="3600" b="1" i="1" smtClean="0">
                        <a:latin typeface="Cambria Math" panose="02040503050406030204" pitchFamily="18" charset="0"/>
                      </a:rPr>
                      <m:t>𝑬𝑿</m:t>
                    </m:r>
                  </m:oMath>
                </a14:m>
                <a:endParaRPr lang="zh-CN" altLang="en-US" sz="3600" b="1" dirty="0"/>
              </a:p>
            </p:txBody>
          </p:sp>
        </mc:Choice>
        <mc:Fallback>
          <p:sp>
            <p:nvSpPr>
              <p:cNvPr id="3" name="文本框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0175" y="342764"/>
                <a:ext cx="3122971" cy="646331"/>
              </a:xfrm>
              <a:prstGeom prst="rect">
                <a:avLst/>
              </a:prstGeom>
              <a:blipFill rotWithShape="1">
                <a:blip r:embed="rId1"/>
                <a:stretch>
                  <a:fillRect l="-7" t="-77" r="9" b="6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" name="文本框 3"/>
              <p:cNvSpPr txBox="1"/>
              <p:nvPr/>
            </p:nvSpPr>
            <p:spPr>
              <a:xfrm>
                <a:off x="852757" y="949213"/>
                <a:ext cx="5887637" cy="75623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zh-CN" altLang="en-US" sz="3600" b="1" dirty="0" smtClean="0"/>
                  <a:t>②方差</a:t>
                </a:r>
                <a14:m>
                  <m:oMath xmlns:m="http://schemas.openxmlformats.org/officeDocument/2006/math">
                    <m:r>
                      <a:rPr lang="en-US" altLang="zh-CN" sz="3600" b="1" i="1" smtClean="0">
                        <a:latin typeface="Cambria Math" panose="02040503050406030204" pitchFamily="18" charset="0"/>
                      </a:rPr>
                      <m:t>𝑫𝑿</m:t>
                    </m:r>
                    <m:r>
                      <a:rPr lang="en-US" altLang="zh-CN" sz="3600" b="1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sz="3600" b="1" i="1" smtClean="0">
                        <a:latin typeface="Cambria Math" panose="02040503050406030204" pitchFamily="18" charset="0"/>
                      </a:rPr>
                      <m:t>𝑬</m:t>
                    </m:r>
                    <m:d>
                      <m:dPr>
                        <m:ctrlPr>
                          <a:rPr lang="en-US" altLang="zh-CN" sz="3600" b="1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altLang="zh-CN" sz="3600" b="1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sz="3600" b="1" i="1" smtClean="0"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US" altLang="zh-CN" sz="3600" b="1" i="1" smtClean="0">
                                <a:latin typeface="Cambria Math" panose="02040503050406030204" pitchFamily="18" charset="0"/>
                              </a:rPr>
                              <m:t>𝑿</m:t>
                            </m:r>
                            <m:r>
                              <a:rPr lang="en-US" altLang="zh-CN" sz="3600" b="1" i="1" smtClean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altLang="zh-CN" sz="3600" b="1" i="1" smtClean="0">
                                <a:latin typeface="Cambria Math" panose="02040503050406030204" pitchFamily="18" charset="0"/>
                              </a:rPr>
                              <m:t>𝑬𝑿</m:t>
                            </m:r>
                            <m:r>
                              <a:rPr lang="en-US" altLang="zh-CN" sz="3600" b="1" i="1" smtClean="0">
                                <a:latin typeface="Cambria Math" panose="02040503050406030204" pitchFamily="18" charset="0"/>
                              </a:rPr>
                              <m:t>)</m:t>
                            </m:r>
                            <m:r>
                              <m:rPr>
                                <m:nor/>
                              </m:rPr>
                              <a:rPr lang="zh-CN" altLang="en-US" sz="3600" b="1" dirty="0">
                                <a:latin typeface="Cambria Math" panose="02040503050406030204" pitchFamily="18" charset="0"/>
                              </a:rPr>
                              <m:t> </m:t>
                            </m:r>
                          </m:e>
                          <m:sup>
                            <m:r>
                              <a:rPr lang="en-US" altLang="zh-CN" sz="3600" b="1" i="1" smtClean="0">
                                <a:latin typeface="Cambria Math" panose="02040503050406030204" pitchFamily="18" charset="0"/>
                              </a:rPr>
                              <m:t>𝟐</m:t>
                            </m:r>
                          </m:sup>
                        </m:sSup>
                      </m:e>
                    </m:d>
                  </m:oMath>
                </a14:m>
                <a:endParaRPr lang="zh-CN" altLang="en-US" sz="3600" b="1" dirty="0"/>
              </a:p>
            </p:txBody>
          </p:sp>
        </mc:Choice>
        <mc:Fallback>
          <p:sp>
            <p:nvSpPr>
              <p:cNvPr id="4" name="文本框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2757" y="949213"/>
                <a:ext cx="5887637" cy="756233"/>
              </a:xfrm>
              <a:prstGeom prst="rect">
                <a:avLst/>
              </a:prstGeom>
              <a:blipFill rotWithShape="1">
                <a:blip r:embed="rId2"/>
                <a:stretch>
                  <a:fillRect l="-10" t="-69" r="9" b="6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" name="文本框 4"/>
              <p:cNvSpPr txBox="1"/>
              <p:nvPr/>
            </p:nvSpPr>
            <p:spPr>
              <a:xfrm>
                <a:off x="6487589" y="1045231"/>
                <a:ext cx="3509230" cy="65889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3600" b="1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sz="3600" b="1" i="1" smtClean="0">
                          <a:latin typeface="Cambria Math" panose="02040503050406030204" pitchFamily="18" charset="0"/>
                        </a:rPr>
                        <m:t>𝑬</m:t>
                      </m:r>
                      <m:sSup>
                        <m:sSupPr>
                          <m:ctrlPr>
                            <a:rPr lang="en-US" altLang="zh-CN" sz="3600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sz="3600" b="1" i="1" smtClean="0">
                              <a:latin typeface="Cambria Math" panose="02040503050406030204" pitchFamily="18" charset="0"/>
                            </a:rPr>
                            <m:t>𝑿</m:t>
                          </m:r>
                        </m:e>
                        <m:sup>
                          <m:r>
                            <a:rPr lang="en-US" altLang="zh-CN" sz="3600" b="1" i="1" smtClean="0"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  <m:r>
                        <a:rPr lang="en-US" altLang="zh-CN" sz="3600" b="1" i="1" smtClean="0">
                          <a:latin typeface="Cambria Math" panose="02040503050406030204" pitchFamily="18" charset="0"/>
                        </a:rPr>
                        <m:t>−</m:t>
                      </m:r>
                      <m:sSup>
                        <m:sSupPr>
                          <m:ctrlPr>
                            <a:rPr lang="en-US" altLang="zh-CN" sz="3600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altLang="zh-CN" sz="3600" b="1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sz="3600" b="1" i="1" smtClean="0">
                                  <a:latin typeface="Cambria Math" panose="02040503050406030204" pitchFamily="18" charset="0"/>
                                </a:rPr>
                                <m:t>𝑬𝑿</m:t>
                              </m:r>
                            </m:e>
                          </m:d>
                        </m:e>
                        <m:sup>
                          <m:r>
                            <a:rPr lang="en-US" altLang="zh-CN" sz="3600" b="1" i="1" smtClean="0"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</m:oMath>
                  </m:oMathPara>
                </a14:m>
                <a:endParaRPr lang="zh-CN" altLang="en-US" sz="3600" b="1" dirty="0"/>
              </a:p>
            </p:txBody>
          </p:sp>
        </mc:Choice>
        <mc:Fallback>
          <p:sp>
            <p:nvSpPr>
              <p:cNvPr id="5" name="文本框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87589" y="1045231"/>
                <a:ext cx="3509230" cy="658898"/>
              </a:xfrm>
              <a:prstGeom prst="rect">
                <a:avLst/>
              </a:prstGeom>
              <a:blipFill rotWithShape="1">
                <a:blip r:embed="rId3"/>
                <a:stretch>
                  <a:fillRect l="-12" t="-3" b="6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" name="文本框 5"/>
              <p:cNvSpPr txBox="1"/>
              <p:nvPr/>
            </p:nvSpPr>
            <p:spPr>
              <a:xfrm>
                <a:off x="965969" y="2920361"/>
                <a:ext cx="8639096" cy="64633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zh-CN" altLang="en-US" sz="3600" b="1" dirty="0" smtClean="0"/>
                  <a:t>③协方差</a:t>
                </a:r>
                <a14:m>
                  <m:oMath xmlns:m="http://schemas.openxmlformats.org/officeDocument/2006/math">
                    <m:r>
                      <a:rPr lang="en-US" altLang="zh-CN" sz="3600" b="1" i="1" smtClean="0">
                        <a:latin typeface="Cambria Math" panose="02040503050406030204" pitchFamily="18" charset="0"/>
                      </a:rPr>
                      <m:t>𝑪𝒐𝒗</m:t>
                    </m:r>
                    <m:d>
                      <m:dPr>
                        <m:ctrlPr>
                          <a:rPr lang="en-US" altLang="zh-CN" sz="3600" b="1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3600" b="1" i="1" smtClean="0">
                            <a:latin typeface="Cambria Math" panose="02040503050406030204" pitchFamily="18" charset="0"/>
                          </a:rPr>
                          <m:t>𝑿</m:t>
                        </m:r>
                        <m:r>
                          <a:rPr lang="en-US" altLang="zh-CN" sz="3600" b="1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zh-CN" sz="3600" b="1" i="1" smtClean="0">
                            <a:latin typeface="Cambria Math" panose="02040503050406030204" pitchFamily="18" charset="0"/>
                          </a:rPr>
                          <m:t>𝒀</m:t>
                        </m:r>
                      </m:e>
                    </m:d>
                    <m:r>
                      <a:rPr lang="en-US" altLang="zh-CN" sz="3600" b="1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sz="3600" b="1" i="1" smtClean="0">
                        <a:latin typeface="Cambria Math" panose="02040503050406030204" pitchFamily="18" charset="0"/>
                      </a:rPr>
                      <m:t>𝑬</m:t>
                    </m:r>
                    <m:d>
                      <m:dPr>
                        <m:ctrlPr>
                          <a:rPr lang="en-US" altLang="zh-CN" sz="3600" b="1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3600" b="1" i="1" smtClean="0">
                            <a:latin typeface="Cambria Math" panose="02040503050406030204" pitchFamily="18" charset="0"/>
                          </a:rPr>
                          <m:t>𝑿</m:t>
                        </m:r>
                        <m:r>
                          <a:rPr lang="en-US" altLang="zh-CN" sz="3600" b="1" i="1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altLang="zh-CN" sz="3600" b="1" i="1" smtClean="0">
                            <a:latin typeface="Cambria Math" panose="02040503050406030204" pitchFamily="18" charset="0"/>
                          </a:rPr>
                          <m:t>𝑬𝑿</m:t>
                        </m:r>
                      </m:e>
                    </m:d>
                    <m:d>
                      <m:dPr>
                        <m:ctrlPr>
                          <a:rPr lang="en-US" altLang="zh-CN" sz="3600" b="1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3600" b="1" i="1" smtClean="0">
                            <a:latin typeface="Cambria Math" panose="02040503050406030204" pitchFamily="18" charset="0"/>
                          </a:rPr>
                          <m:t>𝒀</m:t>
                        </m:r>
                        <m:r>
                          <a:rPr lang="en-US" altLang="zh-CN" sz="3600" b="1" i="1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altLang="zh-CN" sz="3600" b="1" i="1" smtClean="0">
                            <a:latin typeface="Cambria Math" panose="02040503050406030204" pitchFamily="18" charset="0"/>
                          </a:rPr>
                          <m:t>𝑬𝒀</m:t>
                        </m:r>
                      </m:e>
                    </m:d>
                  </m:oMath>
                </a14:m>
                <a:endParaRPr lang="zh-CN" altLang="en-US" sz="3600" b="1" dirty="0"/>
              </a:p>
            </p:txBody>
          </p:sp>
        </mc:Choice>
        <mc:Fallback>
          <p:sp>
            <p:nvSpPr>
              <p:cNvPr id="6" name="文本框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5969" y="2920361"/>
                <a:ext cx="8639096" cy="646331"/>
              </a:xfrm>
              <a:prstGeom prst="rect">
                <a:avLst/>
              </a:prstGeom>
              <a:blipFill rotWithShape="1">
                <a:blip r:embed="rId4"/>
                <a:stretch>
                  <a:fillRect l="-2" t="-98" r="1" b="8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" name="矩形 6"/>
              <p:cNvSpPr/>
              <p:nvPr/>
            </p:nvSpPr>
            <p:spPr>
              <a:xfrm>
                <a:off x="4821921" y="3474706"/>
                <a:ext cx="3892412" cy="64633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3600" b="1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sz="3600" b="1" i="1" smtClean="0">
                          <a:latin typeface="Cambria Math" panose="02040503050406030204" pitchFamily="18" charset="0"/>
                        </a:rPr>
                        <m:t>𝑬𝑿𝒀</m:t>
                      </m:r>
                      <m:r>
                        <a:rPr lang="en-US" altLang="zh-CN" sz="3600" b="1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altLang="zh-CN" sz="3600" b="1" i="1" smtClean="0">
                          <a:latin typeface="Cambria Math" panose="02040503050406030204" pitchFamily="18" charset="0"/>
                        </a:rPr>
                        <m:t>𝑬𝑿</m:t>
                      </m:r>
                      <m:r>
                        <a:rPr lang="en-US" altLang="zh-CN" sz="36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r>
                        <a:rPr lang="en-US" altLang="zh-CN" sz="36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𝑬𝒀</m:t>
                      </m:r>
                    </m:oMath>
                  </m:oMathPara>
                </a14:m>
                <a:endParaRPr lang="zh-CN" altLang="en-US" sz="3600" b="1" dirty="0"/>
              </a:p>
            </p:txBody>
          </p:sp>
        </mc:Choice>
        <mc:Fallback>
          <p:sp>
            <p:nvSpPr>
              <p:cNvPr id="7" name="矩形 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21921" y="3474706"/>
                <a:ext cx="3892412" cy="646331"/>
              </a:xfrm>
              <a:prstGeom prst="rect">
                <a:avLst/>
              </a:prstGeom>
              <a:blipFill rotWithShape="1">
                <a:blip r:embed="rId5"/>
                <a:stretch>
                  <a:fillRect l="-9" t="-96" r="6" b="8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8" name="文本框 7"/>
              <p:cNvSpPr txBox="1"/>
              <p:nvPr/>
            </p:nvSpPr>
            <p:spPr>
              <a:xfrm>
                <a:off x="1042783" y="2247055"/>
                <a:ext cx="4753224" cy="58477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altLang="zh-CN" sz="3200" b="1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𝑿</m:t>
                    </m:r>
                    <m:r>
                      <a:rPr lang="zh-CN" altLang="en-US" sz="3200" b="1" i="1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、</m:t>
                    </m:r>
                    <m:r>
                      <a:rPr lang="en-US" altLang="zh-CN" sz="3200" b="1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𝒀</m:t>
                    </m:r>
                  </m:oMath>
                </a14:m>
                <a:r>
                  <a:rPr lang="en-US" altLang="zh-CN" sz="3200" b="1" dirty="0" smtClean="0">
                    <a:solidFill>
                      <a:srgbClr val="0070C0"/>
                    </a:solidFill>
                  </a:rPr>
                  <a:t>id</a:t>
                </a:r>
                <a14:m>
                  <m:oMath xmlns:m="http://schemas.openxmlformats.org/officeDocument/2006/math">
                    <m:r>
                      <a:rPr lang="en-US" altLang="zh-CN" sz="3200" b="1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⇒</m:t>
                    </m:r>
                    <m:r>
                      <a:rPr lang="en-US" altLang="zh-CN" sz="3200" b="1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𝑫</m:t>
                    </m:r>
                    <m:d>
                      <m:dPr>
                        <m:ctrlPr>
                          <a:rPr lang="en-US" altLang="zh-CN" sz="3200" b="1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sz="3200" b="1" i="1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3200" b="1" i="1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𝑪</m:t>
                            </m:r>
                          </m:e>
                          <m:sub>
                            <m:r>
                              <a:rPr lang="en-US" altLang="zh-CN" sz="3200" b="1" i="1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𝟏</m:t>
                            </m:r>
                          </m:sub>
                        </m:sSub>
                        <m:r>
                          <a:rPr lang="en-US" altLang="zh-CN" sz="3200" b="1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𝑿</m:t>
                        </m:r>
                        <m:r>
                          <m:rPr>
                            <m:nor/>
                          </m:rPr>
                          <a:rPr lang="en-US" altLang="zh-CN" sz="3200" b="1" dirty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en-US" altLang="zh-CN" sz="3200" b="1" i="1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3200" b="1" i="1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𝑪</m:t>
                            </m:r>
                          </m:e>
                          <m:sub>
                            <m:r>
                              <a:rPr lang="en-US" altLang="zh-CN" sz="3200" b="1" i="1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𝟐</m:t>
                            </m:r>
                          </m:sub>
                        </m:sSub>
                        <m:r>
                          <a:rPr lang="en-US" altLang="zh-CN" sz="3200" b="1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𝒀</m:t>
                        </m:r>
                      </m:e>
                    </m:d>
                    <m:r>
                      <a:rPr lang="en-US" altLang="zh-CN" sz="3200" b="1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</m:oMath>
                </a14:m>
                <a:endParaRPr lang="zh-CN" altLang="en-US" sz="3200" b="1" dirty="0">
                  <a:solidFill>
                    <a:srgbClr val="0070C0"/>
                  </a:solidFill>
                </a:endParaRPr>
              </a:p>
            </p:txBody>
          </p:sp>
        </mc:Choice>
        <mc:Fallback>
          <p:sp>
            <p:nvSpPr>
              <p:cNvPr id="8" name="文本框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42783" y="2247055"/>
                <a:ext cx="4753224" cy="584775"/>
              </a:xfrm>
              <a:prstGeom prst="rect">
                <a:avLst/>
              </a:prstGeom>
              <a:blipFill rotWithShape="1">
                <a:blip r:embed="rId6"/>
                <a:stretch>
                  <a:fillRect l="-2" t="-73" r="8" b="6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9" name="矩形 8"/>
              <p:cNvSpPr/>
              <p:nvPr/>
            </p:nvSpPr>
            <p:spPr>
              <a:xfrm>
                <a:off x="5648668" y="2240403"/>
                <a:ext cx="2949910" cy="616579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altLang="zh-CN" sz="3200" b="1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zh-CN" sz="3200" b="1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𝑪</m:t>
                          </m:r>
                        </m:e>
                        <m:sub>
                          <m:r>
                            <a:rPr lang="en-US" altLang="zh-CN" sz="3200" b="1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𝟏</m:t>
                          </m:r>
                        </m:sub>
                        <m:sup>
                          <m:r>
                            <a:rPr lang="en-US" altLang="zh-CN" sz="3200" b="1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𝟐</m:t>
                          </m:r>
                        </m:sup>
                      </m:sSubSup>
                      <m:r>
                        <a:rPr lang="en-US" altLang="zh-CN" sz="3200" b="1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𝑫𝑿</m:t>
                      </m:r>
                      <m:r>
                        <a:rPr lang="en-US" altLang="zh-CN" sz="3200" b="1" i="1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sSubSup>
                        <m:sSubSupPr>
                          <m:ctrlPr>
                            <a:rPr lang="en-US" altLang="zh-CN" sz="3200" b="1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zh-CN" sz="3200" b="1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𝑪</m:t>
                          </m:r>
                        </m:e>
                        <m:sub>
                          <m:r>
                            <a:rPr lang="en-US" altLang="zh-CN" sz="3200" b="1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𝟐</m:t>
                          </m:r>
                        </m:sub>
                        <m:sup>
                          <m:r>
                            <a:rPr lang="en-US" altLang="zh-CN" sz="3200" b="1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𝟐</m:t>
                          </m:r>
                        </m:sup>
                      </m:sSubSup>
                      <m:r>
                        <a:rPr lang="en-US" altLang="zh-CN" sz="3200" b="1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𝑫𝒀</m:t>
                      </m:r>
                    </m:oMath>
                  </m:oMathPara>
                </a14:m>
                <a:endParaRPr lang="zh-CN" altLang="en-US" sz="3200" b="1" dirty="0">
                  <a:solidFill>
                    <a:srgbClr val="0070C0"/>
                  </a:solidFill>
                </a:endParaRPr>
              </a:p>
            </p:txBody>
          </p:sp>
        </mc:Choice>
        <mc:Fallback>
          <p:sp>
            <p:nvSpPr>
              <p:cNvPr id="9" name="矩形 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48668" y="2240403"/>
                <a:ext cx="2949910" cy="616579"/>
              </a:xfrm>
              <a:prstGeom prst="rect">
                <a:avLst/>
              </a:prstGeom>
              <a:blipFill rotWithShape="1">
                <a:blip r:embed="rId7"/>
                <a:stretch>
                  <a:fillRect l="-12" t="-20" r="1" b="1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0" name="文本框 9"/>
              <p:cNvSpPr txBox="1"/>
              <p:nvPr/>
            </p:nvSpPr>
            <p:spPr>
              <a:xfrm>
                <a:off x="852742" y="4090607"/>
                <a:ext cx="10330136" cy="58477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altLang="zh-CN" sz="3200" b="1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𝑪𝒐𝒗</m:t>
                    </m:r>
                    <m:d>
                      <m:dPr>
                        <m:ctrlPr>
                          <a:rPr lang="en-US" altLang="zh-CN" sz="3200" b="1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3200" b="1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𝑿</m:t>
                        </m:r>
                        <m:r>
                          <a:rPr lang="en-US" altLang="zh-CN" sz="3200" b="1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zh-CN" sz="3200" b="1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𝑿</m:t>
                        </m:r>
                      </m:e>
                    </m:d>
                    <m:r>
                      <a:rPr lang="en-US" altLang="zh-CN" sz="3200" b="1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sz="3200" b="1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𝑫𝑿</m:t>
                    </m:r>
                    <m:r>
                      <a:rPr lang="en-US" altLang="zh-CN" sz="3200" b="1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;</m:t>
                    </m:r>
                    <m:r>
                      <a:rPr lang="en-US" altLang="zh-CN" sz="3200" b="1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𝑪𝒐𝒄</m:t>
                    </m:r>
                    <m:d>
                      <m:dPr>
                        <m:ctrlPr>
                          <a:rPr lang="en-US" altLang="zh-CN" sz="3200" b="1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3200" b="1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𝑿</m:t>
                        </m:r>
                        <m:r>
                          <a:rPr lang="en-US" altLang="zh-CN" sz="3200" b="1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zh-CN" sz="3200" b="1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𝑪</m:t>
                        </m:r>
                      </m:e>
                    </m:d>
                    <m:r>
                      <a:rPr lang="en-US" altLang="zh-CN" sz="3200" b="1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sz="3200" b="1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𝟎</m:t>
                    </m:r>
                    <m:r>
                      <a:rPr lang="en-US" altLang="zh-CN" sz="3200" b="1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;</m:t>
                    </m:r>
                  </m:oMath>
                </a14:m>
                <a:r>
                  <a:rPr lang="en-US" altLang="zh-CN" sz="3200" b="1" dirty="0" smtClean="0">
                    <a:solidFill>
                      <a:srgbClr val="0070C0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sz="3200" b="1" i="1" dirty="0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𝑪𝒐𝒗</m:t>
                    </m:r>
                    <m:d>
                      <m:dPr>
                        <m:ctrlPr>
                          <a:rPr lang="en-US" altLang="zh-CN" sz="3200" b="1" i="1" dirty="0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3200" b="1" i="1" dirty="0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𝑿</m:t>
                        </m:r>
                        <m:r>
                          <a:rPr lang="en-US" altLang="zh-CN" sz="3200" b="1" i="1" dirty="0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zh-CN" sz="3200" b="1" i="1" dirty="0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𝒀</m:t>
                        </m:r>
                      </m:e>
                    </m:d>
                    <m:r>
                      <a:rPr lang="en-US" altLang="zh-CN" sz="3200" b="1" i="1" dirty="0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sz="3200" b="1" i="1" dirty="0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𝑪𝒐𝒗</m:t>
                    </m:r>
                    <m:d>
                      <m:dPr>
                        <m:ctrlPr>
                          <a:rPr lang="en-US" altLang="zh-CN" sz="3200" b="1" i="1" dirty="0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3200" b="1" i="1" dirty="0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𝒀</m:t>
                        </m:r>
                        <m:r>
                          <a:rPr lang="en-US" altLang="zh-CN" sz="3200" b="1" i="1" dirty="0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zh-CN" sz="3200" b="1" i="1" dirty="0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𝑿</m:t>
                        </m:r>
                      </m:e>
                    </m:d>
                    <m:r>
                      <a:rPr lang="en-US" altLang="zh-CN" sz="3200" b="1" i="1" dirty="0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;</m:t>
                    </m:r>
                  </m:oMath>
                </a14:m>
                <a:endParaRPr lang="zh-CN" altLang="en-US" sz="3200" b="1" dirty="0">
                  <a:solidFill>
                    <a:srgbClr val="0070C0"/>
                  </a:solidFill>
                </a:endParaRPr>
              </a:p>
            </p:txBody>
          </p:sp>
        </mc:Choice>
        <mc:Fallback>
          <p:sp>
            <p:nvSpPr>
              <p:cNvPr id="10" name="文本框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2742" y="4090607"/>
                <a:ext cx="10330136" cy="584775"/>
              </a:xfrm>
              <a:prstGeom prst="rect">
                <a:avLst/>
              </a:prstGeom>
              <a:blipFill rotWithShape="1">
                <a:blip r:embed="rId8"/>
                <a:stretch>
                  <a:fillRect l="-6" t="-98" r="5" b="8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1" name="矩形 10"/>
              <p:cNvSpPr/>
              <p:nvPr/>
            </p:nvSpPr>
            <p:spPr>
              <a:xfrm>
                <a:off x="285599" y="4633482"/>
                <a:ext cx="11906401" cy="58477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3200" b="1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𝑪𝒐𝒗</m:t>
                      </m:r>
                      <m:d>
                        <m:dPr>
                          <m:ctrlPr>
                            <a:rPr lang="en-US" altLang="zh-CN" sz="3200" b="1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3200" b="1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𝒂𝑿</m:t>
                          </m:r>
                          <m:r>
                            <a:rPr lang="en-US" altLang="zh-CN" sz="3200" b="1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altLang="zh-CN" sz="3200" b="1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𝒃𝒀</m:t>
                          </m:r>
                          <m:r>
                            <a:rPr lang="en-US" altLang="zh-CN" sz="3200" b="1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CN" sz="3200" b="1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𝒄𝑿</m:t>
                          </m:r>
                          <m:r>
                            <a:rPr lang="en-US" altLang="zh-CN" sz="3200" b="1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altLang="zh-CN" sz="3200" b="1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𝒅𝒀</m:t>
                          </m:r>
                        </m:e>
                      </m:d>
                      <m:r>
                        <a:rPr lang="en-US" altLang="zh-CN" sz="3200" b="1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sz="3200" b="1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𝒂𝒄𝑫𝑿</m:t>
                      </m:r>
                      <m:r>
                        <a:rPr lang="en-US" altLang="zh-CN" sz="3200" b="1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zh-CN" sz="3200" b="1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𝒃𝒅𝑫𝒀</m:t>
                      </m:r>
                      <m:r>
                        <a:rPr lang="en-US" altLang="zh-CN" sz="3200" b="1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d>
                        <m:dPr>
                          <m:ctrlPr>
                            <a:rPr lang="en-US" altLang="zh-CN" sz="3200" b="1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3200" b="1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𝒂𝒅</m:t>
                          </m:r>
                          <m:r>
                            <a:rPr lang="en-US" altLang="zh-CN" sz="3200" b="1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altLang="zh-CN" sz="3200" b="1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𝒃𝒄</m:t>
                          </m:r>
                        </m:e>
                      </m:d>
                      <m:r>
                        <a:rPr lang="en-US" altLang="zh-CN" sz="3200" b="1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𝒄𝒐𝒗</m:t>
                      </m:r>
                      <m:r>
                        <a:rPr lang="en-US" altLang="zh-CN" sz="3200" b="1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altLang="zh-CN" sz="3200" b="1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𝑿</m:t>
                      </m:r>
                      <m:r>
                        <a:rPr lang="en-US" altLang="zh-CN" sz="3200" b="1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altLang="zh-CN" sz="3200" b="1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𝒀</m:t>
                      </m:r>
                      <m:r>
                        <a:rPr lang="en-US" altLang="zh-CN" sz="3200" b="1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zh-CN" altLang="en-US" sz="3200" b="1" dirty="0">
                  <a:solidFill>
                    <a:srgbClr val="0070C0"/>
                  </a:solidFill>
                </a:endParaRPr>
              </a:p>
            </p:txBody>
          </p:sp>
        </mc:Choice>
        <mc:Fallback>
          <p:sp>
            <p:nvSpPr>
              <p:cNvPr id="11" name="矩形 1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5599" y="4633482"/>
                <a:ext cx="11906401" cy="584775"/>
              </a:xfrm>
              <a:prstGeom prst="rect">
                <a:avLst/>
              </a:prstGeom>
              <a:blipFill rotWithShape="1">
                <a:blip r:embed="rId9"/>
                <a:stretch>
                  <a:fillRect l="-4" t="-89" b="7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2" name="文本框 11"/>
              <p:cNvSpPr txBox="1"/>
              <p:nvPr/>
            </p:nvSpPr>
            <p:spPr>
              <a:xfrm>
                <a:off x="1226302" y="5797825"/>
                <a:ext cx="3405035" cy="92845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zh-CN" altLang="en-US" sz="3600" b="1" dirty="0" smtClean="0"/>
                  <a:t>④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3600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sz="3600" b="1" i="1" smtClean="0">
                            <a:latin typeface="Cambria Math" panose="02040503050406030204" pitchFamily="18" charset="0"/>
                          </a:rPr>
                          <m:t>𝝆</m:t>
                        </m:r>
                      </m:e>
                      <m:sub>
                        <m:r>
                          <a:rPr lang="en-US" altLang="zh-CN" sz="3600" b="1" i="1" smtClean="0">
                            <a:latin typeface="Cambria Math" panose="02040503050406030204" pitchFamily="18" charset="0"/>
                          </a:rPr>
                          <m:t>𝑿𝒀</m:t>
                        </m:r>
                      </m:sub>
                    </m:sSub>
                    <m:r>
                      <a:rPr lang="en-US" altLang="zh-CN" sz="3600" b="1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zh-CN" sz="3600" b="1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sz="3600" b="1" i="1" smtClean="0">
                            <a:latin typeface="Cambria Math" panose="02040503050406030204" pitchFamily="18" charset="0"/>
                          </a:rPr>
                          <m:t>𝑪𝒐𝒗</m:t>
                        </m:r>
                        <m:r>
                          <a:rPr lang="en-US" altLang="zh-CN" sz="3600" b="1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altLang="zh-CN" sz="3600" b="1" i="1" smtClean="0">
                            <a:latin typeface="Cambria Math" panose="02040503050406030204" pitchFamily="18" charset="0"/>
                          </a:rPr>
                          <m:t>𝑿</m:t>
                        </m:r>
                        <m:r>
                          <a:rPr lang="en-US" altLang="zh-CN" sz="3600" b="1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zh-CN" sz="3600" b="1" i="1" smtClean="0">
                            <a:latin typeface="Cambria Math" panose="02040503050406030204" pitchFamily="18" charset="0"/>
                          </a:rPr>
                          <m:t>𝒀</m:t>
                        </m:r>
                        <m:r>
                          <a:rPr lang="en-US" altLang="zh-CN" sz="3600" b="1" i="1" smtClean="0"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US" altLang="zh-CN" sz="3600" b="1" i="1" smtClean="0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US" altLang="zh-CN" sz="3600" b="1" i="1" smtClean="0">
                                <a:latin typeface="Cambria Math" panose="02040503050406030204" pitchFamily="18" charset="0"/>
                              </a:rPr>
                              <m:t>𝑫𝑿</m:t>
                            </m:r>
                          </m:e>
                        </m:rad>
                        <m:rad>
                          <m:radPr>
                            <m:degHide m:val="on"/>
                            <m:ctrlPr>
                              <a:rPr lang="en-US" altLang="zh-CN" sz="3600" b="1" i="1" smtClean="0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US" altLang="zh-CN" sz="3600" b="1" i="1" smtClean="0">
                                <a:latin typeface="Cambria Math" panose="02040503050406030204" pitchFamily="18" charset="0"/>
                              </a:rPr>
                              <m:t>𝑫𝒀</m:t>
                            </m:r>
                          </m:e>
                        </m:rad>
                      </m:den>
                    </m:f>
                  </m:oMath>
                </a14:m>
                <a:endParaRPr lang="zh-CN" altLang="en-US" sz="3600" b="1" dirty="0"/>
              </a:p>
            </p:txBody>
          </p:sp>
        </mc:Choice>
        <mc:Fallback>
          <p:sp>
            <p:nvSpPr>
              <p:cNvPr id="12" name="文本框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26302" y="5797825"/>
                <a:ext cx="3405035" cy="928459"/>
              </a:xfrm>
              <a:prstGeom prst="rect">
                <a:avLst/>
              </a:prstGeom>
              <a:blipFill rotWithShape="1">
                <a:blip r:embed="rId10"/>
                <a:stretch>
                  <a:fillRect l="-3" t="-30" r="8" b="3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3" name="文本框 12"/>
              <p:cNvSpPr txBox="1"/>
              <p:nvPr/>
            </p:nvSpPr>
            <p:spPr>
              <a:xfrm>
                <a:off x="870175" y="1673670"/>
                <a:ext cx="7592207" cy="64633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3600" b="1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𝑫</m:t>
                      </m:r>
                      <m:d>
                        <m:dPr>
                          <m:ctrlPr>
                            <a:rPr lang="en-US" altLang="zh-CN" sz="3600" b="1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3600" b="1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𝑿</m:t>
                          </m:r>
                          <m:r>
                            <a:rPr lang="en-US" altLang="zh-CN" sz="3600" b="1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±</m:t>
                          </m:r>
                          <m:r>
                            <a:rPr lang="en-US" altLang="zh-CN" sz="3600" b="1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𝒀</m:t>
                          </m:r>
                        </m:e>
                      </m:d>
                      <m:r>
                        <a:rPr lang="en-US" altLang="zh-CN" sz="3600" b="1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sz="3600" b="1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𝑫𝑿</m:t>
                      </m:r>
                      <m:r>
                        <a:rPr lang="en-US" altLang="zh-CN" sz="3600" b="1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zh-CN" sz="3600" b="1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𝑫𝒀</m:t>
                      </m:r>
                      <m:r>
                        <a:rPr lang="en-US" altLang="zh-CN" sz="3600" b="1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±</m:t>
                      </m:r>
                      <m:r>
                        <a:rPr lang="en-US" altLang="zh-CN" sz="3600" b="1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𝟐</m:t>
                      </m:r>
                      <m:r>
                        <a:rPr lang="en-US" altLang="zh-CN" sz="3600" b="1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𝑪𝒐𝒗</m:t>
                      </m:r>
                      <m:r>
                        <a:rPr lang="en-US" altLang="zh-CN" sz="3600" b="1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</m:t>
                      </m:r>
                      <m:r>
                        <a:rPr lang="en-US" altLang="zh-CN" sz="3600" b="1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𝑿</m:t>
                      </m:r>
                      <m:r>
                        <a:rPr lang="en-US" altLang="zh-CN" sz="3600" b="1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</m:t>
                      </m:r>
                      <m:r>
                        <a:rPr lang="en-US" altLang="zh-CN" sz="3600" b="1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𝒀</m:t>
                      </m:r>
                      <m:r>
                        <a:rPr lang="en-US" altLang="zh-CN" sz="3600" b="1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zh-CN" altLang="en-US" sz="3600" b="1" dirty="0">
                  <a:solidFill>
                    <a:srgbClr val="0070C0"/>
                  </a:solidFill>
                </a:endParaRPr>
              </a:p>
            </p:txBody>
          </p:sp>
        </mc:Choice>
        <mc:Fallback>
          <p:sp>
            <p:nvSpPr>
              <p:cNvPr id="13" name="文本框 1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0175" y="1673670"/>
                <a:ext cx="7592207" cy="646331"/>
              </a:xfrm>
              <a:prstGeom prst="rect">
                <a:avLst/>
              </a:prstGeom>
              <a:blipFill rotWithShape="1">
                <a:blip r:embed="rId11"/>
                <a:stretch>
                  <a:fillRect l="-3" t="-69" r="5" b="5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4" name="文本框 13"/>
              <p:cNvSpPr txBox="1"/>
              <p:nvPr/>
            </p:nvSpPr>
            <p:spPr>
              <a:xfrm>
                <a:off x="1042783" y="5218257"/>
                <a:ext cx="8166210" cy="58477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altLang="zh-CN" sz="3200" b="1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𝑿</m:t>
                    </m:r>
                    <m:r>
                      <a:rPr lang="zh-CN" altLang="en-US" sz="3200" b="1" i="1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、</m:t>
                    </m:r>
                    <m:r>
                      <a:rPr lang="en-US" altLang="zh-CN" sz="3200" b="1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𝒀</m:t>
                    </m:r>
                  </m:oMath>
                </a14:m>
                <a:r>
                  <a:rPr lang="en-US" altLang="zh-CN" sz="3200" b="1" dirty="0" smtClean="0">
                    <a:solidFill>
                      <a:srgbClr val="0070C0"/>
                    </a:solidFill>
                  </a:rPr>
                  <a:t>id</a:t>
                </a:r>
                <a:r>
                  <a:rPr lang="zh-CN" altLang="en-US" sz="3200" b="1" dirty="0" smtClean="0">
                    <a:solidFill>
                      <a:srgbClr val="0070C0"/>
                    </a:solidFill>
                  </a:rPr>
                  <a:t>，</a:t>
                </a:r>
                <a14:m>
                  <m:oMath xmlns:m="http://schemas.openxmlformats.org/officeDocument/2006/math">
                    <m:r>
                      <a:rPr lang="en-US" altLang="zh-CN" sz="3200" b="1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𝑬</m:t>
                    </m:r>
                    <m:d>
                      <m:dPr>
                        <m:ctrlPr>
                          <a:rPr lang="en-US" altLang="zh-CN" sz="3200" b="1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3200" b="1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𝑿𝒀</m:t>
                        </m:r>
                      </m:e>
                    </m:d>
                    <m:r>
                      <a:rPr lang="en-US" altLang="zh-CN" sz="3200" b="1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sz="3200" b="1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𝑬𝑿</m:t>
                    </m:r>
                    <m:r>
                      <a:rPr lang="en-US" altLang="zh-CN" sz="3200" b="1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∙</m:t>
                    </m:r>
                    <m:r>
                      <a:rPr lang="en-US" altLang="zh-CN" sz="3200" b="1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𝑬𝒀</m:t>
                    </m:r>
                    <m:r>
                      <a:rPr lang="en-US" altLang="zh-CN" sz="3200" b="1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⇒</m:t>
                    </m:r>
                    <m:r>
                      <a:rPr lang="en-US" altLang="zh-CN" sz="3200" b="1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𝑪𝒐𝒗</m:t>
                    </m:r>
                    <m:d>
                      <m:dPr>
                        <m:ctrlPr>
                          <a:rPr lang="en-US" altLang="zh-CN" sz="3200" b="1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3200" b="1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𝑿</m:t>
                        </m:r>
                        <m:r>
                          <a:rPr lang="en-US" altLang="zh-CN" sz="3200" b="1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</m:t>
                        </m:r>
                        <m:r>
                          <a:rPr lang="en-US" altLang="zh-CN" sz="3200" b="1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𝒀</m:t>
                        </m:r>
                      </m:e>
                    </m:d>
                    <m:r>
                      <a:rPr lang="en-US" altLang="zh-CN" sz="3200" b="1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US" altLang="zh-CN" sz="3200" b="1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𝟎</m:t>
                    </m:r>
                  </m:oMath>
                </a14:m>
                <a:endParaRPr lang="zh-CN" altLang="en-US" sz="3200" b="1" dirty="0">
                  <a:solidFill>
                    <a:srgbClr val="0070C0"/>
                  </a:solidFill>
                </a:endParaRPr>
              </a:p>
            </p:txBody>
          </p:sp>
        </mc:Choice>
        <mc:Fallback>
          <p:sp>
            <p:nvSpPr>
              <p:cNvPr id="14" name="文本框 1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42783" y="5218257"/>
                <a:ext cx="8166210" cy="584775"/>
              </a:xfrm>
              <a:prstGeom prst="rect">
                <a:avLst/>
              </a:prstGeom>
              <a:blipFill rotWithShape="1">
                <a:blip r:embed="rId12"/>
                <a:stretch>
                  <a:fillRect l="-1" t="-79" r="3" b="6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  <p:bldP spid="5" grpId="0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</p:bld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Rectangle 9"/>
              <p:cNvSpPr>
                <a:spLocks noChangeArrowheads="1"/>
              </p:cNvSpPr>
              <p:nvPr/>
            </p:nvSpPr>
            <p:spPr bwMode="auto">
              <a:xfrm>
                <a:off x="492508" y="3180767"/>
                <a:ext cx="10925764" cy="147841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vert="horz" wrap="square" lIns="91440" tIns="45720" rIns="91440" bIns="45720" numCol="1" anchor="ctr" anchorCtr="0" compatLnSpc="1">
                <a:spAutoFit/>
              </a:bodyPr>
              <a:lstStyle>
                <a:lvl1pPr indent="212725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212725" algn="l" defTabSz="914400" rtl="0" eaLnBrk="0" fontAlgn="base" latinLnBrk="0" hangingPunct="0">
                  <a:lnSpc>
                    <a:spcPct val="15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r>
                  <a:rPr kumimoji="0" lang="en-US" altLang="zh-CN" sz="3200" b="0" i="0" u="none" strike="noStrike" cap="none" normalizeH="0" baseline="0" dirty="0" smtClean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3</a:t>
                </a:r>
                <a:r>
                  <a:rPr kumimoji="0" lang="zh-CN" altLang="en-US" sz="3200" b="0" i="0" u="none" strike="noStrike" cap="none" normalizeH="0" baseline="0" dirty="0" smtClean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、</a:t>
                </a:r>
                <a:r>
                  <a:rPr kumimoji="0" lang="zh-CN" altLang="en-US" sz="3200" b="0" i="0" u="none" strike="noStrike" cap="none" normalizeH="0" baseline="0" dirty="0" smtClean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宋体" panose="02010600030101010101" pitchFamily="2" charset="-122"/>
                    <a:ea typeface="宋体" panose="02010600030101010101" pitchFamily="2" charset="-122"/>
                    <a:cs typeface="Times New Roman" panose="02020603050405020304" pitchFamily="18" charset="0"/>
                  </a:rPr>
                  <a:t>设</a:t>
                </a:r>
                <a:r>
                  <a:rPr kumimoji="0" lang="zh-CN" altLang="en-US" sz="3200" b="0" i="1" u="none" strike="noStrike" cap="none" normalizeH="0" baseline="0" dirty="0" smtClean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 </a:t>
                </a:r>
                <a:r>
                  <a:rPr kumimoji="0" lang="en-US" altLang="zh-CN" sz="3200" b="0" i="1" u="none" strike="noStrike" cap="none" normalizeH="0" baseline="0" dirty="0" smtClean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X</a:t>
                </a:r>
                <a:r>
                  <a:rPr kumimoji="0" lang="zh-CN" altLang="en-US" sz="3200" b="0" i="1" u="none" strike="noStrike" cap="none" normalizeH="0" baseline="0" dirty="0" smtClean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、</a:t>
                </a:r>
                <a:r>
                  <a:rPr kumimoji="0" lang="en-US" altLang="zh-CN" sz="3200" b="0" i="1" u="none" strike="noStrike" cap="none" normalizeH="0" baseline="0" dirty="0" smtClean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Y</a:t>
                </a:r>
                <a:r>
                  <a:rPr kumimoji="0" lang="zh-CN" altLang="en-US" sz="3200" b="0" i="0" u="none" strike="noStrike" cap="none" normalizeH="0" baseline="0" dirty="0" smtClean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宋体" panose="02010600030101010101" pitchFamily="2" charset="-122"/>
                    <a:ea typeface="宋体" panose="02010600030101010101" pitchFamily="2" charset="-122"/>
                    <a:cs typeface="Times New Roman" panose="02020603050405020304" pitchFamily="18" charset="0"/>
                  </a:rPr>
                  <a:t>为两个相互独立的随机变量，</a:t>
                </a:r>
                <a14:m>
                  <m:oMath xmlns:m="http://schemas.openxmlformats.org/officeDocument/2006/math">
                    <m:r>
                      <a:rPr kumimoji="0" lang="en-US" altLang="zh-CN" sz="3200" b="0" i="1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𝐷𝑋</m:t>
                    </m:r>
                    <m:r>
                      <a:rPr kumimoji="0" lang="en-US" altLang="zh-CN" sz="3200" b="0" i="1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=</m:t>
                    </m:r>
                    <m:r>
                      <a:rPr kumimoji="0" lang="en-US" altLang="zh-CN" sz="3200" b="0" i="1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𝐷𝑌</m:t>
                    </m:r>
                    <m:r>
                      <a:rPr kumimoji="0" lang="en-US" altLang="zh-CN" sz="3200" b="0" i="1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=</m:t>
                    </m:r>
                    <m:r>
                      <a:rPr kumimoji="0" lang="en-US" altLang="zh-CN" sz="3200" b="0" i="1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1</m:t>
                    </m:r>
                    <m:r>
                      <a:rPr lang="zh-CN" altLang="en-US" sz="3200" i="1"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，</m:t>
                    </m:r>
                  </m:oMath>
                </a14:m>
                <a:r>
                  <a:rPr kumimoji="0" lang="zh-CN" altLang="en-US" sz="3200" b="0" i="0" u="none" strike="noStrike" cap="none" normalizeH="0" baseline="0" dirty="0" smtClean="0">
                    <a:ln>
                      <a:noFill/>
                    </a:ln>
                    <a:solidFill>
                      <a:schemeClr val="tx1"/>
                    </a:solidFill>
                    <a:effectLst/>
                  </a:rPr>
                  <a:t>则</a:t>
                </a:r>
                <a14:m>
                  <m:oMath xmlns:m="http://schemas.openxmlformats.org/officeDocument/2006/math">
                    <m:r>
                      <a:rPr kumimoji="0" lang="en-US" altLang="zh-CN" sz="3200" b="0" i="1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</a:rPr>
                      <m:t>𝐶𝑜𝑣</m:t>
                    </m:r>
                    <m:d>
                      <m:dPr>
                        <m:ctrlPr>
                          <a:rPr kumimoji="0" lang="en-US" altLang="zh-CN" sz="3200" b="0" i="1" u="none" strike="noStrike" cap="none" normalizeH="0" baseline="0" dirty="0" smtClean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kumimoji="0" lang="en-US" altLang="zh-CN" sz="3200" b="0" i="1" u="none" strike="noStrike" cap="none" normalizeH="0" baseline="0" dirty="0" smtClean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kumimoji="0" lang="en-US" altLang="zh-CN" sz="3200" b="0" i="1" u="none" strike="noStrike" cap="none" normalizeH="0" baseline="0" dirty="0" smtClean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</a:rPr>
                          <m:t>𝑋</m:t>
                        </m:r>
                        <m:r>
                          <a:rPr kumimoji="0" lang="en-US" altLang="zh-CN" sz="3200" b="0" i="1" u="none" strike="noStrike" cap="none" normalizeH="0" baseline="0" dirty="0" smtClean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kumimoji="0" lang="en-US" altLang="zh-CN" sz="3200" b="0" i="1" u="none" strike="noStrike" cap="none" normalizeH="0" baseline="0" dirty="0" smtClean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</a:rPr>
                          <m:t>𝑌</m:t>
                        </m:r>
                        <m:r>
                          <a:rPr kumimoji="0" lang="en-US" altLang="zh-CN" sz="3200" b="0" i="1" u="none" strike="noStrike" cap="none" normalizeH="0" baseline="0" dirty="0" smtClean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kumimoji="0" lang="en-US" altLang="zh-CN" sz="3200" b="0" i="1" u="none" strike="noStrike" cap="none" normalizeH="0" baseline="0" dirty="0" smtClean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</a:rPr>
                          <m:t>𝑋</m:t>
                        </m:r>
                        <m:r>
                          <a:rPr kumimoji="0" lang="en-US" altLang="zh-CN" sz="3200" b="0" i="1" u="none" strike="noStrike" cap="none" normalizeH="0" baseline="0" dirty="0" smtClean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kumimoji="0" lang="en-US" altLang="zh-CN" sz="3200" b="0" i="1" u="none" strike="noStrike" cap="none" normalizeH="0" baseline="0" dirty="0" smtClean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kumimoji="0" lang="en-US" altLang="zh-CN" sz="3200" b="0" i="1" u="none" strike="noStrike" cap="none" normalizeH="0" baseline="0" dirty="0" smtClean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</a:rPr>
                          <m:t>𝑌</m:t>
                        </m:r>
                      </m:e>
                    </m:d>
                    <m:r>
                      <a:rPr kumimoji="0" lang="en-US" altLang="zh-CN" sz="3200" b="0" i="1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endParaRPr kumimoji="0" lang="zh-CN" altLang="en-US" sz="3200" b="0" i="0" u="none" strike="noStrike" cap="none" normalizeH="0" baseline="0" dirty="0" smtClean="0">
                  <a:ln>
                    <a:noFill/>
                  </a:ln>
                  <a:solidFill>
                    <a:schemeClr val="tx1"/>
                  </a:solidFill>
                  <a:effectLst/>
                </a:endParaRPr>
              </a:p>
            </p:txBody>
          </p:sp>
        </mc:Choice>
        <mc:Fallback>
          <p:sp>
            <p:nvSpPr>
              <p:cNvPr id="3" name="Rectangle 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92508" y="3180767"/>
                <a:ext cx="10925764" cy="1478418"/>
              </a:xfrm>
              <a:prstGeom prst="rect">
                <a:avLst/>
              </a:prstGeom>
              <a:blipFill rotWithShape="1">
                <a:blip r:embed="rId1"/>
                <a:stretch>
                  <a:fillRect l="-4" t="-4" r="3" b="13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矩形 3"/>
          <p:cNvSpPr/>
          <p:nvPr/>
        </p:nvSpPr>
        <p:spPr>
          <a:xfrm>
            <a:off x="4567726" y="4257059"/>
            <a:ext cx="206017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u="sng" dirty="0" smtClean="0"/>
              <a:t>                              </a:t>
            </a:r>
            <a:endParaRPr lang="zh-CN" altLang="en-US" dirty="0"/>
          </a:p>
        </p:txBody>
      </p:sp>
      <p:sp>
        <p:nvSpPr>
          <p:cNvPr id="5" name="Rectangle 2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6" name="对象 5"/>
          <p:cNvGraphicFramePr>
            <a:graphicFrameLocks noChangeAspect="1"/>
          </p:cNvGraphicFramePr>
          <p:nvPr/>
        </p:nvGraphicFramePr>
        <p:xfrm>
          <a:off x="775062" y="5476978"/>
          <a:ext cx="10814757" cy="47834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620" name="" r:id="rId2" imgW="4953000" imgH="215900" progId="Equation.DSMT4">
                  <p:embed/>
                </p:oleObj>
              </mc:Choice>
              <mc:Fallback>
                <p:oleObj name="" r:id="rId2" imgW="4953000" imgH="215900" progId="Equation.DSMT4">
                  <p:embed/>
                  <p:pic>
                    <p:nvPicPr>
                      <p:cNvPr id="0" name="对象 9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75062" y="5476978"/>
                        <a:ext cx="10814757" cy="478345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Rectangle 7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9" name="对象 8"/>
          <p:cNvGraphicFramePr>
            <a:graphicFrameLocks noChangeAspect="1"/>
          </p:cNvGraphicFramePr>
          <p:nvPr/>
        </p:nvGraphicFramePr>
        <p:xfrm>
          <a:off x="607673" y="754004"/>
          <a:ext cx="10976653" cy="107089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621" name="" r:id="rId4" imgW="4686300" imgH="457200" progId="Equation.DSMT4">
                  <p:embed/>
                </p:oleObj>
              </mc:Choice>
              <mc:Fallback>
                <p:oleObj name="" r:id="rId4" imgW="4686300" imgH="457200" progId="Equation.DSMT4">
                  <p:embed/>
                  <p:pic>
                    <p:nvPicPr>
                      <p:cNvPr id="0" name="对象 9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7673" y="754004"/>
                        <a:ext cx="10976653" cy="1070893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mc:AlternateContent xmlns:mc="http://schemas.openxmlformats.org/markup-compatibility/2006">
        <mc:Choice xmlns:a14="http://schemas.microsoft.com/office/drawing/2010/main" Requires="a14">
          <p:sp>
            <p:nvSpPr>
              <p:cNvPr id="10" name="文本框 9"/>
              <p:cNvSpPr txBox="1"/>
              <p:nvPr/>
            </p:nvSpPr>
            <p:spPr>
              <a:xfrm>
                <a:off x="539926" y="2027080"/>
                <a:ext cx="3188180" cy="112248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320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3200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𝜌</m:t>
                          </m:r>
                        </m:e>
                        <m:sub>
                          <m:r>
                            <a:rPr lang="en-US" altLang="zh-CN" sz="3200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𝑋𝑌</m:t>
                          </m:r>
                        </m:sub>
                      </m:sSub>
                      <m:r>
                        <a:rPr lang="en-US" altLang="zh-CN" sz="3200" i="1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CN" sz="3200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sz="3200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𝐶𝑜𝑣</m:t>
                          </m:r>
                          <m:r>
                            <a:rPr lang="en-US" altLang="zh-CN" sz="3200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altLang="zh-CN" sz="3200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𝑋</m:t>
                          </m:r>
                          <m:r>
                            <a:rPr lang="en-US" altLang="zh-CN" sz="3200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CN" sz="3200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𝑌</m:t>
                          </m:r>
                          <m:r>
                            <a:rPr lang="en-US" altLang="zh-CN" sz="3200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num>
                        <m:den>
                          <m:rad>
                            <m:radPr>
                              <m:degHide m:val="on"/>
                              <m:ctrlPr>
                                <a:rPr lang="en-US" altLang="zh-CN" sz="3200" i="1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altLang="zh-CN" sz="3200" i="1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𝐷𝑋</m:t>
                              </m:r>
                            </m:e>
                          </m:rad>
                          <m:rad>
                            <m:radPr>
                              <m:degHide m:val="on"/>
                              <m:ctrlPr>
                                <a:rPr lang="en-US" altLang="zh-CN" sz="3200" i="1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altLang="zh-CN" sz="3200" i="1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𝐷𝑌</m:t>
                              </m:r>
                            </m:e>
                          </m:rad>
                        </m:den>
                      </m:f>
                    </m:oMath>
                  </m:oMathPara>
                </a14:m>
                <a:endParaRPr lang="zh-CN" altLang="en-US" sz="3200" dirty="0">
                  <a:solidFill>
                    <a:srgbClr val="0070C0"/>
                  </a:solidFill>
                </a:endParaRPr>
              </a:p>
            </p:txBody>
          </p:sp>
        </mc:Choice>
        <mc:Fallback>
          <p:sp>
            <p:nvSpPr>
              <p:cNvPr id="10" name="文本框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9926" y="2027080"/>
                <a:ext cx="3188180" cy="1122487"/>
              </a:xfrm>
              <a:prstGeom prst="rect">
                <a:avLst/>
              </a:prstGeom>
              <a:blipFill rotWithShape="1">
                <a:blip r:embed="rId6"/>
                <a:stretch>
                  <a:fillRect l="-6" t="-14" r="1" b="5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1" name="文本框 10"/>
              <p:cNvSpPr txBox="1"/>
              <p:nvPr/>
            </p:nvSpPr>
            <p:spPr>
              <a:xfrm>
                <a:off x="269673" y="1395722"/>
                <a:ext cx="6513578" cy="58477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3200" b="0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𝐷</m:t>
                      </m:r>
                      <m:d>
                        <m:dPr>
                          <m:ctrlPr>
                            <a:rPr lang="en-US" altLang="zh-CN" sz="3200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3200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𝑋</m:t>
                          </m:r>
                          <m:r>
                            <a:rPr lang="en-US" altLang="zh-CN" sz="3200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altLang="zh-CN" sz="3200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𝑌</m:t>
                          </m:r>
                        </m:e>
                      </m:d>
                      <m:r>
                        <a:rPr lang="en-US" altLang="zh-CN" sz="3200" b="0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sz="3200" b="0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𝐷𝑋</m:t>
                      </m:r>
                      <m:r>
                        <a:rPr lang="en-US" altLang="zh-CN" sz="3200" b="0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zh-CN" sz="3200" b="0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𝐷𝑌</m:t>
                      </m:r>
                      <m:r>
                        <a:rPr lang="en-US" altLang="zh-CN" sz="3200" b="0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altLang="zh-CN" sz="3200" b="0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en-US" altLang="zh-CN" sz="3200" b="0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𝐶𝑜𝑣</m:t>
                      </m:r>
                      <m:r>
                        <a:rPr lang="en-US" altLang="zh-CN" sz="3200" b="0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altLang="zh-CN" sz="3200" b="0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𝑋</m:t>
                      </m:r>
                      <m:r>
                        <a:rPr lang="en-US" altLang="zh-CN" sz="3200" b="0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altLang="zh-CN" sz="3200" b="0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𝑌</m:t>
                      </m:r>
                      <m:r>
                        <a:rPr lang="en-US" altLang="zh-CN" sz="3200" b="0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zh-CN" altLang="en-US" sz="3200" dirty="0">
                  <a:solidFill>
                    <a:srgbClr val="0070C0"/>
                  </a:solidFill>
                </a:endParaRPr>
              </a:p>
            </p:txBody>
          </p:sp>
        </mc:Choice>
        <mc:Fallback>
          <p:sp>
            <p:nvSpPr>
              <p:cNvPr id="11" name="文本框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9673" y="1395722"/>
                <a:ext cx="6513578" cy="584775"/>
              </a:xfrm>
              <a:prstGeom prst="rect">
                <a:avLst/>
              </a:prstGeom>
              <a:blipFill rotWithShape="1">
                <a:blip r:embed="rId7"/>
                <a:stretch>
                  <a:fillRect l="-7" t="-107" r="3" b="9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2" name="文本框 11"/>
              <p:cNvSpPr txBox="1"/>
              <p:nvPr/>
            </p:nvSpPr>
            <p:spPr>
              <a:xfrm>
                <a:off x="6480790" y="1395722"/>
                <a:ext cx="3558218" cy="58477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CN" altLang="en-US" sz="3200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⇒</m:t>
                      </m:r>
                      <m:r>
                        <a:rPr lang="en-US" altLang="zh-CN" sz="3200" b="0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𝐶𝑜𝑣</m:t>
                      </m:r>
                      <m:d>
                        <m:dPr>
                          <m:ctrlPr>
                            <a:rPr lang="en-US" altLang="zh-CN" sz="3200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3200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𝑋</m:t>
                          </m:r>
                          <m:r>
                            <a:rPr lang="en-US" altLang="zh-CN" sz="3200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CN" sz="3200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𝑌</m:t>
                          </m:r>
                        </m:e>
                      </m:d>
                      <m:r>
                        <a:rPr lang="en-US" altLang="zh-CN" sz="3200" b="0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=−</m:t>
                      </m:r>
                      <m:r>
                        <a:rPr lang="en-US" altLang="zh-CN" sz="3200" b="0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3</m:t>
                      </m:r>
                    </m:oMath>
                  </m:oMathPara>
                </a14:m>
                <a:endParaRPr lang="zh-CN" altLang="en-US" sz="3200" dirty="0">
                  <a:solidFill>
                    <a:srgbClr val="0070C0"/>
                  </a:solidFill>
                </a:endParaRPr>
              </a:p>
            </p:txBody>
          </p:sp>
        </mc:Choice>
        <mc:Fallback>
          <p:sp>
            <p:nvSpPr>
              <p:cNvPr id="12" name="文本框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80790" y="1395722"/>
                <a:ext cx="3558218" cy="584775"/>
              </a:xfrm>
              <a:prstGeom prst="rect">
                <a:avLst/>
              </a:prstGeom>
              <a:blipFill rotWithShape="1">
                <a:blip r:embed="rId8"/>
                <a:stretch>
                  <a:fillRect l="-17" t="-107" r="8" b="9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3" name="文本框 12"/>
              <p:cNvSpPr txBox="1"/>
              <p:nvPr/>
            </p:nvSpPr>
            <p:spPr>
              <a:xfrm>
                <a:off x="3582164" y="2185011"/>
                <a:ext cx="2166170" cy="79124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altLang="zh-CN" sz="3200" b="0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zh-CN" sz="3200" b="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sz="3200" b="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altLang="zh-CN" sz="3200" b="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US" altLang="zh-CN" sz="3200" b="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US" altLang="zh-CN" sz="3200" b="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×</m:t>
                        </m:r>
                        <m:r>
                          <a:rPr lang="en-US" altLang="zh-CN" sz="3200" b="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lang="en-US" altLang="zh-CN" sz="3200" dirty="0" smtClean="0">
                    <a:solidFill>
                      <a:srgbClr val="0070C0"/>
                    </a:solidFill>
                  </a:rPr>
                  <a:t>=-0.5</a:t>
                </a:r>
                <a:endParaRPr lang="zh-CN" altLang="en-US" sz="3200" dirty="0">
                  <a:solidFill>
                    <a:srgbClr val="0070C0"/>
                  </a:solidFill>
                </a:endParaRPr>
              </a:p>
            </p:txBody>
          </p:sp>
        </mc:Choice>
        <mc:Fallback>
          <p:sp>
            <p:nvSpPr>
              <p:cNvPr id="13" name="文本框 1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82164" y="2185011"/>
                <a:ext cx="2166170" cy="791242"/>
              </a:xfrm>
              <a:prstGeom prst="rect">
                <a:avLst/>
              </a:prstGeom>
              <a:blipFill rotWithShape="1">
                <a:blip r:embed="rId9"/>
                <a:stretch>
                  <a:fillRect l="-6" t="-77" r="14" b="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4" name="矩形 13"/>
              <p:cNvSpPr/>
              <p:nvPr/>
            </p:nvSpPr>
            <p:spPr>
              <a:xfrm>
                <a:off x="536806" y="4749147"/>
                <a:ext cx="3984039" cy="58477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3200" i="1" dirty="0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𝐶𝑜𝑣</m:t>
                      </m:r>
                      <m:d>
                        <m:dPr>
                          <m:ctrlPr>
                            <a:rPr lang="en-US" altLang="zh-CN" sz="3200" i="1" dirty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3200" i="1" dirty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US" altLang="zh-CN" sz="3200" i="1" dirty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𝑋</m:t>
                          </m:r>
                          <m:r>
                            <a:rPr lang="en-US" altLang="zh-CN" sz="3200" i="1" dirty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altLang="zh-CN" sz="3200" i="1" dirty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𝑌</m:t>
                          </m:r>
                          <m:r>
                            <a:rPr lang="en-US" altLang="zh-CN" sz="3200" i="1" dirty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CN" sz="3200" i="1" dirty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𝑋</m:t>
                          </m:r>
                          <m:r>
                            <a:rPr lang="en-US" altLang="zh-CN" sz="3200" i="1" dirty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altLang="zh-CN" sz="3200" i="1" dirty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US" altLang="zh-CN" sz="3200" i="1" dirty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𝑌</m:t>
                          </m:r>
                        </m:e>
                      </m:d>
                    </m:oMath>
                  </m:oMathPara>
                </a14:m>
                <a:endParaRPr lang="zh-CN" altLang="en-US" sz="3200" dirty="0">
                  <a:solidFill>
                    <a:srgbClr val="0070C0"/>
                  </a:solidFill>
                </a:endParaRPr>
              </a:p>
            </p:txBody>
          </p:sp>
        </mc:Choice>
        <mc:Fallback>
          <p:sp>
            <p:nvSpPr>
              <p:cNvPr id="14" name="矩形 1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6806" y="4749147"/>
                <a:ext cx="3984039" cy="584775"/>
              </a:xfrm>
              <a:prstGeom prst="rect">
                <a:avLst/>
              </a:prstGeom>
              <a:blipFill rotWithShape="1">
                <a:blip r:embed="rId10"/>
                <a:stretch>
                  <a:fillRect l="-6" t="-106" r="7" b="9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5" name="文本框 14"/>
              <p:cNvSpPr txBox="1"/>
              <p:nvPr/>
            </p:nvSpPr>
            <p:spPr>
              <a:xfrm>
                <a:off x="4183981" y="4722211"/>
                <a:ext cx="5465471" cy="58477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3200" b="1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sz="3200" b="1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𝟐</m:t>
                      </m:r>
                      <m:r>
                        <a:rPr lang="en-US" altLang="zh-CN" sz="3200" b="1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𝑫𝑿</m:t>
                      </m:r>
                      <m:r>
                        <a:rPr lang="en-US" altLang="zh-CN" sz="3200" b="1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altLang="zh-CN" sz="3200" b="1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𝟐</m:t>
                      </m:r>
                      <m:r>
                        <a:rPr lang="en-US" altLang="zh-CN" sz="3200" b="1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𝑫𝒀</m:t>
                      </m:r>
                      <m:r>
                        <a:rPr lang="en-US" altLang="zh-CN" sz="3200" b="1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altLang="zh-CN" sz="3200" b="1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𝟑</m:t>
                      </m:r>
                      <m:r>
                        <a:rPr lang="en-US" altLang="zh-CN" sz="3200" b="1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𝑪𝒐𝒗</m:t>
                      </m:r>
                      <m:r>
                        <a:rPr lang="en-US" altLang="zh-CN" sz="3200" b="1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altLang="zh-CN" sz="3200" b="1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𝑿</m:t>
                      </m:r>
                      <m:r>
                        <a:rPr lang="en-US" altLang="zh-CN" sz="3200" b="1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altLang="zh-CN" sz="3200" b="1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𝒀</m:t>
                      </m:r>
                      <m:r>
                        <a:rPr lang="en-US" altLang="zh-CN" sz="3200" b="1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zh-CN" altLang="en-US" sz="3200" b="1" dirty="0">
                  <a:solidFill>
                    <a:srgbClr val="0070C0"/>
                  </a:solidFill>
                </a:endParaRPr>
              </a:p>
            </p:txBody>
          </p:sp>
        </mc:Choice>
        <mc:Fallback>
          <p:sp>
            <p:nvSpPr>
              <p:cNvPr id="15" name="文本框 1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83981" y="4722211"/>
                <a:ext cx="5465471" cy="584775"/>
              </a:xfrm>
              <a:prstGeom prst="rect">
                <a:avLst/>
              </a:prstGeom>
              <a:blipFill rotWithShape="1">
                <a:blip r:embed="rId11"/>
                <a:stretch>
                  <a:fillRect l="-11" t="-60" r="11" b="5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6" name="文本框 15"/>
              <p:cNvSpPr txBox="1"/>
              <p:nvPr/>
            </p:nvSpPr>
            <p:spPr>
              <a:xfrm>
                <a:off x="9404894" y="4749147"/>
                <a:ext cx="872226" cy="49244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3200" b="1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sz="3200" b="1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𝟎</m:t>
                      </m:r>
                    </m:oMath>
                  </m:oMathPara>
                </a14:m>
                <a:endParaRPr lang="zh-CN" altLang="en-US" sz="3200" b="1" dirty="0">
                  <a:solidFill>
                    <a:srgbClr val="0070C0"/>
                  </a:solidFill>
                </a:endParaRPr>
              </a:p>
            </p:txBody>
          </p:sp>
        </mc:Choice>
        <mc:Fallback>
          <p:sp>
            <p:nvSpPr>
              <p:cNvPr id="16" name="文本框 1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404894" y="4749147"/>
                <a:ext cx="872226" cy="492443"/>
              </a:xfrm>
              <a:prstGeom prst="rect">
                <a:avLst/>
              </a:prstGeom>
              <a:blipFill rotWithShape="1">
                <a:blip r:embed="rId12"/>
                <a:stretch>
                  <a:fillRect l="-62" t="-125" r="32" b="6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" name="文本框 16"/>
          <p:cNvSpPr txBox="1"/>
          <p:nvPr/>
        </p:nvSpPr>
        <p:spPr>
          <a:xfrm>
            <a:off x="10911402" y="1271697"/>
            <a:ext cx="54373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 smtClean="0"/>
              <a:t>√</a:t>
            </a:r>
            <a:endParaRPr lang="zh-CN" altLang="en-US" sz="2800" b="1" dirty="0"/>
          </a:p>
        </p:txBody>
      </p:sp>
      <p:sp>
        <p:nvSpPr>
          <p:cNvPr id="18" name="文本框 17"/>
          <p:cNvSpPr txBox="1"/>
          <p:nvPr/>
        </p:nvSpPr>
        <p:spPr>
          <a:xfrm>
            <a:off x="5153903" y="3933159"/>
            <a:ext cx="40107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3200" dirty="0" smtClean="0"/>
              <a:t>0</a:t>
            </a:r>
            <a:endParaRPr lang="zh-CN" altLang="en-US" sz="32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9" name="文本框 18"/>
              <p:cNvSpPr txBox="1"/>
              <p:nvPr/>
            </p:nvSpPr>
            <p:spPr>
              <a:xfrm>
                <a:off x="775062" y="5954514"/>
                <a:ext cx="6513578" cy="58477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3200" b="0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𝐷</m:t>
                      </m:r>
                      <m:d>
                        <m:dPr>
                          <m:ctrlPr>
                            <a:rPr lang="en-US" altLang="zh-CN" sz="3200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3200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𝑋</m:t>
                          </m:r>
                          <m:r>
                            <a:rPr lang="en-US" altLang="zh-CN" sz="3200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altLang="zh-CN" sz="3200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𝑌</m:t>
                          </m:r>
                        </m:e>
                      </m:d>
                      <m:r>
                        <a:rPr lang="en-US" altLang="zh-CN" sz="3200" b="0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sz="3200" b="0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𝐷𝑋</m:t>
                      </m:r>
                      <m:r>
                        <a:rPr lang="en-US" altLang="zh-CN" sz="3200" b="0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zh-CN" sz="3200" b="0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𝐷𝑌</m:t>
                      </m:r>
                      <m:r>
                        <a:rPr lang="en-US" altLang="zh-CN" sz="3200" b="0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altLang="zh-CN" sz="3200" b="0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en-US" altLang="zh-CN" sz="3200" b="0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𝐶𝑜𝑣</m:t>
                      </m:r>
                      <m:r>
                        <a:rPr lang="en-US" altLang="zh-CN" sz="3200" b="0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altLang="zh-CN" sz="3200" b="0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𝑋</m:t>
                      </m:r>
                      <m:r>
                        <a:rPr lang="en-US" altLang="zh-CN" sz="3200" b="0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altLang="zh-CN" sz="3200" b="0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𝑌</m:t>
                      </m:r>
                      <m:r>
                        <a:rPr lang="en-US" altLang="zh-CN" sz="3200" b="0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zh-CN" altLang="en-US" sz="3200" dirty="0">
                  <a:solidFill>
                    <a:srgbClr val="0070C0"/>
                  </a:solidFill>
                </a:endParaRPr>
              </a:p>
            </p:txBody>
          </p:sp>
        </mc:Choice>
        <mc:Fallback>
          <p:sp>
            <p:nvSpPr>
              <p:cNvPr id="19" name="文本框 1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5062" y="5954514"/>
                <a:ext cx="6513578" cy="584775"/>
              </a:xfrm>
              <a:prstGeom prst="rect">
                <a:avLst/>
              </a:prstGeom>
              <a:blipFill rotWithShape="1">
                <a:blip r:embed="rId7"/>
                <a:stretch>
                  <a:fillRect l="-6" t="-20" r="2" b="1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0" name="文本框 19"/>
              <p:cNvSpPr txBox="1"/>
              <p:nvPr/>
            </p:nvSpPr>
            <p:spPr>
              <a:xfrm>
                <a:off x="7025076" y="5916236"/>
                <a:ext cx="3252044" cy="58477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CN" altLang="en-US" sz="3200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⇒</m:t>
                      </m:r>
                      <m:r>
                        <a:rPr lang="en-US" altLang="zh-CN" sz="3200" b="0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𝐶𝑜𝑣</m:t>
                      </m:r>
                      <m:d>
                        <m:dPr>
                          <m:ctrlPr>
                            <a:rPr lang="en-US" altLang="zh-CN" sz="3200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3200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𝑋</m:t>
                          </m:r>
                          <m:r>
                            <a:rPr lang="en-US" altLang="zh-CN" sz="3200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CN" sz="3200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𝑌</m:t>
                          </m:r>
                        </m:e>
                      </m:d>
                      <m:r>
                        <a:rPr lang="en-US" altLang="zh-CN" sz="3200" b="0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sz="3200" b="0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zh-CN" altLang="en-US" sz="3200" dirty="0">
                  <a:solidFill>
                    <a:srgbClr val="0070C0"/>
                  </a:solidFill>
                </a:endParaRPr>
              </a:p>
            </p:txBody>
          </p:sp>
        </mc:Choice>
        <mc:Fallback>
          <p:sp>
            <p:nvSpPr>
              <p:cNvPr id="20" name="文本框 1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25076" y="5916236"/>
                <a:ext cx="3252044" cy="584775"/>
              </a:xfrm>
              <a:prstGeom prst="rect">
                <a:avLst/>
              </a:prstGeom>
              <a:blipFill rotWithShape="1">
                <a:blip r:embed="rId13"/>
                <a:stretch>
                  <a:fillRect l="-2" t="-98" r="9" b="8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1" name="矩形 20"/>
          <p:cNvSpPr/>
          <p:nvPr/>
        </p:nvSpPr>
        <p:spPr>
          <a:xfrm>
            <a:off x="10948272" y="5423762"/>
            <a:ext cx="596638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3200" b="1" dirty="0" smtClean="0"/>
              <a:t>×</a:t>
            </a:r>
            <a:endParaRPr lang="zh-CN" altLang="en-US" sz="3200" b="1" dirty="0"/>
          </a:p>
        </p:txBody>
      </p:sp>
      <p:sp>
        <p:nvSpPr>
          <p:cNvPr id="22" name="文本框 17"/>
          <p:cNvSpPr txBox="1"/>
          <p:nvPr/>
        </p:nvSpPr>
        <p:spPr>
          <a:xfrm>
            <a:off x="613592" y="664218"/>
            <a:ext cx="646331" cy="646331"/>
          </a:xfrm>
          <a:prstGeom prst="rect">
            <a:avLst/>
          </a:prstGeom>
          <a:solidFill>
            <a:srgbClr val="92D050"/>
          </a:solidFill>
        </p:spPr>
        <p:txBody>
          <a:bodyPr wrap="none" rtlCol="0">
            <a:spAutoFit/>
          </a:bodyPr>
          <a:lstStyle/>
          <a:p>
            <a:r>
              <a:rPr lang="zh-CN" altLang="en-US" sz="3600" dirty="0" smtClean="0">
                <a:solidFill>
                  <a:srgbClr val="FFFF00"/>
                </a:solidFill>
              </a:rPr>
              <a:t>例</a:t>
            </a:r>
            <a:endParaRPr lang="zh-CN" altLang="en-US" sz="3600" dirty="0">
              <a:solidFill>
                <a:srgbClr val="FFFF00"/>
              </a:solidFill>
            </a:endParaRPr>
          </a:p>
        </p:txBody>
      </p:sp>
      <p:sp>
        <p:nvSpPr>
          <p:cNvPr id="23" name="文本框 17"/>
          <p:cNvSpPr txBox="1"/>
          <p:nvPr/>
        </p:nvSpPr>
        <p:spPr>
          <a:xfrm>
            <a:off x="626323" y="3286828"/>
            <a:ext cx="646331" cy="646331"/>
          </a:xfrm>
          <a:prstGeom prst="rect">
            <a:avLst/>
          </a:prstGeom>
          <a:solidFill>
            <a:srgbClr val="92D050"/>
          </a:solidFill>
        </p:spPr>
        <p:txBody>
          <a:bodyPr wrap="none" rtlCol="0">
            <a:spAutoFit/>
          </a:bodyPr>
          <a:lstStyle/>
          <a:p>
            <a:r>
              <a:rPr lang="zh-CN" altLang="en-US" sz="3600" dirty="0" smtClean="0">
                <a:solidFill>
                  <a:srgbClr val="FFFF00"/>
                </a:solidFill>
              </a:rPr>
              <a:t>例</a:t>
            </a:r>
            <a:endParaRPr lang="zh-CN" altLang="en-US" sz="3600" dirty="0">
              <a:solidFill>
                <a:srgbClr val="FFFF00"/>
              </a:solidFill>
            </a:endParaRPr>
          </a:p>
        </p:txBody>
      </p:sp>
      <p:sp>
        <p:nvSpPr>
          <p:cNvPr id="24" name="文本框 17"/>
          <p:cNvSpPr txBox="1"/>
          <p:nvPr/>
        </p:nvSpPr>
        <p:spPr>
          <a:xfrm>
            <a:off x="714951" y="5333922"/>
            <a:ext cx="646331" cy="646331"/>
          </a:xfrm>
          <a:prstGeom prst="rect">
            <a:avLst/>
          </a:prstGeom>
          <a:solidFill>
            <a:srgbClr val="92D050"/>
          </a:solidFill>
        </p:spPr>
        <p:txBody>
          <a:bodyPr wrap="none" rtlCol="0">
            <a:spAutoFit/>
          </a:bodyPr>
          <a:lstStyle/>
          <a:p>
            <a:r>
              <a:rPr lang="zh-CN" altLang="en-US" sz="3600" dirty="0" smtClean="0">
                <a:solidFill>
                  <a:srgbClr val="FFFF00"/>
                </a:solidFill>
              </a:rPr>
              <a:t>例</a:t>
            </a:r>
            <a:endParaRPr lang="zh-CN" altLang="en-US" sz="3600" dirty="0">
              <a:solidFill>
                <a:srgbClr val="FFFF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  <p:bldP spid="18" grpId="0"/>
      <p:bldP spid="19" grpId="0"/>
      <p:bldP spid="20" grpId="0"/>
      <p:bldP spid="21" grpId="0"/>
      <p:bldP spid="22" grpId="0" animBg="1"/>
      <p:bldP spid="23" grpId="0" animBg="1"/>
      <p:bldP spid="24" grpId="0" animBg="1"/>
    </p:bld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图片 3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950620" y="1226207"/>
            <a:ext cx="10290445" cy="1227489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10" name="文本框 9"/>
              <p:cNvSpPr txBox="1"/>
              <p:nvPr>
                <p:custDataLst>
                  <p:tags r:id="rId3"/>
                </p:custDataLst>
              </p:nvPr>
            </p:nvSpPr>
            <p:spPr>
              <a:xfrm>
                <a:off x="1425847" y="2624267"/>
                <a:ext cx="7611956" cy="58477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3200" b="1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𝒄𝒐𝒗</m:t>
                      </m:r>
                      <m:d>
                        <m:dPr>
                          <m:ctrlPr>
                            <a:rPr lang="en-US" altLang="zh-CN" sz="3200" b="1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3200" b="1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  <m:r>
                            <a:rPr lang="en-US" altLang="zh-CN" sz="3200" b="1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𝑿</m:t>
                          </m:r>
                          <m:r>
                            <a:rPr lang="en-US" altLang="zh-CN" sz="3200" b="1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altLang="zh-CN" sz="3200" b="1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  <m:r>
                            <a:rPr lang="en-US" altLang="zh-CN" sz="3200" b="1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CN" sz="3200" b="1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𝑿</m:t>
                          </m:r>
                          <m:r>
                            <a:rPr lang="en-US" altLang="zh-CN" sz="3200" b="1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altLang="zh-CN" sz="3200" b="1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𝒀</m:t>
                          </m:r>
                        </m:e>
                      </m:d>
                      <m:r>
                        <a:rPr lang="en-US" altLang="zh-CN" sz="3200" b="1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sz="3200" b="1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𝟐</m:t>
                      </m:r>
                      <m:r>
                        <a:rPr lang="en-US" altLang="zh-CN" sz="3200" b="1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𝑫𝑿</m:t>
                      </m:r>
                      <m:r>
                        <a:rPr lang="en-US" altLang="zh-CN" sz="3200" b="1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altLang="zh-CN" sz="3200" b="1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𝟐</m:t>
                      </m:r>
                      <m:r>
                        <a:rPr lang="en-US" altLang="zh-CN" sz="3200" b="1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𝒄𝒐𝒗</m:t>
                      </m:r>
                      <m:r>
                        <a:rPr lang="en-US" altLang="zh-CN" sz="3200" b="1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altLang="zh-CN" sz="3200" b="1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𝑿</m:t>
                      </m:r>
                      <m:r>
                        <a:rPr lang="en-US" altLang="zh-CN" sz="3200" b="1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altLang="zh-CN" sz="3200" b="1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𝒀</m:t>
                      </m:r>
                      <m:r>
                        <a:rPr lang="en-US" altLang="zh-CN" sz="3200" b="1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zh-CN" altLang="en-US" sz="3200" b="1" dirty="0">
                  <a:solidFill>
                    <a:srgbClr val="002060"/>
                  </a:solidFill>
                </a:endParaRPr>
              </a:p>
            </p:txBody>
          </p:sp>
        </mc:Choice>
        <mc:Fallback>
          <p:sp>
            <p:nvSpPr>
              <p:cNvPr id="10" name="文本框 9"/>
              <p:cNvSpPr txBox="1">
                <a:spLocks noRot="1" noChangeAspect="1" noMove="1" noResize="1" noEditPoints="1" noAdjustHandles="1" noChangeArrowheads="1" noChangeShapeType="1" noTextEdit="1"/>
              </p:cNvSpPr>
              <p:nvPr>
                <p:custDataLst>
                  <p:tags r:id="rId4"/>
                </p:custDataLst>
              </p:nvPr>
            </p:nvSpPr>
            <p:spPr>
              <a:xfrm>
                <a:off x="1425847" y="2624267"/>
                <a:ext cx="7611956" cy="584775"/>
              </a:xfrm>
              <a:prstGeom prst="rect">
                <a:avLst/>
              </a:prstGeom>
              <a:blipFill rotWithShape="1">
                <a:blip r:embed="rId5"/>
                <a:stretch>
                  <a:fillRect l="-4" t="-76" r="6" b="6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1" name="文本框 10"/>
              <p:cNvSpPr txBox="1"/>
              <p:nvPr>
                <p:custDataLst>
                  <p:tags r:id="rId6"/>
                </p:custDataLst>
              </p:nvPr>
            </p:nvSpPr>
            <p:spPr>
              <a:xfrm>
                <a:off x="4933625" y="1844520"/>
                <a:ext cx="271741" cy="492443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3200" b="1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𝟖</m:t>
                      </m:r>
                    </m:oMath>
                  </m:oMathPara>
                </a14:m>
                <a:endParaRPr lang="zh-CN" altLang="en-US" sz="3200" b="1" dirty="0">
                  <a:solidFill>
                    <a:srgbClr val="002060"/>
                  </a:solidFill>
                </a:endParaRPr>
              </a:p>
            </p:txBody>
          </p:sp>
        </mc:Choice>
        <mc:Fallback>
          <p:sp>
            <p:nvSpPr>
              <p:cNvPr id="11" name="文本框 10"/>
              <p:cNvSpPr txBox="1">
                <a:spLocks noRot="1" noChangeAspect="1" noMove="1" noResize="1" noEditPoints="1" noAdjustHandles="1" noChangeArrowheads="1" noChangeShapeType="1" noTextEdit="1"/>
              </p:cNvSpPr>
              <p:nvPr>
                <p:custDataLst>
                  <p:tags r:id="rId7"/>
                </p:custDataLst>
              </p:nvPr>
            </p:nvSpPr>
            <p:spPr>
              <a:xfrm>
                <a:off x="4933625" y="1844520"/>
                <a:ext cx="271741" cy="492443"/>
              </a:xfrm>
              <a:prstGeom prst="rect">
                <a:avLst/>
              </a:prstGeom>
              <a:blipFill rotWithShape="1">
                <a:blip r:embed="rId8"/>
                <a:stretch>
                  <a:fillRect l="-114" t="-97" r="100" b="3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文本框 8"/>
          <p:cNvSpPr txBox="1"/>
          <p:nvPr>
            <p:custDataLst>
              <p:tags r:id="rId9"/>
            </p:custDataLst>
          </p:nvPr>
        </p:nvSpPr>
        <p:spPr>
          <a:xfrm>
            <a:off x="950595" y="642620"/>
            <a:ext cx="4064000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3200" b="1">
                <a:gradFill>
                  <a:gsLst>
                    <a:gs pos="0">
                      <a:srgbClr val="007BD3"/>
                    </a:gs>
                    <a:gs pos="100000">
                      <a:srgbClr val="034373"/>
                    </a:gs>
                  </a:gsLst>
                  <a:lin scaled="0"/>
                </a:gradFill>
              </a:rPr>
              <a:t>练习</a:t>
            </a:r>
            <a:endParaRPr lang="zh-CN" altLang="en-US" sz="3200" b="1">
              <a:gradFill>
                <a:gsLst>
                  <a:gs pos="0">
                    <a:srgbClr val="007BD3"/>
                  </a:gs>
                  <a:gs pos="100000">
                    <a:srgbClr val="034373"/>
                  </a:gs>
                </a:gsLst>
                <a:lin scaled="0"/>
              </a:gra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1" grpId="0"/>
    </p:bld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sp>
        <p:nvSpPr>
          <p:cNvPr id="3" name="矩形 2"/>
          <p:cNvSpPr/>
          <p:nvPr/>
        </p:nvSpPr>
        <p:spPr>
          <a:xfrm>
            <a:off x="2483223" y="1072661"/>
            <a:ext cx="6096000" cy="3564437"/>
          </a:xfrm>
          <a:prstGeom prst="rect">
            <a:avLst/>
          </a:prstGeom>
        </p:spPr>
        <p:txBody>
          <a:bodyPr>
            <a:spAutoFit/>
          </a:bodyPr>
          <a:lstStyle/>
          <a:p>
            <a:pPr algn="just">
              <a:lnSpc>
                <a:spcPct val="200000"/>
              </a:lnSpc>
              <a:spcAft>
                <a:spcPts val="0"/>
              </a:spcAft>
            </a:pPr>
            <a:r>
              <a:rPr lang="zh-CN" altLang="zh-CN" sz="4000" b="1" kern="100" dirty="0">
                <a:latin typeface="等线" panose="02010600030101010101" pitchFamily="2" charset="-122"/>
                <a:cs typeface="Times New Roman" panose="02020603050405020304" pitchFamily="18" charset="0"/>
              </a:rPr>
              <a:t>第</a:t>
            </a:r>
            <a:r>
              <a:rPr lang="en-US" altLang="zh-CN" sz="4000" b="1" kern="100" dirty="0">
                <a:latin typeface="等线" panose="02010600030101010101" pitchFamily="2" charset="-122"/>
                <a:cs typeface="Times New Roman" panose="02020603050405020304" pitchFamily="18" charset="0"/>
              </a:rPr>
              <a:t>6</a:t>
            </a:r>
            <a:r>
              <a:rPr lang="zh-CN" altLang="zh-CN" sz="4000" b="1" kern="100" dirty="0">
                <a:latin typeface="等线" panose="02010600030101010101" pitchFamily="2" charset="-122"/>
                <a:cs typeface="Times New Roman" panose="02020603050405020304" pitchFamily="18" charset="0"/>
              </a:rPr>
              <a:t>章</a:t>
            </a:r>
            <a:r>
              <a:rPr lang="en-US" altLang="zh-CN" sz="4000" b="1" kern="100" dirty="0">
                <a:latin typeface="等线" panose="02010600030101010101" pitchFamily="2" charset="-122"/>
                <a:cs typeface="Times New Roman" panose="02020603050405020304" pitchFamily="18" charset="0"/>
              </a:rPr>
              <a:t>  </a:t>
            </a:r>
            <a:r>
              <a:rPr lang="zh-CN" altLang="zh-CN" sz="4000" b="1" kern="100" dirty="0">
                <a:latin typeface="等线" panose="02010600030101010101" pitchFamily="2" charset="-122"/>
                <a:cs typeface="Times New Roman" panose="02020603050405020304" pitchFamily="18" charset="0"/>
              </a:rPr>
              <a:t>极限定理</a:t>
            </a:r>
            <a:endParaRPr lang="zh-CN" altLang="zh-CN" sz="4000" b="1" kern="100" dirty="0">
              <a:latin typeface="等线" panose="02010600030101010101" pitchFamily="2" charset="-122"/>
              <a:cs typeface="Times New Roman" panose="02020603050405020304" pitchFamily="18" charset="0"/>
            </a:endParaRPr>
          </a:p>
          <a:p>
            <a:pPr algn="just">
              <a:lnSpc>
                <a:spcPct val="200000"/>
              </a:lnSpc>
              <a:spcAft>
                <a:spcPts val="0"/>
              </a:spcAft>
            </a:pPr>
            <a:r>
              <a:rPr lang="en-US" altLang="zh-CN" sz="4000" b="1" kern="100" dirty="0">
                <a:latin typeface="等线" panose="02010600030101010101" pitchFamily="2" charset="-122"/>
                <a:cs typeface="Times New Roman" panose="02020603050405020304" pitchFamily="18" charset="0"/>
              </a:rPr>
              <a:t>6.1</a:t>
            </a:r>
            <a:r>
              <a:rPr lang="zh-CN" altLang="zh-CN" sz="4000" b="1" kern="100" dirty="0">
                <a:latin typeface="等线" panose="02010600030101010101" pitchFamily="2" charset="-122"/>
                <a:cs typeface="Times New Roman" panose="02020603050405020304" pitchFamily="18" charset="0"/>
              </a:rPr>
              <a:t>大数定律</a:t>
            </a:r>
            <a:endParaRPr lang="zh-CN" altLang="zh-CN" sz="4000" b="1" kern="100" dirty="0">
              <a:latin typeface="等线" panose="02010600030101010101" pitchFamily="2" charset="-122"/>
              <a:cs typeface="Times New Roman" panose="02020603050405020304" pitchFamily="18" charset="0"/>
            </a:endParaRPr>
          </a:p>
          <a:p>
            <a:pPr algn="just">
              <a:lnSpc>
                <a:spcPct val="200000"/>
              </a:lnSpc>
              <a:spcAft>
                <a:spcPts val="0"/>
              </a:spcAft>
            </a:pPr>
            <a:r>
              <a:rPr lang="en-US" altLang="zh-CN" sz="4000" b="1" kern="100" dirty="0">
                <a:latin typeface="等线" panose="02010600030101010101" pitchFamily="2" charset="-122"/>
                <a:cs typeface="Times New Roman" panose="02020603050405020304" pitchFamily="18" charset="0"/>
              </a:rPr>
              <a:t>6.2</a:t>
            </a:r>
            <a:r>
              <a:rPr lang="zh-CN" altLang="zh-CN" sz="4000" b="1" kern="100" dirty="0">
                <a:latin typeface="等线" panose="02010600030101010101" pitchFamily="2" charset="-122"/>
                <a:cs typeface="Times New Roman" panose="02020603050405020304" pitchFamily="18" charset="0"/>
              </a:rPr>
              <a:t>中心极限定理</a:t>
            </a:r>
            <a:endParaRPr lang="zh-CN" altLang="zh-CN" sz="4000" b="1" kern="100" dirty="0">
              <a:latin typeface="等线" panose="02010600030101010101" pitchFamily="2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sp>
        <p:nvSpPr>
          <p:cNvPr id="3" name="Rectangle 2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文本框 4"/>
              <p:cNvSpPr txBox="1"/>
              <p:nvPr/>
            </p:nvSpPr>
            <p:spPr>
              <a:xfrm>
                <a:off x="815788" y="419725"/>
                <a:ext cx="8268251" cy="62293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zh-CN" altLang="en-US" sz="3200" b="1" i="1" smtClean="0">
                        <a:latin typeface="Cambria Math" panose="02040503050406030204" pitchFamily="18" charset="0"/>
                      </a:rPr>
                      <m:t>辛钦大数定律</m:t>
                    </m:r>
                  </m:oMath>
                </a14:m>
                <a:r>
                  <a:rPr lang="zh-CN" altLang="en-US" sz="3200" b="1" dirty="0" smtClean="0"/>
                  <a:t>：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3200" b="1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3200" b="1" i="1" dirty="0" smtClean="0">
                            <a:latin typeface="Cambria Math" panose="02040503050406030204" pitchFamily="18" charset="0"/>
                          </a:rPr>
                          <m:t>𝑿</m:t>
                        </m:r>
                      </m:e>
                      <m:sub>
                        <m:r>
                          <a:rPr lang="en-US" altLang="zh-CN" sz="3200" b="1" i="1" dirty="0" smtClean="0"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  <m:r>
                      <a:rPr lang="en-US" altLang="zh-CN" sz="3200" b="1" i="0" dirty="0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altLang="zh-CN" sz="3200" b="1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3200" b="1" i="1" dirty="0">
                            <a:latin typeface="Cambria Math" panose="02040503050406030204" pitchFamily="18" charset="0"/>
                          </a:rPr>
                          <m:t>𝑿</m:t>
                        </m:r>
                      </m:e>
                      <m:sub>
                        <m:r>
                          <a:rPr lang="en-US" altLang="zh-CN" sz="3200" b="1" i="1" dirty="0" smtClean="0">
                            <a:latin typeface="Cambria Math" panose="02040503050406030204" pitchFamily="18" charset="0"/>
                          </a:rPr>
                          <m:t>𝟐</m:t>
                        </m:r>
                      </m:sub>
                    </m:sSub>
                    <m:r>
                      <a:rPr lang="en-US" altLang="zh-CN" sz="3200" b="1" i="1" dirty="0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zh-CN" sz="3200" b="1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⋯,</m:t>
                    </m:r>
                    <m:sSub>
                      <m:sSubPr>
                        <m:ctrlPr>
                          <a:rPr lang="en-US" altLang="zh-CN" sz="3200" b="1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3200" b="1" i="1" dirty="0">
                            <a:latin typeface="Cambria Math" panose="02040503050406030204" pitchFamily="18" charset="0"/>
                          </a:rPr>
                          <m:t>𝑿</m:t>
                        </m:r>
                      </m:e>
                      <m:sub>
                        <m:r>
                          <a:rPr lang="en-US" altLang="zh-CN" sz="3200" b="1" i="1" dirty="0" smtClean="0">
                            <a:latin typeface="Cambria Math" panose="02040503050406030204" pitchFamily="18" charset="0"/>
                          </a:rPr>
                          <m:t>𝒏</m:t>
                        </m:r>
                      </m:sub>
                    </m:sSub>
                    <m:r>
                      <a:rPr lang="en-US" altLang="zh-CN" sz="3200" b="1" i="1" dirty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zh-CN" sz="3200" b="1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⋯</m:t>
                    </m:r>
                  </m:oMath>
                </a14:m>
                <a:r>
                  <a:rPr lang="en-US" altLang="zh-CN" sz="3200" b="1" dirty="0" err="1" smtClean="0"/>
                  <a:t>iid</a:t>
                </a:r>
                <a:r>
                  <a:rPr lang="zh-CN" altLang="en-US" sz="3200" b="1" dirty="0" smtClean="0"/>
                  <a:t>，则</a:t>
                </a:r>
                <a:endParaRPr lang="zh-CN" altLang="en-US" sz="3200" b="1" dirty="0"/>
              </a:p>
            </p:txBody>
          </p:sp>
        </mc:Choice>
        <mc:Fallback>
          <p:sp>
            <p:nvSpPr>
              <p:cNvPr id="5" name="文本框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5788" y="419725"/>
                <a:ext cx="8268251" cy="622935"/>
              </a:xfrm>
              <a:prstGeom prst="rect">
                <a:avLst/>
              </a:prstGeom>
              <a:blipFill rotWithShape="1">
                <a:blip r:embed="rId1"/>
                <a:stretch>
                  <a:fillRect l="-5" t="-100" r="4" b="10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" name="文本框 5"/>
              <p:cNvSpPr txBox="1"/>
              <p:nvPr/>
            </p:nvSpPr>
            <p:spPr>
              <a:xfrm>
                <a:off x="900097" y="1001313"/>
                <a:ext cx="4714875" cy="133921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altLang="zh-CN" sz="3200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sz="3200" b="1" i="1">
                              <a:latin typeface="Cambria Math" panose="02040503050406030204" pitchFamily="18" charset="0"/>
                            </a:rPr>
                            <m:t>𝟏</m:t>
                          </m:r>
                        </m:num>
                        <m:den>
                          <m:r>
                            <a:rPr lang="en-US" altLang="zh-CN" sz="3200" b="1" i="1">
                              <a:latin typeface="Cambria Math" panose="02040503050406030204" pitchFamily="18" charset="0"/>
                            </a:rPr>
                            <m:t>𝒏</m:t>
                          </m:r>
                        </m:den>
                      </m:f>
                      <m:nary>
                        <m:naryPr>
                          <m:chr m:val="∑"/>
                          <m:ctrlPr>
                            <a:rPr lang="zh-CN" altLang="en-US" sz="3200" b="1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altLang="zh-CN" sz="3200" b="1" i="1" smtClean="0">
                              <a:latin typeface="Cambria Math" panose="02040503050406030204" pitchFamily="18" charset="0"/>
                            </a:rPr>
                            <m:t>𝒊</m:t>
                          </m:r>
                          <m:r>
                            <a:rPr lang="en-US" altLang="zh-CN" sz="3200" b="1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altLang="zh-CN" sz="3200" b="1" i="1" smtClean="0"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  <m:sup>
                          <m:r>
                            <a:rPr lang="en-US" altLang="zh-CN" sz="3200" b="1" i="1" smtClean="0">
                              <a:latin typeface="Cambria Math" panose="02040503050406030204" pitchFamily="18" charset="0"/>
                            </a:rPr>
                            <m:t>𝒏</m:t>
                          </m:r>
                        </m:sup>
                        <m:e>
                          <m:sSub>
                            <m:sSubPr>
                              <m:ctrlPr>
                                <a:rPr lang="en-US" altLang="zh-CN" sz="3200" b="1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3200" b="1" i="1" smtClean="0">
                                  <a:latin typeface="Cambria Math" panose="02040503050406030204" pitchFamily="18" charset="0"/>
                                </a:rPr>
                                <m:t>𝑿</m:t>
                              </m:r>
                            </m:e>
                            <m:sub>
                              <m:r>
                                <a:rPr lang="en-US" altLang="zh-CN" sz="3200" b="1" i="1" smtClean="0">
                                  <a:latin typeface="Cambria Math" panose="02040503050406030204" pitchFamily="18" charset="0"/>
                                </a:rPr>
                                <m:t>𝒊</m:t>
                              </m:r>
                            </m:sub>
                          </m:sSub>
                        </m:e>
                      </m:nary>
                      <m:r>
                        <a:rPr lang="zh-CN" altLang="en-US" sz="3200" b="1" i="1">
                          <a:latin typeface="Cambria Math" panose="02040503050406030204" pitchFamily="18" charset="0"/>
                        </a:rPr>
                        <m:t>依概率收敛</m:t>
                      </m:r>
                      <m:r>
                        <a:rPr lang="zh-CN" altLang="en-US" sz="3200" b="1" i="1" smtClean="0">
                          <a:latin typeface="Cambria Math" panose="02040503050406030204" pitchFamily="18" charset="0"/>
                        </a:rPr>
                        <m:t>于</m:t>
                      </m:r>
                      <m:r>
                        <a:rPr lang="en-US" altLang="zh-CN" sz="3200" b="1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altLang="zh-CN" sz="32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𝑬</m:t>
                      </m:r>
                      <m:sSub>
                        <m:sSubPr>
                          <m:ctrlPr>
                            <a:rPr lang="en-US" altLang="zh-CN" sz="32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32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𝑿</m:t>
                          </m:r>
                        </m:e>
                        <m:sub>
                          <m:r>
                            <a:rPr lang="en-US" altLang="zh-CN" sz="32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𝒊</m:t>
                          </m:r>
                        </m:sub>
                      </m:sSub>
                      <m:r>
                        <a:rPr lang="en-US" altLang="zh-CN" sz="32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;</m:t>
                      </m:r>
                    </m:oMath>
                  </m:oMathPara>
                </a14:m>
                <a:endParaRPr lang="zh-CN" altLang="en-US" sz="3200" b="1" dirty="0"/>
              </a:p>
            </p:txBody>
          </p:sp>
        </mc:Choice>
        <mc:Fallback>
          <p:sp>
            <p:nvSpPr>
              <p:cNvPr id="6" name="文本框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0097" y="1001313"/>
                <a:ext cx="4714875" cy="1339215"/>
              </a:xfrm>
              <a:prstGeom prst="rect">
                <a:avLst/>
              </a:prstGeom>
              <a:blipFill rotWithShape="1">
                <a:blip r:embed="rId2"/>
                <a:stretch>
                  <a:fillRect l="-6" t="-41" r="-2189" b="4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1" name="文本框 10"/>
              <p:cNvSpPr txBox="1"/>
              <p:nvPr/>
            </p:nvSpPr>
            <p:spPr>
              <a:xfrm>
                <a:off x="5855458" y="994958"/>
                <a:ext cx="5460597" cy="151227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altLang="zh-CN" sz="36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sz="3600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altLang="zh-CN" sz="3600" i="1">
                              <a:latin typeface="Cambria Math" panose="02040503050406030204" pitchFamily="18" charset="0"/>
                            </a:rPr>
                            <m:t>𝑛</m:t>
                          </m:r>
                        </m:den>
                      </m:f>
                      <m:nary>
                        <m:naryPr>
                          <m:chr m:val="∑"/>
                          <m:ctrlPr>
                            <a:rPr lang="zh-CN" altLang="en-US" sz="360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altLang="zh-CN" sz="36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altLang="zh-CN" sz="3600" b="0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altLang="zh-CN" sz="36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US" altLang="zh-CN" sz="36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sSubSup>
                            <m:sSubSupPr>
                              <m:ctrlPr>
                                <a:rPr lang="en-US" altLang="zh-CN" sz="3600" i="1" smtClean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altLang="zh-CN" sz="3600" b="0" i="1" smtClean="0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  <m:sub>
                              <m:r>
                                <a:rPr lang="en-US" altLang="zh-CN" sz="36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  <m:sup>
                              <m:r>
                                <a:rPr lang="en-US" altLang="zh-CN" sz="36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bSup>
                        </m:e>
                      </m:nary>
                      <m:r>
                        <a:rPr lang="zh-CN" altLang="en-US" sz="3600" i="1">
                          <a:latin typeface="Cambria Math" panose="02040503050406030204" pitchFamily="18" charset="0"/>
                        </a:rPr>
                        <m:t>依概率收敛于</m:t>
                      </m:r>
                      <m:r>
                        <a:rPr lang="en-US" altLang="zh-CN" sz="3600" b="0" i="1" smtClean="0">
                          <a:latin typeface="Cambria Math" panose="02040503050406030204" pitchFamily="18" charset="0"/>
                        </a:rPr>
                        <m:t>𝐸</m:t>
                      </m:r>
                      <m:sSubSup>
                        <m:sSubSupPr>
                          <m:ctrlPr>
                            <a:rPr lang="en-US" altLang="zh-CN" sz="3600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zh-CN" sz="3600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b>
                          <m:r>
                            <a:rPr lang="en-US" altLang="zh-CN" sz="36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  <m:sup>
                          <m:r>
                            <a:rPr lang="en-US" altLang="zh-CN" sz="36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  <m:r>
                        <a:rPr lang="en-US" altLang="zh-CN" sz="3600" b="0" i="1" smtClean="0"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zh-CN" altLang="en-US" sz="3600" dirty="0"/>
              </a:p>
            </p:txBody>
          </p:sp>
        </mc:Choice>
        <mc:Fallback>
          <p:sp>
            <p:nvSpPr>
              <p:cNvPr id="11" name="文本框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55458" y="994958"/>
                <a:ext cx="5460597" cy="1512273"/>
              </a:xfrm>
              <a:prstGeom prst="rect">
                <a:avLst/>
              </a:prstGeom>
              <a:blipFill rotWithShape="1">
                <a:blip r:embed="rId3"/>
                <a:stretch>
                  <a:fillRect l="-2" t="-36" r="7" b="1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1" name="Rectangle 7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6" name="Rectangle 11"/>
              <p:cNvSpPr>
                <a:spLocks noChangeArrowheads="1"/>
              </p:cNvSpPr>
              <p:nvPr/>
            </p:nvSpPr>
            <p:spPr bwMode="auto">
              <a:xfrm>
                <a:off x="546399" y="2314199"/>
                <a:ext cx="10848739" cy="181588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vert="horz" wrap="none" lIns="91440" tIns="45720" rIns="91440" bIns="45720" numCol="1" anchor="ctr" anchorCtr="0" compatLnSpc="1">
                <a:spAutoFit/>
              </a:bodyPr>
              <a:lstStyle/>
              <a:p>
                <a:pPr indent="212725" eaLnBrk="0" fontAlgn="base" hangingPunct="0">
                  <a:lnSpc>
                    <a:spcPct val="20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kumimoji="0" lang="en-US" altLang="zh-CN" sz="2800" b="0" i="0" u="none" strike="noStrike" cap="none" normalizeH="0" baseline="0" dirty="0" smtClean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4</a:t>
                </a:r>
                <a:r>
                  <a:rPr kumimoji="0" lang="zh-CN" altLang="en-US" sz="2800" b="0" i="0" u="none" strike="noStrike" cap="none" normalizeH="0" baseline="0" dirty="0" smtClean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、</a:t>
                </a:r>
                <a14:m>
                  <m:oMath xmlns:m="http://schemas.openxmlformats.org/officeDocument/2006/math">
                    <m:r>
                      <a:rPr lang="zh-CN" altLang="en-US" sz="2800">
                        <a:latin typeface="Cambria Math" panose="02040503050406030204" pitchFamily="18" charset="0"/>
                      </a:rPr>
                      <m:t>设</m:t>
                    </m:r>
                    <m:sSub>
                      <m:sSubPr>
                        <m:ctrlPr>
                          <a:rPr lang="en-US" altLang="zh-CN" sz="28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800" i="1" dirty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altLang="zh-CN" sz="2800" i="1" dirty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CN" sz="2800" dirty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altLang="zh-CN" sz="28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800" i="1" dirty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altLang="zh-CN" sz="2800" i="1" dirty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zh-CN" sz="2800" i="1" dirty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zh-CN" sz="2800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⋯,</m:t>
                    </m:r>
                    <m:sSub>
                      <m:sSubPr>
                        <m:ctrlPr>
                          <a:rPr lang="en-US" altLang="zh-CN" sz="28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800" i="1" dirty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altLang="zh-CN" sz="2800" i="1" dirty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US" altLang="zh-CN" sz="2800" i="1" dirty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zh-CN" sz="2800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⋯</m:t>
                    </m:r>
                  </m:oMath>
                </a14:m>
                <a:r>
                  <a:rPr lang="zh-CN" altLang="zh-CN" sz="2800" dirty="0" smtClean="0"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为</a:t>
                </a:r>
                <a:r>
                  <a:rPr lang="zh-CN" altLang="zh-CN" sz="2800" dirty="0"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独立同分布的随机变量序列</a:t>
                </a:r>
                <a:r>
                  <a:rPr lang="zh-CN" altLang="zh-CN" sz="2800" dirty="0" smtClean="0"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，其</a:t>
                </a:r>
                <a:r>
                  <a:rPr lang="zh-CN" altLang="zh-CN" sz="2800" dirty="0"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共同的</a:t>
                </a:r>
                <a:r>
                  <a:rPr lang="zh-CN" altLang="zh-CN" sz="2800" dirty="0" smtClean="0"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概率</a:t>
                </a:r>
                <a:endParaRPr lang="en-US" altLang="zh-CN" sz="2800" dirty="0" smtClean="0"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endParaRPr>
              </a:p>
              <a:p>
                <a:pPr indent="212725" eaLnBrk="0" fontAlgn="base" hangingPunct="0">
                  <a:lnSpc>
                    <a:spcPct val="20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zh-CN" altLang="zh-CN" sz="2800" dirty="0" smtClean="0"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密度函数为</a:t>
                </a:r>
                <a:r>
                  <a:rPr lang="en-US" altLang="zh-CN" sz="2800" dirty="0" smtClean="0"/>
                  <a:t>                                       </a:t>
                </a:r>
                <a:r>
                  <a:rPr lang="zh-CN" altLang="en-US" sz="2800" dirty="0" smtClean="0"/>
                  <a:t>，</a:t>
                </a:r>
                <a:r>
                  <a:rPr lang="zh-CN" altLang="en-US" sz="2800" dirty="0" smtClean="0">
                    <a:latin typeface="Arial" panose="020B0604020202020204" pitchFamily="34" charset="0"/>
                  </a:rPr>
                  <a:t>则</a:t>
                </a:r>
                <a:endParaRPr kumimoji="0" lang="zh-CN" altLang="en-US" sz="2800" b="0" i="0" u="none" strike="noStrike" cap="none" normalizeH="0" baseline="0" dirty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</p:txBody>
          </p:sp>
        </mc:Choice>
        <mc:Fallback>
          <p:sp>
            <p:nvSpPr>
              <p:cNvPr id="26" name="Rectangle 1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46399" y="2314199"/>
                <a:ext cx="10848739" cy="1815882"/>
              </a:xfrm>
              <a:prstGeom prst="rect">
                <a:avLst/>
              </a:prstGeom>
              <a:blipFill rotWithShape="1">
                <a:blip r:embed="rId4"/>
                <a:stretch>
                  <a:fillRect l="-3" t="-14" r="1" b="2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24" name="对象 23"/>
          <p:cNvGraphicFramePr>
            <a:graphicFrameLocks noChangeAspect="1"/>
          </p:cNvGraphicFramePr>
          <p:nvPr/>
        </p:nvGraphicFramePr>
        <p:xfrm>
          <a:off x="2641310" y="3066299"/>
          <a:ext cx="3029804" cy="1371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910" name="" r:id="rId5" imgW="1422400" imgH="635000" progId="Equation.3">
                  <p:embed/>
                </p:oleObj>
              </mc:Choice>
              <mc:Fallback>
                <p:oleObj name="" r:id="rId5" imgW="1422400" imgH="635000" progId="Equation.3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41310" y="3066299"/>
                        <a:ext cx="3029804" cy="1371600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30" name="Rectangle 18"/>
          <p:cNvSpPr>
            <a:spLocks noChangeArrowheads="1"/>
          </p:cNvSpPr>
          <p:nvPr/>
        </p:nvSpPr>
        <p:spPr bwMode="auto">
          <a:xfrm>
            <a:off x="878541" y="5532757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31" name="对象 30"/>
          <p:cNvGraphicFramePr>
            <a:graphicFrameLocks noChangeAspect="1"/>
          </p:cNvGraphicFramePr>
          <p:nvPr/>
        </p:nvGraphicFramePr>
        <p:xfrm>
          <a:off x="419139" y="4427332"/>
          <a:ext cx="10132320" cy="235635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911" name="" r:id="rId7" imgW="4914900" imgH="1143000" progId="Equation.3">
                  <p:embed/>
                </p:oleObj>
              </mc:Choice>
              <mc:Fallback>
                <p:oleObj name="" r:id="rId7" imgW="4914900" imgH="1143000" progId="Equation.3">
                  <p:embed/>
                  <p:pic>
                    <p:nvPicPr>
                      <p:cNvPr id="0" name="对象 4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9139" y="4427332"/>
                        <a:ext cx="10132320" cy="2356354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32" name="Rectangle 14"/>
          <p:cNvSpPr>
            <a:spLocks noChangeArrowheads="1"/>
          </p:cNvSpPr>
          <p:nvPr/>
        </p:nvSpPr>
        <p:spPr bwMode="auto">
          <a:xfrm>
            <a:off x="7507850" y="3451190"/>
            <a:ext cx="4268712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zh-CN" altLang="en-US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依</a:t>
            </a:r>
            <a:r>
              <a:rPr kumimoji="0" lang="zh-CN" altLang="zh-CN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概率收敛于</a:t>
            </a:r>
            <a:r>
              <a:rPr kumimoji="0" lang="zh-CN" altLang="en-US" sz="2800" b="0" i="0" u="sng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        </a:t>
            </a:r>
            <a:r>
              <a:rPr kumimoji="0" lang="zh-CN" altLang="en-US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。</a:t>
            </a:r>
            <a:endParaRPr kumimoji="0" lang="zh-CN" altLang="en-US" sz="2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graphicFrame>
        <p:nvGraphicFramePr>
          <p:cNvPr id="33" name="对象 32"/>
          <p:cNvGraphicFramePr>
            <a:graphicFrameLocks noChangeAspect="1"/>
          </p:cNvGraphicFramePr>
          <p:nvPr/>
        </p:nvGraphicFramePr>
        <p:xfrm>
          <a:off x="6539244" y="3286405"/>
          <a:ext cx="1011500" cy="87790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912" name="" r:id="rId9" imgW="508000" imgH="431800" progId="Equation.3">
                  <p:embed/>
                </p:oleObj>
              </mc:Choice>
              <mc:Fallback>
                <p:oleObj name="" r:id="rId9" imgW="508000" imgH="431800" progId="Equation.3">
                  <p:embed/>
                  <p:pic>
                    <p:nvPicPr>
                      <p:cNvPr id="0" name="对象 2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539244" y="3286405"/>
                        <a:ext cx="1011500" cy="877906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" name="文本框 17"/>
          <p:cNvSpPr txBox="1"/>
          <p:nvPr/>
        </p:nvSpPr>
        <p:spPr>
          <a:xfrm>
            <a:off x="653734" y="2575809"/>
            <a:ext cx="646331" cy="646331"/>
          </a:xfrm>
          <a:prstGeom prst="rect">
            <a:avLst/>
          </a:prstGeom>
          <a:solidFill>
            <a:srgbClr val="92D050"/>
          </a:solidFill>
        </p:spPr>
        <p:txBody>
          <a:bodyPr wrap="none" rtlCol="0">
            <a:spAutoFit/>
          </a:bodyPr>
          <a:lstStyle/>
          <a:p>
            <a:r>
              <a:rPr lang="zh-CN" altLang="en-US" sz="3600" dirty="0" smtClean="0">
                <a:solidFill>
                  <a:srgbClr val="FFFF00"/>
                </a:solidFill>
              </a:rPr>
              <a:t>例</a:t>
            </a:r>
            <a:endParaRPr lang="zh-CN" altLang="en-US" sz="3600" dirty="0">
              <a:solidFill>
                <a:srgbClr val="FFFF00"/>
              </a:solidFill>
            </a:endParaRPr>
          </a:p>
        </p:txBody>
      </p:sp>
      <p:sp>
        <p:nvSpPr>
          <p:cNvPr id="15" name="文本框 17"/>
          <p:cNvSpPr txBox="1"/>
          <p:nvPr/>
        </p:nvSpPr>
        <p:spPr>
          <a:xfrm>
            <a:off x="638744" y="4311049"/>
            <a:ext cx="646331" cy="646331"/>
          </a:xfrm>
          <a:prstGeom prst="rect">
            <a:avLst/>
          </a:prstGeom>
          <a:solidFill>
            <a:srgbClr val="92D050"/>
          </a:solidFill>
        </p:spPr>
        <p:txBody>
          <a:bodyPr wrap="none" rtlCol="0">
            <a:spAutoFit/>
          </a:bodyPr>
          <a:lstStyle/>
          <a:p>
            <a:r>
              <a:rPr lang="zh-CN" altLang="en-US" sz="3600" dirty="0" smtClean="0">
                <a:solidFill>
                  <a:srgbClr val="FFFF00"/>
                </a:solidFill>
              </a:rPr>
              <a:t>例</a:t>
            </a:r>
            <a:endParaRPr lang="zh-CN" altLang="en-US" sz="3600" dirty="0">
              <a:solidFill>
                <a:srgbClr val="FFFF00"/>
              </a:solidFill>
            </a:endParaRPr>
          </a:p>
        </p:txBody>
      </p:sp>
      <p:sp>
        <p:nvSpPr>
          <p:cNvPr id="16" name="圆角矩形 15"/>
          <p:cNvSpPr/>
          <p:nvPr/>
        </p:nvSpPr>
        <p:spPr>
          <a:xfrm>
            <a:off x="546399" y="279067"/>
            <a:ext cx="11230163" cy="2296742"/>
          </a:xfrm>
          <a:prstGeom prst="round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9" name="文本框 38"/>
              <p:cNvSpPr txBox="1"/>
              <p:nvPr/>
            </p:nvSpPr>
            <p:spPr>
              <a:xfrm>
                <a:off x="10027920" y="3475100"/>
                <a:ext cx="306173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CN" altLang="en-US" sz="2800" b="1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𝜽</m:t>
                      </m:r>
                    </m:oMath>
                  </m:oMathPara>
                </a14:m>
                <a:endParaRPr lang="zh-CN" altLang="en-US" sz="2800" b="1" dirty="0">
                  <a:solidFill>
                    <a:srgbClr val="002060"/>
                  </a:solidFill>
                </a:endParaRPr>
              </a:p>
            </p:txBody>
          </p:sp>
        </mc:Choice>
        <mc:Fallback>
          <p:sp>
            <p:nvSpPr>
              <p:cNvPr id="39" name="文本框 3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027920" y="3475100"/>
                <a:ext cx="306173" cy="430887"/>
              </a:xfrm>
              <a:prstGeom prst="rect">
                <a:avLst/>
              </a:prstGeom>
              <a:blipFill rotWithShape="1">
                <a:blip r:embed="rId11"/>
                <a:stretch>
                  <a:fillRect t="-88" r="-14692" b="2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1" name="矩形 40"/>
              <p:cNvSpPr/>
              <p:nvPr/>
            </p:nvSpPr>
            <p:spPr>
              <a:xfrm>
                <a:off x="4885456" y="6007633"/>
                <a:ext cx="829586" cy="52322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800" b="1" i="1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𝟐</m:t>
                      </m:r>
                      <m:r>
                        <a:rPr lang="en-US" altLang="zh-CN" sz="2800" b="1" i="1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US" altLang="zh-CN" sz="2800" b="1" i="1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𝟓</m:t>
                      </m:r>
                    </m:oMath>
                  </m:oMathPara>
                </a14:m>
                <a:endParaRPr lang="zh-CN" altLang="en-US" sz="2800" b="1" dirty="0">
                  <a:solidFill>
                    <a:srgbClr val="002060"/>
                  </a:solidFill>
                </a:endParaRPr>
              </a:p>
            </p:txBody>
          </p:sp>
        </mc:Choice>
        <mc:Fallback>
          <p:sp>
            <p:nvSpPr>
              <p:cNvPr id="41" name="矩形 4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85456" y="6007633"/>
                <a:ext cx="829586" cy="523220"/>
              </a:xfrm>
              <a:prstGeom prst="rect">
                <a:avLst/>
              </a:prstGeom>
              <a:blipFill rotWithShape="1">
                <a:blip r:embed="rId12"/>
                <a:stretch>
                  <a:fillRect l="-48" t="-102" r="5" b="9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  <p:bldP spid="11" grpId="0"/>
      <p:bldP spid="26" grpId="0"/>
      <p:bldP spid="32" grpId="0"/>
      <p:bldP spid="14" grpId="0" animBg="1"/>
      <p:bldP spid="15" grpId="0" animBg="1"/>
      <p:bldP spid="16" grpId="0" animBg="1"/>
      <p:bldP spid="39" grpId="0"/>
      <p:bldP spid="41" grpId="0"/>
    </p:bld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图片 3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900727" y="1264246"/>
            <a:ext cx="9359822" cy="2387323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5" name="文本框 4"/>
              <p:cNvSpPr txBox="1"/>
              <p:nvPr>
                <p:custDataLst>
                  <p:tags r:id="rId3"/>
                </p:custDataLst>
              </p:nvPr>
            </p:nvSpPr>
            <p:spPr>
              <a:xfrm>
                <a:off x="1902823" y="3590607"/>
                <a:ext cx="2769797" cy="134222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altLang="zh-CN" sz="3200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sz="3200" b="1" i="1" smtClean="0">
                              <a:latin typeface="Cambria Math" panose="02040503050406030204" pitchFamily="18" charset="0"/>
                            </a:rPr>
                            <m:t>𝟏</m:t>
                          </m:r>
                        </m:num>
                        <m:den>
                          <m:r>
                            <a:rPr lang="en-US" altLang="zh-CN" sz="3200" b="1" i="1" smtClean="0">
                              <a:latin typeface="Cambria Math" panose="02040503050406030204" pitchFamily="18" charset="0"/>
                            </a:rPr>
                            <m:t>𝒏</m:t>
                          </m:r>
                        </m:den>
                      </m:f>
                      <m:nary>
                        <m:naryPr>
                          <m:chr m:val="∑"/>
                          <m:ctrlPr>
                            <a:rPr lang="en-US" altLang="zh-CN" sz="3200" b="1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altLang="zh-CN" sz="3200" b="1" i="1" smtClean="0">
                              <a:latin typeface="Cambria Math" panose="02040503050406030204" pitchFamily="18" charset="0"/>
                            </a:rPr>
                            <m:t>𝒊</m:t>
                          </m:r>
                          <m:r>
                            <a:rPr lang="en-US" altLang="zh-CN" sz="3200" b="1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altLang="zh-CN" sz="3200" b="1" i="1" smtClean="0"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  <m:sup>
                          <m:r>
                            <a:rPr lang="en-US" altLang="zh-CN" sz="3200" b="1" i="1" smtClean="0">
                              <a:latin typeface="Cambria Math" panose="02040503050406030204" pitchFamily="18" charset="0"/>
                            </a:rPr>
                            <m:t>𝒏</m:t>
                          </m:r>
                        </m:sup>
                        <m:e>
                          <m:sSubSup>
                            <m:sSubSupPr>
                              <m:ctrlPr>
                                <a:rPr lang="en-US" altLang="zh-CN" sz="3200" b="1" i="1" smtClean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altLang="zh-CN" sz="3200" b="1" i="1" smtClean="0">
                                  <a:latin typeface="Cambria Math" panose="02040503050406030204" pitchFamily="18" charset="0"/>
                                </a:rPr>
                                <m:t>𝑿</m:t>
                              </m:r>
                            </m:e>
                            <m:sub>
                              <m:r>
                                <a:rPr lang="en-US" altLang="zh-CN" sz="3200" b="1" i="1" smtClean="0">
                                  <a:latin typeface="Cambria Math" panose="02040503050406030204" pitchFamily="18" charset="0"/>
                                </a:rPr>
                                <m:t>𝒊</m:t>
                              </m:r>
                            </m:sub>
                            <m:sup>
                              <m:r>
                                <a:rPr lang="en-US" altLang="zh-CN" sz="3200" b="1" i="1" smtClean="0"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sup>
                          </m:sSubSup>
                        </m:e>
                      </m:nary>
                      <m:groupChr>
                        <m:groupChrPr>
                          <m:chr m:val="→"/>
                          <m:vertJc m:val="bot"/>
                          <m:ctrlPr>
                            <a:rPr lang="en-US" altLang="zh-CN" sz="3200" b="1" i="1" smtClean="0">
                              <a:latin typeface="Cambria Math" panose="02040503050406030204" pitchFamily="18" charset="0"/>
                            </a:rPr>
                          </m:ctrlPr>
                        </m:groupChrPr>
                        <m:e>
                          <m:r>
                            <m:rPr>
                              <m:brk m:alnAt="2"/>
                            </m:rPr>
                            <a:rPr lang="en-US" altLang="zh-CN" sz="3200" b="1" i="1" smtClean="0">
                              <a:latin typeface="Cambria Math" panose="02040503050406030204" pitchFamily="18" charset="0"/>
                            </a:rPr>
                            <m:t>𝑷</m:t>
                          </m:r>
                        </m:e>
                      </m:groupChr>
                      <m:r>
                        <a:rPr lang="en-US" altLang="zh-CN" sz="3200" b="1" i="1" smtClean="0">
                          <a:latin typeface="Cambria Math" panose="02040503050406030204" pitchFamily="18" charset="0"/>
                        </a:rPr>
                        <m:t>𝑬</m:t>
                      </m:r>
                      <m:sSup>
                        <m:sSupPr>
                          <m:ctrlPr>
                            <a:rPr lang="en-US" altLang="zh-CN" sz="3200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sz="3200" b="1" i="1" smtClean="0">
                              <a:latin typeface="Cambria Math" panose="02040503050406030204" pitchFamily="18" charset="0"/>
                            </a:rPr>
                            <m:t>𝑿</m:t>
                          </m:r>
                        </m:e>
                        <m:sup>
                          <m:r>
                            <a:rPr lang="en-US" altLang="zh-CN" sz="3200" b="1" i="1" smtClean="0"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</m:oMath>
                  </m:oMathPara>
                </a14:m>
                <a:endParaRPr lang="zh-CN" altLang="en-US" sz="3200" b="1" dirty="0"/>
              </a:p>
            </p:txBody>
          </p:sp>
        </mc:Choice>
        <mc:Fallback>
          <p:sp>
            <p:nvSpPr>
              <p:cNvPr id="5" name="文本框 4"/>
              <p:cNvSpPr txBox="1">
                <a:spLocks noRot="1" noChangeAspect="1" noMove="1" noResize="1" noEditPoints="1" noAdjustHandles="1" noChangeArrowheads="1" noChangeShapeType="1" noTextEdit="1"/>
              </p:cNvSpPr>
              <p:nvPr>
                <p:custDataLst>
                  <p:tags r:id="rId4"/>
                </p:custDataLst>
              </p:nvPr>
            </p:nvSpPr>
            <p:spPr>
              <a:xfrm>
                <a:off x="1902823" y="3590607"/>
                <a:ext cx="2769797" cy="1342227"/>
              </a:xfrm>
              <a:prstGeom prst="rect">
                <a:avLst/>
              </a:prstGeom>
              <a:blipFill rotWithShape="1">
                <a:blip r:embed="rId5"/>
                <a:stretch>
                  <a:fillRect l="-13" t="-24" r="10" b="1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" name="文本框 5"/>
              <p:cNvSpPr txBox="1"/>
              <p:nvPr>
                <p:custDataLst>
                  <p:tags r:id="rId6"/>
                </p:custDataLst>
              </p:nvPr>
            </p:nvSpPr>
            <p:spPr>
              <a:xfrm>
                <a:off x="4558172" y="3989483"/>
                <a:ext cx="2791861" cy="50359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3200" b="1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sz="3200" b="1" i="1" smtClean="0">
                          <a:latin typeface="Cambria Math" panose="02040503050406030204" pitchFamily="18" charset="0"/>
                        </a:rPr>
                        <m:t>𝑫𝑿</m:t>
                      </m:r>
                      <m:r>
                        <a:rPr lang="en-US" altLang="zh-CN" sz="3200" b="1" i="1" smtClean="0">
                          <a:latin typeface="Cambria Math" panose="02040503050406030204" pitchFamily="18" charset="0"/>
                        </a:rPr>
                        <m:t>+</m:t>
                      </m:r>
                      <m:sSup>
                        <m:sSupPr>
                          <m:ctrlPr>
                            <a:rPr lang="en-US" altLang="zh-CN" sz="3200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sz="3200" b="1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altLang="zh-CN" sz="3200" b="1" i="1" smtClean="0">
                              <a:latin typeface="Cambria Math" panose="02040503050406030204" pitchFamily="18" charset="0"/>
                            </a:rPr>
                            <m:t>𝑬𝑿</m:t>
                          </m:r>
                          <m:r>
                            <a:rPr lang="en-US" altLang="zh-CN" sz="3200" b="1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  <m:sup>
                          <m:r>
                            <a:rPr lang="en-US" altLang="zh-CN" sz="3200" b="1" i="1" smtClean="0"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</m:oMath>
                  </m:oMathPara>
                </a14:m>
                <a:endParaRPr lang="zh-CN" altLang="en-US" sz="3200" b="1" dirty="0"/>
              </a:p>
            </p:txBody>
          </p:sp>
        </mc:Choice>
        <mc:Fallback>
          <p:sp>
            <p:nvSpPr>
              <p:cNvPr id="6" name="文本框 5"/>
              <p:cNvSpPr txBox="1">
                <a:spLocks noRot="1" noChangeAspect="1" noMove="1" noResize="1" noEditPoints="1" noAdjustHandles="1" noChangeArrowheads="1" noChangeShapeType="1" noTextEdit="1"/>
              </p:cNvSpPr>
              <p:nvPr>
                <p:custDataLst>
                  <p:tags r:id="rId7"/>
                </p:custDataLst>
              </p:nvPr>
            </p:nvSpPr>
            <p:spPr>
              <a:xfrm>
                <a:off x="4558172" y="3989483"/>
                <a:ext cx="2791861" cy="503599"/>
              </a:xfrm>
              <a:prstGeom prst="rect">
                <a:avLst/>
              </a:prstGeom>
              <a:blipFill rotWithShape="1">
                <a:blip r:embed="rId8"/>
                <a:stretch>
                  <a:fillRect l="-5" t="-82" r="19" b="9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" name="矩形 6"/>
              <p:cNvSpPr/>
              <p:nvPr>
                <p:custDataLst>
                  <p:tags r:id="rId9"/>
                </p:custDataLst>
              </p:nvPr>
            </p:nvSpPr>
            <p:spPr>
              <a:xfrm>
                <a:off x="7327969" y="3943316"/>
                <a:ext cx="1863844" cy="5959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3200" b="1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zh-CN" altLang="en-US" sz="3200" b="1" i="1" smtClean="0">
                          <a:latin typeface="Cambria Math" panose="02040503050406030204" pitchFamily="18" charset="0"/>
                        </a:rPr>
                        <m:t>𝝀</m:t>
                      </m:r>
                      <m:r>
                        <a:rPr lang="en-US" altLang="zh-CN" sz="3200" b="1" i="1" smtClean="0">
                          <a:latin typeface="Cambria Math" panose="02040503050406030204" pitchFamily="18" charset="0"/>
                        </a:rPr>
                        <m:t>+</m:t>
                      </m:r>
                      <m:sSup>
                        <m:sSupPr>
                          <m:ctrlPr>
                            <a:rPr lang="en-US" altLang="zh-CN" sz="3200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zh-CN" altLang="en-US" sz="3200" b="1" i="1" smtClean="0">
                              <a:latin typeface="Cambria Math" panose="02040503050406030204" pitchFamily="18" charset="0"/>
                            </a:rPr>
                            <m:t>𝝀</m:t>
                          </m:r>
                        </m:e>
                        <m:sup>
                          <m:r>
                            <a:rPr lang="en-US" altLang="zh-CN" sz="3200" b="1" i="1" smtClean="0"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</m:oMath>
                  </m:oMathPara>
                </a14:m>
                <a:endParaRPr lang="zh-CN" altLang="en-US" sz="3200" b="1" dirty="0"/>
              </a:p>
            </p:txBody>
          </p:sp>
        </mc:Choice>
        <mc:Fallback>
          <p:sp>
            <p:nvSpPr>
              <p:cNvPr id="7" name="矩形 6"/>
              <p:cNvSpPr>
                <a:spLocks noRot="1" noChangeAspect="1" noMove="1" noResize="1" noEditPoints="1" noAdjustHandles="1" noChangeArrowheads="1" noChangeShapeType="1" noTextEdit="1"/>
              </p:cNvSpPr>
              <p:nvPr>
                <p:custDataLst>
                  <p:tags r:id="rId10"/>
                </p:custDataLst>
              </p:nvPr>
            </p:nvSpPr>
            <p:spPr>
              <a:xfrm>
                <a:off x="7327969" y="3943316"/>
                <a:ext cx="1863844" cy="595932"/>
              </a:xfrm>
              <a:prstGeom prst="rect">
                <a:avLst/>
              </a:prstGeom>
              <a:blipFill rotWithShape="1">
                <a:blip r:embed="rId11"/>
                <a:stretch>
                  <a:fillRect l="-4" t="-101" r="10" b="4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8" name="矩形 7"/>
              <p:cNvSpPr/>
              <p:nvPr>
                <p:custDataLst>
                  <p:tags r:id="rId12"/>
                </p:custDataLst>
              </p:nvPr>
            </p:nvSpPr>
            <p:spPr>
              <a:xfrm>
                <a:off x="5052264" y="2674343"/>
                <a:ext cx="1443665" cy="5959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CN" altLang="en-US" sz="3200" b="1" i="1">
                          <a:latin typeface="Cambria Math" panose="02040503050406030204" pitchFamily="18" charset="0"/>
                        </a:rPr>
                        <m:t>𝝀</m:t>
                      </m:r>
                      <m:r>
                        <a:rPr lang="en-US" altLang="zh-CN" sz="3200" b="1" i="1">
                          <a:latin typeface="Cambria Math" panose="02040503050406030204" pitchFamily="18" charset="0"/>
                        </a:rPr>
                        <m:t>+</m:t>
                      </m:r>
                      <m:sSup>
                        <m:sSupPr>
                          <m:ctrlPr>
                            <a:rPr lang="en-US" altLang="zh-CN" sz="3200" b="1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zh-CN" altLang="en-US" sz="3200" b="1" i="1">
                              <a:latin typeface="Cambria Math" panose="02040503050406030204" pitchFamily="18" charset="0"/>
                            </a:rPr>
                            <m:t>𝝀</m:t>
                          </m:r>
                        </m:e>
                        <m:sup>
                          <m:r>
                            <a:rPr lang="en-US" altLang="zh-CN" sz="3200" b="1" i="1"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</m:oMath>
                  </m:oMathPara>
                </a14:m>
                <a:endParaRPr lang="zh-CN" altLang="en-US" sz="3200" dirty="0"/>
              </a:p>
            </p:txBody>
          </p:sp>
        </mc:Choice>
        <mc:Fallback>
          <p:sp>
            <p:nvSpPr>
              <p:cNvPr id="8" name="矩形 7"/>
              <p:cNvSpPr>
                <a:spLocks noRot="1" noChangeAspect="1" noMove="1" noResize="1" noEditPoints="1" noAdjustHandles="1" noChangeArrowheads="1" noChangeShapeType="1" noTextEdit="1"/>
              </p:cNvSpPr>
              <p:nvPr>
                <p:custDataLst>
                  <p:tags r:id="rId13"/>
                </p:custDataLst>
              </p:nvPr>
            </p:nvSpPr>
            <p:spPr>
              <a:xfrm>
                <a:off x="5052264" y="2674343"/>
                <a:ext cx="1443665" cy="595932"/>
              </a:xfrm>
              <a:prstGeom prst="rect">
                <a:avLst/>
              </a:prstGeom>
              <a:blipFill rotWithShape="1">
                <a:blip r:embed="rId14"/>
                <a:stretch>
                  <a:fillRect l="-14" t="-60" r="36" b="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文本框 8"/>
          <p:cNvSpPr txBox="1"/>
          <p:nvPr>
            <p:custDataLst>
              <p:tags r:id="rId15"/>
            </p:custDataLst>
          </p:nvPr>
        </p:nvSpPr>
        <p:spPr>
          <a:xfrm>
            <a:off x="988060" y="680720"/>
            <a:ext cx="4064000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3200" b="1">
                <a:gradFill>
                  <a:gsLst>
                    <a:gs pos="0">
                      <a:srgbClr val="007BD3"/>
                    </a:gs>
                    <a:gs pos="100000">
                      <a:srgbClr val="034373"/>
                    </a:gs>
                  </a:gsLst>
                  <a:lin scaled="0"/>
                </a:gradFill>
              </a:rPr>
              <a:t>练习</a:t>
            </a:r>
            <a:endParaRPr lang="zh-CN" altLang="en-US" sz="3200" b="1">
              <a:gradFill>
                <a:gsLst>
                  <a:gs pos="0">
                    <a:srgbClr val="007BD3"/>
                  </a:gs>
                  <a:gs pos="100000">
                    <a:srgbClr val="034373"/>
                  </a:gs>
                </a:gsLst>
                <a:lin scaled="0"/>
              </a:gra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  <p:bldP spid="7" grpId="0"/>
      <p:bldP spid="8" grpId="0"/>
    </p:bld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7" name="Object 11"/>
          <p:cNvGraphicFramePr>
            <a:graphicFrameLocks noChangeAspect="1"/>
          </p:cNvGraphicFramePr>
          <p:nvPr/>
        </p:nvGraphicFramePr>
        <p:xfrm>
          <a:off x="5996922" y="228406"/>
          <a:ext cx="5370325" cy="2263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901" name="Equation" r:id="rId1" imgW="2260600" imgH="952500" progId="Equation.KSEE3">
                  <p:embed/>
                </p:oleObj>
              </mc:Choice>
              <mc:Fallback>
                <p:oleObj name="Equation" r:id="rId1" imgW="2260600" imgH="952500" progId="Equation.KSEE3">
                  <p:embed/>
                  <p:pic>
                    <p:nvPicPr>
                      <p:cNvPr id="0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996922" y="228406"/>
                        <a:ext cx="5370325" cy="22638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Object 12"/>
          <p:cNvGraphicFramePr>
            <a:graphicFrameLocks noChangeAspect="1"/>
          </p:cNvGraphicFramePr>
          <p:nvPr/>
        </p:nvGraphicFramePr>
        <p:xfrm>
          <a:off x="6454680" y="2380933"/>
          <a:ext cx="5101012" cy="97984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902" name="Equation" r:id="rId3" imgW="2247900" imgH="431800" progId="Equation.KSEE3">
                  <p:embed/>
                </p:oleObj>
              </mc:Choice>
              <mc:Fallback>
                <p:oleObj name="Equation" r:id="rId3" imgW="2247900" imgH="431800" progId="Equation.KSEE3">
                  <p:embed/>
                  <p:pic>
                    <p:nvPicPr>
                      <p:cNvPr id="0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454680" y="2380933"/>
                        <a:ext cx="5101012" cy="97984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矩形 8"/>
          <p:cNvSpPr/>
          <p:nvPr/>
        </p:nvSpPr>
        <p:spPr>
          <a:xfrm>
            <a:off x="567366" y="304752"/>
            <a:ext cx="5323767" cy="304698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3200" kern="100" dirty="0" smtClean="0">
                <a:ea typeface="宋体" panose="02010600030101010101" pitchFamily="2" charset="-122"/>
                <a:cs typeface="Times New Roman" panose="02020603050405020304" pitchFamily="18" charset="0"/>
              </a:rPr>
              <a:t>    </a:t>
            </a:r>
            <a:r>
              <a:rPr lang="zh-CN" altLang="zh-CN" sz="3200" kern="100" dirty="0" smtClean="0">
                <a:ea typeface="宋体" panose="02010600030101010101" pitchFamily="2" charset="-122"/>
                <a:cs typeface="Times New Roman" panose="02020603050405020304" pitchFamily="18" charset="0"/>
              </a:rPr>
              <a:t>对敌人</a:t>
            </a:r>
            <a:r>
              <a:rPr lang="zh-CN" altLang="zh-CN" sz="3200" kern="100" dirty="0">
                <a:ea typeface="宋体" panose="02010600030101010101" pitchFamily="2" charset="-122"/>
                <a:cs typeface="Times New Roman" panose="02020603050405020304" pitchFamily="18" charset="0"/>
              </a:rPr>
              <a:t>的防御地段进行</a:t>
            </a:r>
            <a:r>
              <a:rPr lang="en-US" altLang="zh-CN" sz="3200" kern="100" dirty="0">
                <a:ea typeface="宋体" panose="02010600030101010101" pitchFamily="2" charset="-122"/>
                <a:cs typeface="Times New Roman" panose="02020603050405020304" pitchFamily="18" charset="0"/>
              </a:rPr>
              <a:t>100</a:t>
            </a:r>
            <a:r>
              <a:rPr lang="zh-CN" altLang="zh-CN" sz="3200" kern="100" dirty="0">
                <a:ea typeface="宋体" panose="02010600030101010101" pitchFamily="2" charset="-122"/>
                <a:cs typeface="Times New Roman" panose="02020603050405020304" pitchFamily="18" charset="0"/>
              </a:rPr>
              <a:t>次射击。每次射击中，炮弹命中数的数学期望为</a:t>
            </a:r>
            <a:r>
              <a:rPr lang="en-US" altLang="zh-CN" sz="3200" kern="100" dirty="0"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zh-CN" altLang="zh-CN" sz="3200" kern="100" dirty="0">
                <a:ea typeface="宋体" panose="02010600030101010101" pitchFamily="2" charset="-122"/>
                <a:cs typeface="Times New Roman" panose="02020603050405020304" pitchFamily="18" charset="0"/>
              </a:rPr>
              <a:t>，而命中数的方差为</a:t>
            </a:r>
            <a:r>
              <a:rPr lang="en-US" altLang="zh-CN" sz="3200" kern="100" dirty="0">
                <a:ea typeface="宋体" panose="02010600030101010101" pitchFamily="2" charset="-122"/>
                <a:cs typeface="Times New Roman" panose="02020603050405020304" pitchFamily="18" charset="0"/>
              </a:rPr>
              <a:t>4.</a:t>
            </a:r>
            <a:r>
              <a:rPr lang="zh-CN" altLang="zh-CN" sz="3200" kern="100" dirty="0">
                <a:ea typeface="宋体" panose="02010600030101010101" pitchFamily="2" charset="-122"/>
                <a:cs typeface="Times New Roman" panose="02020603050405020304" pitchFamily="18" charset="0"/>
              </a:rPr>
              <a:t>求当射击</a:t>
            </a:r>
            <a:r>
              <a:rPr lang="en-US" altLang="zh-CN" sz="3200" kern="100" dirty="0">
                <a:ea typeface="宋体" panose="02010600030101010101" pitchFamily="2" charset="-122"/>
                <a:cs typeface="Times New Roman" panose="02020603050405020304" pitchFamily="18" charset="0"/>
              </a:rPr>
              <a:t>100</a:t>
            </a:r>
            <a:r>
              <a:rPr lang="zh-CN" altLang="zh-CN" sz="3200" kern="100" dirty="0">
                <a:ea typeface="宋体" panose="02010600030101010101" pitchFamily="2" charset="-122"/>
                <a:cs typeface="Times New Roman" panose="02020603050405020304" pitchFamily="18" charset="0"/>
              </a:rPr>
              <a:t>次，有</a:t>
            </a:r>
            <a:r>
              <a:rPr lang="en-US" altLang="zh-CN" sz="3200" kern="100" dirty="0">
                <a:ea typeface="宋体" panose="02010600030101010101" pitchFamily="2" charset="-122"/>
                <a:cs typeface="Times New Roman" panose="02020603050405020304" pitchFamily="18" charset="0"/>
              </a:rPr>
              <a:t>180</a:t>
            </a:r>
            <a:r>
              <a:rPr lang="zh-CN" altLang="zh-CN" sz="3200" kern="100" dirty="0">
                <a:ea typeface="宋体" panose="02010600030101010101" pitchFamily="2" charset="-122"/>
                <a:cs typeface="Times New Roman" panose="02020603050405020304" pitchFamily="18" charset="0"/>
              </a:rPr>
              <a:t>发到</a:t>
            </a:r>
            <a:r>
              <a:rPr lang="en-US" altLang="zh-CN" sz="3200" kern="100" dirty="0">
                <a:ea typeface="宋体" panose="02010600030101010101" pitchFamily="2" charset="-122"/>
                <a:cs typeface="Times New Roman" panose="02020603050405020304" pitchFamily="18" charset="0"/>
              </a:rPr>
              <a:t>220</a:t>
            </a:r>
            <a:r>
              <a:rPr lang="zh-CN" altLang="zh-CN" sz="3200" kern="100" dirty="0">
                <a:ea typeface="宋体" panose="02010600030101010101" pitchFamily="2" charset="-122"/>
                <a:cs typeface="Times New Roman" panose="02020603050405020304" pitchFamily="18" charset="0"/>
              </a:rPr>
              <a:t>发炮弹命中目标的概率。</a:t>
            </a:r>
            <a:endParaRPr lang="zh-CN" altLang="en-US" sz="32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0" name="文本框 9"/>
              <p:cNvSpPr txBox="1"/>
              <p:nvPr/>
            </p:nvSpPr>
            <p:spPr>
              <a:xfrm>
                <a:off x="648996" y="3461355"/>
                <a:ext cx="6749027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zh-CN" altLang="en-US" sz="2800" b="1" dirty="0" smtClean="0">
                    <a:solidFill>
                      <a:srgbClr val="002060"/>
                    </a:solidFill>
                  </a:rPr>
                  <a:t>设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8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8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𝑿</m:t>
                        </m:r>
                      </m:e>
                      <m:sub>
                        <m:r>
                          <a:rPr lang="en-US" altLang="zh-CN" sz="28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𝒊</m:t>
                        </m:r>
                      </m:sub>
                    </m:sSub>
                    <m:r>
                      <a:rPr lang="zh-CN" altLang="en-US" sz="2800" b="1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表示</m:t>
                    </m:r>
                  </m:oMath>
                </a14:m>
                <a:r>
                  <a:rPr lang="zh-CN" altLang="en-US" sz="2800" b="1" dirty="0" smtClean="0">
                    <a:solidFill>
                      <a:srgbClr val="002060"/>
                    </a:solidFill>
                  </a:rPr>
                  <a:t>第</a:t>
                </a:r>
                <a14:m>
                  <m:oMath xmlns:m="http://schemas.openxmlformats.org/officeDocument/2006/math">
                    <m:r>
                      <a:rPr lang="en-US" altLang="zh-CN" sz="2800" b="1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𝒊</m:t>
                    </m:r>
                  </m:oMath>
                </a14:m>
                <a:r>
                  <a:rPr lang="zh-CN" altLang="en-US" sz="2800" b="1" dirty="0" smtClean="0">
                    <a:solidFill>
                      <a:srgbClr val="002060"/>
                    </a:solidFill>
                  </a:rPr>
                  <a:t>次命中目标数</a:t>
                </a:r>
                <a:r>
                  <a:rPr lang="en-US" altLang="zh-CN" sz="2800" b="1" dirty="0" smtClean="0">
                    <a:solidFill>
                      <a:srgbClr val="002060"/>
                    </a:solidFill>
                  </a:rPr>
                  <a:t>, </a:t>
                </a:r>
                <a14:m>
                  <m:oMath xmlns:m="http://schemas.openxmlformats.org/officeDocument/2006/math">
                    <m:r>
                      <a:rPr lang="en-US" altLang="zh-CN" sz="2800" b="1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𝒊</m:t>
                    </m:r>
                    <m:r>
                      <a:rPr lang="en-US" altLang="zh-CN" sz="28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sz="28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𝟏</m:t>
                    </m:r>
                    <m:r>
                      <a:rPr lang="en-US" altLang="zh-CN" sz="28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zh-CN" sz="28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𝟐</m:t>
                    </m:r>
                    <m:r>
                      <a:rPr lang="en-US" altLang="zh-CN" sz="28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,⋯,</m:t>
                    </m:r>
                    <m:r>
                      <a:rPr lang="en-US" altLang="zh-CN" sz="28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𝒏</m:t>
                    </m:r>
                    <m:r>
                      <a:rPr lang="en-US" altLang="zh-CN" sz="28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.</m:t>
                    </m:r>
                  </m:oMath>
                </a14:m>
                <a:endParaRPr lang="zh-CN" altLang="en-US" sz="2800" b="1" dirty="0">
                  <a:solidFill>
                    <a:srgbClr val="002060"/>
                  </a:solidFill>
                </a:endParaRPr>
              </a:p>
            </p:txBody>
          </p:sp>
        </mc:Choice>
        <mc:Fallback>
          <p:sp>
            <p:nvSpPr>
              <p:cNvPr id="10" name="文本框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8996" y="3461355"/>
                <a:ext cx="6749027" cy="523220"/>
              </a:xfrm>
              <a:prstGeom prst="rect">
                <a:avLst/>
              </a:prstGeom>
              <a:blipFill rotWithShape="1">
                <a:blip r:embed="rId5"/>
                <a:stretch>
                  <a:fillRect t="-116" r="4" b="11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1" name="矩形 10"/>
              <p:cNvSpPr/>
              <p:nvPr/>
            </p:nvSpPr>
            <p:spPr>
              <a:xfrm>
                <a:off x="567366" y="4112679"/>
                <a:ext cx="4848058" cy="52322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8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sz="2800" b="1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设</m:t>
                        </m:r>
                        <m:r>
                          <a:rPr lang="en-US" altLang="zh-CN" sz="2800" b="1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𝑿</m:t>
                        </m:r>
                      </m:e>
                      <m:sub>
                        <m:r>
                          <a:rPr lang="en-US" altLang="zh-CN" sz="28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  <m:r>
                      <a:rPr lang="en-US" altLang="zh-CN" sz="28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altLang="zh-CN" sz="2800" b="1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800" b="1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𝑿</m:t>
                        </m:r>
                      </m:e>
                      <m:sub>
                        <m:r>
                          <a:rPr lang="en-US" altLang="zh-CN" sz="28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𝟐</m:t>
                        </m:r>
                      </m:sub>
                    </m:sSub>
                  </m:oMath>
                </a14:m>
                <a:r>
                  <a:rPr lang="en-US" altLang="zh-CN" sz="2800" b="1" dirty="0" smtClean="0">
                    <a:solidFill>
                      <a:srgbClr val="002060"/>
                    </a:solidFill>
                  </a:rPr>
                  <a:t>,</a:t>
                </a:r>
                <a:r>
                  <a:rPr lang="en-US" altLang="zh-CN" sz="2800" b="1" dirty="0">
                    <a:solidFill>
                      <a:srgbClr val="002060"/>
                    </a:solidFill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sz="2800" b="1" i="1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⋯</m:t>
                    </m:r>
                  </m:oMath>
                </a14:m>
                <a:r>
                  <a:rPr lang="en-US" altLang="zh-CN" sz="2800" b="1" dirty="0" smtClean="0">
                    <a:solidFill>
                      <a:srgbClr val="002060"/>
                    </a:solidFill>
                  </a:rPr>
                  <a:t>,</a:t>
                </a:r>
                <a:r>
                  <a:rPr lang="en-US" altLang="zh-CN" sz="2800" b="1" dirty="0">
                    <a:solidFill>
                      <a:srgbClr val="002060"/>
                    </a:solidFill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800" b="1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800" b="1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𝑿</m:t>
                        </m:r>
                      </m:e>
                      <m:sub>
                        <m:r>
                          <a:rPr lang="en-US" altLang="zh-CN" sz="28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𝟏𝟎𝟎</m:t>
                        </m:r>
                      </m:sub>
                    </m:sSub>
                  </m:oMath>
                </a14:m>
                <a:r>
                  <a:rPr lang="en-US" altLang="zh-CN" sz="2800" b="1" dirty="0" err="1" smtClean="0">
                    <a:solidFill>
                      <a:srgbClr val="002060"/>
                    </a:solidFill>
                    <a:ea typeface="Cambria Math" panose="02040503050406030204" pitchFamily="18" charset="0"/>
                  </a:rPr>
                  <a:t>iid</a:t>
                </a:r>
                <a:r>
                  <a:rPr lang="en-US" altLang="zh-CN" sz="2800" b="1" dirty="0" smtClean="0">
                    <a:solidFill>
                      <a:srgbClr val="002060"/>
                    </a:solidFill>
                    <a:ea typeface="Cambria Math" panose="02040503050406030204" pitchFamily="18" charset="0"/>
                  </a:rPr>
                  <a:t>,                </a:t>
                </a:r>
                <a:endParaRPr lang="zh-CN" altLang="en-US" sz="2800" b="1" dirty="0">
                  <a:solidFill>
                    <a:srgbClr val="002060"/>
                  </a:solidFill>
                </a:endParaRPr>
              </a:p>
            </p:txBody>
          </p:sp>
        </mc:Choice>
        <mc:Fallback>
          <p:sp>
            <p:nvSpPr>
              <p:cNvPr id="11" name="矩形 1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7366" y="4112679"/>
                <a:ext cx="4848058" cy="523220"/>
              </a:xfrm>
              <a:prstGeom prst="rect">
                <a:avLst/>
              </a:prstGeom>
              <a:blipFill rotWithShape="1">
                <a:blip r:embed="rId6"/>
                <a:stretch>
                  <a:fillRect l="-6" t="-80" r="-21609" b="7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2" name="文本框 11"/>
              <p:cNvSpPr txBox="1"/>
              <p:nvPr/>
            </p:nvSpPr>
            <p:spPr>
              <a:xfrm>
                <a:off x="4068179" y="4128057"/>
                <a:ext cx="2816861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altLang="zh-CN" sz="28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𝑬</m:t>
                    </m:r>
                    <m:sSub>
                      <m:sSubPr>
                        <m:ctrlPr>
                          <a:rPr lang="en-US" altLang="zh-CN" sz="2800" b="1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800" b="1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𝑿</m:t>
                        </m:r>
                      </m:e>
                      <m:sub>
                        <m:r>
                          <a:rPr lang="en-US" altLang="zh-CN" sz="2800" b="1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𝒊</m:t>
                        </m:r>
                      </m:sub>
                    </m:sSub>
                  </m:oMath>
                </a14:m>
                <a:r>
                  <a:rPr lang="en-US" altLang="zh-CN" sz="2800" b="1" dirty="0" smtClean="0">
                    <a:solidFill>
                      <a:srgbClr val="002060"/>
                    </a:solidFill>
                  </a:rPr>
                  <a:t>=2</a:t>
                </a:r>
                <a:r>
                  <a:rPr lang="zh-CN" altLang="en-US" sz="2800" b="1" dirty="0" smtClean="0">
                    <a:solidFill>
                      <a:srgbClr val="002060"/>
                    </a:solidFill>
                  </a:rPr>
                  <a:t>，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800" b="1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8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𝑫</m:t>
                        </m:r>
                        <m:r>
                          <a:rPr lang="en-US" altLang="zh-CN" sz="2800" b="1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𝑿</m:t>
                        </m:r>
                      </m:e>
                      <m:sub>
                        <m:r>
                          <a:rPr lang="en-US" altLang="zh-CN" sz="2800" b="1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𝒊</m:t>
                        </m:r>
                      </m:sub>
                    </m:sSub>
                    <m:r>
                      <a:rPr lang="en-US" altLang="zh-CN" sz="28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sz="28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𝟒</m:t>
                    </m:r>
                  </m:oMath>
                </a14:m>
                <a:endParaRPr lang="zh-CN" altLang="en-US" sz="2800" b="1" dirty="0">
                  <a:solidFill>
                    <a:srgbClr val="002060"/>
                  </a:solidFill>
                </a:endParaRPr>
              </a:p>
            </p:txBody>
          </p:sp>
        </mc:Choice>
        <mc:Fallback>
          <p:sp>
            <p:nvSpPr>
              <p:cNvPr id="12" name="文本框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68179" y="4128057"/>
                <a:ext cx="2816861" cy="523220"/>
              </a:xfrm>
              <a:prstGeom prst="rect">
                <a:avLst/>
              </a:prstGeom>
              <a:blipFill rotWithShape="1">
                <a:blip r:embed="rId7"/>
                <a:stretch>
                  <a:fillRect l="-13" t="-106" r="13" b="10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3" name="文本框 12"/>
              <p:cNvSpPr txBox="1"/>
              <p:nvPr/>
            </p:nvSpPr>
            <p:spPr>
              <a:xfrm>
                <a:off x="7326940" y="3638992"/>
                <a:ext cx="1179195" cy="122110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800" b="1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   </m:t>
                      </m:r>
                      <m:nary>
                        <m:naryPr>
                          <m:chr m:val="∑"/>
                          <m:ctrlPr>
                            <a:rPr lang="zh-CN" altLang="en-US" sz="2800" b="1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altLang="zh-CN" sz="2800" b="1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𝒊</m:t>
                          </m:r>
                          <m:r>
                            <a:rPr lang="en-US" altLang="zh-CN" sz="2800" b="1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altLang="zh-CN" sz="2800" b="1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  <m:sup>
                          <m:r>
                            <a:rPr lang="en-US" altLang="zh-CN" sz="2800" b="1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𝟏𝟎𝟎</m:t>
                          </m:r>
                        </m:sup>
                        <m:e>
                          <m:sSub>
                            <m:sSubPr>
                              <m:ctrlPr>
                                <a:rPr lang="en-US" altLang="zh-CN" sz="2800" b="1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800" b="1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𝑿</m:t>
                              </m:r>
                            </m:e>
                            <m:sub>
                              <m:r>
                                <a:rPr lang="en-US" altLang="zh-CN" sz="2800" b="1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𝒊</m:t>
                              </m:r>
                            </m:sub>
                          </m:sSub>
                        </m:e>
                      </m:nary>
                    </m:oMath>
                  </m:oMathPara>
                </a14:m>
                <a:endParaRPr lang="zh-CN" altLang="en-US" sz="2800" b="1" dirty="0">
                  <a:solidFill>
                    <a:srgbClr val="002060"/>
                  </a:solidFill>
                </a:endParaRPr>
              </a:p>
            </p:txBody>
          </p:sp>
        </mc:Choice>
        <mc:Fallback>
          <p:sp>
            <p:nvSpPr>
              <p:cNvPr id="13" name="文本框 1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26940" y="3638992"/>
                <a:ext cx="1179195" cy="1221105"/>
              </a:xfrm>
              <a:prstGeom prst="rect">
                <a:avLst/>
              </a:prstGeom>
              <a:blipFill rotWithShape="1">
                <a:blip r:embed="rId8"/>
                <a:stretch>
                  <a:fillRect l="-26" t="-36" r="-7405" b="3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" name="文本框 14"/>
          <p:cNvSpPr txBox="1"/>
          <p:nvPr/>
        </p:nvSpPr>
        <p:spPr>
          <a:xfrm>
            <a:off x="8600574" y="4112679"/>
            <a:ext cx="36580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800" b="1" dirty="0" smtClean="0">
                <a:solidFill>
                  <a:srgbClr val="002060"/>
                </a:solidFill>
              </a:rPr>
              <a:t>~</a:t>
            </a:r>
            <a:endParaRPr lang="zh-CN" altLang="en-US" sz="2800" b="1" dirty="0">
              <a:solidFill>
                <a:srgbClr val="002060"/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6" name="文本框 15"/>
              <p:cNvSpPr txBox="1"/>
              <p:nvPr/>
            </p:nvSpPr>
            <p:spPr>
              <a:xfrm>
                <a:off x="9130997" y="4041553"/>
                <a:ext cx="2358851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800" b="1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𝑵</m:t>
                      </m:r>
                      <m:r>
                        <a:rPr lang="en-US" altLang="zh-CN" sz="2800" b="1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altLang="zh-CN" sz="2800" b="1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𝟐𝟎𝟎</m:t>
                      </m:r>
                      <m:r>
                        <a:rPr lang="en-US" altLang="zh-CN" sz="2800" b="1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altLang="zh-CN" sz="2800" b="1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𝟒𝟎𝟎</m:t>
                      </m:r>
                      <m:r>
                        <a:rPr lang="en-US" altLang="zh-CN" sz="2800" b="1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zh-CN" altLang="en-US" sz="2800" b="1" dirty="0">
                  <a:solidFill>
                    <a:srgbClr val="002060"/>
                  </a:solidFill>
                </a:endParaRPr>
              </a:p>
            </p:txBody>
          </p:sp>
        </mc:Choice>
        <mc:Fallback>
          <p:sp>
            <p:nvSpPr>
              <p:cNvPr id="16" name="文本框 1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30997" y="4041553"/>
                <a:ext cx="2358851" cy="523220"/>
              </a:xfrm>
              <a:prstGeom prst="rect">
                <a:avLst/>
              </a:prstGeom>
              <a:blipFill rotWithShape="1">
                <a:blip r:embed="rId9"/>
                <a:stretch>
                  <a:fillRect l="-14" t="-79" r="7" b="7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" name="文本框 16"/>
          <p:cNvSpPr txBox="1"/>
          <p:nvPr/>
        </p:nvSpPr>
        <p:spPr>
          <a:xfrm>
            <a:off x="8380908" y="3785965"/>
            <a:ext cx="80021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b="1" dirty="0">
                <a:solidFill>
                  <a:srgbClr val="002060"/>
                </a:solidFill>
              </a:rPr>
              <a:t>近似</a:t>
            </a:r>
            <a:endParaRPr lang="zh-CN" altLang="en-US" sz="2400" b="1" dirty="0">
              <a:solidFill>
                <a:srgbClr val="002060"/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8" name="文本框 17"/>
              <p:cNvSpPr txBox="1"/>
              <p:nvPr/>
            </p:nvSpPr>
            <p:spPr>
              <a:xfrm>
                <a:off x="648996" y="4680872"/>
                <a:ext cx="4034310" cy="13143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800" b="1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𝑷</m:t>
                      </m:r>
                      <m:r>
                        <a:rPr lang="en-US" altLang="zh-CN" sz="2800" b="1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altLang="zh-CN" sz="2800" b="1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𝟏𝟖𝟎</m:t>
                      </m:r>
                      <m:r>
                        <a:rPr lang="en-US" altLang="zh-CN" sz="2800" b="1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≤</m:t>
                      </m:r>
                      <m:nary>
                        <m:naryPr>
                          <m:chr m:val="∑"/>
                          <m:ctrlPr>
                            <a:rPr lang="zh-CN" altLang="en-US" sz="2800" b="1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altLang="zh-CN" sz="2800" b="1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𝒊</m:t>
                          </m:r>
                          <m:r>
                            <a:rPr lang="en-US" altLang="zh-CN" sz="2800" b="1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altLang="zh-CN" sz="2800" b="1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  <m:sup>
                          <m:r>
                            <a:rPr lang="en-US" altLang="zh-CN" sz="2800" b="1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𝟏𝟎𝟎</m:t>
                          </m:r>
                        </m:sup>
                        <m:e>
                          <m:sSub>
                            <m:sSubPr>
                              <m:ctrlPr>
                                <a:rPr lang="en-US" altLang="zh-CN" sz="2800" b="1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800" b="1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𝑿</m:t>
                              </m:r>
                            </m:e>
                            <m:sub>
                              <m:r>
                                <a:rPr lang="en-US" altLang="zh-CN" sz="2800" b="1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𝒊</m:t>
                              </m:r>
                            </m:sub>
                          </m:sSub>
                        </m:e>
                      </m:nary>
                      <m:r>
                        <a:rPr lang="en-US" altLang="zh-CN" sz="2800" b="1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≤</m:t>
                      </m:r>
                      <m:r>
                        <a:rPr lang="en-US" altLang="zh-CN" sz="2800" b="1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𝟐𝟐𝟎</m:t>
                      </m:r>
                      <m:r>
                        <a:rPr lang="en-US" altLang="zh-CN" sz="2800" b="1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zh-CN" altLang="en-US" sz="2800" b="1" dirty="0">
                  <a:solidFill>
                    <a:srgbClr val="002060"/>
                  </a:solidFill>
                </a:endParaRPr>
              </a:p>
            </p:txBody>
          </p:sp>
        </mc:Choice>
        <mc:Fallback>
          <p:sp>
            <p:nvSpPr>
              <p:cNvPr id="18" name="文本框 1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8996" y="4680872"/>
                <a:ext cx="4034310" cy="1314399"/>
              </a:xfrm>
              <a:prstGeom prst="rect">
                <a:avLst/>
              </a:prstGeom>
              <a:blipFill rotWithShape="1">
                <a:blip r:embed="rId10"/>
                <a:stretch>
                  <a:fillRect l="-1" t="-22" r="4" b="1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9" name="文本框 18"/>
              <p:cNvSpPr txBox="1"/>
              <p:nvPr/>
            </p:nvSpPr>
            <p:spPr>
              <a:xfrm>
                <a:off x="4414508" y="4859830"/>
                <a:ext cx="6026843" cy="106048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800" b="1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≈</m:t>
                      </m:r>
                      <m:r>
                        <a:rPr lang="el-GR" altLang="zh-CN" sz="2800" b="1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𝜱</m:t>
                      </m:r>
                      <m:d>
                        <m:dPr>
                          <m:ctrlPr>
                            <a:rPr lang="en-US" altLang="zh-CN" sz="2800" b="1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altLang="zh-CN" sz="2800" b="1" i="1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zh-CN" sz="2800" b="1" i="1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𝟐𝟐𝟎</m:t>
                              </m:r>
                              <m:r>
                                <a:rPr lang="en-US" altLang="zh-CN" sz="2800" b="1" i="1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altLang="zh-CN" sz="2800" b="1" i="1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𝟐𝟎𝟎</m:t>
                              </m:r>
                            </m:num>
                            <m:den>
                              <m:rad>
                                <m:radPr>
                                  <m:degHide m:val="on"/>
                                  <m:ctrlPr>
                                    <a:rPr lang="en-US" altLang="zh-CN" sz="2800" b="1" i="1" smtClean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radPr>
                                <m:deg/>
                                <m:e>
                                  <m:r>
                                    <a:rPr lang="en-US" altLang="zh-CN" sz="2800" b="1" i="1" smtClean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𝟒𝟎𝟎</m:t>
                                  </m:r>
                                </m:e>
                              </m:rad>
                            </m:den>
                          </m:f>
                        </m:e>
                      </m:d>
                      <m:r>
                        <a:rPr lang="en-US" altLang="zh-CN" sz="2800" b="1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  <m:r>
                        <a:rPr lang="el-GR" altLang="zh-CN" sz="2800" b="1" i="1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𝜱</m:t>
                      </m:r>
                      <m:d>
                        <m:dPr>
                          <m:ctrlPr>
                            <a:rPr lang="en-US" altLang="zh-CN" sz="2800" b="1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altLang="zh-CN" sz="2800" b="1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zh-CN" sz="2800" b="1" i="1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𝟏𝟖𝟎</m:t>
                              </m:r>
                              <m:r>
                                <a:rPr lang="en-US" altLang="zh-CN" sz="2800" b="1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altLang="zh-CN" sz="2800" b="1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𝟐𝟎𝟎</m:t>
                              </m:r>
                            </m:num>
                            <m:den>
                              <m:rad>
                                <m:radPr>
                                  <m:degHide m:val="on"/>
                                  <m:ctrlPr>
                                    <a:rPr lang="en-US" altLang="zh-CN" sz="2800" b="1" i="1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radPr>
                                <m:deg/>
                                <m:e>
                                  <m:r>
                                    <a:rPr lang="en-US" altLang="zh-CN" sz="2800" b="1" i="1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𝟒𝟎𝟎</m:t>
                                  </m:r>
                                </m:e>
                              </m:rad>
                            </m:den>
                          </m:f>
                        </m:e>
                      </m:d>
                    </m:oMath>
                  </m:oMathPara>
                </a14:m>
                <a:endParaRPr lang="zh-CN" altLang="en-US" sz="2800" b="1" dirty="0">
                  <a:solidFill>
                    <a:srgbClr val="002060"/>
                  </a:solidFill>
                </a:endParaRPr>
              </a:p>
            </p:txBody>
          </p:sp>
        </mc:Choice>
        <mc:Fallback>
          <p:sp>
            <p:nvSpPr>
              <p:cNvPr id="19" name="文本框 1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14508" y="4859830"/>
                <a:ext cx="6026843" cy="1060483"/>
              </a:xfrm>
              <a:prstGeom prst="rect">
                <a:avLst/>
              </a:prstGeom>
              <a:blipFill rotWithShape="1">
                <a:blip r:embed="rId11"/>
                <a:stretch>
                  <a:fillRect l="-10" t="-17" r="1" b="2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0" name="文本框 19"/>
              <p:cNvSpPr txBox="1"/>
              <p:nvPr/>
            </p:nvSpPr>
            <p:spPr>
              <a:xfrm>
                <a:off x="4680565" y="5956752"/>
                <a:ext cx="3486339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altLang="zh-CN" sz="28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sz="28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𝟐</m:t>
                    </m:r>
                    <m:r>
                      <a:rPr lang="el-GR" altLang="zh-CN" sz="28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𝜱</m:t>
                    </m:r>
                    <m:d>
                      <m:dPr>
                        <m:ctrlPr>
                          <a:rPr lang="en-US" altLang="zh-CN" sz="28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8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𝟏</m:t>
                        </m:r>
                      </m:e>
                    </m:d>
                    <m:r>
                      <a:rPr lang="en-US" altLang="zh-CN" sz="28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</m:t>
                    </m:r>
                    <m:r>
                      <a:rPr lang="en-US" altLang="zh-CN" sz="28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𝟏</m:t>
                    </m:r>
                  </m:oMath>
                </a14:m>
                <a:r>
                  <a:rPr lang="en-US" altLang="zh-CN" sz="2800" b="1" dirty="0" smtClean="0">
                    <a:solidFill>
                      <a:srgbClr val="002060"/>
                    </a:solidFill>
                  </a:rPr>
                  <a:t>=0.6826</a:t>
                </a:r>
                <a:endParaRPr lang="zh-CN" altLang="en-US" sz="2800" b="1" dirty="0">
                  <a:solidFill>
                    <a:srgbClr val="002060"/>
                  </a:solidFill>
                </a:endParaRPr>
              </a:p>
            </p:txBody>
          </p:sp>
        </mc:Choice>
        <mc:Fallback>
          <p:sp>
            <p:nvSpPr>
              <p:cNvPr id="20" name="文本框 1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80565" y="5956752"/>
                <a:ext cx="3486339" cy="523220"/>
              </a:xfrm>
              <a:prstGeom prst="rect">
                <a:avLst/>
              </a:prstGeom>
              <a:blipFill rotWithShape="1">
                <a:blip r:embed="rId12"/>
                <a:stretch>
                  <a:fillRect l="-18" t="-86" r="5" b="8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1" name="文本框 20"/>
          <p:cNvSpPr txBox="1"/>
          <p:nvPr/>
        </p:nvSpPr>
        <p:spPr>
          <a:xfrm>
            <a:off x="6619683" y="4074334"/>
            <a:ext cx="92645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 smtClean="0">
                <a:solidFill>
                  <a:srgbClr val="002060"/>
                </a:solidFill>
              </a:rPr>
              <a:t>，则</a:t>
            </a:r>
            <a:endParaRPr lang="zh-CN" altLang="en-US" sz="2800" b="1" dirty="0">
              <a:solidFill>
                <a:srgbClr val="002060"/>
              </a:solidFill>
            </a:endParaRPr>
          </a:p>
        </p:txBody>
      </p:sp>
      <p:sp>
        <p:nvSpPr>
          <p:cNvPr id="22" name="文本框 17"/>
          <p:cNvSpPr txBox="1"/>
          <p:nvPr/>
        </p:nvSpPr>
        <p:spPr>
          <a:xfrm>
            <a:off x="345882" y="176648"/>
            <a:ext cx="646331" cy="646331"/>
          </a:xfrm>
          <a:prstGeom prst="rect">
            <a:avLst/>
          </a:prstGeom>
          <a:solidFill>
            <a:srgbClr val="92D050"/>
          </a:solidFill>
        </p:spPr>
        <p:txBody>
          <a:bodyPr wrap="none" rtlCol="0">
            <a:spAutoFit/>
          </a:bodyPr>
          <a:lstStyle/>
          <a:p>
            <a:r>
              <a:rPr lang="zh-CN" altLang="en-US" sz="3600" dirty="0" smtClean="0">
                <a:solidFill>
                  <a:srgbClr val="FFFF00"/>
                </a:solidFill>
              </a:rPr>
              <a:t>例</a:t>
            </a:r>
            <a:endParaRPr lang="zh-CN" altLang="en-US" sz="3600" dirty="0">
              <a:solidFill>
                <a:srgbClr val="FFFF00"/>
              </a:solidFill>
            </a:endParaRPr>
          </a:p>
        </p:txBody>
      </p:sp>
      <p:sp>
        <p:nvSpPr>
          <p:cNvPr id="3" name="矩形 2"/>
          <p:cNvSpPr/>
          <p:nvPr/>
        </p:nvSpPr>
        <p:spPr>
          <a:xfrm>
            <a:off x="330926" y="183748"/>
            <a:ext cx="5560207" cy="3167992"/>
          </a:xfrm>
          <a:prstGeom prst="rect">
            <a:avLst/>
          </a:prstGeom>
          <a:noFill/>
          <a:ln w="38100">
            <a:solidFill>
              <a:srgbClr val="92D050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3" name="文本框 18"/>
          <p:cNvSpPr txBox="1"/>
          <p:nvPr/>
        </p:nvSpPr>
        <p:spPr>
          <a:xfrm>
            <a:off x="67016" y="3381842"/>
            <a:ext cx="64633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600" dirty="0" smtClean="0">
                <a:solidFill>
                  <a:srgbClr val="FF0000"/>
                </a:solidFill>
              </a:rPr>
              <a:t>解</a:t>
            </a:r>
            <a:endParaRPr lang="zh-CN" altLang="en-US" sz="3600" dirty="0">
              <a:solidFill>
                <a:srgbClr val="FF0000"/>
              </a:solidFill>
            </a:endParaRPr>
          </a:p>
        </p:txBody>
      </p:sp>
      <p:sp>
        <p:nvSpPr>
          <p:cNvPr id="4" name="圆角矩形 3"/>
          <p:cNvSpPr/>
          <p:nvPr/>
        </p:nvSpPr>
        <p:spPr>
          <a:xfrm>
            <a:off x="7450455" y="3587115"/>
            <a:ext cx="4067810" cy="1327785"/>
          </a:xfrm>
          <a:prstGeom prst="round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5" name="圆角矩形 24"/>
          <p:cNvSpPr/>
          <p:nvPr/>
        </p:nvSpPr>
        <p:spPr>
          <a:xfrm>
            <a:off x="5891134" y="183748"/>
            <a:ext cx="6041036" cy="3167992"/>
          </a:xfrm>
          <a:prstGeom prst="round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0" grpId="0"/>
      <p:bldP spid="11" grpId="0"/>
      <p:bldP spid="12" grpId="0"/>
      <p:bldP spid="13" grpId="0"/>
      <p:bldP spid="15" grpId="0"/>
      <p:bldP spid="16" grpId="0"/>
      <p:bldP spid="17" grpId="0"/>
      <p:bldP spid="18" grpId="0"/>
      <p:bldP spid="19" grpId="0"/>
      <p:bldP spid="20" grpId="0"/>
      <p:bldP spid="21" grpId="0"/>
      <p:bldP spid="22" grpId="0" animBg="1"/>
      <p:bldP spid="3" grpId="0" animBg="1"/>
      <p:bldP spid="23" grpId="0"/>
      <p:bldP spid="4" grpId="0" bldLvl="0" animBg="1"/>
      <p:bldP spid="25" grpId="0" animBg="1"/>
    </p:bld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sp>
        <p:nvSpPr>
          <p:cNvPr id="3" name="Rectangle 2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5" name="Object 10"/>
          <p:cNvGraphicFramePr>
            <a:graphicFrameLocks noChangeAspect="1"/>
          </p:cNvGraphicFramePr>
          <p:nvPr/>
        </p:nvGraphicFramePr>
        <p:xfrm>
          <a:off x="1628899" y="962178"/>
          <a:ext cx="8053388" cy="7921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874" name="Equation" r:id="rId1" imgW="3098800" imgH="304800" progId="Equation.KSEE3">
                  <p:embed/>
                </p:oleObj>
              </mc:Choice>
              <mc:Fallback>
                <p:oleObj name="Equation" r:id="rId1" imgW="3098800" imgH="304800" progId="Equation.KSEE3">
                  <p:embed/>
                  <p:pic>
                    <p:nvPicPr>
                      <p:cNvPr id="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28899" y="962178"/>
                        <a:ext cx="8053388" cy="7921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Rectangle 5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63034" y="3501364"/>
            <a:ext cx="8136233" cy="569052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9" name="文本框 8"/>
              <p:cNvSpPr txBox="1"/>
              <p:nvPr/>
            </p:nvSpPr>
            <p:spPr>
              <a:xfrm>
                <a:off x="1206499" y="4321433"/>
                <a:ext cx="2999732" cy="58477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32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𝑋</m:t>
                      </m:r>
                      <m:r>
                        <a:rPr lang="en-US" altLang="zh-CN" sz="32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~</m:t>
                      </m:r>
                      <m:r>
                        <a:rPr lang="en-US" altLang="zh-CN" sz="32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𝐵</m:t>
                      </m:r>
                      <m:r>
                        <a:rPr lang="en-US" altLang="zh-CN" sz="32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altLang="zh-CN" sz="32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3600</m:t>
                      </m:r>
                      <m:r>
                        <a:rPr lang="en-US" altLang="zh-CN" sz="32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altLang="zh-CN" sz="32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en-US" altLang="zh-CN" sz="32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US" altLang="zh-CN" sz="32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en-US" altLang="zh-CN" sz="32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zh-CN" altLang="en-US" sz="3200" dirty="0">
                  <a:solidFill>
                    <a:srgbClr val="002060"/>
                  </a:solidFill>
                </a:endParaRPr>
              </a:p>
            </p:txBody>
          </p:sp>
        </mc:Choice>
        <mc:Fallback>
          <p:sp>
            <p:nvSpPr>
              <p:cNvPr id="9" name="文本框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06499" y="4321433"/>
                <a:ext cx="2999732" cy="584775"/>
              </a:xfrm>
              <a:prstGeom prst="rect">
                <a:avLst/>
              </a:prstGeom>
              <a:blipFill rotWithShape="1">
                <a:blip r:embed="rId4"/>
                <a:stretch>
                  <a:fillRect l="-21" t="-44" r="21" b="3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文本框 18"/>
          <p:cNvSpPr txBox="1"/>
          <p:nvPr/>
        </p:nvSpPr>
        <p:spPr>
          <a:xfrm>
            <a:off x="684529" y="3473779"/>
            <a:ext cx="64633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600" dirty="0" smtClean="0">
                <a:solidFill>
                  <a:srgbClr val="FF0000"/>
                </a:solidFill>
              </a:rPr>
              <a:t>解</a:t>
            </a:r>
            <a:endParaRPr lang="zh-CN" altLang="en-US" sz="3600" dirty="0">
              <a:solidFill>
                <a:srgbClr val="FF0000"/>
              </a:solidFill>
            </a:endParaRPr>
          </a:p>
        </p:txBody>
      </p:sp>
      <p:sp>
        <p:nvSpPr>
          <p:cNvPr id="14" name="圆角矩形 13"/>
          <p:cNvSpPr/>
          <p:nvPr/>
        </p:nvSpPr>
        <p:spPr>
          <a:xfrm>
            <a:off x="439018" y="287453"/>
            <a:ext cx="11253310" cy="1466887"/>
          </a:xfrm>
          <a:prstGeom prst="round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 dirty="0"/>
          </a:p>
        </p:txBody>
      </p:sp>
      <p:sp>
        <p:nvSpPr>
          <p:cNvPr id="7" name="TextBox 6"/>
          <p:cNvSpPr txBox="1"/>
          <p:nvPr/>
        </p:nvSpPr>
        <p:spPr>
          <a:xfrm>
            <a:off x="684529" y="315847"/>
            <a:ext cx="987962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600" b="1" dirty="0" smtClean="0"/>
              <a:t>二项分布的极限分布是正态分布的中心极限定理</a:t>
            </a:r>
            <a:endParaRPr lang="zh-CN" altLang="en-US" sz="3600" b="1" dirty="0"/>
          </a:p>
        </p:txBody>
      </p:sp>
      <p:sp>
        <p:nvSpPr>
          <p:cNvPr id="15" name="圆角矩形 14"/>
          <p:cNvSpPr/>
          <p:nvPr/>
        </p:nvSpPr>
        <p:spPr>
          <a:xfrm>
            <a:off x="1056728" y="4219016"/>
            <a:ext cx="10307957" cy="751134"/>
          </a:xfrm>
          <a:prstGeom prst="round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aphicFrame>
        <p:nvGraphicFramePr>
          <p:cNvPr id="4" name="对象 3"/>
          <p:cNvGraphicFramePr>
            <a:graphicFrameLocks noChangeAspect="1"/>
          </p:cNvGraphicFramePr>
          <p:nvPr/>
        </p:nvGraphicFramePr>
        <p:xfrm>
          <a:off x="344978" y="2032578"/>
          <a:ext cx="11502043" cy="146878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875" name="" r:id="rId5" imgW="5295900" imgH="673100" progId="Equation.3">
                  <p:embed/>
                </p:oleObj>
              </mc:Choice>
              <mc:Fallback>
                <p:oleObj name="" r:id="rId5" imgW="5295900" imgH="673100" progId="Equation.3">
                  <p:embed/>
                  <p:pic>
                    <p:nvPicPr>
                      <p:cNvPr id="0" name="对象 4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4978" y="2032578"/>
                        <a:ext cx="11502043" cy="1468786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" name="文本框 19"/>
          <p:cNvSpPr txBox="1"/>
          <p:nvPr/>
        </p:nvSpPr>
        <p:spPr>
          <a:xfrm>
            <a:off x="513968" y="1884063"/>
            <a:ext cx="1509702" cy="671509"/>
          </a:xfrm>
          <a:prstGeom prst="rect">
            <a:avLst/>
          </a:prstGeom>
          <a:solidFill>
            <a:srgbClr val="92D050"/>
          </a:solidFill>
        </p:spPr>
        <p:txBody>
          <a:bodyPr wrap="square" rtlCol="0">
            <a:spAutoFit/>
          </a:bodyPr>
          <a:lstStyle/>
          <a:p>
            <a:r>
              <a:rPr lang="zh-CN" altLang="en-US" sz="3600" dirty="0" smtClean="0">
                <a:solidFill>
                  <a:srgbClr val="FF0000"/>
                </a:solidFill>
              </a:rPr>
              <a:t>  例</a:t>
            </a:r>
            <a:endParaRPr lang="zh-CN" altLang="en-US" sz="3600" dirty="0">
              <a:solidFill>
                <a:srgbClr val="FF0000"/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1" name="文本框 20"/>
              <p:cNvSpPr txBox="1"/>
              <p:nvPr/>
            </p:nvSpPr>
            <p:spPr>
              <a:xfrm>
                <a:off x="1238793" y="5145248"/>
                <a:ext cx="2100832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800" b="0" i="1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altLang="zh-CN" sz="2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</a:rPr>
                            <m:t>&gt;</m:t>
                          </m:r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</a:rPr>
                            <m:t>387</m:t>
                          </m:r>
                        </m:e>
                      </m:d>
                    </m:oMath>
                  </m:oMathPara>
                </a14:m>
                <a:endParaRPr lang="zh-CN" altLang="en-US" sz="2800" dirty="0"/>
              </a:p>
            </p:txBody>
          </p:sp>
        </mc:Choice>
        <mc:Fallback>
          <p:sp>
            <p:nvSpPr>
              <p:cNvPr id="21" name="文本框 2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38793" y="5145248"/>
                <a:ext cx="2100832" cy="523220"/>
              </a:xfrm>
              <a:prstGeom prst="rect">
                <a:avLst/>
              </a:prstGeom>
              <a:blipFill rotWithShape="1">
                <a:blip r:embed="rId7"/>
                <a:stretch>
                  <a:fillRect l="-26" t="-91" r="8" b="8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2" name="矩形 21"/>
              <p:cNvSpPr/>
              <p:nvPr/>
            </p:nvSpPr>
            <p:spPr>
              <a:xfrm>
                <a:off x="1628899" y="5118691"/>
                <a:ext cx="6096000" cy="523220"/>
              </a:xfrm>
              <a:prstGeom prst="rect">
                <a:avLst/>
              </a:prstGeom>
            </p:spPr>
            <p:txBody>
              <a:bodyPr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80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sz="2800" i="1"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en-US" altLang="zh-CN" sz="2800" i="1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altLang="zh-CN" sz="2800" i="1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altLang="zh-CN" sz="28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800" i="1">
                              <a:latin typeface="Cambria Math" panose="02040503050406030204" pitchFamily="18" charset="0"/>
                            </a:rPr>
                            <m:t>𝑋</m:t>
                          </m:r>
                          <m:r>
                            <a:rPr lang="en-US" altLang="zh-CN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≤</m:t>
                          </m:r>
                          <m:r>
                            <a:rPr lang="en-US" altLang="zh-CN" sz="2800" i="1">
                              <a:latin typeface="Cambria Math" panose="02040503050406030204" pitchFamily="18" charset="0"/>
                            </a:rPr>
                            <m:t>387</m:t>
                          </m:r>
                        </m:e>
                      </m:d>
                    </m:oMath>
                  </m:oMathPara>
                </a14:m>
                <a:endParaRPr lang="zh-CN" altLang="en-US" sz="2800" dirty="0"/>
              </a:p>
            </p:txBody>
          </p:sp>
        </mc:Choice>
        <mc:Fallback>
          <p:sp>
            <p:nvSpPr>
              <p:cNvPr id="22" name="矩形 2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28899" y="5118691"/>
                <a:ext cx="6096000" cy="523220"/>
              </a:xfrm>
              <a:prstGeom prst="rect">
                <a:avLst/>
              </a:prstGeom>
              <a:blipFill rotWithShape="1">
                <a:blip r:embed="rId8"/>
                <a:stretch>
                  <a:fillRect l="-2" t="-113" r="2" b="10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4" name="矩形 23"/>
              <p:cNvSpPr/>
              <p:nvPr/>
            </p:nvSpPr>
            <p:spPr>
              <a:xfrm>
                <a:off x="3124167" y="5634177"/>
                <a:ext cx="4816190" cy="1060483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8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≈</m:t>
                      </m:r>
                      <m:r>
                        <a:rPr lang="en-US" altLang="zh-CN" sz="28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1</m:t>
                      </m:r>
                      <m:r>
                        <a:rPr lang="en-US" altLang="zh-CN" sz="28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  <m:r>
                        <m:rPr>
                          <m:sty m:val="p"/>
                        </m:rPr>
                        <a:rPr lang="el-GR" altLang="zh-CN" sz="28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Φ</m:t>
                      </m:r>
                      <m:d>
                        <m:dPr>
                          <m:ctrlPr>
                            <a:rPr lang="el-GR" altLang="zh-CN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l-GR" altLang="zh-CN" sz="2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zh-CN" sz="2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387</m:t>
                              </m:r>
                              <m:r>
                                <a:rPr lang="en-US" altLang="zh-CN" sz="2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altLang="zh-CN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3600</m:t>
                              </m:r>
                              <m:r>
                                <a:rPr lang="en-US" altLang="zh-CN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×</m:t>
                              </m:r>
                              <m:r>
                                <a:rPr lang="en-US" altLang="zh-CN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0</m:t>
                              </m:r>
                              <m:r>
                                <a:rPr lang="en-US" altLang="zh-CN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.</m:t>
                              </m:r>
                              <m:r>
                                <a:rPr lang="en-US" altLang="zh-CN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ad>
                                <m:radPr>
                                  <m:degHide m:val="on"/>
                                  <m:ctrlPr>
                                    <a:rPr lang="el-GR" altLang="zh-CN" sz="28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radPr>
                                <m:deg/>
                                <m:e>
                                  <m:r>
                                    <a:rPr lang="en-US" altLang="zh-CN" sz="2800" i="1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3600</m:t>
                                  </m:r>
                                  <m:r>
                                    <a:rPr lang="en-US" altLang="zh-CN" sz="2800" i="1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×</m:t>
                                  </m:r>
                                  <m:r>
                                    <a:rPr lang="en-US" altLang="zh-CN" sz="2800" i="1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0</m:t>
                                  </m:r>
                                  <m:r>
                                    <a:rPr lang="en-US" altLang="zh-CN" sz="2800" i="1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.</m:t>
                                  </m:r>
                                  <m:r>
                                    <a:rPr lang="en-US" altLang="zh-CN" sz="2800" i="1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1</m:t>
                                  </m:r>
                                  <m:r>
                                    <a:rPr lang="en-US" altLang="zh-CN" sz="2800" i="1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×</m:t>
                                  </m:r>
                                  <m:r>
                                    <a:rPr lang="en-US" altLang="zh-CN" sz="2800" i="1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0</m:t>
                                  </m:r>
                                  <m:r>
                                    <a:rPr lang="en-US" altLang="zh-CN" sz="2800" i="1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.</m:t>
                                  </m:r>
                                  <m:r>
                                    <a:rPr lang="en-US" altLang="zh-CN" sz="2800" i="1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9</m:t>
                                  </m:r>
                                </m:e>
                              </m:rad>
                            </m:den>
                          </m:f>
                        </m:e>
                      </m:d>
                    </m:oMath>
                  </m:oMathPara>
                </a14:m>
                <a:endParaRPr lang="zh-CN" altLang="en-US" sz="2800" dirty="0"/>
              </a:p>
            </p:txBody>
          </p:sp>
        </mc:Choice>
        <mc:Fallback>
          <p:sp>
            <p:nvSpPr>
              <p:cNvPr id="24" name="矩形 2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24167" y="5634177"/>
                <a:ext cx="4816190" cy="1060483"/>
              </a:xfrm>
              <a:prstGeom prst="rect">
                <a:avLst/>
              </a:prstGeom>
              <a:blipFill rotWithShape="1">
                <a:blip r:embed="rId9"/>
                <a:stretch>
                  <a:fillRect l="-12" t="-43" r="7" b="4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5" name="矩形 24"/>
              <p:cNvSpPr/>
              <p:nvPr/>
            </p:nvSpPr>
            <p:spPr>
              <a:xfrm>
                <a:off x="7877348" y="5902808"/>
                <a:ext cx="3243837" cy="52322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altLang="zh-CN" sz="2800" dirty="0"/>
                  <a:t>=1-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l-GR" altLang="zh-CN" sz="28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Φ</m:t>
                    </m:r>
                    <m:d>
                      <m:dPr>
                        <m:ctrlPr>
                          <a:rPr lang="el-GR" altLang="zh-CN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  <m:r>
                          <a:rPr lang="en-US" altLang="zh-CN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.</m:t>
                        </m:r>
                        <m:r>
                          <a:rPr lang="en-US" altLang="zh-CN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5</m:t>
                        </m:r>
                      </m:e>
                    </m:d>
                    <m:r>
                      <a:rPr lang="en-US" altLang="zh-CN" sz="2800" i="1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US" altLang="zh-CN" sz="2800" i="1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0</m:t>
                    </m:r>
                    <m:r>
                      <a:rPr lang="en-US" altLang="zh-CN" sz="2800" i="1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.</m:t>
                    </m:r>
                    <m:r>
                      <a:rPr lang="en-US" altLang="zh-CN" sz="2800" i="1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0668</m:t>
                    </m:r>
                  </m:oMath>
                </a14:m>
                <a:endParaRPr lang="zh-CN" altLang="en-US" sz="2800" dirty="0"/>
              </a:p>
            </p:txBody>
          </p:sp>
        </mc:Choice>
        <mc:Fallback>
          <p:sp>
            <p:nvSpPr>
              <p:cNvPr id="25" name="矩形 2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77348" y="5902808"/>
                <a:ext cx="3243837" cy="523220"/>
              </a:xfrm>
              <a:prstGeom prst="rect">
                <a:avLst/>
              </a:prstGeom>
              <a:blipFill rotWithShape="1">
                <a:blip r:embed="rId10"/>
                <a:stretch>
                  <a:fillRect l="-5" t="-92" r="13" b="8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6" name="文本框 25"/>
              <p:cNvSpPr txBox="1"/>
              <p:nvPr/>
            </p:nvSpPr>
            <p:spPr>
              <a:xfrm>
                <a:off x="4101731" y="4307930"/>
                <a:ext cx="7406002" cy="58477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3200" i="1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⟹ </m:t>
                      </m:r>
                      <m:r>
                        <a:rPr lang="en-US" altLang="zh-CN" sz="32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𝑋</m:t>
                      </m:r>
                      <m:r>
                        <a:rPr lang="en-US" altLang="zh-CN" sz="32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 ~  </m:t>
                      </m:r>
                      <m:r>
                        <a:rPr lang="en-US" altLang="zh-CN" sz="32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𝑁</m:t>
                      </m:r>
                      <m:r>
                        <a:rPr lang="en-US" altLang="zh-CN" sz="32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altLang="zh-CN" sz="32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3600</m:t>
                      </m:r>
                      <m:r>
                        <a:rPr lang="en-US" altLang="zh-CN" sz="32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×</m:t>
                      </m:r>
                      <m:r>
                        <a:rPr lang="en-US" altLang="zh-CN" sz="32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en-US" altLang="zh-CN" sz="32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US" altLang="zh-CN" sz="32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en-US" altLang="zh-CN" sz="32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altLang="zh-CN" sz="32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3600</m:t>
                      </m:r>
                      <m:r>
                        <a:rPr lang="en-US" altLang="zh-CN" sz="32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×</m:t>
                      </m:r>
                      <m:r>
                        <a:rPr lang="en-US" altLang="zh-CN" sz="32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en-US" altLang="zh-CN" sz="32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US" altLang="zh-CN" sz="32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en-US" altLang="zh-CN" sz="32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×</m:t>
                      </m:r>
                      <m:r>
                        <a:rPr lang="en-US" altLang="zh-CN" sz="32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en-US" altLang="zh-CN" sz="32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US" altLang="zh-CN" sz="32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9</m:t>
                      </m:r>
                      <m:r>
                        <a:rPr lang="en-US" altLang="zh-CN" sz="32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zh-CN" altLang="en-US" sz="3200" dirty="0">
                  <a:solidFill>
                    <a:srgbClr val="002060"/>
                  </a:solidFill>
                </a:endParaRPr>
              </a:p>
            </p:txBody>
          </p:sp>
        </mc:Choice>
        <mc:Fallback>
          <p:sp>
            <p:nvSpPr>
              <p:cNvPr id="26" name="文本框 2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01731" y="4307930"/>
                <a:ext cx="7406002" cy="584775"/>
              </a:xfrm>
              <a:prstGeom prst="rect">
                <a:avLst/>
              </a:prstGeom>
              <a:blipFill rotWithShape="1">
                <a:blip r:embed="rId11"/>
                <a:stretch>
                  <a:fillRect l="-4" t="-15" r="4" b="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7" name="文本框 26"/>
          <p:cNvSpPr txBox="1"/>
          <p:nvPr/>
        </p:nvSpPr>
        <p:spPr>
          <a:xfrm>
            <a:off x="5185744" y="4219016"/>
            <a:ext cx="6463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b="1" dirty="0" smtClean="0"/>
              <a:t>近似</a:t>
            </a:r>
            <a:endParaRPr lang="zh-CN" altLang="en-US" b="1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2" grpId="0"/>
      <p:bldP spid="14" grpId="0" animBg="1"/>
      <p:bldP spid="7" grpId="0"/>
      <p:bldP spid="15" grpId="0" animBg="1"/>
      <p:bldP spid="13" grpId="0" animBg="1"/>
      <p:bldP spid="21" grpId="0"/>
      <p:bldP spid="22" grpId="0"/>
      <p:bldP spid="24" grpId="0"/>
      <p:bldP spid="25" grpId="0"/>
      <p:bldP spid="26" grpId="0"/>
      <p:bldP spid="27" grpId="0"/>
    </p:bld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5057" y="252892"/>
            <a:ext cx="10668607" cy="2469072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4" name="文本框 3"/>
              <p:cNvSpPr txBox="1"/>
              <p:nvPr/>
            </p:nvSpPr>
            <p:spPr>
              <a:xfrm>
                <a:off x="1858434" y="2577066"/>
                <a:ext cx="8320405" cy="62293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zh-CN" altLang="en-US" sz="3200" b="1" i="1" smtClean="0">
                        <a:latin typeface="Cambria Math" panose="02040503050406030204" pitchFamily="18" charset="0"/>
                      </a:rPr>
                      <m:t>解</m:t>
                    </m:r>
                  </m:oMath>
                </a14:m>
                <a:r>
                  <a:rPr lang="zh-CN" altLang="en-US" sz="3200" b="1" dirty="0" smtClean="0"/>
                  <a:t>：设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3200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3200" b="1" i="1" smtClean="0">
                            <a:latin typeface="Cambria Math" panose="02040503050406030204" pitchFamily="18" charset="0"/>
                          </a:rPr>
                          <m:t>𝑿</m:t>
                        </m:r>
                      </m:e>
                      <m:sub>
                        <m:r>
                          <a:rPr lang="en-US" altLang="zh-CN" sz="3200" b="1" i="1" smtClean="0">
                            <a:latin typeface="Cambria Math" panose="02040503050406030204" pitchFamily="18" charset="0"/>
                          </a:rPr>
                          <m:t>𝒊</m:t>
                        </m:r>
                      </m:sub>
                    </m:sSub>
                    <m:r>
                      <a:rPr lang="zh-CN" altLang="en-US" sz="3200" b="1" i="1">
                        <a:latin typeface="Cambria Math" panose="02040503050406030204" pitchFamily="18" charset="0"/>
                      </a:rPr>
                      <m:t>为</m:t>
                    </m:r>
                  </m:oMath>
                </a14:m>
                <a:r>
                  <a:rPr lang="zh-CN" altLang="en-US" sz="3200" b="1" dirty="0" smtClean="0"/>
                  <a:t>第</a:t>
                </a:r>
                <a14:m>
                  <m:oMath xmlns:m="http://schemas.openxmlformats.org/officeDocument/2006/math">
                    <m:r>
                      <a:rPr lang="en-US" altLang="zh-CN" sz="3200" b="1" i="1" smtClean="0">
                        <a:latin typeface="Cambria Math" panose="02040503050406030204" pitchFamily="18" charset="0"/>
                      </a:rPr>
                      <m:t>𝒊</m:t>
                    </m:r>
                    <m:r>
                      <a:rPr lang="zh-CN" altLang="en-US" sz="3200" b="1" i="1">
                        <a:latin typeface="Cambria Math" panose="02040503050406030204" pitchFamily="18" charset="0"/>
                      </a:rPr>
                      <m:t>箱</m:t>
                    </m:r>
                  </m:oMath>
                </a14:m>
                <a:r>
                  <a:rPr lang="zh-CN" altLang="en-US" sz="3200" b="1" dirty="0" smtClean="0"/>
                  <a:t>产品的重量，</a:t>
                </a:r>
                <a:r>
                  <a:rPr lang="en-US" altLang="zh-CN" sz="3200" b="1" dirty="0" smtClean="0"/>
                  <a:t> </a:t>
                </a:r>
                <a14:m>
                  <m:oMath xmlns:m="http://schemas.openxmlformats.org/officeDocument/2006/math">
                    <m:r>
                      <a:rPr lang="en-US" altLang="zh-CN" sz="3200" b="1" i="1" smtClean="0">
                        <a:latin typeface="Cambria Math" panose="02040503050406030204" pitchFamily="18" charset="0"/>
                      </a:rPr>
                      <m:t>𝒊</m:t>
                    </m:r>
                  </m:oMath>
                </a14:m>
                <a:r>
                  <a:rPr lang="en-US" altLang="zh-CN" sz="3200" b="1" dirty="0" smtClean="0"/>
                  <a:t>=1,2,</a:t>
                </a:r>
                <a14:m>
                  <m:oMath xmlns:m="http://schemas.openxmlformats.org/officeDocument/2006/math">
                    <m:r>
                      <a:rPr lang="en-US" altLang="zh-CN" sz="32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⋯,</m:t>
                    </m:r>
                    <m:r>
                      <a:rPr lang="en-US" altLang="zh-CN" sz="32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𝟏𝟎𝟎</m:t>
                    </m:r>
                    <m:r>
                      <a:rPr lang="zh-CN" altLang="en-US" sz="3200" b="1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。</m:t>
                    </m:r>
                  </m:oMath>
                </a14:m>
                <a:endParaRPr lang="zh-CN" altLang="en-US" sz="3200" b="1" dirty="0"/>
              </a:p>
            </p:txBody>
          </p:sp>
        </mc:Choice>
        <mc:Fallback>
          <p:sp>
            <p:nvSpPr>
              <p:cNvPr id="4" name="文本框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58434" y="2577066"/>
                <a:ext cx="8320405" cy="622935"/>
              </a:xfrm>
              <a:prstGeom prst="rect">
                <a:avLst/>
              </a:prstGeom>
              <a:blipFill rotWithShape="1">
                <a:blip r:embed="rId2"/>
                <a:stretch>
                  <a:fillRect l="-5" t="-38" r="-94" b="3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" name="文本框 4"/>
              <p:cNvSpPr txBox="1"/>
              <p:nvPr/>
            </p:nvSpPr>
            <p:spPr>
              <a:xfrm>
                <a:off x="2473205" y="5188426"/>
                <a:ext cx="3505200" cy="149098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3200" b="1" i="1" smtClean="0">
                          <a:latin typeface="Cambria Math" panose="02040503050406030204" pitchFamily="18" charset="0"/>
                        </a:rPr>
                        <m:t>𝑷</m:t>
                      </m:r>
                      <m:r>
                        <a:rPr lang="en-US" altLang="zh-CN" sz="3200" b="1" i="1" smtClean="0">
                          <a:latin typeface="Cambria Math" panose="02040503050406030204" pitchFamily="18" charset="0"/>
                        </a:rPr>
                        <m:t>(</m:t>
                      </m:r>
                      <m:nary>
                        <m:naryPr>
                          <m:chr m:val="∑"/>
                          <m:ctrlPr>
                            <a:rPr lang="en-US" altLang="zh-CN" sz="3200" b="1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altLang="zh-CN" sz="3200" b="1" i="1" smtClean="0">
                              <a:latin typeface="Cambria Math" panose="02040503050406030204" pitchFamily="18" charset="0"/>
                            </a:rPr>
                            <m:t>𝒊</m:t>
                          </m:r>
                          <m:r>
                            <a:rPr lang="en-US" altLang="zh-CN" sz="3200" b="1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altLang="zh-CN" sz="3200" b="1" i="1" smtClean="0"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  <m:sup>
                          <m:r>
                            <a:rPr lang="en-US" altLang="zh-CN" sz="3200" b="1" i="1" smtClean="0">
                              <a:latin typeface="Cambria Math" panose="02040503050406030204" pitchFamily="18" charset="0"/>
                            </a:rPr>
                            <m:t>𝟏𝟎𝟎</m:t>
                          </m:r>
                        </m:sup>
                        <m:e>
                          <m:sSub>
                            <m:sSubPr>
                              <m:ctrlPr>
                                <a:rPr lang="en-US" altLang="zh-CN" sz="3200" b="1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3200" b="1" i="1" smtClean="0">
                                  <a:latin typeface="Cambria Math" panose="02040503050406030204" pitchFamily="18" charset="0"/>
                                </a:rPr>
                                <m:t>𝑿</m:t>
                              </m:r>
                            </m:e>
                            <m:sub>
                              <m:r>
                                <a:rPr lang="en-US" altLang="zh-CN" sz="3200" b="1" i="1" smtClean="0">
                                  <a:latin typeface="Cambria Math" panose="02040503050406030204" pitchFamily="18" charset="0"/>
                                </a:rPr>
                                <m:t>𝒊</m:t>
                              </m:r>
                            </m:sub>
                          </m:sSub>
                        </m:e>
                      </m:nary>
                      <m:r>
                        <a:rPr lang="en-US" altLang="zh-CN" sz="32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≤</m:t>
                      </m:r>
                      <m:r>
                        <a:rPr lang="en-US" altLang="zh-CN" sz="32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𝟓𝟎𝟎𝟎</m:t>
                      </m:r>
                      <m:r>
                        <a:rPr lang="en-US" altLang="zh-CN" sz="3200" b="1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zh-CN" altLang="en-US" sz="3200" b="1" dirty="0"/>
              </a:p>
            </p:txBody>
          </p:sp>
        </mc:Choice>
        <mc:Fallback>
          <p:sp>
            <p:nvSpPr>
              <p:cNvPr id="5" name="文本框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73205" y="5188426"/>
                <a:ext cx="3505200" cy="1490980"/>
              </a:xfrm>
              <a:prstGeom prst="rect">
                <a:avLst/>
              </a:prstGeom>
              <a:blipFill rotWithShape="1">
                <a:blip r:embed="rId3"/>
                <a:stretch>
                  <a:fillRect l="-15" t="-32" r="15" b="3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" name="矩形 5"/>
              <p:cNvSpPr/>
              <p:nvPr/>
            </p:nvSpPr>
            <p:spPr>
              <a:xfrm>
                <a:off x="5400332" y="3180596"/>
                <a:ext cx="3549650" cy="61150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altLang="zh-CN" sz="32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𝑬</m:t>
                    </m:r>
                    <m:sSub>
                      <m:sSubPr>
                        <m:ctrlPr>
                          <a:rPr lang="en-US" altLang="zh-CN" sz="3200" b="1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3200" b="1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𝑿</m:t>
                        </m:r>
                      </m:e>
                      <m:sub>
                        <m:r>
                          <a:rPr lang="en-US" altLang="zh-CN" sz="3200" b="1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𝒊</m:t>
                        </m:r>
                      </m:sub>
                    </m:sSub>
                  </m:oMath>
                </a14:m>
                <a:r>
                  <a:rPr lang="en-US" altLang="zh-CN" sz="3200" b="1" dirty="0" smtClean="0">
                    <a:solidFill>
                      <a:srgbClr val="002060"/>
                    </a:solidFill>
                  </a:rPr>
                  <a:t>=50</a:t>
                </a:r>
                <a:r>
                  <a:rPr lang="zh-CN" altLang="en-US" sz="3200" b="1" dirty="0" smtClean="0">
                    <a:solidFill>
                      <a:srgbClr val="002060"/>
                    </a:solidFill>
                  </a:rPr>
                  <a:t>，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3200" b="1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3200" b="1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𝑫𝑿</m:t>
                        </m:r>
                      </m:e>
                      <m:sub>
                        <m:r>
                          <a:rPr lang="en-US" altLang="zh-CN" sz="3200" b="1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𝒊</m:t>
                        </m:r>
                      </m:sub>
                    </m:sSub>
                    <m:r>
                      <a:rPr lang="en-US" altLang="zh-CN" sz="3200" b="1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altLang="zh-CN" sz="32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32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𝟓</m:t>
                        </m:r>
                      </m:e>
                      <m:sup>
                        <m:r>
                          <a:rPr lang="en-US" altLang="zh-CN" sz="32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𝟐</m:t>
                        </m:r>
                      </m:sup>
                    </m:sSup>
                  </m:oMath>
                </a14:m>
                <a:endParaRPr lang="zh-CN" altLang="en-US" sz="3200" b="1" dirty="0">
                  <a:solidFill>
                    <a:srgbClr val="002060"/>
                  </a:solidFill>
                </a:endParaRPr>
              </a:p>
            </p:txBody>
          </p:sp>
        </mc:Choice>
        <mc:Fallback>
          <p:sp>
            <p:nvSpPr>
              <p:cNvPr id="6" name="矩形 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00332" y="3180596"/>
                <a:ext cx="3549650" cy="611505"/>
              </a:xfrm>
              <a:prstGeom prst="rect">
                <a:avLst/>
              </a:prstGeom>
              <a:blipFill rotWithShape="1">
                <a:blip r:embed="rId4"/>
                <a:stretch>
                  <a:fillRect l="-8" t="-84" r="-224" b="8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" name="矩形 6"/>
              <p:cNvSpPr/>
              <p:nvPr/>
            </p:nvSpPr>
            <p:spPr>
              <a:xfrm>
                <a:off x="1507999" y="3170662"/>
                <a:ext cx="3456305" cy="5835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3200" b="1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3200" b="1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𝑿</m:t>
                        </m:r>
                      </m:e>
                      <m:sub>
                        <m:r>
                          <a:rPr lang="en-US" altLang="zh-CN" sz="3200" b="1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  <m:r>
                      <a:rPr lang="en-US" altLang="zh-CN" sz="3200" b="1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altLang="zh-CN" sz="3200" b="1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3200" b="1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𝑿</m:t>
                        </m:r>
                      </m:e>
                      <m:sub>
                        <m:r>
                          <a:rPr lang="en-US" altLang="zh-CN" sz="3200" b="1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𝟐</m:t>
                        </m:r>
                      </m:sub>
                    </m:sSub>
                  </m:oMath>
                </a14:m>
                <a:r>
                  <a:rPr lang="en-US" altLang="zh-CN" sz="3200" b="1" dirty="0">
                    <a:solidFill>
                      <a:srgbClr val="002060"/>
                    </a:solidFill>
                  </a:rPr>
                  <a:t>,</a:t>
                </a:r>
                <a:r>
                  <a:rPr lang="en-US" altLang="zh-CN" sz="3200" b="1" dirty="0">
                    <a:solidFill>
                      <a:srgbClr val="002060"/>
                    </a:solidFill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sz="3200" b="1" i="1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⋯</m:t>
                    </m:r>
                  </m:oMath>
                </a14:m>
                <a:r>
                  <a:rPr lang="en-US" altLang="zh-CN" sz="3200" b="1" dirty="0">
                    <a:solidFill>
                      <a:srgbClr val="002060"/>
                    </a:solidFill>
                  </a:rPr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3200" b="1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3200" b="1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𝑿</m:t>
                        </m:r>
                      </m:e>
                      <m:sub>
                        <m:r>
                          <a:rPr lang="en-US" altLang="zh-CN" sz="3200" b="1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𝟏𝟎𝟎</m:t>
                        </m:r>
                      </m:sub>
                    </m:sSub>
                  </m:oMath>
                </a14:m>
                <a:r>
                  <a:rPr lang="en-US" altLang="zh-CN" sz="3200" b="1" dirty="0">
                    <a:solidFill>
                      <a:srgbClr val="002060"/>
                    </a:solidFill>
                    <a:ea typeface="Cambria Math" panose="02040503050406030204" pitchFamily="18" charset="0"/>
                  </a:rPr>
                  <a:t>iid, </a:t>
                </a:r>
                <a:endParaRPr lang="zh-CN" altLang="en-US" sz="3200" b="1" dirty="0">
                  <a:solidFill>
                    <a:srgbClr val="002060"/>
                  </a:solidFill>
                </a:endParaRPr>
              </a:p>
            </p:txBody>
          </p:sp>
        </mc:Choice>
        <mc:Fallback>
          <p:sp>
            <p:nvSpPr>
              <p:cNvPr id="7" name="矩形 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07999" y="3170662"/>
                <a:ext cx="3456305" cy="583565"/>
              </a:xfrm>
              <a:prstGeom prst="rect">
                <a:avLst/>
              </a:prstGeom>
              <a:blipFill rotWithShape="1">
                <a:blip r:embed="rId5"/>
                <a:stretch>
                  <a:fillRect l="-15" t="-18" r="-2888" b="1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8" name="文本框 7"/>
              <p:cNvSpPr txBox="1"/>
              <p:nvPr/>
            </p:nvSpPr>
            <p:spPr>
              <a:xfrm>
                <a:off x="2555378" y="3736098"/>
                <a:ext cx="1042670" cy="139954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ctrlPr>
                            <a:rPr lang="zh-CN" altLang="en-US" sz="3200" b="1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altLang="zh-CN" sz="3200" b="1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𝒊</m:t>
                          </m:r>
                          <m:r>
                            <a:rPr lang="en-US" altLang="zh-CN" sz="3200" b="1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altLang="zh-CN" sz="3200" b="1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  <m:sup>
                          <m:r>
                            <a:rPr lang="en-US" altLang="zh-CN" sz="3200" b="1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𝟏𝟎𝟎</m:t>
                          </m:r>
                        </m:sup>
                        <m:e>
                          <m:sSub>
                            <m:sSubPr>
                              <m:ctrlPr>
                                <a:rPr lang="en-US" altLang="zh-CN" sz="3200" b="1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3200" b="1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𝑿</m:t>
                              </m:r>
                            </m:e>
                            <m:sub>
                              <m:r>
                                <a:rPr lang="en-US" altLang="zh-CN" sz="3200" b="1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𝒊</m:t>
                              </m:r>
                            </m:sub>
                          </m:sSub>
                        </m:e>
                      </m:nary>
                    </m:oMath>
                  </m:oMathPara>
                </a14:m>
                <a:endParaRPr lang="zh-CN" altLang="en-US" sz="3200" b="1" dirty="0">
                  <a:solidFill>
                    <a:srgbClr val="002060"/>
                  </a:solidFill>
                </a:endParaRPr>
              </a:p>
            </p:txBody>
          </p:sp>
        </mc:Choice>
        <mc:Fallback>
          <p:sp>
            <p:nvSpPr>
              <p:cNvPr id="8" name="文本框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55378" y="3736098"/>
                <a:ext cx="1042670" cy="1399540"/>
              </a:xfrm>
              <a:prstGeom prst="rect">
                <a:avLst/>
              </a:prstGeom>
              <a:blipFill rotWithShape="1">
                <a:blip r:embed="rId6"/>
                <a:stretch>
                  <a:fillRect l="-13" t="-28" r="-8087" b="2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文本框 8"/>
          <p:cNvSpPr txBox="1"/>
          <p:nvPr/>
        </p:nvSpPr>
        <p:spPr>
          <a:xfrm>
            <a:off x="3733762" y="4209785"/>
            <a:ext cx="385445" cy="5835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3200" b="1" dirty="0" smtClean="0">
                <a:solidFill>
                  <a:srgbClr val="002060"/>
                </a:solidFill>
              </a:rPr>
              <a:t>~</a:t>
            </a:r>
            <a:endParaRPr lang="en-US" altLang="zh-CN" sz="3200" b="1" dirty="0" smtClean="0">
              <a:solidFill>
                <a:srgbClr val="002060"/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0" name="文本框 9"/>
              <p:cNvSpPr txBox="1"/>
              <p:nvPr/>
            </p:nvSpPr>
            <p:spPr>
              <a:xfrm>
                <a:off x="4264185" y="4138659"/>
                <a:ext cx="2961640" cy="5835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3200" b="1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𝑵</m:t>
                      </m:r>
                      <m:r>
                        <a:rPr lang="en-US" altLang="zh-CN" sz="3200" b="1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altLang="zh-CN" sz="3200" b="1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𝟓𝟎𝟎𝟎</m:t>
                      </m:r>
                      <m:r>
                        <a:rPr lang="en-US" altLang="zh-CN" sz="3200" b="1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altLang="zh-CN" sz="3200" b="1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𝟐𝟓𝟎𝟎</m:t>
                      </m:r>
                      <m:r>
                        <a:rPr lang="en-US" altLang="zh-CN" sz="3200" b="1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zh-CN" altLang="en-US" sz="3200" b="1" dirty="0">
                  <a:solidFill>
                    <a:srgbClr val="002060"/>
                  </a:solidFill>
                </a:endParaRPr>
              </a:p>
            </p:txBody>
          </p:sp>
        </mc:Choice>
        <mc:Fallback>
          <p:sp>
            <p:nvSpPr>
              <p:cNvPr id="10" name="文本框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64185" y="4138659"/>
                <a:ext cx="2961640" cy="583565"/>
              </a:xfrm>
              <a:prstGeom prst="rect">
                <a:avLst/>
              </a:prstGeom>
              <a:blipFill rotWithShape="1">
                <a:blip r:embed="rId7"/>
                <a:stretch>
                  <a:fillRect l="-5" t="-62" r="5" b="6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文本框 10"/>
          <p:cNvSpPr txBox="1"/>
          <p:nvPr/>
        </p:nvSpPr>
        <p:spPr>
          <a:xfrm>
            <a:off x="3514096" y="3883071"/>
            <a:ext cx="995680" cy="5835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200" b="1" dirty="0">
                <a:solidFill>
                  <a:srgbClr val="002060"/>
                </a:solidFill>
              </a:rPr>
              <a:t>近似</a:t>
            </a:r>
            <a:endParaRPr lang="zh-CN" altLang="en-US" sz="3200" b="1" dirty="0">
              <a:solidFill>
                <a:srgbClr val="002060"/>
              </a:solidFill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1507999" y="3985809"/>
            <a:ext cx="926456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b="1" dirty="0" smtClean="0">
                <a:solidFill>
                  <a:srgbClr val="002060"/>
                </a:solidFill>
              </a:rPr>
              <a:t>则</a:t>
            </a:r>
            <a:endParaRPr lang="zh-CN" altLang="en-US" sz="3200" b="1" dirty="0" smtClean="0">
              <a:solidFill>
                <a:srgbClr val="002060"/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3" name="矩形 12"/>
              <p:cNvSpPr/>
              <p:nvPr/>
            </p:nvSpPr>
            <p:spPr>
              <a:xfrm>
                <a:off x="5993863" y="5689704"/>
                <a:ext cx="1002030" cy="5835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altLang="zh-CN" sz="3200" b="1" i="1" dirty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≈</m:t>
                    </m:r>
                  </m:oMath>
                </a14:m>
                <a:r>
                  <a:rPr lang="en-US" altLang="zh-CN" sz="3200" b="1" dirty="0" smtClean="0">
                    <a:solidFill>
                      <a:srgbClr val="002060"/>
                    </a:solidFill>
                  </a:rPr>
                  <a:t>0.5</a:t>
                </a:r>
                <a:endParaRPr lang="zh-CN" altLang="en-US" sz="3200" b="1" dirty="0"/>
              </a:p>
            </p:txBody>
          </p:sp>
        </mc:Choice>
        <mc:Fallback>
          <p:sp>
            <p:nvSpPr>
              <p:cNvPr id="13" name="矩形 1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93863" y="5689704"/>
                <a:ext cx="1002030" cy="583565"/>
              </a:xfrm>
              <a:prstGeom prst="rect">
                <a:avLst/>
              </a:prstGeom>
              <a:blipFill rotWithShape="1">
                <a:blip r:embed="rId8"/>
                <a:stretch>
                  <a:fillRect l="-10" t="-18" r="-814" b="1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4" name="文本框 13"/>
              <p:cNvSpPr txBox="1"/>
              <p:nvPr/>
            </p:nvSpPr>
            <p:spPr>
              <a:xfrm>
                <a:off x="1841862" y="5727804"/>
                <a:ext cx="294005" cy="49212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CN" altLang="en-US" sz="3200" i="1" smtClean="0">
                          <a:latin typeface="Cambria Math" panose="02040503050406030204" pitchFamily="18" charset="0"/>
                          <a:ea typeface="MS Mincho" charset="0"/>
                          <a:cs typeface="Cambria Math" panose="02040503050406030204" pitchFamily="18" charset="0"/>
                        </a:rPr>
                        <m:t>∴</m:t>
                      </m:r>
                    </m:oMath>
                  </m:oMathPara>
                </a14:m>
                <a:endParaRPr lang="zh-CN" altLang="en-US" sz="3200" i="1" dirty="0" smtClean="0">
                  <a:latin typeface="Cambria Math" panose="02040503050406030204" pitchFamily="18" charset="0"/>
                </a:endParaRPr>
              </a:p>
            </p:txBody>
          </p:sp>
        </mc:Choice>
        <mc:Fallback>
          <p:sp>
            <p:nvSpPr>
              <p:cNvPr id="14" name="文本框 1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41862" y="5727804"/>
                <a:ext cx="294005" cy="492125"/>
              </a:xfrm>
              <a:prstGeom prst="rect">
                <a:avLst/>
              </a:prstGeom>
              <a:blipFill rotWithShape="1">
                <a:blip r:embed="rId9"/>
                <a:stretch>
                  <a:fillRect l="-123" t="-21" r="-27955" b="2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文本框 2"/>
          <p:cNvSpPr txBox="1"/>
          <p:nvPr>
            <p:custDataLst>
              <p:tags r:id="rId10"/>
            </p:custDataLst>
          </p:nvPr>
        </p:nvSpPr>
        <p:spPr>
          <a:xfrm>
            <a:off x="358140" y="782320"/>
            <a:ext cx="4064000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3200" b="1">
                <a:gradFill>
                  <a:gsLst>
                    <a:gs pos="0">
                      <a:srgbClr val="007BD3"/>
                    </a:gs>
                    <a:gs pos="100000">
                      <a:srgbClr val="034373"/>
                    </a:gs>
                  </a:gsLst>
                  <a:lin scaled="0"/>
                </a:gradFill>
              </a:rPr>
              <a:t>练习</a:t>
            </a:r>
            <a:endParaRPr lang="zh-CN" altLang="en-US" sz="3200" b="1">
              <a:gradFill>
                <a:gsLst>
                  <a:gs pos="0">
                    <a:srgbClr val="007BD3"/>
                  </a:gs>
                  <a:gs pos="100000">
                    <a:srgbClr val="034373"/>
                  </a:gs>
                </a:gsLst>
                <a:lin scaled="0"/>
              </a:gra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</p:bld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sp>
        <p:nvSpPr>
          <p:cNvPr id="3" name="矩形 2"/>
          <p:cNvSpPr/>
          <p:nvPr/>
        </p:nvSpPr>
        <p:spPr>
          <a:xfrm>
            <a:off x="1972235" y="867379"/>
            <a:ext cx="7001435" cy="432522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200000"/>
              </a:lnSpc>
              <a:spcAft>
                <a:spcPts val="0"/>
              </a:spcAft>
            </a:pPr>
            <a:r>
              <a:rPr lang="zh-CN" altLang="zh-CN" sz="3600" b="1" kern="100" dirty="0">
                <a:latin typeface="等线" panose="02010600030101010101" pitchFamily="2" charset="-122"/>
                <a:cs typeface="Times New Roman" panose="02020603050405020304" pitchFamily="18" charset="0"/>
              </a:rPr>
              <a:t>第</a:t>
            </a:r>
            <a:r>
              <a:rPr lang="en-US" altLang="zh-CN" sz="3600" b="1" kern="100" dirty="0">
                <a:latin typeface="等线" panose="02010600030101010101" pitchFamily="2" charset="-122"/>
                <a:cs typeface="Times New Roman" panose="02020603050405020304" pitchFamily="18" charset="0"/>
              </a:rPr>
              <a:t>7</a:t>
            </a:r>
            <a:r>
              <a:rPr lang="zh-CN" altLang="zh-CN" sz="3600" b="1" kern="100" dirty="0">
                <a:latin typeface="等线" panose="02010600030101010101" pitchFamily="2" charset="-122"/>
                <a:cs typeface="Times New Roman" panose="02020603050405020304" pitchFamily="18" charset="0"/>
              </a:rPr>
              <a:t>章</a:t>
            </a:r>
            <a:r>
              <a:rPr lang="en-US" altLang="zh-CN" sz="3600" b="1" kern="100" dirty="0">
                <a:latin typeface="等线" panose="02010600030101010101" pitchFamily="2" charset="-122"/>
                <a:cs typeface="Times New Roman" panose="02020603050405020304" pitchFamily="18" charset="0"/>
              </a:rPr>
              <a:t>  </a:t>
            </a:r>
            <a:r>
              <a:rPr lang="zh-CN" altLang="zh-CN" sz="3600" b="1" kern="100" dirty="0">
                <a:latin typeface="等线" panose="02010600030101010101" pitchFamily="2" charset="-122"/>
                <a:cs typeface="Times New Roman" panose="02020603050405020304" pitchFamily="18" charset="0"/>
              </a:rPr>
              <a:t>抽样分布</a:t>
            </a:r>
            <a:endParaRPr lang="zh-CN" altLang="zh-CN" sz="3600" b="1" kern="100" dirty="0">
              <a:latin typeface="等线" panose="02010600030101010101" pitchFamily="2" charset="-122"/>
              <a:cs typeface="Times New Roman" panose="02020603050405020304" pitchFamily="18" charset="0"/>
            </a:endParaRPr>
          </a:p>
          <a:p>
            <a:pPr algn="just">
              <a:lnSpc>
                <a:spcPct val="200000"/>
              </a:lnSpc>
              <a:spcAft>
                <a:spcPts val="0"/>
              </a:spcAft>
            </a:pPr>
            <a:r>
              <a:rPr lang="en-US" altLang="zh-CN" sz="3600" b="1" kern="100" dirty="0">
                <a:latin typeface="等线" panose="02010600030101010101" pitchFamily="2" charset="-122"/>
                <a:cs typeface="Times New Roman" panose="02020603050405020304" pitchFamily="18" charset="0"/>
              </a:rPr>
              <a:t>7.1  </a:t>
            </a:r>
            <a:r>
              <a:rPr lang="zh-CN" altLang="zh-CN" sz="3600" b="1" kern="100" dirty="0">
                <a:latin typeface="等线" panose="02010600030101010101" pitchFamily="2" charset="-122"/>
                <a:cs typeface="Times New Roman" panose="02020603050405020304" pitchFamily="18" charset="0"/>
              </a:rPr>
              <a:t>数理统计中的基本概念</a:t>
            </a:r>
            <a:endParaRPr lang="zh-CN" altLang="zh-CN" sz="3600" b="1" kern="100" dirty="0">
              <a:latin typeface="等线" panose="02010600030101010101" pitchFamily="2" charset="-122"/>
              <a:cs typeface="Times New Roman" panose="02020603050405020304" pitchFamily="18" charset="0"/>
            </a:endParaRPr>
          </a:p>
          <a:p>
            <a:pPr algn="just">
              <a:lnSpc>
                <a:spcPct val="200000"/>
              </a:lnSpc>
              <a:spcAft>
                <a:spcPts val="0"/>
              </a:spcAft>
            </a:pPr>
            <a:r>
              <a:rPr lang="en-US" altLang="zh-CN" sz="3600" b="1" kern="100" dirty="0">
                <a:latin typeface="等线" panose="02010600030101010101" pitchFamily="2" charset="-122"/>
                <a:cs typeface="Times New Roman" panose="02020603050405020304" pitchFamily="18" charset="0"/>
              </a:rPr>
              <a:t>7.2</a:t>
            </a:r>
            <a:r>
              <a:rPr lang="zh-CN" altLang="zh-CN" sz="3600" b="1" kern="100" dirty="0">
                <a:latin typeface="等线" panose="02010600030101010101" pitchFamily="2" charset="-122"/>
                <a:cs typeface="Times New Roman" panose="02020603050405020304" pitchFamily="18" charset="0"/>
              </a:rPr>
              <a:t>数理统计中的三个重要分布</a:t>
            </a:r>
            <a:endParaRPr lang="zh-CN" altLang="zh-CN" sz="3600" b="1" kern="100" dirty="0">
              <a:latin typeface="等线" panose="02010600030101010101" pitchFamily="2" charset="-122"/>
              <a:cs typeface="Times New Roman" panose="02020603050405020304" pitchFamily="18" charset="0"/>
            </a:endParaRPr>
          </a:p>
          <a:p>
            <a:pPr algn="just">
              <a:lnSpc>
                <a:spcPct val="200000"/>
              </a:lnSpc>
              <a:spcAft>
                <a:spcPts val="0"/>
              </a:spcAft>
            </a:pPr>
            <a:r>
              <a:rPr lang="en-US" altLang="zh-CN" sz="3600" b="1" kern="100" dirty="0">
                <a:latin typeface="等线" panose="02010600030101010101" pitchFamily="2" charset="-122"/>
                <a:cs typeface="Times New Roman" panose="02020603050405020304" pitchFamily="18" charset="0"/>
              </a:rPr>
              <a:t>7.3  </a:t>
            </a:r>
            <a:r>
              <a:rPr lang="zh-CN" altLang="zh-CN" sz="3600" b="1" kern="100" dirty="0">
                <a:latin typeface="等线" panose="02010600030101010101" pitchFamily="2" charset="-122"/>
                <a:cs typeface="Times New Roman" panose="02020603050405020304" pitchFamily="18" charset="0"/>
              </a:rPr>
              <a:t>正态总体中统计量的分布</a:t>
            </a:r>
            <a:endParaRPr lang="zh-CN" altLang="zh-CN" sz="3600" b="1" kern="100" dirty="0">
              <a:latin typeface="等线" panose="02010600030101010101" pitchFamily="2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圆角矩形 21"/>
          <p:cNvSpPr/>
          <p:nvPr/>
        </p:nvSpPr>
        <p:spPr>
          <a:xfrm>
            <a:off x="416172" y="207595"/>
            <a:ext cx="10121446" cy="2745469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Rectangle 2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7357" y="517842"/>
            <a:ext cx="7542066" cy="6369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7357" y="1301354"/>
            <a:ext cx="2651125" cy="5381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08482" y="1334468"/>
            <a:ext cx="5670550" cy="5254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5" name="Rectangle 2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pic>
        <p:nvPicPr>
          <p:cNvPr id="27" name="图片 2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9338" y="3176924"/>
            <a:ext cx="9798280" cy="630299"/>
          </a:xfrm>
          <a:prstGeom prst="rect">
            <a:avLst/>
          </a:prstGeom>
        </p:spPr>
      </p:pic>
      <p:pic>
        <p:nvPicPr>
          <p:cNvPr id="28" name="图片 2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80508" y="3725997"/>
            <a:ext cx="4125591" cy="653218"/>
          </a:xfrm>
          <a:prstGeom prst="rect">
            <a:avLst/>
          </a:prstGeom>
        </p:spPr>
      </p:pic>
      <p:pic>
        <p:nvPicPr>
          <p:cNvPr id="29" name="图片 28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279629" y="3705509"/>
            <a:ext cx="5466409" cy="653219"/>
          </a:xfrm>
          <a:prstGeom prst="rect">
            <a:avLst/>
          </a:prstGeom>
        </p:spPr>
      </p:pic>
      <p:pic>
        <p:nvPicPr>
          <p:cNvPr id="30" name="图片 29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80508" y="4373588"/>
            <a:ext cx="3839092" cy="630299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32" name="矩形 31"/>
              <p:cNvSpPr/>
              <p:nvPr/>
            </p:nvSpPr>
            <p:spPr>
              <a:xfrm>
                <a:off x="5006099" y="4356296"/>
                <a:ext cx="2679846" cy="79579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zh-CN" altLang="en-US" sz="3200" i="1" smtClean="0">
                        <a:latin typeface="Cambria Math" panose="02040503050406030204" pitchFamily="18" charset="0"/>
                      </a:rPr>
                      <m:t>𝜇</m:t>
                    </m:r>
                    <m:r>
                      <a:rPr lang="en-US" altLang="zh-CN" sz="3200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zh-CN" sz="32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sz="3200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altLang="zh-CN" sz="3200" b="0" i="1" smtClean="0"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lang="en-US" altLang="zh-CN" sz="3200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altLang="zh-CN" sz="3200" b="0" i="1" smtClean="0">
                            <a:latin typeface="Cambria Math" panose="02040503050406030204" pitchFamily="18" charset="0"/>
                          </a:rPr>
                          <m:t>5</m:t>
                        </m:r>
                      </m:num>
                      <m:den>
                        <m:r>
                          <a:rPr lang="en-US" altLang="zh-CN" sz="32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lang="en-US" altLang="zh-CN" sz="3200" dirty="0" smtClean="0"/>
                  <a:t>=2</a:t>
                </a:r>
                <a:endParaRPr lang="zh-CN" altLang="en-US" sz="3200" dirty="0"/>
              </a:p>
            </p:txBody>
          </p:sp>
        </mc:Choice>
        <mc:Fallback>
          <p:sp>
            <p:nvSpPr>
              <p:cNvPr id="32" name="矩形 3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06099" y="4356296"/>
                <a:ext cx="2679846" cy="795795"/>
              </a:xfrm>
              <a:prstGeom prst="rect">
                <a:avLst/>
              </a:prstGeom>
              <a:blipFill rotWithShape="1">
                <a:blip r:embed="rId8"/>
                <a:stretch>
                  <a:fillRect l="-15" t="-25" r="20" b="4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3" name="文本框 32"/>
              <p:cNvSpPr txBox="1"/>
              <p:nvPr/>
            </p:nvSpPr>
            <p:spPr>
              <a:xfrm>
                <a:off x="3529751" y="4422370"/>
                <a:ext cx="459076" cy="553998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3600" b="0" i="1" smtClean="0">
                          <a:latin typeface="Cambria Math" panose="02040503050406030204" pitchFamily="18" charset="0"/>
                        </a:rPr>
                        <m:t>2</m:t>
                      </m:r>
                    </m:oMath>
                  </m:oMathPara>
                </a14:m>
                <a:endParaRPr lang="zh-CN" altLang="en-US" sz="3600" dirty="0"/>
              </a:p>
            </p:txBody>
          </p:sp>
        </mc:Choice>
        <mc:Fallback>
          <p:sp>
            <p:nvSpPr>
              <p:cNvPr id="33" name="文本框 3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29751" y="4422370"/>
                <a:ext cx="459076" cy="553998"/>
              </a:xfrm>
              <a:prstGeom prst="rect">
                <a:avLst/>
              </a:prstGeom>
              <a:blipFill rotWithShape="1">
                <a:blip r:embed="rId9"/>
                <a:stretch>
                  <a:fillRect l="-92" t="-42" r="85" b="9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3" name="Rectangle 15"/>
          <p:cNvSpPr>
            <a:spLocks noChangeArrowheads="1"/>
          </p:cNvSpPr>
          <p:nvPr/>
        </p:nvSpPr>
        <p:spPr bwMode="auto">
          <a:xfrm>
            <a:off x="1005577" y="5449138"/>
            <a:ext cx="19685793" cy="457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44" name="对象 43"/>
          <p:cNvGraphicFramePr>
            <a:graphicFrameLocks noChangeAspect="1"/>
          </p:cNvGraphicFramePr>
          <p:nvPr/>
        </p:nvGraphicFramePr>
        <p:xfrm>
          <a:off x="637050" y="5279761"/>
          <a:ext cx="11613414" cy="108875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907" name="" r:id="rId10" imgW="5181600" imgH="482600" progId="Equation.3">
                  <p:embed/>
                </p:oleObj>
              </mc:Choice>
              <mc:Fallback>
                <p:oleObj name="" r:id="rId10" imgW="5181600" imgH="482600" progId="Equation.3">
                  <p:embed/>
                  <p:pic>
                    <p:nvPicPr>
                      <p:cNvPr id="0" name="对象 2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37050" y="5279761"/>
                        <a:ext cx="11613414" cy="1088757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51" name="Rectangle 27"/>
          <p:cNvSpPr>
            <a:spLocks noChangeArrowheads="1"/>
          </p:cNvSpPr>
          <p:nvPr/>
        </p:nvSpPr>
        <p:spPr bwMode="auto">
          <a:xfrm>
            <a:off x="531516" y="340006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sp>
        <p:nvSpPr>
          <p:cNvPr id="55" name="Rectangle 30"/>
          <p:cNvSpPr>
            <a:spLocks noChangeArrowheads="1"/>
          </p:cNvSpPr>
          <p:nvPr/>
        </p:nvSpPr>
        <p:spPr bwMode="auto">
          <a:xfrm>
            <a:off x="3988827" y="6508592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zh-CN" altLang="zh-CN" sz="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zh-CN" altLang="zh-CN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58" name="Rectangle 32"/>
          <p:cNvSpPr>
            <a:spLocks noChangeArrowheads="1"/>
          </p:cNvSpPr>
          <p:nvPr/>
        </p:nvSpPr>
        <p:spPr bwMode="auto">
          <a:xfrm>
            <a:off x="6373906" y="6184666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4" name="文本框 63"/>
              <p:cNvSpPr txBox="1"/>
              <p:nvPr/>
            </p:nvSpPr>
            <p:spPr>
              <a:xfrm>
                <a:off x="1752135" y="1965818"/>
                <a:ext cx="6468117" cy="141801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altLang="zh-CN" sz="3600" b="0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𝐸</m:t>
                    </m:r>
                    <m:acc>
                      <m:accPr>
                        <m:chr m:val="̅"/>
                        <m:ctrlPr>
                          <a:rPr lang="en-US" altLang="zh-CN" sz="3600" b="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altLang="zh-CN" sz="3600" b="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</m:acc>
                    <m:r>
                      <a:rPr lang="en-US" altLang="zh-CN" sz="3600" b="0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zh-CN" altLang="en-US" sz="3600" b="0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𝜇</m:t>
                    </m:r>
                    <m:r>
                      <a:rPr lang="zh-CN" altLang="en-US" sz="3600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，</m:t>
                    </m:r>
                    <m:r>
                      <a:rPr lang="en-US" altLang="zh-CN" sz="3600" b="0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  </m:t>
                    </m:r>
                    <m:r>
                      <a:rPr lang="en-US" altLang="zh-CN" sz="3600" b="0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𝐷</m:t>
                    </m:r>
                    <m:acc>
                      <m:accPr>
                        <m:chr m:val="̅"/>
                        <m:ctrlPr>
                          <a:rPr lang="en-US" altLang="zh-CN" sz="36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altLang="zh-CN" sz="36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</m:acc>
                    <m:r>
                      <a:rPr lang="en-US" altLang="zh-CN" sz="3600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zh-CN" sz="360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n-US" altLang="zh-CN" sz="3600" i="1" smtClean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zh-CN" altLang="en-US" sz="3600" i="1" smtClean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𝜎</m:t>
                            </m:r>
                          </m:e>
                          <m:sup>
                            <m:r>
                              <a:rPr lang="en-US" altLang="zh-CN" sz="3600" b="0" i="1" smtClean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US" altLang="zh-CN" sz="3600" b="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den>
                    </m:f>
                  </m:oMath>
                </a14:m>
                <a:r>
                  <a:rPr lang="zh-CN" altLang="en-US" sz="3600" i="1" dirty="0" smtClean="0">
                    <a:solidFill>
                      <a:srgbClr val="002060"/>
                    </a:solidFill>
                    <a:latin typeface="Cambria Math" panose="02040503050406030204" pitchFamily="18" charset="0"/>
                  </a:rPr>
                  <a:t>，</a:t>
                </a:r>
                <a:r>
                  <a:rPr lang="en-US" altLang="zh-CN" sz="3600" i="1" dirty="0" smtClean="0">
                    <a:solidFill>
                      <a:srgbClr val="002060"/>
                    </a:solidFill>
                    <a:latin typeface="Cambria Math" panose="02040503050406030204" pitchFamily="18" charset="0"/>
                  </a:rPr>
                  <a:t>  </a:t>
                </a:r>
                <a14:m>
                  <m:oMath xmlns:m="http://schemas.openxmlformats.org/officeDocument/2006/math">
                    <m:r>
                      <a:rPr lang="en-US" altLang="zh-CN" sz="3600" b="0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𝐸</m:t>
                    </m:r>
                    <m:sSup>
                      <m:sSupPr>
                        <m:ctrlPr>
                          <a:rPr lang="en-US" altLang="zh-CN" sz="3600" b="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3600" b="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p>
                        <m:r>
                          <a:rPr lang="en-US" altLang="zh-CN" sz="3600" b="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altLang="zh-CN" sz="3600" b="0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altLang="zh-CN" sz="36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zh-CN" altLang="en-US" sz="36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𝜎</m:t>
                        </m:r>
                      </m:e>
                      <m:sup>
                        <m:r>
                          <a:rPr lang="en-US" altLang="zh-CN" sz="36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altLang="zh-CN" sz="3600" b="0" dirty="0" smtClean="0">
                    <a:solidFill>
                      <a:srgbClr val="002060"/>
                    </a:solidFill>
                  </a:rPr>
                  <a:t>.</a:t>
                </a:r>
                <a:endParaRPr lang="en-US" altLang="zh-CN" sz="3600" b="0" dirty="0" smtClean="0">
                  <a:solidFill>
                    <a:srgbClr val="002060"/>
                  </a:solidFill>
                </a:endParaRPr>
              </a:p>
              <a:p>
                <a:endParaRPr lang="zh-CN" altLang="en-US" sz="3600" dirty="0">
                  <a:solidFill>
                    <a:srgbClr val="002060"/>
                  </a:solidFill>
                </a:endParaRPr>
              </a:p>
            </p:txBody>
          </p:sp>
        </mc:Choice>
        <mc:Fallback>
          <p:sp>
            <p:nvSpPr>
              <p:cNvPr id="64" name="文本框 6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52135" y="1965818"/>
                <a:ext cx="6468117" cy="1418017"/>
              </a:xfrm>
              <a:prstGeom prst="rect">
                <a:avLst/>
              </a:prstGeom>
              <a:blipFill rotWithShape="1">
                <a:blip r:embed="rId12"/>
                <a:stretch>
                  <a:fillRect l="-3" t="-35" r="3" b="3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5" name="文本框 64"/>
          <p:cNvSpPr txBox="1"/>
          <p:nvPr/>
        </p:nvSpPr>
        <p:spPr>
          <a:xfrm>
            <a:off x="416172" y="615040"/>
            <a:ext cx="64633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600" dirty="0" smtClean="0">
                <a:solidFill>
                  <a:srgbClr val="FF0000"/>
                </a:solidFill>
              </a:rPr>
              <a:t>★</a:t>
            </a:r>
            <a:endParaRPr lang="zh-CN" altLang="en-US" sz="3600" dirty="0">
              <a:solidFill>
                <a:srgbClr val="FF0000"/>
              </a:solidFill>
            </a:endParaRPr>
          </a:p>
        </p:txBody>
      </p:sp>
      <p:sp>
        <p:nvSpPr>
          <p:cNvPr id="20" name="文本框 17"/>
          <p:cNvSpPr txBox="1"/>
          <p:nvPr/>
        </p:nvSpPr>
        <p:spPr>
          <a:xfrm>
            <a:off x="557342" y="3160892"/>
            <a:ext cx="646331" cy="646331"/>
          </a:xfrm>
          <a:prstGeom prst="rect">
            <a:avLst/>
          </a:prstGeom>
          <a:solidFill>
            <a:srgbClr val="92D050"/>
          </a:solidFill>
        </p:spPr>
        <p:txBody>
          <a:bodyPr wrap="none" rtlCol="0">
            <a:spAutoFit/>
          </a:bodyPr>
          <a:lstStyle/>
          <a:p>
            <a:r>
              <a:rPr lang="zh-CN" altLang="en-US" sz="3600" dirty="0" smtClean="0">
                <a:solidFill>
                  <a:srgbClr val="FFFF00"/>
                </a:solidFill>
              </a:rPr>
              <a:t>例</a:t>
            </a:r>
            <a:endParaRPr lang="zh-CN" altLang="en-US" sz="3600" dirty="0">
              <a:solidFill>
                <a:srgbClr val="FFFF00"/>
              </a:solidFill>
            </a:endParaRPr>
          </a:p>
        </p:txBody>
      </p:sp>
      <p:sp>
        <p:nvSpPr>
          <p:cNvPr id="21" name="文本框 17"/>
          <p:cNvSpPr txBox="1"/>
          <p:nvPr/>
        </p:nvSpPr>
        <p:spPr>
          <a:xfrm>
            <a:off x="557341" y="5148831"/>
            <a:ext cx="646331" cy="646331"/>
          </a:xfrm>
          <a:prstGeom prst="rect">
            <a:avLst/>
          </a:prstGeom>
          <a:solidFill>
            <a:srgbClr val="92D050"/>
          </a:solidFill>
        </p:spPr>
        <p:txBody>
          <a:bodyPr wrap="none" rtlCol="0">
            <a:spAutoFit/>
          </a:bodyPr>
          <a:lstStyle/>
          <a:p>
            <a:r>
              <a:rPr lang="zh-CN" altLang="en-US" sz="3600" dirty="0" smtClean="0">
                <a:solidFill>
                  <a:srgbClr val="FFFF00"/>
                </a:solidFill>
              </a:rPr>
              <a:t>例</a:t>
            </a:r>
            <a:endParaRPr lang="zh-CN" altLang="en-US" sz="3600" dirty="0">
              <a:solidFill>
                <a:srgbClr val="FFFF00"/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3" name="矩形 22"/>
              <p:cNvSpPr/>
              <p:nvPr/>
            </p:nvSpPr>
            <p:spPr>
              <a:xfrm>
                <a:off x="8878242" y="5855623"/>
                <a:ext cx="4669082" cy="857799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320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zh-CN" altLang="en-US" sz="3200" i="1" smtClean="0">
                            <a:latin typeface="Cambria Math" panose="02040503050406030204" pitchFamily="18" charset="0"/>
                          </a:rPr>
                          <m:t>𝜎</m:t>
                        </m:r>
                      </m:e>
                      <m:sup>
                        <m:r>
                          <a:rPr lang="en-US" altLang="zh-CN" sz="32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altLang="zh-CN" sz="3200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zh-CN" sz="32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n-US" altLang="zh-CN" sz="32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en-US" altLang="zh-CN" sz="320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zh-CN" sz="3200" i="1">
                                    <a:latin typeface="Cambria Math" panose="02040503050406030204" pitchFamily="18" charset="0"/>
                                  </a:rPr>
                                  <m:t>5</m:t>
                                </m:r>
                                <m:r>
                                  <a:rPr lang="en-US" altLang="zh-CN" sz="3200" i="1">
                                    <a:latin typeface="Cambria Math" panose="02040503050406030204" pitchFamily="18" charset="0"/>
                                  </a:rPr>
                                  <m:t>−(−</m:t>
                                </m:r>
                                <m:r>
                                  <a:rPr lang="en-US" altLang="zh-CN" sz="3200" i="1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  <m:r>
                                  <a:rPr lang="en-US" altLang="zh-CN" sz="3200" i="1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e>
                            </m:d>
                          </m:e>
                          <m:sup>
                            <m:r>
                              <a:rPr lang="en-US" altLang="zh-CN" sz="32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US" altLang="zh-CN" sz="3200" b="0" i="1" smtClean="0">
                            <a:latin typeface="Cambria Math" panose="02040503050406030204" pitchFamily="18" charset="0"/>
                          </a:rPr>
                          <m:t>12</m:t>
                        </m:r>
                      </m:den>
                    </m:f>
                  </m:oMath>
                </a14:m>
                <a:r>
                  <a:rPr lang="en-US" altLang="zh-CN" sz="3200" dirty="0" smtClean="0"/>
                  <a:t>=3</a:t>
                </a:r>
                <a:endParaRPr lang="zh-CN" altLang="en-US" sz="3200" dirty="0"/>
              </a:p>
            </p:txBody>
          </p:sp>
        </mc:Choice>
        <mc:Fallback>
          <p:sp>
            <p:nvSpPr>
              <p:cNvPr id="23" name="矩形 2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78242" y="5855623"/>
                <a:ext cx="4669082" cy="857799"/>
              </a:xfrm>
              <a:prstGeom prst="rect">
                <a:avLst/>
              </a:prstGeom>
              <a:blipFill rotWithShape="1">
                <a:blip r:embed="rId13"/>
                <a:stretch>
                  <a:fillRect l="-7" t="-34" r="5" b="2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" name="矩形 2"/>
              <p:cNvSpPr/>
              <p:nvPr/>
            </p:nvSpPr>
            <p:spPr>
              <a:xfrm>
                <a:off x="7474850" y="5562826"/>
                <a:ext cx="622286" cy="783804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altLang="zh-CN" sz="2400" b="1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sz="2400" b="1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num>
                        <m:den>
                          <m:r>
                            <a:rPr lang="en-US" altLang="zh-CN" sz="2400" b="1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𝟏𝟐</m:t>
                          </m:r>
                        </m:den>
                      </m:f>
                    </m:oMath>
                  </m:oMathPara>
                </a14:m>
                <a:endParaRPr lang="zh-CN" altLang="en-US" sz="2400" b="1" dirty="0">
                  <a:solidFill>
                    <a:srgbClr val="002060"/>
                  </a:solidFill>
                </a:endParaRPr>
              </a:p>
            </p:txBody>
          </p:sp>
        </mc:Choice>
        <mc:Fallback>
          <p:sp>
            <p:nvSpPr>
              <p:cNvPr id="3" name="矩形 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74850" y="5562826"/>
                <a:ext cx="622286" cy="783804"/>
              </a:xfrm>
              <a:prstGeom prst="rect">
                <a:avLst/>
              </a:prstGeom>
              <a:blipFill rotWithShape="1">
                <a:blip r:embed="rId14"/>
                <a:stretch>
                  <a:fillRect l="-43" t="-29" r="40" b="5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32" grpId="0"/>
      <p:bldP spid="33" grpId="0"/>
      <p:bldP spid="64" grpId="0"/>
      <p:bldP spid="65" grpId="0"/>
      <p:bldP spid="20" grpId="0" animBg="1"/>
      <p:bldP spid="21" grpId="0" animBg="1"/>
      <p:bldP spid="23" grpId="0"/>
      <p:bldP spid="3" grpId="0"/>
    </p:bld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图片 3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1043053" y="1803063"/>
            <a:ext cx="9374218" cy="1626140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8" name="文本框 7"/>
              <p:cNvSpPr txBox="1"/>
              <p:nvPr>
                <p:custDataLst>
                  <p:tags r:id="rId3"/>
                </p:custDataLst>
              </p:nvPr>
            </p:nvSpPr>
            <p:spPr>
              <a:xfrm>
                <a:off x="1537160" y="3139413"/>
                <a:ext cx="1905906" cy="112575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3600" b="1" i="1" smtClean="0">
                          <a:latin typeface="Cambria Math" panose="02040503050406030204" pitchFamily="18" charset="0"/>
                        </a:rPr>
                        <m:t>𝑫</m:t>
                      </m:r>
                      <m:acc>
                        <m:accPr>
                          <m:chr m:val="̅"/>
                          <m:ctrlPr>
                            <a:rPr lang="en-US" altLang="zh-CN" sz="3600" b="1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altLang="zh-CN" sz="3600" b="1" i="1" smtClean="0">
                              <a:latin typeface="Cambria Math" panose="02040503050406030204" pitchFamily="18" charset="0"/>
                            </a:rPr>
                            <m:t>𝑿</m:t>
                          </m:r>
                        </m:e>
                      </m:acc>
                      <m:r>
                        <a:rPr lang="en-US" altLang="zh-CN" sz="3600" b="1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CN" sz="3600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US" altLang="zh-CN" sz="3600" b="1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zh-CN" altLang="en-US" sz="3600" b="1" i="1" smtClean="0">
                                  <a:latin typeface="Cambria Math" panose="02040503050406030204" pitchFamily="18" charset="0"/>
                                </a:rPr>
                                <m:t>𝝈</m:t>
                              </m:r>
                            </m:e>
                            <m:sup>
                              <m:r>
                                <a:rPr lang="en-US" altLang="zh-CN" sz="3600" b="1" i="1" smtClean="0"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sup>
                          </m:sSup>
                        </m:num>
                        <m:den>
                          <m:r>
                            <a:rPr lang="en-US" altLang="zh-CN" sz="3600" b="1" i="1" smtClean="0">
                              <a:latin typeface="Cambria Math" panose="02040503050406030204" pitchFamily="18" charset="0"/>
                            </a:rPr>
                            <m:t>𝒏</m:t>
                          </m:r>
                        </m:den>
                      </m:f>
                    </m:oMath>
                  </m:oMathPara>
                </a14:m>
                <a:endParaRPr lang="zh-CN" altLang="en-US" sz="3600" b="1" dirty="0"/>
              </a:p>
            </p:txBody>
          </p:sp>
        </mc:Choice>
        <mc:Fallback>
          <p:sp>
            <p:nvSpPr>
              <p:cNvPr id="8" name="文本框 7"/>
              <p:cNvSpPr txBox="1">
                <a:spLocks noRot="1" noChangeAspect="1" noMove="1" noResize="1" noEditPoints="1" noAdjustHandles="1" noChangeArrowheads="1" noChangeShapeType="1" noTextEdit="1"/>
              </p:cNvSpPr>
              <p:nvPr>
                <p:custDataLst>
                  <p:tags r:id="rId4"/>
                </p:custDataLst>
              </p:nvPr>
            </p:nvSpPr>
            <p:spPr>
              <a:xfrm>
                <a:off x="1537160" y="3139413"/>
                <a:ext cx="1905906" cy="1125757"/>
              </a:xfrm>
              <a:prstGeom prst="rect">
                <a:avLst/>
              </a:prstGeom>
              <a:blipFill rotWithShape="1">
                <a:blip r:embed="rId5"/>
                <a:stretch>
                  <a:fillRect l="-24" t="-54" r="-1994" b="4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9" name="矩形 8"/>
              <p:cNvSpPr/>
              <p:nvPr>
                <p:custDataLst>
                  <p:tags r:id="rId6"/>
                </p:custDataLst>
              </p:nvPr>
            </p:nvSpPr>
            <p:spPr>
              <a:xfrm>
                <a:off x="3443066" y="3123459"/>
                <a:ext cx="909223" cy="1153649"/>
              </a:xfrm>
              <a:prstGeom prst="rect">
                <a:avLst/>
              </a:prstGeom>
            </p:spPr>
            <p:txBody>
              <a:bodyPr wrap="none">
                <a:spAutoFit/>
              </a:bodyPr>
              <a:p>
                <a:r>
                  <a:rPr lang="en-US" altLang="zh-CN" sz="3600" b="1" dirty="0" smtClean="0"/>
                  <a:t>=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3600" b="1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f>
                          <m:fPr>
                            <m:ctrlPr>
                              <a:rPr lang="en-US" altLang="zh-CN" sz="3600" b="1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sz="3600" b="1" i="1" smtClean="0">
                                <a:latin typeface="Cambria Math" panose="02040503050406030204" pitchFamily="18" charset="0"/>
                              </a:rPr>
                              <m:t>𝟏</m:t>
                            </m:r>
                          </m:num>
                          <m:den>
                            <m:r>
                              <a:rPr lang="en-US" altLang="zh-CN" sz="3600" b="1" i="1" smtClean="0">
                                <a:latin typeface="Cambria Math" panose="02040503050406030204" pitchFamily="18" charset="0"/>
                              </a:rPr>
                              <m:t>𝟗</m:t>
                            </m:r>
                          </m:den>
                        </m:f>
                      </m:num>
                      <m:den>
                        <m:r>
                          <a:rPr lang="en-US" altLang="zh-CN" sz="3600" b="1" i="1" smtClean="0">
                            <a:latin typeface="Cambria Math" panose="02040503050406030204" pitchFamily="18" charset="0"/>
                          </a:rPr>
                          <m:t>𝟒𝟎</m:t>
                        </m:r>
                      </m:den>
                    </m:f>
                  </m:oMath>
                </a14:m>
                <a:endParaRPr lang="zh-CN" altLang="en-US" sz="3600" b="1" dirty="0"/>
              </a:p>
            </p:txBody>
          </p:sp>
        </mc:Choice>
        <mc:Fallback>
          <p:sp>
            <p:nvSpPr>
              <p:cNvPr id="9" name="矩形 8"/>
              <p:cNvSpPr>
                <a:spLocks noRot="1" noChangeAspect="1" noMove="1" noResize="1" noEditPoints="1" noAdjustHandles="1" noChangeArrowheads="1" noChangeShapeType="1" noTextEdit="1"/>
              </p:cNvSpPr>
              <p:nvPr>
                <p:custDataLst>
                  <p:tags r:id="rId7"/>
                </p:custDataLst>
              </p:nvPr>
            </p:nvSpPr>
            <p:spPr>
              <a:xfrm>
                <a:off x="3443066" y="3123459"/>
                <a:ext cx="909223" cy="1153649"/>
              </a:xfrm>
              <a:prstGeom prst="rect">
                <a:avLst/>
              </a:prstGeom>
              <a:blipFill rotWithShape="1">
                <a:blip r:embed="rId8"/>
                <a:stretch>
                  <a:fillRect l="-11" t="-46" r="-978" b="3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0" name="矩形 9"/>
              <p:cNvSpPr/>
              <p:nvPr>
                <p:custDataLst>
                  <p:tags r:id="rId9"/>
                </p:custDataLst>
              </p:nvPr>
            </p:nvSpPr>
            <p:spPr>
              <a:xfrm>
                <a:off x="4231740" y="3139413"/>
                <a:ext cx="1611339" cy="1133067"/>
              </a:xfrm>
              <a:prstGeom prst="rect">
                <a:avLst/>
              </a:prstGeom>
            </p:spPr>
            <p:txBody>
              <a:bodyPr wrap="none">
                <a:spAutoFit/>
              </a:bodyPr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3600" b="1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CN" sz="3600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sz="3600" b="1" i="1" smtClean="0">
                              <a:latin typeface="Cambria Math" panose="02040503050406030204" pitchFamily="18" charset="0"/>
                            </a:rPr>
                            <m:t>𝟏</m:t>
                          </m:r>
                        </m:num>
                        <m:den>
                          <m:r>
                            <a:rPr lang="en-US" altLang="zh-CN" sz="3600" b="1" i="1" smtClean="0">
                              <a:latin typeface="Cambria Math" panose="02040503050406030204" pitchFamily="18" charset="0"/>
                            </a:rPr>
                            <m:t>𝟑𝟔𝟎</m:t>
                          </m:r>
                        </m:den>
                      </m:f>
                    </m:oMath>
                  </m:oMathPara>
                </a14:m>
                <a:endParaRPr lang="zh-CN" altLang="en-US" sz="3600" b="1" dirty="0"/>
              </a:p>
            </p:txBody>
          </p:sp>
        </mc:Choice>
        <mc:Fallback>
          <p:sp>
            <p:nvSpPr>
              <p:cNvPr id="10" name="矩形 9"/>
              <p:cNvSpPr>
                <a:spLocks noRot="1" noChangeAspect="1" noMove="1" noResize="1" noEditPoints="1" noAdjustHandles="1" noChangeArrowheads="1" noChangeShapeType="1" noTextEdit="1"/>
              </p:cNvSpPr>
              <p:nvPr>
                <p:custDataLst>
                  <p:tags r:id="rId10"/>
                </p:custDataLst>
              </p:nvPr>
            </p:nvSpPr>
            <p:spPr>
              <a:xfrm>
                <a:off x="4231740" y="3139413"/>
                <a:ext cx="1611339" cy="1133067"/>
              </a:xfrm>
              <a:prstGeom prst="rect">
                <a:avLst/>
              </a:prstGeom>
              <a:blipFill rotWithShape="1">
                <a:blip r:embed="rId11"/>
                <a:stretch>
                  <a:fillRect l="-6" t="-54" r="28" b="1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1" name="矩形 10"/>
              <p:cNvSpPr/>
              <p:nvPr>
                <p:custDataLst>
                  <p:tags r:id="rId12"/>
                </p:custDataLst>
              </p:nvPr>
            </p:nvSpPr>
            <p:spPr>
              <a:xfrm>
                <a:off x="9036701" y="2165240"/>
                <a:ext cx="928459" cy="901785"/>
              </a:xfrm>
              <a:prstGeom prst="rect">
                <a:avLst/>
              </a:prstGeom>
            </p:spPr>
            <p:txBody>
              <a:bodyPr wrap="none">
                <a:spAutoFit/>
              </a:bodyPr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altLang="zh-CN" sz="2800" b="1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sz="2800" b="1" i="1">
                              <a:latin typeface="Cambria Math" panose="02040503050406030204" pitchFamily="18" charset="0"/>
                            </a:rPr>
                            <m:t>𝟏</m:t>
                          </m:r>
                        </m:num>
                        <m:den>
                          <m:r>
                            <a:rPr lang="en-US" altLang="zh-CN" sz="2800" b="1" i="1">
                              <a:latin typeface="Cambria Math" panose="02040503050406030204" pitchFamily="18" charset="0"/>
                            </a:rPr>
                            <m:t>𝟑𝟔𝟎</m:t>
                          </m:r>
                        </m:den>
                      </m:f>
                    </m:oMath>
                  </m:oMathPara>
                </a14:m>
                <a:endParaRPr lang="zh-CN" altLang="en-US" sz="2800" b="1" dirty="0"/>
              </a:p>
            </p:txBody>
          </p:sp>
        </mc:Choice>
        <mc:Fallback>
          <p:sp>
            <p:nvSpPr>
              <p:cNvPr id="11" name="矩形 10"/>
              <p:cNvSpPr>
                <a:spLocks noRot="1" noChangeAspect="1" noMove="1" noResize="1" noEditPoints="1" noAdjustHandles="1" noChangeArrowheads="1" noChangeShapeType="1" noTextEdit="1"/>
              </p:cNvSpPr>
              <p:nvPr>
                <p:custDataLst>
                  <p:tags r:id="rId13"/>
                </p:custDataLst>
              </p:nvPr>
            </p:nvSpPr>
            <p:spPr>
              <a:xfrm>
                <a:off x="9036701" y="2165240"/>
                <a:ext cx="928459" cy="901785"/>
              </a:xfrm>
              <a:prstGeom prst="rect">
                <a:avLst/>
              </a:prstGeom>
              <a:blipFill rotWithShape="1">
                <a:blip r:embed="rId14"/>
                <a:stretch>
                  <a:fillRect l="-2" t="-58" r="11" b="6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文本框 4"/>
          <p:cNvSpPr txBox="1"/>
          <p:nvPr>
            <p:custDataLst>
              <p:tags r:id="rId15"/>
            </p:custDataLst>
          </p:nvPr>
        </p:nvSpPr>
        <p:spPr>
          <a:xfrm>
            <a:off x="1043305" y="899795"/>
            <a:ext cx="4064000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3200" b="1">
                <a:gradFill>
                  <a:gsLst>
                    <a:gs pos="0">
                      <a:srgbClr val="007BD3"/>
                    </a:gs>
                    <a:gs pos="100000">
                      <a:srgbClr val="034373"/>
                    </a:gs>
                  </a:gsLst>
                  <a:lin scaled="0"/>
                </a:gradFill>
              </a:rPr>
              <a:t>练习</a:t>
            </a:r>
            <a:endParaRPr lang="zh-CN" altLang="en-US" sz="3200" b="1">
              <a:gradFill>
                <a:gsLst>
                  <a:gs pos="0">
                    <a:srgbClr val="007BD3"/>
                  </a:gs>
                  <a:gs pos="100000">
                    <a:srgbClr val="034373"/>
                  </a:gs>
                </a:gsLst>
                <a:lin scaled="0"/>
              </a:gra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9" grpId="0"/>
      <p:bldP spid="10" grpId="0"/>
      <p:bldP spid="11" grpId="0"/>
    </p:bld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>
            <a:spLocks noChangeArrowheads="1"/>
          </p:cNvSpPr>
          <p:nvPr/>
        </p:nvSpPr>
        <p:spPr bwMode="auto">
          <a:xfrm>
            <a:off x="-41972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sp>
        <p:nvSpPr>
          <p:cNvPr id="12" name="文本框 11"/>
          <p:cNvSpPr txBox="1"/>
          <p:nvPr/>
        </p:nvSpPr>
        <p:spPr>
          <a:xfrm>
            <a:off x="633282" y="582525"/>
            <a:ext cx="249299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600" dirty="0"/>
              <a:t>卡</a:t>
            </a:r>
            <a:r>
              <a:rPr lang="zh-CN" altLang="en-US" sz="3600" dirty="0" smtClean="0"/>
              <a:t>方分布：</a:t>
            </a:r>
            <a:endParaRPr lang="zh-CN" altLang="en-US" sz="36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3" name="文本框 12"/>
              <p:cNvSpPr txBox="1"/>
              <p:nvPr/>
            </p:nvSpPr>
            <p:spPr>
              <a:xfrm>
                <a:off x="3126272" y="582525"/>
                <a:ext cx="5487336" cy="64633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36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3600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altLang="zh-CN" sz="36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CN" sz="3600" b="0" i="1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altLang="zh-CN" sz="3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3600" i="1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altLang="zh-CN" sz="36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zh-CN" sz="3600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zh-CN" sz="36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⋯,</m:t>
                    </m:r>
                  </m:oMath>
                </a14:m>
                <a:r>
                  <a:rPr lang="en-US" altLang="zh-CN" sz="360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3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3600" i="1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altLang="zh-CN" sz="36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en-US" altLang="zh-CN" sz="3600" dirty="0" smtClean="0"/>
                  <a:t>iid</a:t>
                </a:r>
                <a14:m>
                  <m:oMath xmlns:m="http://schemas.openxmlformats.org/officeDocument/2006/math">
                    <m:r>
                      <a:rPr lang="en-US" altLang="zh-CN" sz="360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~</m:t>
                    </m:r>
                    <m:r>
                      <a:rPr lang="en-US" altLang="zh-CN" sz="3600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𝑁</m:t>
                    </m:r>
                    <m:d>
                      <m:dPr>
                        <m:ctrlPr>
                          <a:rPr lang="en-US" altLang="zh-CN" sz="3600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3600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0</m:t>
                        </m:r>
                        <m:r>
                          <a:rPr lang="en-US" altLang="zh-CN" sz="3600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</m:t>
                        </m:r>
                        <m:r>
                          <a:rPr lang="en-US" altLang="zh-CN" sz="3600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e>
                    </m:d>
                    <m:r>
                      <a:rPr lang="en-US" altLang="zh-CN" sz="3600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  <m:r>
                      <a:rPr lang="zh-CN" altLang="en-US" sz="3600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则</m:t>
                    </m:r>
                  </m:oMath>
                </a14:m>
                <a:endParaRPr lang="zh-CN" altLang="en-US" sz="3600" dirty="0"/>
              </a:p>
            </p:txBody>
          </p:sp>
        </mc:Choice>
        <mc:Fallback>
          <p:sp>
            <p:nvSpPr>
              <p:cNvPr id="13" name="文本框 1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26272" y="582525"/>
                <a:ext cx="5487336" cy="646331"/>
              </a:xfrm>
              <a:prstGeom prst="rect">
                <a:avLst/>
              </a:prstGeom>
              <a:blipFill rotWithShape="1">
                <a:blip r:embed="rId1"/>
                <a:stretch>
                  <a:fillRect l="-3" t="-36" r="9" b="2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4" name="文本框 13"/>
              <p:cNvSpPr txBox="1"/>
              <p:nvPr/>
            </p:nvSpPr>
            <p:spPr>
              <a:xfrm>
                <a:off x="3246588" y="1228856"/>
                <a:ext cx="2638030" cy="160460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CN" sz="360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zh-CN" altLang="en-US" sz="3600" i="1" smtClean="0">
                              <a:latin typeface="Cambria Math" panose="02040503050406030204" pitchFamily="18" charset="0"/>
                            </a:rPr>
                            <m:t>𝜒</m:t>
                          </m:r>
                        </m:e>
                        <m:sup>
                          <m:r>
                            <a:rPr lang="en-US" altLang="zh-CN" sz="36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altLang="zh-CN" sz="3600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zh-CN" altLang="en-US" sz="360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altLang="zh-CN" sz="36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altLang="zh-CN" sz="3600" b="0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altLang="zh-CN" sz="36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US" altLang="zh-CN" sz="36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sSubSup>
                            <m:sSubSupPr>
                              <m:ctrlPr>
                                <a:rPr lang="en-US" altLang="zh-CN" sz="3600" i="1" smtClean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altLang="zh-CN" sz="3600" b="0" i="1" smtClean="0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  <m:sub>
                              <m:r>
                                <a:rPr lang="en-US" altLang="zh-CN" sz="36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  <m:sup>
                              <m:r>
                                <a:rPr lang="en-US" altLang="zh-CN" sz="36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bSup>
                        </m:e>
                      </m:nary>
                    </m:oMath>
                  </m:oMathPara>
                </a14:m>
                <a:endParaRPr lang="zh-CN" altLang="en-US" sz="3600" dirty="0"/>
              </a:p>
            </p:txBody>
          </p:sp>
        </mc:Choice>
        <mc:Fallback>
          <p:sp>
            <p:nvSpPr>
              <p:cNvPr id="14" name="文本框 1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46588" y="1228856"/>
                <a:ext cx="2638030" cy="1604606"/>
              </a:xfrm>
              <a:prstGeom prst="rect">
                <a:avLst/>
              </a:prstGeom>
              <a:blipFill rotWithShape="1">
                <a:blip r:embed="rId2"/>
                <a:stretch>
                  <a:fillRect l="-18" t="-8" r="3" b="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5" name="文本框 14"/>
              <p:cNvSpPr txBox="1"/>
              <p:nvPr/>
            </p:nvSpPr>
            <p:spPr>
              <a:xfrm>
                <a:off x="5711114" y="1738438"/>
                <a:ext cx="1798634" cy="64633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36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~</m:t>
                      </m:r>
                      <m:sSup>
                        <m:sSupPr>
                          <m:ctrlPr>
                            <a:rPr lang="en-US" altLang="zh-CN" sz="36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zh-CN" altLang="en-US" sz="36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𝜒</m:t>
                          </m:r>
                        </m:e>
                        <m:sup>
                          <m:r>
                            <a:rPr lang="en-US" altLang="zh-CN" sz="3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altLang="zh-CN" sz="36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</m:t>
                      </m:r>
                      <m:r>
                        <a:rPr lang="en-US" altLang="zh-CN" sz="36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𝑛</m:t>
                      </m:r>
                      <m:r>
                        <a:rPr lang="en-US" altLang="zh-CN" sz="36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zh-CN" altLang="en-US" sz="3600" dirty="0"/>
              </a:p>
            </p:txBody>
          </p:sp>
        </mc:Choice>
        <mc:Fallback>
          <p:sp>
            <p:nvSpPr>
              <p:cNvPr id="15" name="文本框 1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11114" y="1738438"/>
                <a:ext cx="1798634" cy="646331"/>
              </a:xfrm>
              <a:prstGeom prst="rect">
                <a:avLst/>
              </a:prstGeom>
              <a:blipFill rotWithShape="1">
                <a:blip r:embed="rId3"/>
                <a:stretch>
                  <a:fillRect l="-31" t="-69" r="13" b="5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" name="文本框 15"/>
          <p:cNvSpPr txBox="1"/>
          <p:nvPr/>
        </p:nvSpPr>
        <p:spPr>
          <a:xfrm>
            <a:off x="958678" y="3329682"/>
            <a:ext cx="180850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3600" dirty="0" smtClean="0"/>
              <a:t>T</a:t>
            </a:r>
            <a:r>
              <a:rPr lang="zh-CN" altLang="en-US" sz="3600" dirty="0" smtClean="0"/>
              <a:t>分布：</a:t>
            </a:r>
            <a:endParaRPr lang="zh-CN" altLang="en-US" sz="36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7" name="文本框 16"/>
              <p:cNvSpPr txBox="1"/>
              <p:nvPr/>
            </p:nvSpPr>
            <p:spPr>
              <a:xfrm>
                <a:off x="2260993" y="3343044"/>
                <a:ext cx="6802921" cy="12003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altLang="zh-CN" sz="3600" b="0" i="1" smtClean="0"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US" altLang="zh-CN" sz="36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~</m:t>
                    </m:r>
                    <m:r>
                      <a:rPr lang="en-US" altLang="zh-CN" sz="36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𝑁</m:t>
                    </m:r>
                    <m:d>
                      <m:dPr>
                        <m:ctrlPr>
                          <a:rPr lang="en-US" altLang="zh-CN" sz="3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3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0</m:t>
                        </m:r>
                        <m:r>
                          <a:rPr lang="en-US" altLang="zh-CN" sz="3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</m:t>
                        </m:r>
                        <m:r>
                          <a:rPr lang="en-US" altLang="zh-CN" sz="3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e>
                    </m:d>
                    <m:r>
                      <a:rPr lang="en-US" altLang="zh-CN" sz="36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  <m:r>
                      <a:rPr lang="en-US" altLang="zh-CN" sz="36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𝑌</m:t>
                    </m:r>
                    <m:r>
                      <a:rPr lang="en-US" altLang="zh-CN" sz="36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~</m:t>
                    </m:r>
                    <m:sSup>
                      <m:sSupPr>
                        <m:ctrlPr>
                          <a:rPr lang="en-US" altLang="zh-CN" sz="3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zh-CN" altLang="en-US" sz="3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𝜒</m:t>
                        </m:r>
                      </m:e>
                      <m:sup>
                        <m:r>
                          <a:rPr lang="en-US" altLang="zh-CN" sz="3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p>
                    </m:sSup>
                    <m:d>
                      <m:dPr>
                        <m:ctrlPr>
                          <a:rPr lang="en-US" altLang="zh-CN" sz="3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3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</m:e>
                    </m:d>
                    <m:r>
                      <a:rPr lang="en-US" altLang="zh-CN" sz="36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  <m:r>
                      <a:rPr lang="en-US" altLang="zh-CN" sz="36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𝑋</m:t>
                    </m:r>
                    <m:r>
                      <a:rPr lang="zh-CN" altLang="en-US" sz="36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、</m:t>
                    </m:r>
                    <m:r>
                      <a:rPr lang="en-US" altLang="zh-CN" sz="36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𝑌</m:t>
                    </m:r>
                    <m:r>
                      <m:rPr>
                        <m:sty m:val="p"/>
                      </m:rPr>
                      <a:rPr lang="en-US" altLang="zh-CN" sz="36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id</m:t>
                    </m:r>
                    <m:r>
                      <a:rPr lang="zh-CN" altLang="en-US" sz="36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，</m:t>
                    </m:r>
                  </m:oMath>
                </a14:m>
                <a:r>
                  <a:rPr lang="zh-CN" altLang="en-US" sz="3600" dirty="0" smtClean="0"/>
                  <a:t>则</a:t>
                </a:r>
                <a:endParaRPr lang="zh-CN" altLang="en-US" sz="3600" dirty="0"/>
              </a:p>
              <a:p>
                <a:endParaRPr lang="zh-CN" altLang="en-US" sz="3600" dirty="0"/>
              </a:p>
            </p:txBody>
          </p:sp>
        </mc:Choice>
        <mc:Fallback>
          <p:sp>
            <p:nvSpPr>
              <p:cNvPr id="17" name="文本框 1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60993" y="3343044"/>
                <a:ext cx="6802921" cy="1200329"/>
              </a:xfrm>
              <a:prstGeom prst="rect">
                <a:avLst/>
              </a:prstGeom>
              <a:blipFill rotWithShape="1">
                <a:blip r:embed="rId4"/>
                <a:stretch>
                  <a:fillRect l="-6" t="-34" r="8" b="4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8" name="文本框 17"/>
              <p:cNvSpPr txBox="1"/>
              <p:nvPr/>
            </p:nvSpPr>
            <p:spPr>
              <a:xfrm>
                <a:off x="9246556" y="3101029"/>
                <a:ext cx="1400768" cy="181851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altLang="zh-CN" sz="36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sz="3600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</m:num>
                        <m:den>
                          <m:rad>
                            <m:radPr>
                              <m:degHide m:val="on"/>
                              <m:ctrlPr>
                                <a:rPr lang="en-US" altLang="zh-CN" sz="3600" i="1" smtClean="0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f>
                                <m:fPr>
                                  <m:type m:val="skw"/>
                                  <m:ctrlPr>
                                    <a:rPr lang="en-US" altLang="zh-CN" sz="360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altLang="zh-CN" sz="3600" b="0" i="1" smtClean="0">
                                      <a:latin typeface="Cambria Math" panose="02040503050406030204" pitchFamily="18" charset="0"/>
                                    </a:rPr>
                                    <m:t>𝑌</m:t>
                                  </m:r>
                                </m:num>
                                <m:den>
                                  <m:r>
                                    <a:rPr lang="en-US" altLang="zh-CN" sz="3600" b="0" i="1" smtClean="0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den>
                              </m:f>
                            </m:e>
                          </m:rad>
                        </m:den>
                      </m:f>
                    </m:oMath>
                  </m:oMathPara>
                </a14:m>
                <a:endParaRPr lang="zh-CN" altLang="en-US" sz="3600" dirty="0"/>
              </a:p>
            </p:txBody>
          </p:sp>
        </mc:Choice>
        <mc:Fallback>
          <p:sp>
            <p:nvSpPr>
              <p:cNvPr id="18" name="文本框 1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46556" y="3101029"/>
                <a:ext cx="1400768" cy="1818511"/>
              </a:xfrm>
              <a:prstGeom prst="rect">
                <a:avLst/>
              </a:prstGeom>
              <a:blipFill rotWithShape="1">
                <a:blip r:embed="rId5"/>
                <a:stretch>
                  <a:fillRect l="-23" t="-18" r="20" b="1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9" name="文本框 18"/>
          <p:cNvSpPr txBox="1"/>
          <p:nvPr/>
        </p:nvSpPr>
        <p:spPr>
          <a:xfrm>
            <a:off x="8697916" y="3347100"/>
            <a:ext cx="67197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3200" dirty="0" smtClean="0"/>
              <a:t>T=</a:t>
            </a:r>
            <a:endParaRPr lang="zh-CN" altLang="en-US" sz="32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0" name="文本框 19"/>
              <p:cNvSpPr txBox="1"/>
              <p:nvPr/>
            </p:nvSpPr>
            <p:spPr>
              <a:xfrm>
                <a:off x="10405034" y="3329682"/>
                <a:ext cx="1491049" cy="64633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3600" b="0" i="1" smtClean="0">
                          <a:latin typeface="Cambria Math" panose="02040503050406030204" pitchFamily="18" charset="0"/>
                        </a:rPr>
                        <m:t>~</m:t>
                      </m:r>
                      <m:r>
                        <a:rPr lang="en-US" altLang="zh-CN" sz="3600" b="0" i="1" smtClean="0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US" altLang="zh-CN" sz="3600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altLang="zh-CN" sz="3600" b="0" i="1" smtClean="0"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en-US" altLang="zh-CN" sz="3600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zh-CN" altLang="en-US" sz="3600" dirty="0"/>
              </a:p>
            </p:txBody>
          </p:sp>
        </mc:Choice>
        <mc:Fallback>
          <p:sp>
            <p:nvSpPr>
              <p:cNvPr id="20" name="文本框 1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405034" y="3329682"/>
                <a:ext cx="1491049" cy="646331"/>
              </a:xfrm>
              <a:prstGeom prst="rect">
                <a:avLst/>
              </a:prstGeom>
              <a:blipFill rotWithShape="1">
                <a:blip r:embed="rId6"/>
                <a:stretch>
                  <a:fillRect l="-37" t="-58" r="42" b="4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1" name="文本框 20"/>
          <p:cNvSpPr txBox="1"/>
          <p:nvPr/>
        </p:nvSpPr>
        <p:spPr>
          <a:xfrm>
            <a:off x="1115816" y="4630925"/>
            <a:ext cx="178927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3600" dirty="0" smtClean="0"/>
              <a:t>F</a:t>
            </a:r>
            <a:r>
              <a:rPr lang="zh-CN" altLang="en-US" sz="3600" dirty="0" smtClean="0"/>
              <a:t>分布：</a:t>
            </a:r>
            <a:endParaRPr lang="zh-CN" altLang="en-US" sz="36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2" name="文本框 21"/>
              <p:cNvSpPr txBox="1"/>
              <p:nvPr/>
            </p:nvSpPr>
            <p:spPr>
              <a:xfrm>
                <a:off x="2456936" y="4630925"/>
                <a:ext cx="6606978" cy="12003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altLang="zh-CN" sz="3600" b="0" i="1" smtClean="0"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US" altLang="zh-CN" sz="36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~</m:t>
                    </m:r>
                    <m:sSup>
                      <m:sSupPr>
                        <m:ctrlPr>
                          <a:rPr lang="en-US" altLang="zh-CN" sz="3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zh-CN" altLang="en-US" sz="3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𝜒</m:t>
                        </m:r>
                      </m:e>
                      <m:sup>
                        <m:r>
                          <a:rPr lang="en-US" altLang="zh-CN" sz="3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p>
                    </m:sSup>
                    <m:d>
                      <m:dPr>
                        <m:ctrlPr>
                          <a:rPr lang="en-US" altLang="zh-CN" sz="3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3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𝑚</m:t>
                        </m:r>
                      </m:e>
                    </m:d>
                    <m:r>
                      <a:rPr lang="en-US" altLang="zh-CN" sz="36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  <m:r>
                      <a:rPr lang="en-US" altLang="zh-CN" sz="36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𝑌</m:t>
                    </m:r>
                    <m:r>
                      <a:rPr lang="en-US" altLang="zh-CN" sz="36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~</m:t>
                    </m:r>
                    <m:sSup>
                      <m:sSupPr>
                        <m:ctrlPr>
                          <a:rPr lang="en-US" altLang="zh-CN" sz="3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zh-CN" altLang="en-US" sz="3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𝜒</m:t>
                        </m:r>
                      </m:e>
                      <m:sup>
                        <m:r>
                          <a:rPr lang="en-US" altLang="zh-CN" sz="3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p>
                    </m:sSup>
                    <m:d>
                      <m:dPr>
                        <m:ctrlPr>
                          <a:rPr lang="en-US" altLang="zh-CN" sz="3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3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</m:e>
                    </m:d>
                    <m:r>
                      <a:rPr lang="en-US" altLang="zh-CN" sz="36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  <m:r>
                      <a:rPr lang="en-US" altLang="zh-CN" sz="36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𝑋</m:t>
                    </m:r>
                    <m:r>
                      <a:rPr lang="zh-CN" altLang="en-US" sz="36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、</m:t>
                    </m:r>
                    <m:r>
                      <a:rPr lang="en-US" altLang="zh-CN" sz="36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𝑌</m:t>
                    </m:r>
                    <m:r>
                      <m:rPr>
                        <m:sty m:val="p"/>
                      </m:rPr>
                      <a:rPr lang="en-US" altLang="zh-CN" sz="36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id</m:t>
                    </m:r>
                    <m:r>
                      <a:rPr lang="zh-CN" altLang="en-US" sz="36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，</m:t>
                    </m:r>
                  </m:oMath>
                </a14:m>
                <a:r>
                  <a:rPr lang="zh-CN" altLang="en-US" sz="3600" dirty="0" smtClean="0"/>
                  <a:t>则</a:t>
                </a:r>
                <a:endParaRPr lang="zh-CN" altLang="en-US" sz="3600" dirty="0"/>
              </a:p>
              <a:p>
                <a:endParaRPr lang="zh-CN" altLang="en-US" sz="3600" dirty="0"/>
              </a:p>
            </p:txBody>
          </p:sp>
        </mc:Choice>
        <mc:Fallback>
          <p:sp>
            <p:nvSpPr>
              <p:cNvPr id="22" name="文本框 2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56936" y="4630925"/>
                <a:ext cx="6606978" cy="1200329"/>
              </a:xfrm>
              <a:prstGeom prst="rect">
                <a:avLst/>
              </a:prstGeom>
              <a:blipFill rotWithShape="1">
                <a:blip r:embed="rId7"/>
                <a:stretch>
                  <a:fillRect l="-2" t="-42" r="8" b="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3" name="文本框 22"/>
              <p:cNvSpPr txBox="1"/>
              <p:nvPr/>
            </p:nvSpPr>
            <p:spPr>
              <a:xfrm>
                <a:off x="4284552" y="5216401"/>
                <a:ext cx="1195327" cy="146636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altLang="zh-CN" sz="36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f>
                            <m:fPr>
                              <m:type m:val="skw"/>
                              <m:ctrlPr>
                                <a:rPr lang="en-US" altLang="zh-CN" sz="3600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zh-CN" sz="3600" i="1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num>
                            <m:den>
                              <m:r>
                                <a:rPr lang="en-US" altLang="zh-CN" sz="3600" b="0" i="1" smtClean="0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den>
                          </m:f>
                        </m:num>
                        <m:den>
                          <m:f>
                            <m:fPr>
                              <m:type m:val="skw"/>
                              <m:ctrlPr>
                                <a:rPr lang="en-US" altLang="zh-CN" sz="360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zh-CN" sz="3600" b="0" i="1" smtClean="0">
                                  <a:latin typeface="Cambria Math" panose="02040503050406030204" pitchFamily="18" charset="0"/>
                                </a:rPr>
                                <m:t>𝑌</m:t>
                              </m:r>
                            </m:num>
                            <m:den>
                              <m:r>
                                <a:rPr lang="en-US" altLang="zh-CN" sz="3600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den>
                          </m:f>
                        </m:den>
                      </m:f>
                    </m:oMath>
                  </m:oMathPara>
                </a14:m>
                <a:endParaRPr lang="zh-CN" altLang="en-US" sz="3600" dirty="0"/>
              </a:p>
            </p:txBody>
          </p:sp>
        </mc:Choice>
        <mc:Fallback>
          <p:sp>
            <p:nvSpPr>
              <p:cNvPr id="23" name="文本框 2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84552" y="5216401"/>
                <a:ext cx="1195327" cy="1466363"/>
              </a:xfrm>
              <a:prstGeom prst="rect">
                <a:avLst/>
              </a:prstGeom>
              <a:blipFill rotWithShape="1">
                <a:blip r:embed="rId8"/>
                <a:stretch>
                  <a:fillRect l="-17" t="-35" r="39" b="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4" name="文本框 23"/>
          <p:cNvSpPr txBox="1"/>
          <p:nvPr/>
        </p:nvSpPr>
        <p:spPr>
          <a:xfrm>
            <a:off x="3715099" y="5626418"/>
            <a:ext cx="71205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3600" dirty="0" smtClean="0"/>
              <a:t>F=</a:t>
            </a:r>
            <a:endParaRPr lang="zh-CN" altLang="en-US" sz="36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5" name="文本框 24"/>
              <p:cNvSpPr txBox="1"/>
              <p:nvPr/>
            </p:nvSpPr>
            <p:spPr>
              <a:xfrm>
                <a:off x="5337278" y="5626418"/>
                <a:ext cx="2267094" cy="64633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3600" b="0" i="1" smtClean="0">
                          <a:latin typeface="Cambria Math" panose="02040503050406030204" pitchFamily="18" charset="0"/>
                        </a:rPr>
                        <m:t>~</m:t>
                      </m:r>
                      <m:r>
                        <a:rPr lang="en-US" altLang="zh-CN" sz="3600" b="0" i="1" smtClean="0">
                          <a:latin typeface="Cambria Math" panose="02040503050406030204" pitchFamily="18" charset="0"/>
                        </a:rPr>
                        <m:t>𝐹</m:t>
                      </m:r>
                      <m:r>
                        <a:rPr lang="en-US" altLang="zh-CN" sz="3600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altLang="zh-CN" sz="3600" b="0" i="1" smtClean="0">
                          <a:latin typeface="Cambria Math" panose="02040503050406030204" pitchFamily="18" charset="0"/>
                        </a:rPr>
                        <m:t>𝑚</m:t>
                      </m:r>
                      <m:r>
                        <a:rPr lang="en-US" altLang="zh-CN" sz="3600" b="0" i="1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altLang="zh-CN" sz="3600" b="0" i="1" smtClean="0"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en-US" altLang="zh-CN" sz="3600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zh-CN" altLang="en-US" sz="3600" dirty="0"/>
              </a:p>
            </p:txBody>
          </p:sp>
        </mc:Choice>
        <mc:Fallback>
          <p:sp>
            <p:nvSpPr>
              <p:cNvPr id="25" name="文本框 2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37278" y="5626418"/>
                <a:ext cx="2267094" cy="646331"/>
              </a:xfrm>
              <a:prstGeom prst="rect">
                <a:avLst/>
              </a:prstGeom>
              <a:blipFill rotWithShape="1">
                <a:blip r:embed="rId9"/>
                <a:stretch>
                  <a:fillRect l="-5" t="-49" r="11" b="3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3" grpId="0"/>
      <p:bldP spid="14" grpId="0"/>
      <p:bldP spid="15" grpId="0"/>
      <p:bldP spid="16" grpId="0"/>
      <p:bldP spid="17" grpId="0"/>
      <p:bldP spid="18" grpId="0"/>
      <p:bldP spid="19" grpId="0"/>
      <p:bldP spid="20" grpId="0"/>
      <p:bldP spid="21" grpId="0"/>
      <p:bldP spid="22" grpId="0"/>
      <p:bldP spid="23" grpId="0"/>
      <p:bldP spid="24" grpId="0"/>
      <p:bldP spid="25" grpId="0"/>
    </p:bld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>
            <a:spLocks noChangeArrowheads="1"/>
          </p:cNvSpPr>
          <p:nvPr/>
        </p:nvSpPr>
        <p:spPr bwMode="auto">
          <a:xfrm>
            <a:off x="0" y="-184666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 b="1">
              <a:solidFill>
                <a:srgbClr val="002060"/>
              </a:solidFill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1053002" y="582525"/>
            <a:ext cx="249299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600" b="1" dirty="0">
                <a:solidFill>
                  <a:srgbClr val="002060"/>
                </a:solidFill>
              </a:rPr>
              <a:t>卡</a:t>
            </a:r>
            <a:r>
              <a:rPr lang="zh-CN" altLang="en-US" sz="3600" b="1" dirty="0" smtClean="0">
                <a:solidFill>
                  <a:srgbClr val="002060"/>
                </a:solidFill>
              </a:rPr>
              <a:t>方分布：</a:t>
            </a:r>
            <a:endParaRPr lang="zh-CN" altLang="en-US" sz="3600" b="1" dirty="0">
              <a:solidFill>
                <a:srgbClr val="002060"/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3" name="文本框 12"/>
              <p:cNvSpPr txBox="1"/>
              <p:nvPr/>
            </p:nvSpPr>
            <p:spPr>
              <a:xfrm>
                <a:off x="3545992" y="582525"/>
                <a:ext cx="5796651" cy="64633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36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36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𝑿</m:t>
                        </m:r>
                      </m:e>
                      <m:sub>
                        <m:r>
                          <a:rPr lang="en-US" altLang="zh-CN" sz="36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  <m:r>
                      <a:rPr lang="en-US" altLang="zh-CN" sz="36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altLang="zh-CN" sz="3600" b="1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3600" b="1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𝑿</m:t>
                        </m:r>
                      </m:e>
                      <m:sub>
                        <m:r>
                          <a:rPr lang="en-US" altLang="zh-CN" sz="36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𝟐</m:t>
                        </m:r>
                      </m:sub>
                    </m:sSub>
                    <m:r>
                      <a:rPr lang="en-US" altLang="zh-CN" sz="36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zh-CN" sz="36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⋯,</m:t>
                    </m:r>
                  </m:oMath>
                </a14:m>
                <a:r>
                  <a:rPr lang="en-US" altLang="zh-CN" sz="3600" b="1" dirty="0">
                    <a:solidFill>
                      <a:srgbClr val="002060"/>
                    </a:solidFill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3600" b="1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3600" b="1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𝑿</m:t>
                        </m:r>
                      </m:e>
                      <m:sub>
                        <m:r>
                          <a:rPr lang="en-US" altLang="zh-CN" sz="36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𝒏</m:t>
                        </m:r>
                      </m:sub>
                    </m:sSub>
                  </m:oMath>
                </a14:m>
                <a:r>
                  <a:rPr lang="en-US" altLang="zh-CN" sz="3600" b="1" dirty="0" smtClean="0">
                    <a:solidFill>
                      <a:srgbClr val="002060"/>
                    </a:solidFill>
                  </a:rPr>
                  <a:t>iid</a:t>
                </a:r>
                <a14:m>
                  <m:oMath xmlns:m="http://schemas.openxmlformats.org/officeDocument/2006/math">
                    <m:r>
                      <a:rPr lang="en-US" altLang="zh-CN" sz="3600" b="1" i="1" dirty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~</m:t>
                    </m:r>
                    <m:r>
                      <a:rPr lang="en-US" altLang="zh-CN" sz="3600" b="1" i="1" dirty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𝑵</m:t>
                    </m:r>
                    <m:d>
                      <m:dPr>
                        <m:ctrlPr>
                          <a:rPr lang="en-US" altLang="zh-CN" sz="3600" b="1" i="1" dirty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3600" b="1" i="1" dirty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𝟎</m:t>
                        </m:r>
                        <m:r>
                          <a:rPr lang="en-US" altLang="zh-CN" sz="3600" b="1" i="1" dirty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</m:t>
                        </m:r>
                        <m:r>
                          <a:rPr lang="en-US" altLang="zh-CN" sz="3600" b="1" i="1" dirty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𝟏</m:t>
                        </m:r>
                      </m:e>
                    </m:d>
                    <m:r>
                      <a:rPr lang="en-US" altLang="zh-CN" sz="3600" b="1" i="1" dirty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  <m:r>
                      <a:rPr lang="zh-CN" altLang="en-US" sz="3600" b="1" i="1" dirty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则</m:t>
                    </m:r>
                  </m:oMath>
                </a14:m>
                <a:endParaRPr lang="zh-CN" altLang="en-US" sz="3600" b="1" dirty="0">
                  <a:solidFill>
                    <a:srgbClr val="002060"/>
                  </a:solidFill>
                </a:endParaRPr>
              </a:p>
            </p:txBody>
          </p:sp>
        </mc:Choice>
        <mc:Fallback>
          <p:sp>
            <p:nvSpPr>
              <p:cNvPr id="13" name="文本框 1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45992" y="582525"/>
                <a:ext cx="5796651" cy="646331"/>
              </a:xfrm>
              <a:prstGeom prst="rect">
                <a:avLst/>
              </a:prstGeom>
              <a:blipFill rotWithShape="1">
                <a:blip r:embed="rId1"/>
                <a:stretch>
                  <a:fillRect l="-3" t="-36" r="9" b="2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4" name="文本框 13"/>
              <p:cNvSpPr txBox="1"/>
              <p:nvPr/>
            </p:nvSpPr>
            <p:spPr>
              <a:xfrm>
                <a:off x="3666308" y="1228856"/>
                <a:ext cx="2665666" cy="160217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CN" sz="3600" b="1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zh-CN" altLang="en-US" sz="3600" b="1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𝝌</m:t>
                          </m:r>
                        </m:e>
                        <m:sup>
                          <m:r>
                            <a:rPr lang="en-US" altLang="zh-CN" sz="3600" b="1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  <m:r>
                        <a:rPr lang="en-US" altLang="zh-CN" sz="3600" b="1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zh-CN" altLang="en-US" sz="3600" b="1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altLang="zh-CN" sz="3600" b="1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𝒊</m:t>
                          </m:r>
                          <m:r>
                            <a:rPr lang="en-US" altLang="zh-CN" sz="3600" b="1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altLang="zh-CN" sz="3600" b="1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  <m:sup>
                          <m:r>
                            <a:rPr lang="en-US" altLang="zh-CN" sz="3600" b="1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𝒏</m:t>
                          </m:r>
                        </m:sup>
                        <m:e>
                          <m:sSubSup>
                            <m:sSubSupPr>
                              <m:ctrlPr>
                                <a:rPr lang="en-US" altLang="zh-CN" sz="3600" b="1" i="1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altLang="zh-CN" sz="3600" b="1" i="1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𝑿</m:t>
                              </m:r>
                            </m:e>
                            <m:sub>
                              <m:r>
                                <a:rPr lang="en-US" altLang="zh-CN" sz="3600" b="1" i="1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𝒊</m:t>
                              </m:r>
                            </m:sub>
                            <m:sup>
                              <m:r>
                                <a:rPr lang="en-US" altLang="zh-CN" sz="3600" b="1" i="1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sup>
                          </m:sSubSup>
                        </m:e>
                      </m:nary>
                    </m:oMath>
                  </m:oMathPara>
                </a14:m>
                <a:endParaRPr lang="zh-CN" altLang="en-US" sz="3600" b="1" dirty="0">
                  <a:solidFill>
                    <a:srgbClr val="002060"/>
                  </a:solidFill>
                </a:endParaRPr>
              </a:p>
            </p:txBody>
          </p:sp>
        </mc:Choice>
        <mc:Fallback>
          <p:sp>
            <p:nvSpPr>
              <p:cNvPr id="14" name="文本框 1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66308" y="1228856"/>
                <a:ext cx="2665666" cy="1602170"/>
              </a:xfrm>
              <a:prstGeom prst="rect">
                <a:avLst/>
              </a:prstGeom>
              <a:blipFill rotWithShape="1">
                <a:blip r:embed="rId2"/>
                <a:stretch>
                  <a:fillRect l="-17" t="-8" r="15" b="1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5" name="文本框 14"/>
              <p:cNvSpPr txBox="1"/>
              <p:nvPr/>
            </p:nvSpPr>
            <p:spPr>
              <a:xfrm>
                <a:off x="6130834" y="1738438"/>
                <a:ext cx="1846916" cy="65889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3600" b="1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~</m:t>
                      </m:r>
                      <m:sSup>
                        <m:sSupPr>
                          <m:ctrlPr>
                            <a:rPr lang="en-US" altLang="zh-CN" sz="3600" b="1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zh-CN" altLang="en-US" sz="3600" b="1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𝝌</m:t>
                          </m:r>
                        </m:e>
                        <m:sup>
                          <m:r>
                            <a:rPr lang="en-US" altLang="zh-CN" sz="3600" b="1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  <m:r>
                        <a:rPr lang="en-US" altLang="zh-CN" sz="3600" b="1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</m:t>
                      </m:r>
                      <m:r>
                        <a:rPr lang="en-US" altLang="zh-CN" sz="3600" b="1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𝒏</m:t>
                      </m:r>
                      <m:r>
                        <a:rPr lang="en-US" altLang="zh-CN" sz="3600" b="1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zh-CN" altLang="en-US" sz="3600" b="1" dirty="0">
                  <a:solidFill>
                    <a:srgbClr val="002060"/>
                  </a:solidFill>
                </a:endParaRPr>
              </a:p>
            </p:txBody>
          </p:sp>
        </mc:Choice>
        <mc:Fallback>
          <p:sp>
            <p:nvSpPr>
              <p:cNvPr id="15" name="文本框 1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30834" y="1738438"/>
                <a:ext cx="1846916" cy="658898"/>
              </a:xfrm>
              <a:prstGeom prst="rect">
                <a:avLst/>
              </a:prstGeom>
              <a:blipFill rotWithShape="1">
                <a:blip r:embed="rId3"/>
                <a:stretch>
                  <a:fillRect l="-29" t="-67" r="13" b="3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" name="文本框 15"/>
          <p:cNvSpPr txBox="1"/>
          <p:nvPr/>
        </p:nvSpPr>
        <p:spPr>
          <a:xfrm>
            <a:off x="1023454" y="3185690"/>
            <a:ext cx="201223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600" b="1" dirty="0" smtClean="0">
                <a:solidFill>
                  <a:srgbClr val="002060"/>
                </a:solidFill>
              </a:rPr>
              <a:t>T</a:t>
            </a:r>
            <a:r>
              <a:rPr lang="zh-CN" altLang="en-US" sz="3600" b="1" dirty="0" smtClean="0">
                <a:solidFill>
                  <a:srgbClr val="002060"/>
                </a:solidFill>
              </a:rPr>
              <a:t>分布：</a:t>
            </a:r>
            <a:endParaRPr lang="zh-CN" altLang="en-US" sz="3600" b="1" dirty="0">
              <a:solidFill>
                <a:srgbClr val="002060"/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7" name="文本框 16"/>
              <p:cNvSpPr txBox="1"/>
              <p:nvPr/>
            </p:nvSpPr>
            <p:spPr>
              <a:xfrm>
                <a:off x="2436870" y="3212413"/>
                <a:ext cx="7569279" cy="121289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altLang="zh-CN" sz="36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𝑿</m:t>
                    </m:r>
                    <m:r>
                      <a:rPr lang="en-US" altLang="zh-CN" sz="36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~</m:t>
                    </m:r>
                    <m:r>
                      <a:rPr lang="en-US" altLang="zh-CN" sz="36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𝑵</m:t>
                    </m:r>
                    <m:d>
                      <m:dPr>
                        <m:ctrlPr>
                          <a:rPr lang="en-US" altLang="zh-CN" sz="36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36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𝟎</m:t>
                        </m:r>
                        <m:r>
                          <a:rPr lang="en-US" altLang="zh-CN" sz="36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</m:t>
                        </m:r>
                        <m:r>
                          <a:rPr lang="en-US" altLang="zh-CN" sz="36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𝟏</m:t>
                        </m:r>
                      </m:e>
                    </m:d>
                    <m:r>
                      <a:rPr lang="en-US" altLang="zh-CN" sz="36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  <m:r>
                      <a:rPr lang="en-US" altLang="zh-CN" sz="36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𝒀</m:t>
                    </m:r>
                    <m:r>
                      <a:rPr lang="en-US" altLang="zh-CN" sz="36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~</m:t>
                    </m:r>
                    <m:sSup>
                      <m:sSupPr>
                        <m:ctrlPr>
                          <a:rPr lang="en-US" altLang="zh-CN" sz="3600" b="1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zh-CN" altLang="en-US" sz="3600" b="1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𝝌</m:t>
                        </m:r>
                      </m:e>
                      <m:sup>
                        <m:r>
                          <a:rPr lang="en-US" altLang="zh-CN" sz="3600" b="1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𝟐</m:t>
                        </m:r>
                      </m:sup>
                    </m:sSup>
                    <m:d>
                      <m:dPr>
                        <m:ctrlPr>
                          <a:rPr lang="en-US" altLang="zh-CN" sz="3600" b="1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3600" b="1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𝒏</m:t>
                        </m:r>
                      </m:e>
                    </m:d>
                    <m:r>
                      <a:rPr lang="en-US" altLang="zh-CN" sz="36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  <m:r>
                      <a:rPr lang="en-US" altLang="zh-CN" sz="36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𝑿</m:t>
                    </m:r>
                    <m:r>
                      <a:rPr lang="zh-CN" altLang="en-US" sz="3600" b="1" i="1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、</m:t>
                    </m:r>
                    <m:r>
                      <a:rPr lang="en-US" altLang="zh-CN" sz="36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𝒀</m:t>
                    </m:r>
                    <m:r>
                      <a:rPr lang="en-US" altLang="zh-CN" sz="3600" b="1" i="1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𝒊𝒅</m:t>
                    </m:r>
                    <m:r>
                      <a:rPr lang="zh-CN" altLang="en-US" sz="3600" b="1" i="1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，</m:t>
                    </m:r>
                  </m:oMath>
                </a14:m>
                <a:r>
                  <a:rPr lang="zh-CN" altLang="en-US" sz="3600" b="1" dirty="0" smtClean="0">
                    <a:solidFill>
                      <a:srgbClr val="002060"/>
                    </a:solidFill>
                  </a:rPr>
                  <a:t>则</a:t>
                </a:r>
                <a:endParaRPr lang="zh-CN" altLang="en-US" sz="3600" b="1" dirty="0">
                  <a:solidFill>
                    <a:srgbClr val="002060"/>
                  </a:solidFill>
                </a:endParaRPr>
              </a:p>
              <a:p>
                <a:endParaRPr lang="zh-CN" altLang="en-US" sz="3600" b="1" dirty="0">
                  <a:solidFill>
                    <a:srgbClr val="002060"/>
                  </a:solidFill>
                </a:endParaRPr>
              </a:p>
            </p:txBody>
          </p:sp>
        </mc:Choice>
        <mc:Fallback>
          <p:sp>
            <p:nvSpPr>
              <p:cNvPr id="17" name="文本框 1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36870" y="3212413"/>
                <a:ext cx="7569279" cy="1212896"/>
              </a:xfrm>
              <a:prstGeom prst="rect">
                <a:avLst/>
              </a:prstGeom>
              <a:blipFill rotWithShape="1">
                <a:blip r:embed="rId4"/>
                <a:stretch>
                  <a:fillRect l="-5" t="-48" r="6" b="5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8" name="文本框 17"/>
              <p:cNvSpPr txBox="1"/>
              <p:nvPr/>
            </p:nvSpPr>
            <p:spPr>
              <a:xfrm>
                <a:off x="9666276" y="2909435"/>
                <a:ext cx="1429687" cy="181851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altLang="zh-CN" sz="3600" b="1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sz="3600" b="1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𝑿</m:t>
                          </m:r>
                        </m:num>
                        <m:den>
                          <m:rad>
                            <m:radPr>
                              <m:degHide m:val="on"/>
                              <m:ctrlPr>
                                <a:rPr lang="en-US" altLang="zh-CN" sz="3600" b="1" i="1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f>
                                <m:fPr>
                                  <m:type m:val="skw"/>
                                  <m:ctrlPr>
                                    <a:rPr lang="en-US" altLang="zh-CN" sz="3600" b="1" i="1" smtClean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altLang="zh-CN" sz="3600" b="1" i="1" smtClean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𝒀</m:t>
                                  </m:r>
                                </m:num>
                                <m:den>
                                  <m:r>
                                    <a:rPr lang="en-US" altLang="zh-CN" sz="3600" b="1" i="1" smtClean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𝒏</m:t>
                                  </m:r>
                                </m:den>
                              </m:f>
                            </m:e>
                          </m:rad>
                        </m:den>
                      </m:f>
                    </m:oMath>
                  </m:oMathPara>
                </a14:m>
                <a:endParaRPr lang="zh-CN" altLang="en-US" sz="3600" b="1" dirty="0">
                  <a:solidFill>
                    <a:srgbClr val="002060"/>
                  </a:solidFill>
                </a:endParaRPr>
              </a:p>
            </p:txBody>
          </p:sp>
        </mc:Choice>
        <mc:Fallback>
          <p:sp>
            <p:nvSpPr>
              <p:cNvPr id="18" name="文本框 1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66276" y="2909435"/>
                <a:ext cx="1429687" cy="1818511"/>
              </a:xfrm>
              <a:prstGeom prst="rect">
                <a:avLst/>
              </a:prstGeom>
              <a:blipFill rotWithShape="1">
                <a:blip r:embed="rId5"/>
                <a:stretch>
                  <a:fillRect l="-21" t="-27" r="43" b="2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9" name="文本框 18"/>
          <p:cNvSpPr txBox="1"/>
          <p:nvPr/>
        </p:nvSpPr>
        <p:spPr>
          <a:xfrm>
            <a:off x="9117636" y="3286137"/>
            <a:ext cx="69602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3200" b="1" dirty="0" smtClean="0">
                <a:solidFill>
                  <a:srgbClr val="002060"/>
                </a:solidFill>
              </a:rPr>
              <a:t>T=</a:t>
            </a:r>
            <a:endParaRPr lang="zh-CN" altLang="en-US" sz="3200" b="1" dirty="0">
              <a:solidFill>
                <a:srgbClr val="002060"/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0" name="文本框 19"/>
              <p:cNvSpPr txBox="1"/>
              <p:nvPr/>
            </p:nvSpPr>
            <p:spPr>
              <a:xfrm>
                <a:off x="10824754" y="3138088"/>
                <a:ext cx="1516762" cy="64633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3600" b="1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~</m:t>
                      </m:r>
                      <m:r>
                        <a:rPr lang="en-US" altLang="zh-CN" sz="3600" b="1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𝒕</m:t>
                      </m:r>
                      <m:r>
                        <a:rPr lang="en-US" altLang="zh-CN" sz="3600" b="1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altLang="zh-CN" sz="3600" b="1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𝒏</m:t>
                      </m:r>
                      <m:r>
                        <a:rPr lang="en-US" altLang="zh-CN" sz="3600" b="1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zh-CN" altLang="en-US" sz="3600" b="1" dirty="0">
                  <a:solidFill>
                    <a:srgbClr val="002060"/>
                  </a:solidFill>
                </a:endParaRPr>
              </a:p>
            </p:txBody>
          </p:sp>
        </mc:Choice>
        <mc:Fallback>
          <p:sp>
            <p:nvSpPr>
              <p:cNvPr id="20" name="文本框 1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824754" y="3138088"/>
                <a:ext cx="1516762" cy="646331"/>
              </a:xfrm>
              <a:prstGeom prst="rect">
                <a:avLst/>
              </a:prstGeom>
              <a:blipFill rotWithShape="1">
                <a:blip r:embed="rId6"/>
                <a:stretch>
                  <a:fillRect l="-36" t="-86" r="19" b="7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1" name="文本框 20"/>
          <p:cNvSpPr txBox="1"/>
          <p:nvPr/>
        </p:nvSpPr>
        <p:spPr>
          <a:xfrm>
            <a:off x="1053002" y="4569962"/>
            <a:ext cx="178927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3600" b="1" dirty="0" smtClean="0">
                <a:solidFill>
                  <a:srgbClr val="002060"/>
                </a:solidFill>
              </a:rPr>
              <a:t>F</a:t>
            </a:r>
            <a:r>
              <a:rPr lang="zh-CN" altLang="en-US" sz="3600" b="1" dirty="0" smtClean="0">
                <a:solidFill>
                  <a:srgbClr val="002060"/>
                </a:solidFill>
              </a:rPr>
              <a:t>分布：</a:t>
            </a:r>
            <a:endParaRPr lang="zh-CN" altLang="en-US" sz="3600" b="1" dirty="0">
              <a:solidFill>
                <a:srgbClr val="002060"/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2" name="文本框 21"/>
              <p:cNvSpPr txBox="1"/>
              <p:nvPr/>
            </p:nvSpPr>
            <p:spPr>
              <a:xfrm>
                <a:off x="2476058" y="4569962"/>
                <a:ext cx="7817470" cy="121289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altLang="zh-CN" sz="36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𝑿</m:t>
                    </m:r>
                    <m:r>
                      <a:rPr lang="en-US" altLang="zh-CN" sz="36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~</m:t>
                    </m:r>
                    <m:sSup>
                      <m:sSupPr>
                        <m:ctrlPr>
                          <a:rPr lang="en-US" altLang="zh-CN" sz="3600" b="1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zh-CN" altLang="en-US" sz="3600" b="1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𝝌</m:t>
                        </m:r>
                      </m:e>
                      <m:sup>
                        <m:r>
                          <a:rPr lang="en-US" altLang="zh-CN" sz="3600" b="1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𝟐</m:t>
                        </m:r>
                      </m:sup>
                    </m:sSup>
                    <m:d>
                      <m:dPr>
                        <m:ctrlPr>
                          <a:rPr lang="en-US" altLang="zh-CN" sz="3600" b="1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36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𝒎</m:t>
                        </m:r>
                      </m:e>
                    </m:d>
                    <m:r>
                      <a:rPr lang="en-US" altLang="zh-CN" sz="36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  <m:r>
                      <a:rPr lang="en-US" altLang="zh-CN" sz="36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𝒀</m:t>
                    </m:r>
                    <m:r>
                      <a:rPr lang="en-US" altLang="zh-CN" sz="36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~</m:t>
                    </m:r>
                    <m:sSup>
                      <m:sSupPr>
                        <m:ctrlPr>
                          <a:rPr lang="en-US" altLang="zh-CN" sz="3600" b="1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zh-CN" altLang="en-US" sz="3600" b="1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𝝌</m:t>
                        </m:r>
                      </m:e>
                      <m:sup>
                        <m:r>
                          <a:rPr lang="en-US" altLang="zh-CN" sz="3600" b="1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𝟐</m:t>
                        </m:r>
                      </m:sup>
                    </m:sSup>
                    <m:d>
                      <m:dPr>
                        <m:ctrlPr>
                          <a:rPr lang="en-US" altLang="zh-CN" sz="3600" b="1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36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𝒏</m:t>
                        </m:r>
                      </m:e>
                    </m:d>
                    <m:r>
                      <a:rPr lang="en-US" altLang="zh-CN" sz="36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  <m:r>
                      <a:rPr lang="en-US" altLang="zh-CN" sz="36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𝑿</m:t>
                    </m:r>
                    <m:r>
                      <a:rPr lang="zh-CN" altLang="en-US" sz="3600" b="1" i="1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、</m:t>
                    </m:r>
                    <m:r>
                      <a:rPr lang="en-US" altLang="zh-CN" sz="36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𝒀</m:t>
                    </m:r>
                    <m:r>
                      <a:rPr lang="en-US" altLang="zh-CN" sz="3600" b="1" i="1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𝒊𝒅</m:t>
                    </m:r>
                    <m:r>
                      <a:rPr lang="zh-CN" altLang="en-US" sz="3600" b="1" i="1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，</m:t>
                    </m:r>
                  </m:oMath>
                </a14:m>
                <a:r>
                  <a:rPr lang="zh-CN" altLang="en-US" sz="3600" b="1" dirty="0" smtClean="0">
                    <a:solidFill>
                      <a:srgbClr val="002060"/>
                    </a:solidFill>
                  </a:rPr>
                  <a:t>则</a:t>
                </a:r>
                <a:endParaRPr lang="zh-CN" altLang="en-US" sz="3600" b="1" dirty="0">
                  <a:solidFill>
                    <a:srgbClr val="002060"/>
                  </a:solidFill>
                </a:endParaRPr>
              </a:p>
              <a:p>
                <a:endParaRPr lang="zh-CN" altLang="en-US" sz="3600" b="1" dirty="0">
                  <a:solidFill>
                    <a:srgbClr val="002060"/>
                  </a:solidFill>
                </a:endParaRPr>
              </a:p>
            </p:txBody>
          </p:sp>
        </mc:Choice>
        <mc:Fallback>
          <p:sp>
            <p:nvSpPr>
              <p:cNvPr id="22" name="文本框 2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76058" y="4569962"/>
                <a:ext cx="7817470" cy="1212896"/>
              </a:xfrm>
              <a:prstGeom prst="rect">
                <a:avLst/>
              </a:prstGeom>
              <a:blipFill rotWithShape="1">
                <a:blip r:embed="rId7"/>
                <a:stretch>
                  <a:fillRect l="-2" t="-41" r="2" b="4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3" name="文本框 22"/>
              <p:cNvSpPr txBox="1"/>
              <p:nvPr/>
            </p:nvSpPr>
            <p:spPr>
              <a:xfrm>
                <a:off x="4399469" y="5216401"/>
                <a:ext cx="1238672" cy="147425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altLang="zh-CN" sz="3600" b="1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f>
                            <m:fPr>
                              <m:type m:val="skw"/>
                              <m:ctrlPr>
                                <a:rPr lang="en-US" altLang="zh-CN" sz="3600" b="1" i="1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zh-CN" sz="3600" b="1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𝑿</m:t>
                              </m:r>
                            </m:num>
                            <m:den>
                              <m:r>
                                <a:rPr lang="en-US" altLang="zh-CN" sz="3600" b="1" i="1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𝒎</m:t>
                              </m:r>
                            </m:den>
                          </m:f>
                        </m:num>
                        <m:den>
                          <m:f>
                            <m:fPr>
                              <m:type m:val="skw"/>
                              <m:ctrlPr>
                                <a:rPr lang="en-US" altLang="zh-CN" sz="3600" b="1" i="1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zh-CN" sz="3600" b="1" i="1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𝒀</m:t>
                              </m:r>
                            </m:num>
                            <m:den>
                              <m:r>
                                <a:rPr lang="en-US" altLang="zh-CN" sz="3600" b="1" i="1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𝒏</m:t>
                              </m:r>
                            </m:den>
                          </m:f>
                        </m:den>
                      </m:f>
                    </m:oMath>
                  </m:oMathPara>
                </a14:m>
                <a:endParaRPr lang="zh-CN" altLang="en-US" sz="3600" b="1" dirty="0">
                  <a:solidFill>
                    <a:srgbClr val="002060"/>
                  </a:solidFill>
                </a:endParaRPr>
              </a:p>
            </p:txBody>
          </p:sp>
        </mc:Choice>
        <mc:Fallback>
          <p:sp>
            <p:nvSpPr>
              <p:cNvPr id="23" name="文本框 2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99469" y="5216401"/>
                <a:ext cx="1238672" cy="1474250"/>
              </a:xfrm>
              <a:prstGeom prst="rect">
                <a:avLst/>
              </a:prstGeom>
              <a:blipFill rotWithShape="1">
                <a:blip r:embed="rId8"/>
                <a:stretch>
                  <a:fillRect l="-15" t="-35" r="49" b="2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4" name="文本框 23"/>
          <p:cNvSpPr txBox="1"/>
          <p:nvPr/>
        </p:nvSpPr>
        <p:spPr>
          <a:xfrm>
            <a:off x="3830016" y="5626418"/>
            <a:ext cx="73770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3600" b="1" dirty="0" smtClean="0">
                <a:solidFill>
                  <a:srgbClr val="002060"/>
                </a:solidFill>
              </a:rPr>
              <a:t>F=</a:t>
            </a:r>
            <a:endParaRPr lang="zh-CN" altLang="en-US" sz="3600" b="1" dirty="0">
              <a:solidFill>
                <a:srgbClr val="002060"/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5" name="文本框 24"/>
              <p:cNvSpPr txBox="1"/>
              <p:nvPr/>
            </p:nvSpPr>
            <p:spPr>
              <a:xfrm>
                <a:off x="5452195" y="5626418"/>
                <a:ext cx="3868367" cy="64633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3600" b="1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~</m:t>
                      </m:r>
                      <m:r>
                        <a:rPr lang="en-US" altLang="zh-CN" sz="3600" b="1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𝑭</m:t>
                      </m:r>
                      <m:r>
                        <a:rPr lang="en-US" altLang="zh-CN" sz="3600" b="1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altLang="zh-CN" sz="3600" b="1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𝒎</m:t>
                      </m:r>
                      <m:r>
                        <a:rPr lang="en-US" altLang="zh-CN" sz="3600" b="1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altLang="zh-CN" sz="3600" b="1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𝟏</m:t>
                      </m:r>
                      <m:r>
                        <a:rPr lang="en-US" altLang="zh-CN" sz="3600" b="1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altLang="zh-CN" sz="3600" b="1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𝒏</m:t>
                      </m:r>
                      <m:r>
                        <a:rPr lang="en-US" altLang="zh-CN" sz="3600" b="1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altLang="zh-CN" sz="3600" b="1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𝟏</m:t>
                      </m:r>
                      <m:r>
                        <a:rPr lang="en-US" altLang="zh-CN" sz="3600" b="1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zh-CN" altLang="en-US" sz="3600" b="1" dirty="0">
                  <a:solidFill>
                    <a:srgbClr val="002060"/>
                  </a:solidFill>
                </a:endParaRPr>
              </a:p>
            </p:txBody>
          </p:sp>
        </mc:Choice>
        <mc:Fallback>
          <p:sp>
            <p:nvSpPr>
              <p:cNvPr id="25" name="文本框 2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52195" y="5626418"/>
                <a:ext cx="3868367" cy="646331"/>
              </a:xfrm>
              <a:prstGeom prst="rect">
                <a:avLst/>
              </a:prstGeom>
              <a:blipFill rotWithShape="1">
                <a:blip r:embed="rId9"/>
                <a:stretch>
                  <a:fillRect l="-2" t="-49" r="1" b="3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3" grpId="0"/>
      <p:bldP spid="14" grpId="0"/>
      <p:bldP spid="15" grpId="0"/>
      <p:bldP spid="16" grpId="0"/>
      <p:bldP spid="17" grpId="0"/>
      <p:bldP spid="18" grpId="0"/>
      <p:bldP spid="19" grpId="0"/>
      <p:bldP spid="20" grpId="0"/>
      <p:bldP spid="21" grpId="0"/>
      <p:bldP spid="22" grpId="0"/>
      <p:bldP spid="23" grpId="0"/>
      <p:bldP spid="24" grpId="0"/>
      <p:bldP spid="25" grpId="0"/>
    </p:bld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sp>
        <p:nvSpPr>
          <p:cNvPr id="3" name="Rectangle 2"/>
          <p:cNvSpPr>
            <a:spLocks noChangeArrowheads="1"/>
          </p:cNvSpPr>
          <p:nvPr/>
        </p:nvSpPr>
        <p:spPr bwMode="auto">
          <a:xfrm>
            <a:off x="984069" y="67056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4" name="对象 3"/>
          <p:cNvGraphicFramePr>
            <a:graphicFrameLocks noChangeAspect="1"/>
          </p:cNvGraphicFramePr>
          <p:nvPr/>
        </p:nvGraphicFramePr>
        <p:xfrm>
          <a:off x="-80274" y="670560"/>
          <a:ext cx="12352547" cy="118822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6959" name="" r:id="rId1" imgW="4902200" imgH="457200" progId="Equation.3">
                  <p:embed/>
                </p:oleObj>
              </mc:Choice>
              <mc:Fallback>
                <p:oleObj name="" r:id="rId1" imgW="4902200" imgH="457200" progId="Equation.3">
                  <p:embed/>
                  <p:pic>
                    <p:nvPicPr>
                      <p:cNvPr id="0" name="对象 4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-80274" y="670560"/>
                        <a:ext cx="12352547" cy="1188221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Rectangle 4"/>
          <p:cNvSpPr>
            <a:spLocks noChangeArrowheads="1"/>
          </p:cNvSpPr>
          <p:nvPr/>
        </p:nvSpPr>
        <p:spPr bwMode="auto">
          <a:xfrm>
            <a:off x="1288869" y="2055223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6" name="对象 5"/>
          <p:cNvGraphicFramePr>
            <a:graphicFrameLocks noChangeAspect="1"/>
          </p:cNvGraphicFramePr>
          <p:nvPr/>
        </p:nvGraphicFramePr>
        <p:xfrm>
          <a:off x="259326" y="2108321"/>
          <a:ext cx="11427153" cy="217771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6960" name="" r:id="rId3" imgW="4648200" imgH="889000" progId="Equation.3">
                  <p:embed/>
                </p:oleObj>
              </mc:Choice>
              <mc:Fallback>
                <p:oleObj name="" r:id="rId3" imgW="4648200" imgH="889000" progId="Equation.3">
                  <p:embed/>
                  <p:pic>
                    <p:nvPicPr>
                      <p:cNvPr id="0" name="对象 3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9326" y="2108321"/>
                        <a:ext cx="11427153" cy="2177715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文本框 17"/>
          <p:cNvSpPr txBox="1"/>
          <p:nvPr/>
        </p:nvSpPr>
        <p:spPr>
          <a:xfrm>
            <a:off x="337738" y="664440"/>
            <a:ext cx="646331" cy="646331"/>
          </a:xfrm>
          <a:prstGeom prst="rect">
            <a:avLst/>
          </a:prstGeom>
          <a:solidFill>
            <a:srgbClr val="92D050"/>
          </a:solidFill>
        </p:spPr>
        <p:txBody>
          <a:bodyPr wrap="none" rtlCol="0">
            <a:spAutoFit/>
          </a:bodyPr>
          <a:lstStyle/>
          <a:p>
            <a:r>
              <a:rPr lang="zh-CN" altLang="en-US" sz="3600" dirty="0" smtClean="0">
                <a:solidFill>
                  <a:srgbClr val="FFFF00"/>
                </a:solidFill>
              </a:rPr>
              <a:t>例</a:t>
            </a:r>
            <a:endParaRPr lang="zh-CN" altLang="en-US" sz="3600" dirty="0">
              <a:solidFill>
                <a:srgbClr val="FFFF00"/>
              </a:solidFill>
            </a:endParaRPr>
          </a:p>
        </p:txBody>
      </p:sp>
      <p:sp>
        <p:nvSpPr>
          <p:cNvPr id="8" name="文本框 17"/>
          <p:cNvSpPr txBox="1"/>
          <p:nvPr/>
        </p:nvSpPr>
        <p:spPr>
          <a:xfrm>
            <a:off x="416684" y="1858781"/>
            <a:ext cx="646331" cy="646331"/>
          </a:xfrm>
          <a:prstGeom prst="rect">
            <a:avLst/>
          </a:prstGeom>
          <a:solidFill>
            <a:srgbClr val="92D050"/>
          </a:solidFill>
        </p:spPr>
        <p:txBody>
          <a:bodyPr wrap="none" rtlCol="0">
            <a:spAutoFit/>
          </a:bodyPr>
          <a:lstStyle/>
          <a:p>
            <a:r>
              <a:rPr lang="zh-CN" altLang="en-US" sz="3600" dirty="0" smtClean="0">
                <a:solidFill>
                  <a:srgbClr val="FFFF00"/>
                </a:solidFill>
              </a:rPr>
              <a:t>例</a:t>
            </a:r>
            <a:endParaRPr lang="zh-CN" altLang="en-US" sz="3600" dirty="0">
              <a:solidFill>
                <a:srgbClr val="FFFF00"/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9" name="文本框 8"/>
              <p:cNvSpPr txBox="1"/>
              <p:nvPr/>
            </p:nvSpPr>
            <p:spPr>
              <a:xfrm>
                <a:off x="984068" y="4218069"/>
                <a:ext cx="9977668" cy="137563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"/>
                          <m:endChr m:val="}"/>
                          <m:ctrlPr>
                            <a:rPr lang="en-US" altLang="zh-CN" sz="2800" b="1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3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zh-CN" sz="2800" b="1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US" altLang="zh-CN" sz="2800" b="1" i="1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𝑿</m:t>
                                </m:r>
                                <m:r>
                                  <a:rPr lang="en-US" altLang="zh-CN" sz="2800" b="1" i="1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~</m:t>
                                </m:r>
                                <m:r>
                                  <a:rPr lang="en-US" altLang="zh-CN" sz="2800" b="1" i="1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𝑵</m:t>
                                </m:r>
                                <m:r>
                                  <a:rPr lang="en-US" altLang="zh-CN" sz="2800" b="1" i="1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n-US" altLang="zh-CN" sz="2800" b="1" i="1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𝟏</m:t>
                                </m:r>
                                <m:r>
                                  <a:rPr lang="en-US" altLang="zh-CN" sz="2800" b="1" i="1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en-US" altLang="zh-CN" sz="2800" b="1" i="1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𝟏</m:t>
                                </m:r>
                                <m:r>
                                  <a:rPr lang="en-US" altLang="zh-CN" sz="2800" b="1" i="1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)</m:t>
                                </m:r>
                                <m:r>
                                  <m:rPr>
                                    <m:nor/>
                                  </m:rPr>
                                  <a:rPr lang="zh-CN" altLang="en-US" sz="2800" b="1" dirty="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</m:e>
                              <m:e>
                                <m:r>
                                  <a:rPr lang="en-US" altLang="zh-CN" sz="2800" b="1" i="1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⟹</m:t>
                                </m:r>
                                <m:f>
                                  <m:fPr>
                                    <m:ctrlPr>
                                      <a:rPr lang="en-US" altLang="zh-CN" sz="2800" b="1" i="1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altLang="zh-CN" sz="2800" b="1" i="1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𝑿</m:t>
                                    </m:r>
                                    <m:r>
                                      <a:rPr lang="en-US" altLang="zh-CN" sz="2800" b="1" i="1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−</m:t>
                                    </m:r>
                                    <m:r>
                                      <a:rPr lang="en-US" altLang="zh-CN" sz="2800" b="1" i="1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𝟏</m:t>
                                    </m:r>
                                  </m:num>
                                  <m:den>
                                    <m:r>
                                      <a:rPr lang="en-US" altLang="zh-CN" sz="2800" b="1" i="1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𝟏</m:t>
                                    </m:r>
                                  </m:den>
                                </m:f>
                                <m:r>
                                  <a:rPr lang="en-US" altLang="zh-CN" sz="2800" b="1" i="1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~</m:t>
                                </m:r>
                                <m:r>
                                  <a:rPr lang="en-US" altLang="zh-CN" sz="2800" b="1" i="1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𝑵</m:t>
                                </m:r>
                                <m:r>
                                  <a:rPr lang="en-US" altLang="zh-CN" sz="2800" b="1" i="1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n-US" altLang="zh-CN" sz="2800" b="1" i="1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𝟎</m:t>
                                </m:r>
                                <m:r>
                                  <a:rPr lang="en-US" altLang="zh-CN" sz="2800" b="1" i="1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en-US" altLang="zh-CN" sz="2800" b="1" i="1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𝟏</m:t>
                                </m:r>
                                <m:r>
                                  <a:rPr lang="en-US" altLang="zh-CN" sz="2800" b="1" i="1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)</m:t>
                                </m:r>
                                <m:r>
                                  <m:rPr>
                                    <m:nor/>
                                  </m:rPr>
                                  <a:rPr lang="zh-CN" altLang="en-US" sz="2800" b="1" dirty="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</m:e>
                              <m:e>
                                <m:r>
                                  <a:rPr lang="en-US" altLang="zh-CN" sz="2800" b="1" i="1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⟹</m:t>
                                </m:r>
                                <m:sSup>
                                  <m:sSupPr>
                                    <m:ctrlPr>
                                      <a:rPr lang="en-US" altLang="zh-CN" sz="2800" b="1" i="1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d>
                                      <m:dPr>
                                        <m:ctrlPr>
                                          <a:rPr lang="en-US" altLang="zh-CN" sz="2800" b="1" i="1">
                                            <a:solidFill>
                                              <a:srgbClr val="002060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US" altLang="zh-CN" sz="2800" b="1" i="1">
                                            <a:solidFill>
                                              <a:srgbClr val="002060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𝑿</m:t>
                                        </m:r>
                                        <m:r>
                                          <a:rPr lang="en-US" altLang="zh-CN" sz="2800" b="1" i="1">
                                            <a:solidFill>
                                              <a:srgbClr val="002060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−</m:t>
                                        </m:r>
                                        <m:r>
                                          <a:rPr lang="en-US" altLang="zh-CN" sz="2800" b="1" i="1">
                                            <a:solidFill>
                                              <a:srgbClr val="002060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𝟏</m:t>
                                        </m:r>
                                      </m:e>
                                    </m:d>
                                  </m:e>
                                  <m:sup>
                                    <m:r>
                                      <a:rPr lang="en-US" altLang="zh-CN" sz="2800" b="1" i="1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𝟐</m:t>
                                    </m:r>
                                  </m:sup>
                                </m:sSup>
                                <m:r>
                                  <a:rPr lang="en-US" altLang="zh-CN" sz="2800" b="1" i="1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~</m:t>
                                </m:r>
                                <m:sSup>
                                  <m:sSupPr>
                                    <m:ctrlPr>
                                      <a:rPr lang="en-US" altLang="zh-CN" sz="2800" b="1" i="1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zh-CN" altLang="en-US" sz="2800" b="1" i="1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𝝌</m:t>
                                    </m:r>
                                  </m:e>
                                  <m:sup>
                                    <m:r>
                                      <a:rPr lang="en-US" altLang="zh-CN" sz="2800" b="1" i="1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𝟐</m:t>
                                    </m:r>
                                  </m:sup>
                                </m:sSup>
                                <m:r>
                                  <a:rPr lang="en-US" altLang="zh-CN" sz="2800" b="1" i="1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n-US" altLang="zh-CN" sz="2800" b="1" i="1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𝟏</m:t>
                                </m:r>
                                <m:r>
                                  <a:rPr lang="en-US" altLang="zh-CN" sz="2800" b="1" i="1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)</m:t>
                                </m:r>
                                <m:r>
                                  <m:rPr>
                                    <m:nor/>
                                  </m:rPr>
                                  <a:rPr lang="zh-CN" altLang="en-US" sz="2800" b="1" dirty="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altLang="zh-CN" sz="2800" b="1" i="1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𝒀</m:t>
                                </m:r>
                                <m:r>
                                  <a:rPr lang="zh-CN" altLang="en-US" sz="2800" b="1" i="1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、</m:t>
                                </m:r>
                                <m:r>
                                  <a:rPr lang="en-US" altLang="zh-CN" sz="2800" b="1" i="1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𝒁</m:t>
                                </m:r>
                                <m:r>
                                  <a:rPr lang="en-US" altLang="zh-CN" sz="2800" b="1" i="1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𝐢𝐢𝐝</m:t>
                                </m:r>
                                <m:r>
                                  <a:rPr lang="en-US" altLang="zh-CN" sz="2800" b="1" i="1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~</m:t>
                                </m:r>
                                <m:r>
                                  <a:rPr lang="en-US" altLang="zh-CN" sz="2800" b="1" i="1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𝑵</m:t>
                                </m:r>
                                <m:r>
                                  <a:rPr lang="en-US" altLang="zh-CN" sz="2800" b="1" i="1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n-US" altLang="zh-CN" sz="2800" b="1" i="1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𝟎</m:t>
                                </m:r>
                                <m:r>
                                  <a:rPr lang="en-US" altLang="zh-CN" sz="2800" b="1" i="1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en-US" altLang="zh-CN" sz="2800" b="1" i="1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𝟏</m:t>
                                </m:r>
                                <m:r>
                                  <a:rPr lang="en-US" altLang="zh-CN" sz="2800" b="1" i="1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)</m:t>
                                </m:r>
                                <m:r>
                                  <m:rPr>
                                    <m:nor/>
                                  </m:rPr>
                                  <a:rPr lang="zh-CN" altLang="en-US" sz="2800" b="1" dirty="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</m:e>
                              <m:e>
                                <m:r>
                                  <a:rPr lang="en-US" altLang="zh-CN" sz="2800" b="1" i="1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⟹</m:t>
                                </m:r>
                                <m:sSup>
                                  <m:sSupPr>
                                    <m:ctrlPr>
                                      <a:rPr lang="en-US" altLang="zh-CN" sz="2800" b="1" i="1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altLang="zh-CN" sz="2800" b="1" i="1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𝒀</m:t>
                                    </m:r>
                                  </m:e>
                                  <m:sup>
                                    <m:r>
                                      <a:rPr lang="en-US" altLang="zh-CN" sz="2800" b="1" i="1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𝟐</m:t>
                                    </m:r>
                                  </m:sup>
                                </m:sSup>
                                <m:r>
                                  <a:rPr lang="en-US" altLang="zh-CN" sz="2800" b="1" i="1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+</m:t>
                                </m:r>
                                <m:sSup>
                                  <m:sSupPr>
                                    <m:ctrlPr>
                                      <a:rPr lang="en-US" altLang="zh-CN" sz="2800" b="1" i="1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altLang="zh-CN" sz="2800" b="1" i="1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𝒁</m:t>
                                    </m:r>
                                  </m:e>
                                  <m:sup>
                                    <m:r>
                                      <a:rPr lang="en-US" altLang="zh-CN" sz="2800" b="1" i="1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𝟐</m:t>
                                    </m:r>
                                  </m:sup>
                                </m:sSup>
                                <m:r>
                                  <a:rPr lang="en-US" altLang="zh-CN" sz="2800" b="1" i="1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~</m:t>
                                </m:r>
                                <m:sSup>
                                  <m:sSupPr>
                                    <m:ctrlPr>
                                      <a:rPr lang="en-US" altLang="zh-CN" sz="2800" b="1" i="1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zh-CN" altLang="en-US" sz="2800" b="1" i="1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𝝌</m:t>
                                    </m:r>
                                  </m:e>
                                  <m:sup>
                                    <m:r>
                                      <a:rPr lang="en-US" altLang="zh-CN" sz="2800" b="1" i="1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𝟐</m:t>
                                    </m:r>
                                  </m:sup>
                                </m:sSup>
                                <m:r>
                                  <a:rPr lang="en-US" altLang="zh-CN" sz="2800" b="1" i="1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n-US" altLang="zh-CN" sz="2800" b="1" i="1" smtClean="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𝟐</m:t>
                                </m:r>
                                <m:r>
                                  <a:rPr lang="en-US" altLang="zh-CN" sz="2800" b="1" i="1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)</m:t>
                                </m:r>
                                <m:r>
                                  <m:rPr>
                                    <m:nor/>
                                  </m:rPr>
                                  <a:rPr lang="zh-CN" altLang="en-US" sz="2800" b="1" dirty="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</m:e>
                              <m:e/>
                            </m:mr>
                          </m:m>
                        </m:e>
                      </m:d>
                    </m:oMath>
                  </m:oMathPara>
                </a14:m>
                <a:endParaRPr lang="zh-CN" altLang="en-US" sz="2800" b="1" dirty="0">
                  <a:solidFill>
                    <a:srgbClr val="002060"/>
                  </a:solidFill>
                </a:endParaRPr>
              </a:p>
            </p:txBody>
          </p:sp>
        </mc:Choice>
        <mc:Fallback>
          <p:sp>
            <p:nvSpPr>
              <p:cNvPr id="9" name="文本框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84068" y="4218069"/>
                <a:ext cx="9977668" cy="1375633"/>
              </a:xfrm>
              <a:prstGeom prst="rect">
                <a:avLst/>
              </a:prstGeom>
              <a:blipFill rotWithShape="1">
                <a:blip r:embed="rId5"/>
                <a:stretch>
                  <a:fillRect l="-5" t="-29" r="4" b="4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0" name="矩形 9"/>
              <p:cNvSpPr/>
              <p:nvPr/>
            </p:nvSpPr>
            <p:spPr>
              <a:xfrm>
                <a:off x="1124816" y="5943992"/>
                <a:ext cx="705642" cy="52322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800" b="1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⟹</m:t>
                      </m:r>
                    </m:oMath>
                  </m:oMathPara>
                </a14:m>
                <a:endParaRPr lang="zh-CN" altLang="en-US" sz="2800" b="1" dirty="0">
                  <a:solidFill>
                    <a:srgbClr val="002060"/>
                  </a:solidFill>
                </a:endParaRPr>
              </a:p>
            </p:txBody>
          </p:sp>
        </mc:Choice>
        <mc:Fallback>
          <p:sp>
            <p:nvSpPr>
              <p:cNvPr id="10" name="矩形 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24816" y="5943992"/>
                <a:ext cx="705642" cy="523220"/>
              </a:xfrm>
              <a:prstGeom prst="rect">
                <a:avLst/>
              </a:prstGeom>
              <a:blipFill rotWithShape="1">
                <a:blip r:embed="rId6"/>
                <a:stretch>
                  <a:fillRect l="-33" t="-75" r="55" b="7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1" name="矩形 10"/>
              <p:cNvSpPr/>
              <p:nvPr/>
            </p:nvSpPr>
            <p:spPr>
              <a:xfrm>
                <a:off x="5837256" y="6007048"/>
                <a:ext cx="1730474" cy="52322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800" b="1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~</m:t>
                      </m:r>
                      <m:r>
                        <a:rPr lang="en-US" altLang="zh-CN" sz="2800" b="1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𝑭</m:t>
                      </m:r>
                      <m:r>
                        <a:rPr lang="en-US" altLang="zh-CN" sz="2800" b="1" i="1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</m:t>
                      </m:r>
                      <m:r>
                        <a:rPr lang="en-US" altLang="zh-CN" sz="2800" b="1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𝟏</m:t>
                      </m:r>
                      <m:r>
                        <a:rPr lang="en-US" altLang="zh-CN" sz="2800" b="1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</m:t>
                      </m:r>
                      <m:r>
                        <a:rPr lang="en-US" altLang="zh-CN" sz="2800" b="1" i="1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𝟐</m:t>
                      </m:r>
                      <m:r>
                        <a:rPr lang="en-US" altLang="zh-CN" sz="2800" b="1" i="1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  <m:r>
                        <m:rPr>
                          <m:nor/>
                        </m:rPr>
                        <a:rPr lang="zh-CN" altLang="en-US" sz="2800" b="1" dirty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zh-CN" altLang="en-US" sz="2800" b="1" dirty="0">
                  <a:solidFill>
                    <a:srgbClr val="002060"/>
                  </a:solidFill>
                </a:endParaRPr>
              </a:p>
            </p:txBody>
          </p:sp>
        </mc:Choice>
        <mc:Fallback>
          <p:sp>
            <p:nvSpPr>
              <p:cNvPr id="11" name="矩形 1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37256" y="6007048"/>
                <a:ext cx="1730474" cy="523220"/>
              </a:xfrm>
              <a:prstGeom prst="rect">
                <a:avLst/>
              </a:prstGeom>
              <a:blipFill rotWithShape="1">
                <a:blip r:embed="rId7"/>
                <a:stretch>
                  <a:fillRect l="-19" t="-111" r="25" b="10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2" name="矩形 11"/>
              <p:cNvSpPr/>
              <p:nvPr/>
            </p:nvSpPr>
            <p:spPr>
              <a:xfrm>
                <a:off x="1839112" y="5751978"/>
                <a:ext cx="1466940" cy="975139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altLang="zh-CN" sz="2800" b="1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US" altLang="zh-CN" sz="2800" b="1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sz="2800" b="1" i="1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𝟐</m:t>
                              </m:r>
                              <m:d>
                                <m:dPr>
                                  <m:ctrlPr>
                                    <a:rPr lang="en-US" altLang="zh-CN" sz="2800" b="1" i="1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CN" sz="2800" b="1" i="1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𝑿</m:t>
                                  </m:r>
                                  <m:r>
                                    <a:rPr lang="en-US" altLang="zh-CN" sz="2800" b="1" i="1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US" altLang="zh-CN" sz="2800" b="1" i="1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𝟏</m:t>
                                  </m:r>
                                </m:e>
                              </m:d>
                            </m:e>
                            <m:sup>
                              <m:r>
                                <a:rPr lang="en-US" altLang="zh-CN" sz="2800" b="1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𝟐</m:t>
                              </m:r>
                            </m:sup>
                          </m:sSup>
                        </m:num>
                        <m:den>
                          <m:sSup>
                            <m:sSupPr>
                              <m:ctrlPr>
                                <a:rPr lang="en-US" altLang="zh-CN" sz="2800" b="1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sz="2800" b="1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𝒀</m:t>
                              </m:r>
                            </m:e>
                            <m:sup>
                              <m:r>
                                <a:rPr lang="en-US" altLang="zh-CN" sz="2800" b="1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𝟐</m:t>
                              </m:r>
                            </m:sup>
                          </m:sSup>
                          <m:r>
                            <a:rPr lang="en-US" altLang="zh-CN" sz="2800" b="1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</m:t>
                          </m:r>
                          <m:sSup>
                            <m:sSupPr>
                              <m:ctrlPr>
                                <a:rPr lang="en-US" altLang="zh-CN" sz="2800" b="1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sz="2800" b="1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𝒁</m:t>
                              </m:r>
                            </m:e>
                            <m:sup>
                              <m:r>
                                <a:rPr lang="en-US" altLang="zh-CN" sz="2800" b="1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𝟐</m:t>
                              </m:r>
                            </m:sup>
                          </m:sSup>
                        </m:den>
                      </m:f>
                    </m:oMath>
                  </m:oMathPara>
                </a14:m>
                <a:endParaRPr lang="zh-CN" altLang="en-US" sz="2800" b="1" dirty="0">
                  <a:solidFill>
                    <a:srgbClr val="002060"/>
                  </a:solidFill>
                </a:endParaRPr>
              </a:p>
            </p:txBody>
          </p:sp>
        </mc:Choice>
        <mc:Fallback>
          <p:sp>
            <p:nvSpPr>
              <p:cNvPr id="12" name="矩形 1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39112" y="5751978"/>
                <a:ext cx="1466940" cy="975139"/>
              </a:xfrm>
              <a:prstGeom prst="rect">
                <a:avLst/>
              </a:prstGeom>
              <a:blipFill rotWithShape="1">
                <a:blip r:embed="rId8"/>
                <a:stretch>
                  <a:fillRect l="-10" t="-15" r="-12407" b="5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3" name="矩形 12"/>
              <p:cNvSpPr/>
              <p:nvPr/>
            </p:nvSpPr>
            <p:spPr>
              <a:xfrm>
                <a:off x="3887067" y="5714766"/>
                <a:ext cx="2199768" cy="1044388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altLang="zh-CN" sz="2800" b="1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US" altLang="zh-CN" sz="2800" b="1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altLang="zh-CN" sz="2800" b="1" i="1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CN" sz="2800" b="1" i="1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𝑿</m:t>
                                  </m:r>
                                  <m:r>
                                    <a:rPr lang="en-US" altLang="zh-CN" sz="2800" b="1" i="1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US" altLang="zh-CN" sz="2800" b="1" i="1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𝟏</m:t>
                                  </m:r>
                                </m:e>
                              </m:d>
                            </m:e>
                            <m:sup>
                              <m:r>
                                <a:rPr lang="en-US" altLang="zh-CN" sz="2800" b="1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𝟐</m:t>
                              </m:r>
                            </m:sup>
                          </m:sSup>
                          <m:r>
                            <a:rPr lang="en-US" altLang="zh-CN" sz="2800" b="1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/</m:t>
                          </m:r>
                          <m:r>
                            <a:rPr lang="en-US" altLang="zh-CN" sz="2800" b="1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𝟏</m:t>
                          </m:r>
                        </m:num>
                        <m:den>
                          <m:r>
                            <a:rPr lang="en-US" altLang="zh-CN" sz="2800" b="1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(</m:t>
                          </m:r>
                          <m:sSup>
                            <m:sSupPr>
                              <m:ctrlPr>
                                <a:rPr lang="en-US" altLang="zh-CN" sz="2800" b="1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sz="2800" b="1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𝒀</m:t>
                              </m:r>
                            </m:e>
                            <m:sup>
                              <m:r>
                                <a:rPr lang="en-US" altLang="zh-CN" sz="2800" b="1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𝟐</m:t>
                              </m:r>
                            </m:sup>
                          </m:sSup>
                          <m:r>
                            <a:rPr lang="en-US" altLang="zh-CN" sz="2800" b="1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</m:t>
                          </m:r>
                          <m:sSup>
                            <m:sSupPr>
                              <m:ctrlPr>
                                <a:rPr lang="en-US" altLang="zh-CN" sz="2800" b="1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sz="2800" b="1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𝒁</m:t>
                              </m:r>
                            </m:e>
                            <m:sup>
                              <m:r>
                                <a:rPr lang="en-US" altLang="zh-CN" sz="2800" b="1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𝟐</m:t>
                              </m:r>
                            </m:sup>
                          </m:sSup>
                          <m:r>
                            <a:rPr lang="en-US" altLang="zh-CN" sz="2800" b="1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)/</m:t>
                          </m:r>
                          <m:r>
                            <a:rPr lang="en-US" altLang="zh-CN" sz="2800" b="1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𝟐</m:t>
                          </m:r>
                        </m:den>
                      </m:f>
                    </m:oMath>
                  </m:oMathPara>
                </a14:m>
                <a:endParaRPr lang="zh-CN" altLang="en-US" sz="2800" b="1" dirty="0">
                  <a:solidFill>
                    <a:srgbClr val="002060"/>
                  </a:solidFill>
                </a:endParaRPr>
              </a:p>
            </p:txBody>
          </p:sp>
        </mc:Choice>
        <mc:Fallback>
          <p:sp>
            <p:nvSpPr>
              <p:cNvPr id="13" name="矩形 1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87067" y="5714766"/>
                <a:ext cx="2199768" cy="1044388"/>
              </a:xfrm>
              <a:prstGeom prst="rect">
                <a:avLst/>
              </a:prstGeom>
              <a:blipFill rotWithShape="1">
                <a:blip r:embed="rId9"/>
                <a:stretch>
                  <a:fillRect l="-11" t="-38" r="16" b="2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文本框 13"/>
          <p:cNvSpPr txBox="1"/>
          <p:nvPr/>
        </p:nvSpPr>
        <p:spPr>
          <a:xfrm>
            <a:off x="3561704" y="6007048"/>
            <a:ext cx="43473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800" b="1" dirty="0" smtClean="0">
                <a:solidFill>
                  <a:srgbClr val="002060"/>
                </a:solidFill>
              </a:rPr>
              <a:t>=</a:t>
            </a:r>
            <a:endParaRPr lang="zh-CN" altLang="en-US" sz="2800" b="1" dirty="0">
              <a:solidFill>
                <a:srgbClr val="002060"/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5" name="文本框 14"/>
              <p:cNvSpPr txBox="1"/>
              <p:nvPr/>
            </p:nvSpPr>
            <p:spPr>
              <a:xfrm>
                <a:off x="11550416" y="1288869"/>
                <a:ext cx="456855" cy="55399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36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</m:oMath>
                  </m:oMathPara>
                </a14:m>
                <a:endParaRPr lang="zh-CN" altLang="en-US" sz="3600" dirty="0"/>
              </a:p>
            </p:txBody>
          </p:sp>
        </mc:Choice>
        <mc:Fallback>
          <p:sp>
            <p:nvSpPr>
              <p:cNvPr id="15" name="文本框 1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550416" y="1288869"/>
                <a:ext cx="456855" cy="553998"/>
              </a:xfrm>
              <a:prstGeom prst="rect">
                <a:avLst/>
              </a:prstGeom>
              <a:blipFill rotWithShape="1">
                <a:blip r:embed="rId10"/>
                <a:stretch>
                  <a:fillRect l="-88" t="-82" r="-8466" b="1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7" name="矩形 16"/>
              <p:cNvSpPr/>
              <p:nvPr/>
            </p:nvSpPr>
            <p:spPr>
              <a:xfrm>
                <a:off x="10926852" y="3736627"/>
                <a:ext cx="643831" cy="64633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36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𝐷</m:t>
                      </m:r>
                    </m:oMath>
                  </m:oMathPara>
                </a14:m>
                <a:endParaRPr lang="zh-CN" altLang="en-US" sz="3600" dirty="0"/>
              </a:p>
            </p:txBody>
          </p:sp>
        </mc:Choice>
        <mc:Fallback>
          <p:sp>
            <p:nvSpPr>
              <p:cNvPr id="17" name="矩形 1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926852" y="3736627"/>
                <a:ext cx="643831" cy="646331"/>
              </a:xfrm>
              <a:prstGeom prst="rect">
                <a:avLst/>
              </a:prstGeom>
              <a:blipFill rotWithShape="1">
                <a:blip r:embed="rId11"/>
                <a:stretch>
                  <a:fillRect l="-63" t="-44" r="54" b="2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  <p:bldP spid="9" grpId="0"/>
      <p:bldP spid="10" grpId="0"/>
      <p:bldP spid="11" grpId="0"/>
      <p:bldP spid="12" grpId="0"/>
      <p:bldP spid="13" grpId="0"/>
      <p:bldP spid="14" grpId="0"/>
      <p:bldP spid="15" grpId="0"/>
      <p:bldP spid="17" grpId="0"/>
    </p:bld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2147" y="261003"/>
            <a:ext cx="10242700" cy="2280763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7" name="文本框 6"/>
              <p:cNvSpPr txBox="1"/>
              <p:nvPr/>
            </p:nvSpPr>
            <p:spPr>
              <a:xfrm>
                <a:off x="253999" y="2946916"/>
                <a:ext cx="11564961" cy="208146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"/>
                          <m:endChr m:val="}"/>
                          <m:ctrlPr>
                            <a:rPr lang="zh-CN" altLang="en-US" sz="3000" b="1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zh-CN" sz="3000" b="1" i="1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3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US" altLang="zh-CN" sz="3000" b="1" i="1" smtClean="0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r>
                                        <a:rPr lang="en-US" altLang="zh-CN" sz="3000" b="1" i="1" smtClean="0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𝑿</m:t>
                                      </m:r>
                                      <m:r>
                                        <a:rPr lang="zh-CN" altLang="en-US" sz="3000" b="1" i="1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、</m:t>
                                      </m:r>
                                      <m:r>
                                        <a:rPr lang="en-US" altLang="zh-CN" sz="3000" b="1" i="1" smtClean="0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𝒀</m:t>
                                      </m:r>
                                      <m:r>
                                        <a:rPr lang="en-US" altLang="zh-CN" sz="3000" b="1" i="1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𝒊𝒊𝒅</m:t>
                                      </m:r>
                                      <m:r>
                                        <a:rPr lang="en-US" altLang="zh-CN" sz="3000" b="1" i="1" smtClean="0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~</m:t>
                                      </m:r>
                                      <m:r>
                                        <a:rPr lang="en-US" altLang="zh-CN" sz="3000" b="1" i="1" smtClean="0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𝑵</m:t>
                                      </m:r>
                                      <m:r>
                                        <a:rPr lang="en-US" altLang="zh-CN" sz="3000" b="1" i="1" smtClean="0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(</m:t>
                                      </m:r>
                                      <m:r>
                                        <a:rPr lang="en-US" altLang="zh-CN" sz="3000" b="1" i="1" smtClean="0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𝟎</m:t>
                                      </m:r>
                                      <m:r>
                                        <a:rPr lang="en-US" altLang="zh-CN" sz="3000" b="1" i="1" smtClean="0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,</m:t>
                                      </m:r>
                                      <m:r>
                                        <a:rPr lang="en-US" altLang="zh-CN" sz="3000" b="1" i="1" smtClean="0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𝟏</m:t>
                                      </m:r>
                                      <m:r>
                                        <a:rPr lang="en-US" altLang="zh-CN" sz="3000" b="1" i="1" smtClean="0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)</m:t>
                                      </m:r>
                                    </m:e>
                                    <m:e>
                                      <m:r>
                                        <a:rPr lang="en-US" altLang="zh-CN" sz="3000" b="1" i="1" smtClean="0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⟹</m:t>
                                      </m:r>
                                      <m:r>
                                        <m:rPr>
                                          <m:nor/>
                                        </m:rPr>
                                        <a:rPr lang="en-US" altLang="zh-CN" sz="3000" b="1" dirty="0" smtClean="0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 </m:t>
                                      </m:r>
                                      <m:r>
                                        <a:rPr lang="en-US" altLang="zh-CN" sz="3000" b="1" i="1" smtClean="0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𝑿</m:t>
                                      </m:r>
                                      <m:r>
                                        <a:rPr lang="en-US" altLang="zh-CN" sz="3000" b="1" i="1" smtClean="0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  <m:r>
                                        <a:rPr lang="en-US" altLang="zh-CN" sz="3000" b="1" i="1" smtClean="0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𝒀</m:t>
                                      </m:r>
                                      <m:r>
                                        <a:rPr lang="en-US" altLang="zh-CN" sz="3000" b="1" i="1" smtClean="0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~</m:t>
                                      </m:r>
                                      <m:r>
                                        <a:rPr lang="en-US" altLang="zh-CN" sz="3000" b="1" i="1" smtClean="0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𝑵</m:t>
                                      </m:r>
                                      <m:r>
                                        <a:rPr lang="en-US" altLang="zh-CN" sz="3000" b="1" i="1" smtClean="0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(</m:t>
                                      </m:r>
                                      <m:r>
                                        <a:rPr lang="en-US" altLang="zh-CN" sz="3000" b="1" i="1" smtClean="0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𝟎</m:t>
                                      </m:r>
                                      <m:r>
                                        <a:rPr lang="en-US" altLang="zh-CN" sz="3000" b="1" i="1" smtClean="0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,</m:t>
                                      </m:r>
                                      <m:r>
                                        <a:rPr lang="en-US" altLang="zh-CN" sz="3000" b="1" i="1" smtClean="0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𝟐</m:t>
                                      </m:r>
                                      <m:r>
                                        <a:rPr lang="en-US" altLang="zh-CN" sz="3000" b="1" i="1" smtClean="0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)</m:t>
                                      </m:r>
                                    </m:e>
                                    <m:e>
                                      <m:r>
                                        <a:rPr lang="en-US" altLang="zh-CN" sz="3000" b="1" i="1" smtClean="0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⟹</m:t>
                                      </m:r>
                                      <m:r>
                                        <m:rPr>
                                          <m:nor/>
                                        </m:rPr>
                                        <a:rPr lang="en-US" altLang="zh-CN" sz="3000" b="1" dirty="0" smtClean="0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 </m:t>
                                      </m:r>
                                      <m:f>
                                        <m:fPr>
                                          <m:ctrlPr>
                                            <a:rPr lang="en-US" altLang="zh-CN" sz="3000" b="1" i="1" smtClean="0">
                                              <a:solidFill>
                                                <a:srgbClr val="00206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fPr>
                                        <m:num>
                                          <m:r>
                                            <a:rPr lang="en-US" altLang="zh-CN" sz="3000" b="1" i="1" smtClean="0">
                                              <a:solidFill>
                                                <a:srgbClr val="00206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𝑿</m:t>
                                          </m:r>
                                          <m:r>
                                            <a:rPr lang="en-US" altLang="zh-CN" sz="3000" b="1" i="1" smtClean="0">
                                              <a:solidFill>
                                                <a:srgbClr val="00206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−</m:t>
                                          </m:r>
                                          <m:r>
                                            <a:rPr lang="en-US" altLang="zh-CN" sz="3000" b="1" i="1" smtClean="0">
                                              <a:solidFill>
                                                <a:srgbClr val="00206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𝒀</m:t>
                                          </m:r>
                                          <m:r>
                                            <a:rPr lang="en-US" altLang="zh-CN" sz="3000" b="1" i="1" smtClean="0">
                                              <a:solidFill>
                                                <a:srgbClr val="00206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−</m:t>
                                          </m:r>
                                          <m:r>
                                            <a:rPr lang="en-US" altLang="zh-CN" sz="3000" b="1" i="1" smtClean="0">
                                              <a:solidFill>
                                                <a:srgbClr val="00206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𝟎</m:t>
                                          </m:r>
                                        </m:num>
                                        <m:den>
                                          <m:rad>
                                            <m:radPr>
                                              <m:degHide m:val="on"/>
                                              <m:ctrlPr>
                                                <a:rPr lang="en-US" altLang="zh-CN" sz="3000" b="1" i="1" smtClean="0">
                                                  <a:solidFill>
                                                    <a:srgbClr val="002060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radPr>
                                            <m:deg/>
                                            <m:e>
                                              <m:r>
                                                <a:rPr lang="en-US" altLang="zh-CN" sz="3000" b="1" i="1" smtClean="0">
                                                  <a:solidFill>
                                                    <a:srgbClr val="002060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𝟐</m:t>
                                              </m:r>
                                            </m:e>
                                          </m:rad>
                                        </m:den>
                                      </m:f>
                                      <m:r>
                                        <a:rPr lang="en-US" altLang="zh-CN" sz="3000" b="1" i="1" smtClean="0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~</m:t>
                                      </m:r>
                                      <m:r>
                                        <a:rPr lang="en-US" altLang="zh-CN" sz="3000" b="1" i="1" smtClean="0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𝑵</m:t>
                                      </m:r>
                                      <m:r>
                                        <a:rPr lang="en-US" altLang="zh-CN" sz="3000" b="1" i="1" smtClean="0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(</m:t>
                                      </m:r>
                                      <m:r>
                                        <a:rPr lang="en-US" altLang="zh-CN" sz="3000" b="1" i="1" smtClean="0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𝟎</m:t>
                                      </m:r>
                                      <m:r>
                                        <a:rPr lang="en-US" altLang="zh-CN" sz="3000" b="1" i="1" smtClean="0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,</m:t>
                                      </m:r>
                                      <m:r>
                                        <a:rPr lang="en-US" altLang="zh-CN" sz="3000" b="1" i="1" smtClean="0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𝟏</m:t>
                                      </m:r>
                                      <m:r>
                                        <a:rPr lang="en-US" altLang="zh-CN" sz="3000" b="1" i="1" smtClean="0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)</m:t>
                                      </m:r>
                                      <m:r>
                                        <m:rPr>
                                          <m:nor/>
                                        </m:rPr>
                                        <a:rPr lang="zh-CN" altLang="en-US" sz="3000" b="1" dirty="0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 </m:t>
                                      </m:r>
                                    </m:e>
                                  </m:mr>
                                </m:m>
                              </m:e>
                            </m:mr>
                            <m:mr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3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US" altLang="zh-CN" sz="3000" b="1" i="1" smtClean="0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r>
                                        <a:rPr lang="en-US" altLang="zh-CN" sz="3000" b="1" i="1" smtClean="0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𝒁</m:t>
                                      </m:r>
                                      <m:r>
                                        <a:rPr lang="zh-CN" altLang="en-US" sz="3000" b="1" i="1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、</m:t>
                                      </m:r>
                                      <m:r>
                                        <a:rPr lang="en-US" altLang="zh-CN" sz="3000" b="1" i="1" smtClean="0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𝑾</m:t>
                                      </m:r>
                                      <m:r>
                                        <a:rPr lang="en-US" altLang="zh-CN" sz="3000" b="1" i="1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𝒊𝒊𝒅</m:t>
                                      </m:r>
                                      <m:r>
                                        <a:rPr lang="en-US" altLang="zh-CN" sz="3000" b="1" i="1" smtClean="0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~</m:t>
                                      </m:r>
                                      <m:r>
                                        <a:rPr lang="en-US" altLang="zh-CN" sz="3000" b="1" i="1" smtClean="0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𝑵</m:t>
                                      </m:r>
                                      <m:r>
                                        <a:rPr lang="en-US" altLang="zh-CN" sz="3000" b="1" i="1" smtClean="0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(</m:t>
                                      </m:r>
                                      <m:r>
                                        <a:rPr lang="en-US" altLang="zh-CN" sz="3000" b="1" i="1" smtClean="0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𝟎</m:t>
                                      </m:r>
                                      <m:r>
                                        <a:rPr lang="en-US" altLang="zh-CN" sz="3000" b="1" i="1" smtClean="0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,</m:t>
                                      </m:r>
                                      <m:r>
                                        <a:rPr lang="en-US" altLang="zh-CN" sz="3000" b="1" i="1" smtClean="0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𝟏</m:t>
                                      </m:r>
                                      <m:r>
                                        <a:rPr lang="en-US" altLang="zh-CN" sz="3000" b="1" i="1" smtClean="0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)</m:t>
                                      </m:r>
                                    </m:e>
                                    <m:e>
                                      <m:r>
                                        <a:rPr lang="en-US" altLang="zh-CN" sz="3000" b="1" i="1" smtClean="0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⟹</m:t>
                                      </m:r>
                                      <m:r>
                                        <m:rPr>
                                          <m:nor/>
                                        </m:rPr>
                                        <a:rPr lang="en-US" altLang="zh-CN" sz="3000" b="1" dirty="0" smtClean="0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 </m:t>
                                      </m:r>
                                      <m:r>
                                        <a:rPr lang="en-US" altLang="zh-CN" sz="3000" b="1" i="1" smtClean="0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𝒁</m:t>
                                      </m:r>
                                      <m:r>
                                        <a:rPr lang="en-US" altLang="zh-CN" sz="3000" b="1" i="1" smtClean="0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+</m:t>
                                      </m:r>
                                      <m:r>
                                        <a:rPr lang="en-US" altLang="zh-CN" sz="3000" b="1" i="1" smtClean="0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𝑾</m:t>
                                      </m:r>
                                      <m:r>
                                        <a:rPr lang="en-US" altLang="zh-CN" sz="3000" b="1" i="1" smtClean="0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~</m:t>
                                      </m:r>
                                      <m:r>
                                        <a:rPr lang="en-US" altLang="zh-CN" sz="3000" b="1" i="1" smtClean="0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𝑵</m:t>
                                      </m:r>
                                      <m:r>
                                        <a:rPr lang="en-US" altLang="zh-CN" sz="3000" b="1" i="1" smtClean="0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(</m:t>
                                      </m:r>
                                      <m:r>
                                        <a:rPr lang="en-US" altLang="zh-CN" sz="3000" b="1" i="1" smtClean="0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𝟎</m:t>
                                      </m:r>
                                      <m:r>
                                        <a:rPr lang="en-US" altLang="zh-CN" sz="3000" b="1" i="1" smtClean="0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,</m:t>
                                      </m:r>
                                      <m:r>
                                        <a:rPr lang="en-US" altLang="zh-CN" sz="3000" b="1" i="1" smtClean="0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𝟐</m:t>
                                      </m:r>
                                      <m:r>
                                        <a:rPr lang="en-US" altLang="zh-CN" sz="3000" b="1" i="1" smtClean="0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)</m:t>
                                      </m:r>
                                    </m:e>
                                    <m:e>
                                      <m:r>
                                        <a:rPr lang="en-US" altLang="zh-CN" sz="3000" b="1" i="1" smtClean="0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⟹</m:t>
                                      </m:r>
                                      <m:r>
                                        <m:rPr>
                                          <m:nor/>
                                        </m:rPr>
                                        <a:rPr lang="en-US" altLang="zh-CN" sz="3000" b="1" dirty="0" smtClean="0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 </m:t>
                                      </m:r>
                                      <m:f>
                                        <m:fPr>
                                          <m:ctrlPr>
                                            <a:rPr lang="en-US" altLang="zh-CN" sz="3000" b="1" i="1" smtClean="0">
                                              <a:solidFill>
                                                <a:srgbClr val="00206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fPr>
                                        <m:num>
                                          <m:r>
                                            <a:rPr lang="en-US" altLang="zh-CN" sz="3000" b="1" i="1" smtClean="0">
                                              <a:solidFill>
                                                <a:srgbClr val="00206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𝒁</m:t>
                                          </m:r>
                                          <m:r>
                                            <a:rPr lang="en-US" altLang="zh-CN" sz="3000" b="1" i="1" smtClean="0">
                                              <a:solidFill>
                                                <a:srgbClr val="00206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+</m:t>
                                          </m:r>
                                          <m:r>
                                            <a:rPr lang="en-US" altLang="zh-CN" sz="3000" b="1" i="1" smtClean="0">
                                              <a:solidFill>
                                                <a:srgbClr val="00206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𝑾</m:t>
                                          </m:r>
                                          <m:r>
                                            <a:rPr lang="en-US" altLang="zh-CN" sz="3000" b="1" i="1" smtClean="0">
                                              <a:solidFill>
                                                <a:srgbClr val="00206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−</m:t>
                                          </m:r>
                                          <m:r>
                                            <a:rPr lang="en-US" altLang="zh-CN" sz="3000" b="1" i="1" smtClean="0">
                                              <a:solidFill>
                                                <a:srgbClr val="00206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𝟎</m:t>
                                          </m:r>
                                        </m:num>
                                        <m:den>
                                          <m:rad>
                                            <m:radPr>
                                              <m:degHide m:val="on"/>
                                              <m:ctrlPr>
                                                <a:rPr lang="en-US" altLang="zh-CN" sz="3000" b="1" i="1" smtClean="0">
                                                  <a:solidFill>
                                                    <a:srgbClr val="002060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radPr>
                                            <m:deg/>
                                            <m:e>
                                              <m:r>
                                                <a:rPr lang="en-US" altLang="zh-CN" sz="3000" b="1" i="1" smtClean="0">
                                                  <a:solidFill>
                                                    <a:srgbClr val="002060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𝟐</m:t>
                                              </m:r>
                                            </m:e>
                                          </m:rad>
                                        </m:den>
                                      </m:f>
                                      <m:r>
                                        <a:rPr lang="en-US" altLang="zh-CN" sz="3000" b="1" i="1" smtClean="0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~</m:t>
                                      </m:r>
                                      <m:r>
                                        <a:rPr lang="en-US" altLang="zh-CN" sz="3000" b="1" i="1" smtClean="0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𝑵</m:t>
                                      </m:r>
                                      <m:r>
                                        <a:rPr lang="en-US" altLang="zh-CN" sz="3000" b="1" i="1" smtClean="0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(</m:t>
                                      </m:r>
                                      <m:r>
                                        <a:rPr lang="en-US" altLang="zh-CN" sz="3000" b="1" i="1" smtClean="0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𝟎</m:t>
                                      </m:r>
                                      <m:r>
                                        <a:rPr lang="en-US" altLang="zh-CN" sz="3000" b="1" i="1" smtClean="0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,</m:t>
                                      </m:r>
                                      <m:r>
                                        <a:rPr lang="en-US" altLang="zh-CN" sz="3000" b="1" i="1" smtClean="0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𝟏</m:t>
                                      </m:r>
                                      <m:r>
                                        <a:rPr lang="en-US" altLang="zh-CN" sz="3000" b="1" i="1" smtClean="0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)</m:t>
                                      </m:r>
                                      <m:r>
                                        <m:rPr>
                                          <m:nor/>
                                        </m:rPr>
                                        <a:rPr lang="zh-CN" altLang="en-US" sz="3000" b="1" dirty="0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 </m:t>
                                      </m:r>
                                    </m:e>
                                  </m:mr>
                                </m:m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zh-CN" altLang="en-US" sz="3000" b="1" dirty="0">
                  <a:solidFill>
                    <a:srgbClr val="002060"/>
                  </a:solidFill>
                </a:endParaRPr>
              </a:p>
            </p:txBody>
          </p:sp>
        </mc:Choice>
        <mc:Fallback>
          <p:sp>
            <p:nvSpPr>
              <p:cNvPr id="7" name="文本框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3999" y="2946916"/>
                <a:ext cx="11564961" cy="2081467"/>
              </a:xfrm>
              <a:prstGeom prst="rect">
                <a:avLst/>
              </a:prstGeom>
              <a:blipFill rotWithShape="1">
                <a:blip r:embed="rId2"/>
                <a:stretch>
                  <a:fillRect l="-5" t="-25" r="3" b="2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8" name="文本框 7"/>
              <p:cNvSpPr txBox="1"/>
              <p:nvPr/>
            </p:nvSpPr>
            <p:spPr>
              <a:xfrm>
                <a:off x="1170288" y="5241558"/>
                <a:ext cx="6308907" cy="96314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zh-CN" altLang="en-US" sz="36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⟹</m:t>
                    </m:r>
                    <m:sSup>
                      <m:sSupPr>
                        <m:ctrlPr>
                          <a:rPr lang="en-US" altLang="zh-CN" sz="36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altLang="zh-CN" sz="3600" b="1" i="1" smtClean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ctrlPr>
                                  <a:rPr lang="en-US" altLang="zh-CN" sz="3600" b="1" i="1" smtClean="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altLang="zh-CN" sz="3600" b="1" i="1" smtClean="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𝑿</m:t>
                                </m:r>
                                <m:r>
                                  <a:rPr lang="en-US" altLang="zh-CN" sz="3600" b="1" i="1" smtClean="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US" altLang="zh-CN" sz="3600" b="1" i="1" smtClean="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𝒀</m:t>
                                </m:r>
                                <m:r>
                                  <a:rPr lang="en-US" altLang="zh-CN" sz="3600" b="1" i="1" smtClean="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US" altLang="zh-CN" sz="3600" b="1" i="1" smtClean="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𝟎</m:t>
                                </m:r>
                              </m:num>
                              <m:den>
                                <m:rad>
                                  <m:radPr>
                                    <m:degHide m:val="on"/>
                                    <m:ctrlPr>
                                      <a:rPr lang="en-US" altLang="zh-CN" sz="3600" b="1" i="1" smtClean="0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radPr>
                                  <m:deg/>
                                  <m:e>
                                    <m:r>
                                      <a:rPr lang="en-US" altLang="zh-CN" sz="3600" b="1" i="1" smtClean="0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</m:e>
                                </m:rad>
                              </m:den>
                            </m:f>
                          </m:e>
                        </m:d>
                      </m:e>
                      <m:sup>
                        <m:r>
                          <a:rPr lang="en-US" altLang="zh-CN" sz="36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𝟐</m:t>
                        </m:r>
                      </m:sup>
                    </m:sSup>
                  </m:oMath>
                </a14:m>
                <a:r>
                  <a:rPr lang="en-US" altLang="zh-CN" sz="3600" b="1" dirty="0" smtClean="0">
                    <a:solidFill>
                      <a:srgbClr val="002060"/>
                    </a:solidFill>
                  </a:rPr>
                  <a:t>+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36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altLang="zh-CN" sz="3600" b="1" i="1" smtClean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ctrlPr>
                                  <a:rPr lang="en-US" altLang="zh-CN" sz="3600" b="1" i="1" smtClean="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altLang="zh-CN" sz="3600" b="1" i="1" smtClean="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𝒁</m:t>
                                </m:r>
                                <m:r>
                                  <a:rPr lang="en-US" altLang="zh-CN" sz="3600" b="1" i="1" smtClean="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en-US" altLang="zh-CN" sz="3600" b="1" i="1" smtClean="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𝑾</m:t>
                                </m:r>
                                <m:r>
                                  <a:rPr lang="en-US" altLang="zh-CN" sz="3600" b="1" i="1" smtClean="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US" altLang="zh-CN" sz="3600" b="1" i="1" smtClean="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𝟎</m:t>
                                </m:r>
                              </m:num>
                              <m:den>
                                <m:rad>
                                  <m:radPr>
                                    <m:degHide m:val="on"/>
                                    <m:ctrlPr>
                                      <a:rPr lang="en-US" altLang="zh-CN" sz="3600" b="1" i="1" smtClean="0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radPr>
                                  <m:deg/>
                                  <m:e>
                                    <m:r>
                                      <a:rPr lang="en-US" altLang="zh-CN" sz="3600" b="1" i="1" smtClean="0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</m:e>
                                </m:rad>
                              </m:den>
                            </m:f>
                          </m:e>
                        </m:d>
                      </m:e>
                      <m:sup>
                        <m:r>
                          <a:rPr lang="en-US" altLang="zh-CN" sz="36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𝟐</m:t>
                        </m:r>
                      </m:sup>
                    </m:sSup>
                    <m:r>
                      <a:rPr lang="en-US" altLang="zh-CN" sz="36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~</m:t>
                    </m:r>
                    <m:sSup>
                      <m:sSupPr>
                        <m:ctrlPr>
                          <a:rPr lang="en-US" altLang="zh-CN" sz="36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zh-CN" altLang="en-US" sz="36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𝝌</m:t>
                        </m:r>
                      </m:e>
                      <m:sup>
                        <m:r>
                          <a:rPr lang="en-US" altLang="zh-CN" sz="36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𝟐</m:t>
                        </m:r>
                      </m:sup>
                    </m:sSup>
                    <m:r>
                      <a:rPr lang="en-US" altLang="zh-CN" sz="36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r>
                      <a:rPr lang="en-US" altLang="zh-CN" sz="36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𝟐</m:t>
                    </m:r>
                    <m:r>
                      <a:rPr lang="en-US" altLang="zh-CN" sz="36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endParaRPr lang="zh-CN" altLang="en-US" sz="3600" b="1" dirty="0">
                  <a:solidFill>
                    <a:srgbClr val="002060"/>
                  </a:solidFill>
                </a:endParaRPr>
              </a:p>
            </p:txBody>
          </p:sp>
        </mc:Choice>
        <mc:Fallback>
          <p:sp>
            <p:nvSpPr>
              <p:cNvPr id="8" name="文本框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70288" y="5241558"/>
                <a:ext cx="6308907" cy="963149"/>
              </a:xfrm>
              <a:prstGeom prst="rect">
                <a:avLst/>
              </a:prstGeom>
              <a:blipFill rotWithShape="1">
                <a:blip r:embed="rId3"/>
                <a:stretch>
                  <a:fillRect l="-10" t="-28" r="3" b="1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文本框 8"/>
          <p:cNvSpPr txBox="1"/>
          <p:nvPr/>
        </p:nvSpPr>
        <p:spPr>
          <a:xfrm>
            <a:off x="10485122" y="1928193"/>
            <a:ext cx="105373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600" b="1" dirty="0"/>
              <a:t>B</a:t>
            </a:r>
            <a:endParaRPr lang="zh-CN" altLang="en-US" sz="3600" b="1" dirty="0"/>
          </a:p>
        </p:txBody>
      </p:sp>
      <p:sp>
        <p:nvSpPr>
          <p:cNvPr id="3" name="文本框 2"/>
          <p:cNvSpPr txBox="1"/>
          <p:nvPr/>
        </p:nvSpPr>
        <p:spPr>
          <a:xfrm>
            <a:off x="127635" y="455930"/>
            <a:ext cx="4064000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3200" b="1">
                <a:solidFill>
                  <a:schemeClr val="accent1"/>
                </a:solidFill>
              </a:rPr>
              <a:t>练习</a:t>
            </a:r>
            <a:endParaRPr lang="zh-CN" altLang="en-US" sz="3200" b="1">
              <a:solidFill>
                <a:schemeClr val="accent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/>
      <p:bldP spid="9" grpId="0"/>
    </p:bldLst>
  </p:timing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sp>
        <p:nvSpPr>
          <p:cNvPr id="3" name="矩形 2"/>
          <p:cNvSpPr/>
          <p:nvPr/>
        </p:nvSpPr>
        <p:spPr>
          <a:xfrm>
            <a:off x="2351314" y="1003386"/>
            <a:ext cx="6096000" cy="4846007"/>
          </a:xfrm>
          <a:prstGeom prst="rect">
            <a:avLst/>
          </a:prstGeom>
        </p:spPr>
        <p:txBody>
          <a:bodyPr>
            <a:spAutoFit/>
          </a:bodyPr>
          <a:lstStyle/>
          <a:p>
            <a:pPr algn="just">
              <a:lnSpc>
                <a:spcPct val="200000"/>
              </a:lnSpc>
              <a:spcAft>
                <a:spcPts val="0"/>
              </a:spcAft>
            </a:pPr>
            <a:r>
              <a:rPr lang="zh-CN" altLang="zh-CN" sz="4000" b="1" kern="100" dirty="0">
                <a:latin typeface="等线" panose="02010600030101010101" pitchFamily="2" charset="-122"/>
                <a:cs typeface="Times New Roman" panose="02020603050405020304" pitchFamily="18" charset="0"/>
              </a:rPr>
              <a:t>第</a:t>
            </a:r>
            <a:r>
              <a:rPr lang="en-US" altLang="zh-CN" sz="4000" b="1" kern="100" dirty="0">
                <a:latin typeface="等线" panose="02010600030101010101" pitchFamily="2" charset="-122"/>
                <a:cs typeface="Times New Roman" panose="02020603050405020304" pitchFamily="18" charset="0"/>
              </a:rPr>
              <a:t>8</a:t>
            </a:r>
            <a:r>
              <a:rPr lang="zh-CN" altLang="zh-CN" sz="4000" b="1" kern="100" dirty="0">
                <a:latin typeface="等线" panose="02010600030101010101" pitchFamily="2" charset="-122"/>
                <a:cs typeface="Times New Roman" panose="02020603050405020304" pitchFamily="18" charset="0"/>
              </a:rPr>
              <a:t>章  参数估计</a:t>
            </a:r>
            <a:endParaRPr lang="zh-CN" altLang="zh-CN" sz="4000" b="1" kern="100" dirty="0">
              <a:latin typeface="等线" panose="02010600030101010101" pitchFamily="2" charset="-122"/>
              <a:cs typeface="Times New Roman" panose="02020603050405020304" pitchFamily="18" charset="0"/>
            </a:endParaRPr>
          </a:p>
          <a:p>
            <a:pPr algn="just">
              <a:lnSpc>
                <a:spcPct val="200000"/>
              </a:lnSpc>
              <a:spcAft>
                <a:spcPts val="0"/>
              </a:spcAft>
            </a:pPr>
            <a:r>
              <a:rPr lang="en-US" altLang="zh-CN" sz="4000" b="1" kern="100" dirty="0">
                <a:latin typeface="等线" panose="02010600030101010101" pitchFamily="2" charset="-122"/>
                <a:cs typeface="Times New Roman" panose="02020603050405020304" pitchFamily="18" charset="0"/>
              </a:rPr>
              <a:t>8.1</a:t>
            </a:r>
            <a:r>
              <a:rPr lang="zh-CN" altLang="zh-CN" sz="4000" b="1" kern="100" dirty="0">
                <a:latin typeface="等线" panose="02010600030101010101" pitchFamily="2" charset="-122"/>
                <a:cs typeface="Times New Roman" panose="02020603050405020304" pitchFamily="18" charset="0"/>
              </a:rPr>
              <a:t>两种常用的估计方法</a:t>
            </a:r>
            <a:endParaRPr lang="zh-CN" altLang="zh-CN" sz="4000" b="1" kern="100" dirty="0">
              <a:latin typeface="等线" panose="02010600030101010101" pitchFamily="2" charset="-122"/>
              <a:cs typeface="Times New Roman" panose="02020603050405020304" pitchFamily="18" charset="0"/>
            </a:endParaRPr>
          </a:p>
          <a:p>
            <a:pPr algn="just">
              <a:lnSpc>
                <a:spcPct val="200000"/>
              </a:lnSpc>
              <a:spcAft>
                <a:spcPts val="0"/>
              </a:spcAft>
            </a:pPr>
            <a:r>
              <a:rPr lang="en-US" altLang="zh-CN" sz="4000" b="1" kern="100" dirty="0">
                <a:latin typeface="等线" panose="02010600030101010101" pitchFamily="2" charset="-122"/>
                <a:cs typeface="Times New Roman" panose="02020603050405020304" pitchFamily="18" charset="0"/>
              </a:rPr>
              <a:t>8.2</a:t>
            </a:r>
            <a:r>
              <a:rPr lang="zh-CN" altLang="zh-CN" sz="4000" b="1" kern="100" dirty="0">
                <a:latin typeface="等线" panose="02010600030101010101" pitchFamily="2" charset="-122"/>
                <a:cs typeface="Times New Roman" panose="02020603050405020304" pitchFamily="18" charset="0"/>
              </a:rPr>
              <a:t>评选估计量的标准</a:t>
            </a:r>
            <a:endParaRPr lang="zh-CN" altLang="zh-CN" sz="4000" b="1" kern="100" dirty="0">
              <a:latin typeface="等线" panose="02010600030101010101" pitchFamily="2" charset="-122"/>
              <a:cs typeface="Times New Roman" panose="02020603050405020304" pitchFamily="18" charset="0"/>
            </a:endParaRPr>
          </a:p>
          <a:p>
            <a:pPr algn="just">
              <a:lnSpc>
                <a:spcPct val="200000"/>
              </a:lnSpc>
              <a:spcAft>
                <a:spcPts val="0"/>
              </a:spcAft>
            </a:pPr>
            <a:r>
              <a:rPr lang="en-US" altLang="zh-CN" sz="4000" b="1" kern="100" dirty="0">
                <a:latin typeface="等线" panose="02010600030101010101" pitchFamily="2" charset="-122"/>
                <a:cs typeface="Times New Roman" panose="02020603050405020304" pitchFamily="18" charset="0"/>
              </a:rPr>
              <a:t>8.3</a:t>
            </a:r>
            <a:r>
              <a:rPr lang="zh-CN" altLang="zh-CN" sz="4000" b="1" kern="100" dirty="0">
                <a:latin typeface="等线" panose="02010600030101010101" pitchFamily="2" charset="-122"/>
                <a:cs typeface="Times New Roman" panose="02020603050405020304" pitchFamily="18" charset="0"/>
              </a:rPr>
              <a:t>区间估计</a:t>
            </a:r>
            <a:endParaRPr lang="zh-CN" altLang="zh-CN" sz="4000" b="1" kern="100" dirty="0">
              <a:latin typeface="等线" panose="02010600030101010101" pitchFamily="2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1" name="对象 10"/>
          <p:cNvGraphicFramePr>
            <a:graphicFrameLocks noChangeAspect="1"/>
          </p:cNvGraphicFramePr>
          <p:nvPr/>
        </p:nvGraphicFramePr>
        <p:xfrm>
          <a:off x="1216701" y="482186"/>
          <a:ext cx="10470045" cy="3085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8964" name="" r:id="rId1" imgW="4851400" imgH="1422400" progId="Equation.3">
                  <p:embed/>
                </p:oleObj>
              </mc:Choice>
              <mc:Fallback>
                <p:oleObj name="" r:id="rId1" imgW="4851400" imgH="1422400" progId="Equation.3">
                  <p:embed/>
                  <p:pic>
                    <p:nvPicPr>
                      <p:cNvPr id="0" name="对象 3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16701" y="482186"/>
                        <a:ext cx="10470045" cy="3085475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2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sp>
        <p:nvSpPr>
          <p:cNvPr id="3" name="Rectangle 2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sp>
        <p:nvSpPr>
          <p:cNvPr id="5" name="Rectangle 3"/>
          <p:cNvSpPr>
            <a:spLocks noChangeArrowheads="1"/>
          </p:cNvSpPr>
          <p:nvPr/>
        </p:nvSpPr>
        <p:spPr bwMode="auto">
          <a:xfrm>
            <a:off x="0" y="142875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sp>
        <p:nvSpPr>
          <p:cNvPr id="7" name="文本框 19"/>
          <p:cNvSpPr txBox="1"/>
          <p:nvPr/>
        </p:nvSpPr>
        <p:spPr>
          <a:xfrm>
            <a:off x="1488330" y="415466"/>
            <a:ext cx="1629623" cy="671509"/>
          </a:xfrm>
          <a:prstGeom prst="rect">
            <a:avLst/>
          </a:prstGeom>
          <a:solidFill>
            <a:srgbClr val="92D050"/>
          </a:solidFill>
        </p:spPr>
        <p:txBody>
          <a:bodyPr wrap="square" rtlCol="0">
            <a:spAutoFit/>
          </a:bodyPr>
          <a:lstStyle/>
          <a:p>
            <a:r>
              <a:rPr lang="zh-CN" altLang="en-US" sz="3600" dirty="0" smtClean="0">
                <a:solidFill>
                  <a:srgbClr val="FF0000"/>
                </a:solidFill>
              </a:rPr>
              <a:t>  例</a:t>
            </a:r>
            <a:endParaRPr lang="zh-CN" altLang="en-US" sz="3600" dirty="0">
              <a:solidFill>
                <a:srgbClr val="FF0000"/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/>
              <p:cNvSpPr txBox="1"/>
              <p:nvPr/>
            </p:nvSpPr>
            <p:spPr>
              <a:xfrm>
                <a:off x="1971462" y="4125716"/>
                <a:ext cx="1834116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̅"/>
                          <m:ctrlPr>
                            <a:rPr lang="zh-CN" altLang="en-US" sz="3600" b="1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altLang="zh-CN" sz="3600" b="1" i="1" smtClean="0">
                              <a:solidFill>
                                <a:srgbClr val="0070C0"/>
                              </a:solidFill>
                              <a:latin typeface="Cambria Math" panose="02040503050406030204"/>
                            </a:rPr>
                            <m:t>𝑿</m:t>
                          </m:r>
                        </m:e>
                      </m:acc>
                      <m:r>
                        <a:rPr lang="en-US" altLang="zh-CN" sz="3600" b="1" i="1" smtClean="0">
                          <a:solidFill>
                            <a:srgbClr val="0070C0"/>
                          </a:solidFill>
                          <a:latin typeface="Cambria Math" panose="02040503050406030204"/>
                        </a:rPr>
                        <m:t>=</m:t>
                      </m:r>
                      <m:r>
                        <a:rPr lang="en-US" altLang="zh-CN" sz="3600" b="1" i="1" smtClean="0">
                          <a:solidFill>
                            <a:srgbClr val="0070C0"/>
                          </a:solidFill>
                          <a:latin typeface="Cambria Math" panose="02040503050406030204"/>
                        </a:rPr>
                        <m:t>𝑬𝑿</m:t>
                      </m:r>
                    </m:oMath>
                  </m:oMathPara>
                </a14:m>
                <a:endParaRPr lang="zh-CN" altLang="en-US" sz="3600" b="1" dirty="0">
                  <a:solidFill>
                    <a:srgbClr val="0070C0"/>
                  </a:solidFill>
                </a:endParaRPr>
              </a:p>
            </p:txBody>
          </p:sp>
        </mc:Choice>
        <mc:Fallback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71462" y="4125716"/>
                <a:ext cx="1834116" cy="646331"/>
              </a:xfrm>
              <a:prstGeom prst="rect">
                <a:avLst/>
              </a:prstGeom>
              <a:blipFill rotWithShape="1">
                <a:blip r:embed="rId3"/>
                <a:stretch>
                  <a:fillRect l="-23" t="-19" r="1" b="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Rectangle 2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sp>
        <p:nvSpPr>
          <p:cNvPr id="10" name="Rectangle 4"/>
          <p:cNvSpPr>
            <a:spLocks noChangeArrowheads="1"/>
          </p:cNvSpPr>
          <p:nvPr/>
        </p:nvSpPr>
        <p:spPr bwMode="auto">
          <a:xfrm>
            <a:off x="152400" y="15240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sp>
        <p:nvSpPr>
          <p:cNvPr id="12" name="Rectangle 5"/>
          <p:cNvSpPr>
            <a:spLocks noChangeArrowheads="1"/>
          </p:cNvSpPr>
          <p:nvPr/>
        </p:nvSpPr>
        <p:spPr bwMode="auto">
          <a:xfrm>
            <a:off x="152400" y="158115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sp>
        <p:nvSpPr>
          <p:cNvPr id="13" name="Rectangle 7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pic>
        <p:nvPicPr>
          <p:cNvPr id="38920" name="Picture 8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70667" y="3763795"/>
            <a:ext cx="6103491" cy="137017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8926" name="Picture 14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91574" y="5144292"/>
            <a:ext cx="2304426" cy="109646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8" name="文本框 18"/>
          <p:cNvSpPr txBox="1"/>
          <p:nvPr/>
        </p:nvSpPr>
        <p:spPr>
          <a:xfrm>
            <a:off x="588083" y="3556151"/>
            <a:ext cx="180049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600" b="1" dirty="0" smtClean="0">
                <a:solidFill>
                  <a:srgbClr val="0070C0"/>
                </a:solidFill>
              </a:rPr>
              <a:t>解（</a:t>
            </a:r>
            <a:r>
              <a:rPr lang="en-US" altLang="zh-CN" sz="3600" b="1" dirty="0" smtClean="0">
                <a:solidFill>
                  <a:srgbClr val="0070C0"/>
                </a:solidFill>
              </a:rPr>
              <a:t>1</a:t>
            </a:r>
            <a:r>
              <a:rPr lang="zh-CN" altLang="en-US" sz="3600" b="1" dirty="0" smtClean="0">
                <a:solidFill>
                  <a:srgbClr val="0070C0"/>
                </a:solidFill>
              </a:rPr>
              <a:t>）</a:t>
            </a:r>
            <a:endParaRPr lang="zh-CN" altLang="en-US" sz="3600" b="1" dirty="0">
              <a:solidFill>
                <a:srgbClr val="0070C0"/>
              </a:solidFill>
            </a:endParaRPr>
          </a:p>
        </p:txBody>
      </p:sp>
      <p:sp>
        <p:nvSpPr>
          <p:cNvPr id="19" name="圆角矩形 18"/>
          <p:cNvSpPr/>
          <p:nvPr/>
        </p:nvSpPr>
        <p:spPr>
          <a:xfrm>
            <a:off x="1971462" y="4115391"/>
            <a:ext cx="1800058" cy="613500"/>
          </a:xfrm>
          <a:prstGeom prst="round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6" grpId="0"/>
      <p:bldP spid="18" grpId="0"/>
      <p:bldP spid="19" grpId="0" animBg="1"/>
    </p:bldLst>
  </p:timing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sp>
        <p:nvSpPr>
          <p:cNvPr id="3" name="Rectangle 2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sp>
        <p:nvSpPr>
          <p:cNvPr id="5" name="Rectangle 3"/>
          <p:cNvSpPr>
            <a:spLocks noChangeArrowheads="1"/>
          </p:cNvSpPr>
          <p:nvPr/>
        </p:nvSpPr>
        <p:spPr bwMode="auto">
          <a:xfrm>
            <a:off x="0" y="142875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pic>
        <p:nvPicPr>
          <p:cNvPr id="7" name="Picture 21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3685" y="4740203"/>
            <a:ext cx="5997812" cy="14054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" name="Picture 20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41406" y="3676874"/>
            <a:ext cx="7165704" cy="116789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1" name="Picture 19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0260" y="2447028"/>
            <a:ext cx="8392983" cy="120748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2" name="Picture 2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39109" y="4832637"/>
            <a:ext cx="4196490" cy="176173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4" name="文本框 18"/>
          <p:cNvSpPr txBox="1"/>
          <p:nvPr/>
        </p:nvSpPr>
        <p:spPr>
          <a:xfrm>
            <a:off x="1055809" y="792364"/>
            <a:ext cx="180690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600" b="1" dirty="0" smtClean="0">
                <a:solidFill>
                  <a:srgbClr val="0070C0"/>
                </a:solidFill>
              </a:rPr>
              <a:t>解（</a:t>
            </a:r>
            <a:r>
              <a:rPr lang="en-US" altLang="zh-CN" sz="3600" b="1" dirty="0" smtClean="0">
                <a:solidFill>
                  <a:srgbClr val="0070C0"/>
                </a:solidFill>
              </a:rPr>
              <a:t>2</a:t>
            </a:r>
            <a:r>
              <a:rPr lang="zh-CN" altLang="en-US" sz="3600" b="1" dirty="0" smtClean="0">
                <a:solidFill>
                  <a:srgbClr val="0070C0"/>
                </a:solidFill>
              </a:rPr>
              <a:t>）</a:t>
            </a:r>
            <a:endParaRPr lang="zh-CN" altLang="en-US" sz="3600" b="1" dirty="0">
              <a:solidFill>
                <a:srgbClr val="0070C0"/>
              </a:solidFill>
            </a:endParaRPr>
          </a:p>
        </p:txBody>
      </p:sp>
      <p:pic>
        <p:nvPicPr>
          <p:cNvPr id="44034" name="Picture 2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49724" y="493135"/>
            <a:ext cx="4530608" cy="15622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0" name="图片 19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143368" y="2851288"/>
            <a:ext cx="390476" cy="409524"/>
          </a:xfrm>
          <a:prstGeom prst="rect">
            <a:avLst/>
          </a:prstGeom>
        </p:spPr>
      </p:pic>
      <p:pic>
        <p:nvPicPr>
          <p:cNvPr id="21" name="图片 20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79367" y="2875151"/>
            <a:ext cx="390476" cy="409524"/>
          </a:xfrm>
          <a:prstGeom prst="rect">
            <a:avLst/>
          </a:prstGeom>
        </p:spPr>
      </p:pic>
      <p:pic>
        <p:nvPicPr>
          <p:cNvPr id="22" name="图片 21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451139" y="4064397"/>
            <a:ext cx="390476" cy="409524"/>
          </a:xfrm>
          <a:prstGeom prst="rect">
            <a:avLst/>
          </a:prstGeom>
        </p:spPr>
      </p:pic>
      <p:pic>
        <p:nvPicPr>
          <p:cNvPr id="24" name="图片 23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309913" y="2640018"/>
            <a:ext cx="299911" cy="340881"/>
          </a:xfrm>
          <a:prstGeom prst="rect">
            <a:avLst/>
          </a:prstGeom>
        </p:spPr>
      </p:pic>
      <p:pic>
        <p:nvPicPr>
          <p:cNvPr id="23" name="图片 22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494531" y="5849872"/>
            <a:ext cx="390476" cy="409524"/>
          </a:xfrm>
          <a:prstGeom prst="rect">
            <a:avLst/>
          </a:prstGeom>
        </p:spPr>
      </p:pic>
      <p:pic>
        <p:nvPicPr>
          <p:cNvPr id="26" name="图片 25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669391" y="5320194"/>
            <a:ext cx="330814" cy="39019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</p:bldLst>
  </p:timing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sp>
        <p:nvSpPr>
          <p:cNvPr id="3" name="Rectangle 2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sp>
        <p:nvSpPr>
          <p:cNvPr id="5" name="Rectangle 3"/>
          <p:cNvSpPr>
            <a:spLocks noChangeArrowheads="1"/>
          </p:cNvSpPr>
          <p:nvPr/>
        </p:nvSpPr>
        <p:spPr bwMode="auto">
          <a:xfrm>
            <a:off x="0" y="142875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2516" y="454525"/>
            <a:ext cx="10126967" cy="3008237"/>
          </a:xfrm>
          <a:prstGeom prst="rect">
            <a:avLst/>
          </a:prstGeom>
        </p:spPr>
      </p:pic>
      <p:sp>
        <p:nvSpPr>
          <p:cNvPr id="8" name="文本框 19"/>
          <p:cNvSpPr txBox="1"/>
          <p:nvPr/>
        </p:nvSpPr>
        <p:spPr>
          <a:xfrm>
            <a:off x="1278467" y="600497"/>
            <a:ext cx="1839486" cy="671509"/>
          </a:xfrm>
          <a:prstGeom prst="rect">
            <a:avLst/>
          </a:prstGeom>
          <a:solidFill>
            <a:srgbClr val="92D050"/>
          </a:solidFill>
        </p:spPr>
        <p:txBody>
          <a:bodyPr wrap="square" rtlCol="0">
            <a:spAutoFit/>
          </a:bodyPr>
          <a:lstStyle/>
          <a:p>
            <a:r>
              <a:rPr lang="zh-CN" altLang="en-US" sz="3600" dirty="0" smtClean="0">
                <a:solidFill>
                  <a:srgbClr val="FF0000"/>
                </a:solidFill>
              </a:rPr>
              <a:t>   例</a:t>
            </a:r>
            <a:endParaRPr lang="zh-CN" altLang="en-US" sz="3600" dirty="0">
              <a:solidFill>
                <a:srgbClr val="FF0000"/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文本框 3"/>
              <p:cNvSpPr txBox="1"/>
              <p:nvPr/>
            </p:nvSpPr>
            <p:spPr>
              <a:xfrm>
                <a:off x="1793966" y="3957289"/>
                <a:ext cx="1853392" cy="64633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̅"/>
                          <m:ctrlPr>
                            <a:rPr lang="zh-CN" altLang="en-US" sz="3600" b="1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altLang="zh-CN" sz="3600" b="1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𝑿</m:t>
                          </m:r>
                        </m:e>
                      </m:acc>
                      <m:r>
                        <a:rPr lang="en-US" altLang="zh-CN" sz="3600" b="1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sz="3600" b="1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𝑬𝑿</m:t>
                      </m:r>
                    </m:oMath>
                  </m:oMathPara>
                </a14:m>
                <a:endParaRPr lang="zh-CN" altLang="en-US" sz="3600" b="1" dirty="0">
                  <a:solidFill>
                    <a:srgbClr val="002060"/>
                  </a:solidFill>
                </a:endParaRPr>
              </a:p>
            </p:txBody>
          </p:sp>
        </mc:Choice>
        <mc:Fallback>
          <p:sp>
            <p:nvSpPr>
              <p:cNvPr id="4" name="文本框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93966" y="3957289"/>
                <a:ext cx="1853392" cy="646331"/>
              </a:xfrm>
              <a:prstGeom prst="rect">
                <a:avLst/>
              </a:prstGeom>
              <a:blipFill rotWithShape="1">
                <a:blip r:embed="rId2"/>
                <a:stretch>
                  <a:fillRect l="-5" t="-93" r="30" b="7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" name="矩形 6"/>
              <p:cNvSpPr/>
              <p:nvPr/>
            </p:nvSpPr>
            <p:spPr>
              <a:xfrm>
                <a:off x="3398316" y="3952181"/>
                <a:ext cx="4742067" cy="64633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3600" b="1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sz="3600" b="1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𝟏</m:t>
                      </m:r>
                      <m:r>
                        <a:rPr lang="en-US" altLang="zh-CN" sz="3600" b="1" i="1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d>
                        <m:dPr>
                          <m:ctrlPr>
                            <a:rPr lang="en-US" altLang="zh-CN" sz="3600" b="1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3600" b="1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𝟏</m:t>
                          </m:r>
                          <m:r>
                            <a:rPr lang="en-US" altLang="zh-CN" sz="3600" b="1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</m:t>
                          </m:r>
                          <m:r>
                            <a:rPr lang="zh-CN" altLang="en-US" sz="3600" b="1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e>
                      </m:d>
                      <m:r>
                        <a:rPr lang="en-US" altLang="zh-CN" sz="3600" b="1" i="1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r>
                        <a:rPr lang="en-US" altLang="zh-CN" sz="3600" b="1" i="1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𝟑</m:t>
                      </m:r>
                      <m:r>
                        <a:rPr lang="en-US" altLang="zh-CN" sz="3600" b="1" i="1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r>
                        <a:rPr lang="zh-CN" altLang="en-US" sz="3600" b="1" i="1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𝜽</m:t>
                      </m:r>
                    </m:oMath>
                  </m:oMathPara>
                </a14:m>
                <a:endParaRPr lang="zh-CN" altLang="en-US" sz="3600" b="1" dirty="0">
                  <a:solidFill>
                    <a:srgbClr val="002060"/>
                  </a:solidFill>
                </a:endParaRPr>
              </a:p>
            </p:txBody>
          </p:sp>
        </mc:Choice>
        <mc:Fallback>
          <p:sp>
            <p:nvSpPr>
              <p:cNvPr id="7" name="矩形 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98316" y="3952181"/>
                <a:ext cx="4742067" cy="646331"/>
              </a:xfrm>
              <a:prstGeom prst="rect">
                <a:avLst/>
              </a:prstGeom>
              <a:blipFill rotWithShape="1">
                <a:blip r:embed="rId3"/>
                <a:stretch>
                  <a:fillRect l="-9" t="-89" r="7" b="7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9" name="矩形 8"/>
              <p:cNvSpPr/>
              <p:nvPr/>
            </p:nvSpPr>
            <p:spPr>
              <a:xfrm>
                <a:off x="7928091" y="3938364"/>
                <a:ext cx="2173993" cy="64633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3600" b="1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US" altLang="zh-CN" sz="3600" b="1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𝟐</m:t>
                      </m:r>
                      <m:r>
                        <a:rPr lang="zh-CN" altLang="en-US" sz="3600" b="1" i="1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𝜽</m:t>
                      </m:r>
                      <m:r>
                        <a:rPr lang="en-US" altLang="zh-CN" sz="3600" b="1" i="1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r>
                        <a:rPr lang="en-US" altLang="zh-CN" sz="3600" b="1" i="1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𝟏</m:t>
                      </m:r>
                    </m:oMath>
                  </m:oMathPara>
                </a14:m>
                <a:endParaRPr lang="zh-CN" altLang="en-US" sz="3600" b="1" dirty="0">
                  <a:solidFill>
                    <a:srgbClr val="002060"/>
                  </a:solidFill>
                </a:endParaRPr>
              </a:p>
            </p:txBody>
          </p:sp>
        </mc:Choice>
        <mc:Fallback>
          <p:sp>
            <p:nvSpPr>
              <p:cNvPr id="9" name="矩形 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28091" y="3938364"/>
                <a:ext cx="2173993" cy="646331"/>
              </a:xfrm>
              <a:prstGeom prst="rect">
                <a:avLst/>
              </a:prstGeom>
              <a:blipFill rotWithShape="1">
                <a:blip r:embed="rId4"/>
                <a:stretch>
                  <a:fillRect l="-5" t="-15" r="23" b="9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0" name="矩形 9"/>
              <p:cNvSpPr/>
              <p:nvPr/>
            </p:nvSpPr>
            <p:spPr>
              <a:xfrm>
                <a:off x="3052743" y="4655092"/>
                <a:ext cx="2872902" cy="1199624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3600" b="1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⇒</m:t>
                      </m:r>
                      <m:acc>
                        <m:accPr>
                          <m:ctrlPr>
                            <a:rPr lang="en-US" altLang="zh-CN" sz="3600" b="1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zh-CN" altLang="en-US" sz="3600" b="1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e>
                      </m:acc>
                      <m:r>
                        <a:rPr lang="en-US" altLang="zh-CN" sz="3600" b="1" i="1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CN" sz="3600" b="1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acc>
                            <m:accPr>
                              <m:chr m:val="̅"/>
                              <m:ctrlPr>
                                <a:rPr lang="zh-CN" altLang="en-US" sz="3600" b="1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zh-CN" sz="3600" b="1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𝑿</m:t>
                              </m:r>
                            </m:e>
                          </m:acc>
                          <m:r>
                            <a:rPr lang="en-US" altLang="zh-CN" sz="3600" b="1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altLang="zh-CN" sz="3600" b="1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num>
                        <m:den>
                          <m:r>
                            <a:rPr lang="en-US" altLang="zh-CN" sz="3600" b="1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𝟐</m:t>
                          </m:r>
                        </m:den>
                      </m:f>
                    </m:oMath>
                  </m:oMathPara>
                </a14:m>
                <a:endParaRPr lang="zh-CN" altLang="en-US" sz="3600" b="1" dirty="0">
                  <a:solidFill>
                    <a:srgbClr val="002060"/>
                  </a:solidFill>
                </a:endParaRPr>
              </a:p>
            </p:txBody>
          </p:sp>
        </mc:Choice>
        <mc:Fallback>
          <p:sp>
            <p:nvSpPr>
              <p:cNvPr id="10" name="矩形 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52743" y="4655092"/>
                <a:ext cx="2872902" cy="1199624"/>
              </a:xfrm>
              <a:prstGeom prst="rect">
                <a:avLst/>
              </a:prstGeom>
              <a:blipFill rotWithShape="1">
                <a:blip r:embed="rId5"/>
                <a:stretch>
                  <a:fillRect l="-10" t="-45" r="16" b="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文本框 10"/>
          <p:cNvSpPr txBox="1"/>
          <p:nvPr/>
        </p:nvSpPr>
        <p:spPr>
          <a:xfrm>
            <a:off x="929653" y="3840464"/>
            <a:ext cx="697627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4000" b="1" dirty="0" smtClean="0">
                <a:solidFill>
                  <a:srgbClr val="002060"/>
                </a:solidFill>
              </a:rPr>
              <a:t>解</a:t>
            </a:r>
            <a:endParaRPr lang="zh-CN" altLang="en-US" sz="4000" b="1" dirty="0">
              <a:solidFill>
                <a:srgbClr val="002060"/>
              </a:solidFill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4" grpId="0"/>
      <p:bldP spid="7" grpId="0"/>
      <p:bldP spid="9" grpId="0"/>
      <p:bldP spid="10" grpId="0"/>
      <p:bldP spid="11" grpId="0"/>
    </p:bldLst>
  </p:timing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7905" y="9800"/>
            <a:ext cx="10103042" cy="3709852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4" name="文本框 3"/>
              <p:cNvSpPr txBox="1"/>
              <p:nvPr/>
            </p:nvSpPr>
            <p:spPr>
              <a:xfrm>
                <a:off x="1719943" y="2682723"/>
                <a:ext cx="1451872" cy="49244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3200" b="0" i="1" smtClean="0">
                          <a:latin typeface="Cambria Math" panose="02040503050406030204" pitchFamily="18" charset="0"/>
                        </a:rPr>
                        <m:t>𝐸𝑋</m:t>
                      </m:r>
                      <m:r>
                        <a:rPr lang="en-US" altLang="zh-CN" sz="3200" b="0" i="1" smtClean="0">
                          <a:latin typeface="Cambria Math" panose="02040503050406030204" pitchFamily="18" charset="0"/>
                        </a:rPr>
                        <m:t>=</m:t>
                      </m:r>
                      <m:acc>
                        <m:accPr>
                          <m:chr m:val="̅"/>
                          <m:ctrlPr>
                            <a:rPr lang="en-US" altLang="zh-CN" sz="3200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altLang="zh-CN" sz="3200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</m:acc>
                    </m:oMath>
                  </m:oMathPara>
                </a14:m>
                <a:endParaRPr lang="zh-CN" altLang="en-US" sz="3200" dirty="0"/>
              </a:p>
            </p:txBody>
          </p:sp>
        </mc:Choice>
        <mc:Fallback>
          <p:sp>
            <p:nvSpPr>
              <p:cNvPr id="4" name="文本框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19943" y="2682723"/>
                <a:ext cx="1451872" cy="492443"/>
              </a:xfrm>
              <a:prstGeom prst="rect">
                <a:avLst/>
              </a:prstGeom>
              <a:blipFill rotWithShape="1">
                <a:blip r:embed="rId2"/>
                <a:stretch>
                  <a:fillRect l="-25" t="-98" r="-1444" b="-22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1" name="图片 1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52795" y="3118838"/>
            <a:ext cx="5190476" cy="657143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19055" y="4012095"/>
            <a:ext cx="2286170" cy="1091127"/>
          </a:xfrm>
          <a:prstGeom prst="rect">
            <a:avLst/>
          </a:prstGeom>
        </p:spPr>
      </p:pic>
      <p:sp>
        <p:nvSpPr>
          <p:cNvPr id="9" name="文本框 8"/>
          <p:cNvSpPr txBox="1"/>
          <p:nvPr>
            <p:custDataLst>
              <p:tags r:id="rId5"/>
            </p:custDataLst>
          </p:nvPr>
        </p:nvSpPr>
        <p:spPr>
          <a:xfrm>
            <a:off x="358140" y="458470"/>
            <a:ext cx="4064000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3200" b="1">
                <a:gradFill>
                  <a:gsLst>
                    <a:gs pos="0">
                      <a:srgbClr val="007BD3"/>
                    </a:gs>
                    <a:gs pos="100000">
                      <a:srgbClr val="034373"/>
                    </a:gs>
                  </a:gsLst>
                  <a:lin scaled="0"/>
                </a:gradFill>
              </a:rPr>
              <a:t>练习</a:t>
            </a:r>
            <a:endParaRPr lang="zh-CN" altLang="en-US" sz="3200" b="1">
              <a:gradFill>
                <a:gsLst>
                  <a:gs pos="0">
                    <a:srgbClr val="007BD3"/>
                  </a:gs>
                  <a:gs pos="100000">
                    <a:srgbClr val="034373"/>
                  </a:gs>
                </a:gsLst>
                <a:lin scaled="0"/>
              </a:gra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7905" y="9800"/>
            <a:ext cx="10103042" cy="3709852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91413" y="2499943"/>
            <a:ext cx="8822554" cy="1219709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83893" y="3719652"/>
            <a:ext cx="6092750" cy="1094120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35549" y="4813772"/>
            <a:ext cx="5186505" cy="1200182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32505" y="4748923"/>
            <a:ext cx="2113402" cy="1098969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sp>
        <p:nvSpPr>
          <p:cNvPr id="4" name="Rectangle 8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5" name="对象 4"/>
          <p:cNvGraphicFramePr>
            <a:graphicFrameLocks noChangeAspect="1"/>
          </p:cNvGraphicFramePr>
          <p:nvPr/>
        </p:nvGraphicFramePr>
        <p:xfrm>
          <a:off x="643747" y="854026"/>
          <a:ext cx="10561450" cy="170780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761" name="" r:id="rId1" imgW="4508500" imgH="723900" progId="Equation.3">
                  <p:embed/>
                </p:oleObj>
              </mc:Choice>
              <mc:Fallback>
                <p:oleObj name="" r:id="rId1" imgW="4508500" imgH="723900" progId="Equation.3">
                  <p:embed/>
                  <p:pic>
                    <p:nvPicPr>
                      <p:cNvPr id="0" name="对象 6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43747" y="854026"/>
                        <a:ext cx="10561450" cy="1707809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文本框 19"/>
          <p:cNvSpPr txBox="1"/>
          <p:nvPr/>
        </p:nvSpPr>
        <p:spPr>
          <a:xfrm>
            <a:off x="844779" y="705950"/>
            <a:ext cx="1644613" cy="671509"/>
          </a:xfrm>
          <a:prstGeom prst="rect">
            <a:avLst/>
          </a:prstGeom>
          <a:solidFill>
            <a:srgbClr val="92D050"/>
          </a:solidFill>
        </p:spPr>
        <p:txBody>
          <a:bodyPr wrap="square" rtlCol="0">
            <a:spAutoFit/>
          </a:bodyPr>
          <a:lstStyle/>
          <a:p>
            <a:r>
              <a:rPr lang="zh-CN" altLang="en-US" sz="3600" dirty="0" smtClean="0">
                <a:solidFill>
                  <a:srgbClr val="FF0000"/>
                </a:solidFill>
              </a:rPr>
              <a:t>    例</a:t>
            </a:r>
            <a:endParaRPr lang="zh-CN" altLang="en-US" sz="3600" dirty="0">
              <a:solidFill>
                <a:srgbClr val="FF0000"/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文本框 2"/>
              <p:cNvSpPr txBox="1"/>
              <p:nvPr/>
            </p:nvSpPr>
            <p:spPr>
              <a:xfrm>
                <a:off x="2068547" y="2982715"/>
                <a:ext cx="6139758" cy="120597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zh-CN" sz="28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bar>
                            <m:barPr>
                              <m:pos m:val="top"/>
                              <m:ctrlPr>
                                <a:rPr lang="en-US" altLang="zh-CN" sz="2800" i="1" smtClean="0">
                                  <a:latin typeface="Cambria Math" panose="02040503050406030204" pitchFamily="18" charset="0"/>
                                </a:rPr>
                              </m:ctrlPr>
                            </m:barPr>
                            <m:e>
                              <m:r>
                                <a:rPr lang="en-US" altLang="zh-CN" sz="2800" b="0" i="1" smtClean="0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</m:bar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f>
                            <m:fPr>
                              <m:ctrlPr>
                                <a:rPr lang="en-US" altLang="zh-CN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zh-CN" sz="2800" b="0" i="1" smtClean="0"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</m:num>
                            <m:den>
                              <m:rad>
                                <m:radPr>
                                  <m:degHide m:val="on"/>
                                  <m:ctrlPr>
                                    <a:rPr lang="en-US" altLang="zh-CN" sz="28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radPr>
                                <m:deg/>
                                <m:e>
                                  <m:r>
                                    <a:rPr lang="en-US" altLang="zh-CN" sz="2800" b="0" i="1" smtClean="0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e>
                              </m:rad>
                            </m:den>
                          </m:f>
                          <m:sSub>
                            <m:sSubPr>
                              <m:ctrlPr>
                                <a:rPr lang="en-US" altLang="zh-CN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800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  <m:sub>
                              <m:f>
                                <m:fPr>
                                  <m:ctrlPr>
                                    <a:rPr lang="en-US" altLang="zh-CN" sz="28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zh-CN" altLang="en-US" sz="2800" b="0" i="1" smtClean="0">
                                      <a:latin typeface="Cambria Math" panose="02040503050406030204" pitchFamily="18" charset="0"/>
                                    </a:rPr>
                                    <m:t>𝛼</m:t>
                                  </m:r>
                                </m:num>
                                <m:den>
                                  <m:r>
                                    <a:rPr lang="en-US" altLang="zh-CN" sz="2800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den>
                              </m:f>
                            </m:sub>
                          </m:sSub>
                          <m:d>
                            <m:dPr>
                              <m:ctrlPr>
                                <a:rPr lang="en-US" altLang="zh-CN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sz="2800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en-US" altLang="zh-CN" sz="2800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altLang="zh-CN" sz="28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d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bar>
                            <m:barPr>
                              <m:pos m:val="top"/>
                              <m:ctrlPr>
                                <a:rPr lang="en-US" altLang="zh-CN" sz="2800" i="1">
                                  <a:latin typeface="Cambria Math" panose="02040503050406030204" pitchFamily="18" charset="0"/>
                                </a:rPr>
                              </m:ctrlPr>
                            </m:barPr>
                            <m:e>
                              <m:r>
                                <a:rPr lang="en-US" altLang="zh-CN" sz="2800" i="1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</m:bar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f>
                            <m:fPr>
                              <m:ctrlPr>
                                <a:rPr lang="en-US" altLang="zh-CN" sz="280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zh-CN" sz="2800" i="1"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</m:num>
                            <m:den>
                              <m:rad>
                                <m:radPr>
                                  <m:degHide m:val="on"/>
                                  <m:ctrlPr>
                                    <a:rPr lang="en-US" altLang="zh-CN" sz="2800" i="1">
                                      <a:latin typeface="Cambria Math" panose="02040503050406030204" pitchFamily="18" charset="0"/>
                                    </a:rPr>
                                  </m:ctrlPr>
                                </m:radPr>
                                <m:deg/>
                                <m:e>
                                  <m:r>
                                    <a:rPr lang="en-US" altLang="zh-CN" sz="2800" i="1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e>
                              </m:rad>
                            </m:den>
                          </m:f>
                          <m:sSub>
                            <m:sSubPr>
                              <m:ctrlPr>
                                <a:rPr lang="en-US" altLang="zh-CN" sz="28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800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  <m:sub>
                              <m:f>
                                <m:fPr>
                                  <m:ctrlPr>
                                    <a:rPr lang="en-US" altLang="zh-CN" sz="2800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zh-CN" altLang="en-US" sz="2800" i="1">
                                      <a:latin typeface="Cambria Math" panose="02040503050406030204" pitchFamily="18" charset="0"/>
                                    </a:rPr>
                                    <m:t>𝛼</m:t>
                                  </m:r>
                                </m:num>
                                <m:den>
                                  <m:r>
                                    <a:rPr lang="en-US" altLang="zh-CN" sz="2800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den>
                              </m:f>
                            </m:sub>
                          </m:sSub>
                          <m:d>
                            <m:dPr>
                              <m:ctrlPr>
                                <a:rPr lang="en-US" altLang="zh-CN" sz="28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sz="2800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en-US" altLang="zh-CN" sz="2800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altLang="zh-CN" sz="28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d>
                        </m:e>
                      </m:d>
                    </m:oMath>
                  </m:oMathPara>
                </a14:m>
                <a:endParaRPr lang="zh-CN" altLang="en-US" sz="2800" dirty="0"/>
              </a:p>
            </p:txBody>
          </p:sp>
        </mc:Choice>
        <mc:Fallback>
          <p:sp>
            <p:nvSpPr>
              <p:cNvPr id="3" name="文本框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68547" y="2982715"/>
                <a:ext cx="6139758" cy="1205971"/>
              </a:xfrm>
              <a:prstGeom prst="rect">
                <a:avLst/>
              </a:prstGeom>
              <a:blipFill rotWithShape="1">
                <a:blip r:embed="rId3"/>
                <a:stretch>
                  <a:fillRect l="-6" t="-10" r="5" b="1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8" name="文本框 7"/>
              <p:cNvSpPr txBox="1"/>
              <p:nvPr/>
            </p:nvSpPr>
            <p:spPr>
              <a:xfrm>
                <a:off x="1726020" y="4060599"/>
                <a:ext cx="6882205" cy="120597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altLang="zh-CN" sz="28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80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</a:rPr>
                            <m:t>39</m:t>
                          </m:r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f>
                            <m:fPr>
                              <m:ctrlPr>
                                <a:rPr lang="en-US" altLang="zh-CN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zh-CN" sz="2800" b="0" i="1" smtClean="0">
                                  <a:latin typeface="Cambria Math" panose="02040503050406030204" pitchFamily="18" charset="0"/>
                                </a:rPr>
                                <m:t>101</m:t>
                              </m:r>
                            </m:num>
                            <m:den>
                              <m:rad>
                                <m:radPr>
                                  <m:degHide m:val="on"/>
                                  <m:ctrlPr>
                                    <a:rPr lang="en-US" altLang="zh-CN" sz="28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radPr>
                                <m:deg/>
                                <m:e>
                                  <m:r>
                                    <a:rPr lang="en-US" altLang="zh-CN" sz="2800" b="0" i="1" smtClean="0">
                                      <a:latin typeface="Cambria Math" panose="02040503050406030204" pitchFamily="18" charset="0"/>
                                    </a:rPr>
                                    <m:t>9</m:t>
                                  </m:r>
                                </m:e>
                              </m:rad>
                            </m:den>
                          </m:f>
                          <m:sSub>
                            <m:sSubPr>
                              <m:ctrlPr>
                                <a:rPr lang="en-US" altLang="zh-CN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800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  <m:sub>
                              <m:r>
                                <a:rPr lang="en-US" altLang="zh-CN" sz="2800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  <m:r>
                                <a:rPr lang="en-US" altLang="zh-CN" sz="2800" b="0" i="1" smtClean="0">
                                  <a:latin typeface="Cambria Math" panose="02040503050406030204" pitchFamily="18" charset="0"/>
                                </a:rPr>
                                <m:t>.</m:t>
                              </m:r>
                              <m:r>
                                <a:rPr lang="en-US" altLang="zh-CN" sz="2800" b="0" i="1" smtClean="0">
                                  <a:latin typeface="Cambria Math" panose="02040503050406030204" pitchFamily="18" charset="0"/>
                                </a:rPr>
                                <m:t>05</m:t>
                              </m:r>
                            </m:sub>
                          </m:sSub>
                          <m:d>
                            <m:dPr>
                              <m:ctrlPr>
                                <a:rPr lang="en-US" altLang="zh-CN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sz="2800" b="0" i="1" smtClean="0">
                                  <a:latin typeface="Cambria Math" panose="02040503050406030204" pitchFamily="18" charset="0"/>
                                </a:rPr>
                                <m:t>8</m:t>
                              </m:r>
                            </m:e>
                          </m:d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CN" sz="2800" i="1">
                              <a:latin typeface="Cambria Math" panose="02040503050406030204" pitchFamily="18" charset="0"/>
                            </a:rPr>
                            <m:t>239</m:t>
                          </m:r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f>
                            <m:fPr>
                              <m:ctrlPr>
                                <a:rPr lang="en-US" altLang="zh-CN" sz="280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zh-CN" sz="2800" i="1">
                                  <a:latin typeface="Cambria Math" panose="02040503050406030204" pitchFamily="18" charset="0"/>
                                </a:rPr>
                                <m:t>101</m:t>
                              </m:r>
                            </m:num>
                            <m:den>
                              <m:rad>
                                <m:radPr>
                                  <m:degHide m:val="on"/>
                                  <m:ctrlPr>
                                    <a:rPr lang="en-US" altLang="zh-CN" sz="2800" i="1">
                                      <a:latin typeface="Cambria Math" panose="02040503050406030204" pitchFamily="18" charset="0"/>
                                    </a:rPr>
                                  </m:ctrlPr>
                                </m:radPr>
                                <m:deg/>
                                <m:e>
                                  <m:r>
                                    <a:rPr lang="en-US" altLang="zh-CN" sz="2800" i="1">
                                      <a:latin typeface="Cambria Math" panose="02040503050406030204" pitchFamily="18" charset="0"/>
                                    </a:rPr>
                                    <m:t>9</m:t>
                                  </m:r>
                                </m:e>
                              </m:rad>
                            </m:den>
                          </m:f>
                          <m:sSub>
                            <m:sSubPr>
                              <m:ctrlPr>
                                <a:rPr lang="en-US" altLang="zh-CN" sz="28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800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  <m:sub>
                              <m:r>
                                <a:rPr lang="en-US" altLang="zh-CN" sz="2800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  <m:r>
                                <a:rPr lang="en-US" altLang="zh-CN" sz="2800" i="1">
                                  <a:latin typeface="Cambria Math" panose="02040503050406030204" pitchFamily="18" charset="0"/>
                                </a:rPr>
                                <m:t>.</m:t>
                              </m:r>
                              <m:r>
                                <a:rPr lang="en-US" altLang="zh-CN" sz="2800" i="1">
                                  <a:latin typeface="Cambria Math" panose="02040503050406030204" pitchFamily="18" charset="0"/>
                                </a:rPr>
                                <m:t>05</m:t>
                              </m:r>
                            </m:sub>
                          </m:sSub>
                          <m:d>
                            <m:dPr>
                              <m:ctrlPr>
                                <a:rPr lang="en-US" altLang="zh-CN" sz="28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sz="2800" i="1">
                                  <a:latin typeface="Cambria Math" panose="02040503050406030204" pitchFamily="18" charset="0"/>
                                </a:rPr>
                                <m:t>8</m:t>
                              </m:r>
                            </m:e>
                          </m:d>
                        </m:e>
                      </m:d>
                    </m:oMath>
                  </m:oMathPara>
                </a14:m>
                <a:endParaRPr lang="zh-CN" altLang="en-US" sz="2800" dirty="0"/>
              </a:p>
            </p:txBody>
          </p:sp>
        </mc:Choice>
        <mc:Fallback>
          <p:sp>
            <p:nvSpPr>
              <p:cNvPr id="8" name="文本框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26020" y="4060599"/>
                <a:ext cx="6882205" cy="1205971"/>
              </a:xfrm>
              <a:prstGeom prst="rect">
                <a:avLst/>
              </a:prstGeom>
              <a:blipFill rotWithShape="1">
                <a:blip r:embed="rId4"/>
                <a:stretch>
                  <a:fillRect l="-1" t="-34" r="2" b="4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9" name="文本框 8"/>
              <p:cNvSpPr txBox="1"/>
              <p:nvPr/>
            </p:nvSpPr>
            <p:spPr>
              <a:xfrm>
                <a:off x="1764368" y="5139503"/>
                <a:ext cx="6591355" cy="106048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altLang="zh-CN" sz="28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80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</a:rPr>
                            <m:t>39</m:t>
                          </m:r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f>
                            <m:fPr>
                              <m:ctrlPr>
                                <a:rPr lang="en-US" altLang="zh-CN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zh-CN" sz="2800" b="0" i="1" smtClean="0">
                                  <a:latin typeface="Cambria Math" panose="02040503050406030204" pitchFamily="18" charset="0"/>
                                </a:rPr>
                                <m:t>101</m:t>
                              </m:r>
                            </m:num>
                            <m:den>
                              <m:rad>
                                <m:radPr>
                                  <m:degHide m:val="on"/>
                                  <m:ctrlPr>
                                    <a:rPr lang="en-US" altLang="zh-CN" sz="28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radPr>
                                <m:deg/>
                                <m:e>
                                  <m:r>
                                    <a:rPr lang="en-US" altLang="zh-CN" sz="2800" b="0" i="1" smtClean="0">
                                      <a:latin typeface="Cambria Math" panose="02040503050406030204" pitchFamily="18" charset="0"/>
                                    </a:rPr>
                                    <m:t>9</m:t>
                                  </m:r>
                                </m:e>
                              </m:rad>
                            </m:den>
                          </m:f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×</m:t>
                          </m:r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.</m:t>
                          </m:r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86</m:t>
                          </m:r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en-US" altLang="zh-CN" sz="2800" i="1">
                              <a:latin typeface="Cambria Math" panose="02040503050406030204" pitchFamily="18" charset="0"/>
                            </a:rPr>
                            <m:t>239</m:t>
                          </m:r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f>
                            <m:fPr>
                              <m:ctrlPr>
                                <a:rPr lang="en-US" altLang="zh-CN" sz="280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zh-CN" sz="2800" i="1">
                                  <a:latin typeface="Cambria Math" panose="02040503050406030204" pitchFamily="18" charset="0"/>
                                </a:rPr>
                                <m:t>101</m:t>
                              </m:r>
                            </m:num>
                            <m:den>
                              <m:rad>
                                <m:radPr>
                                  <m:degHide m:val="on"/>
                                  <m:ctrlPr>
                                    <a:rPr lang="en-US" altLang="zh-CN" sz="2800" i="1">
                                      <a:latin typeface="Cambria Math" panose="02040503050406030204" pitchFamily="18" charset="0"/>
                                    </a:rPr>
                                  </m:ctrlPr>
                                </m:radPr>
                                <m:deg/>
                                <m:e>
                                  <m:r>
                                    <a:rPr lang="en-US" altLang="zh-CN" sz="2800" i="1">
                                      <a:latin typeface="Cambria Math" panose="02040503050406030204" pitchFamily="18" charset="0"/>
                                    </a:rPr>
                                    <m:t>9</m:t>
                                  </m:r>
                                </m:e>
                              </m:rad>
                            </m:den>
                          </m:f>
                          <m:r>
                            <a:rPr lang="en-US" altLang="zh-CN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×</m:t>
                          </m:r>
                          <m:r>
                            <a:rPr lang="en-US" altLang="zh-CN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  <m:r>
                            <a:rPr lang="en-US" altLang="zh-CN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.</m:t>
                          </m:r>
                          <m:r>
                            <a:rPr lang="en-US" altLang="zh-CN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86</m:t>
                          </m:r>
                        </m:e>
                      </m:d>
                    </m:oMath>
                  </m:oMathPara>
                </a14:m>
                <a:endParaRPr lang="zh-CN" altLang="en-US" sz="2800" dirty="0"/>
              </a:p>
            </p:txBody>
          </p:sp>
        </mc:Choice>
        <mc:Fallback>
          <p:sp>
            <p:nvSpPr>
              <p:cNvPr id="9" name="文本框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64368" y="5139503"/>
                <a:ext cx="6591355" cy="1060483"/>
              </a:xfrm>
              <a:prstGeom prst="rect">
                <a:avLst/>
              </a:prstGeom>
              <a:blipFill rotWithShape="1">
                <a:blip r:embed="rId5"/>
                <a:stretch>
                  <a:fillRect l="-5" t="-42" r="6" b="4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0" name="矩形 9"/>
              <p:cNvSpPr/>
              <p:nvPr/>
            </p:nvSpPr>
            <p:spPr>
              <a:xfrm>
                <a:off x="1894198" y="6245706"/>
                <a:ext cx="3200683" cy="52322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altLang="zh-CN" sz="28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</a:rPr>
                            <m:t>176</m:t>
                          </m:r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</a:rPr>
                            <m:t>.</m:t>
                          </m:r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</a:rPr>
                            <m:t>38</m:t>
                          </m:r>
                          <m:r>
                            <a:rPr lang="en-US" altLang="zh-CN" sz="2800" i="1"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</a:rPr>
                            <m:t>301</m:t>
                          </m:r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</a:rPr>
                            <m:t>.</m:t>
                          </m:r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</a:rPr>
                            <m:t>62</m:t>
                          </m:r>
                        </m:e>
                      </m:d>
                    </m:oMath>
                  </m:oMathPara>
                </a14:m>
                <a:endParaRPr lang="zh-CN" altLang="en-US" sz="2800" dirty="0"/>
              </a:p>
            </p:txBody>
          </p:sp>
        </mc:Choice>
        <mc:Fallback>
          <p:sp>
            <p:nvSpPr>
              <p:cNvPr id="10" name="矩形 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94198" y="6245706"/>
                <a:ext cx="3200683" cy="523220"/>
              </a:xfrm>
              <a:prstGeom prst="rect">
                <a:avLst/>
              </a:prstGeom>
              <a:blipFill rotWithShape="1">
                <a:blip r:embed="rId6"/>
                <a:stretch>
                  <a:fillRect l="-20" t="-92" r="9" b="8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1" name="文本框 10"/>
              <p:cNvSpPr txBox="1"/>
              <p:nvPr/>
            </p:nvSpPr>
            <p:spPr>
              <a:xfrm>
                <a:off x="1726020" y="2535327"/>
                <a:ext cx="4935967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zh-CN" altLang="en-US" sz="28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𝝁</m:t>
                    </m:r>
                  </m:oMath>
                </a14:m>
                <a:r>
                  <a:rPr lang="zh-CN" altLang="en-US" sz="2800" b="1" dirty="0" smtClean="0">
                    <a:solidFill>
                      <a:srgbClr val="002060"/>
                    </a:solidFill>
                  </a:rPr>
                  <a:t>的置信度为</a:t>
                </a:r>
                <a14:m>
                  <m:oMath xmlns:m="http://schemas.openxmlformats.org/officeDocument/2006/math">
                    <m:r>
                      <a:rPr lang="en-US" altLang="zh-CN" sz="2800" b="1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𝟏</m:t>
                    </m:r>
                    <m:r>
                      <a:rPr lang="en-US" altLang="zh-CN" sz="2800" b="1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zh-CN" altLang="en-US" sz="28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𝜶</m:t>
                    </m:r>
                  </m:oMath>
                </a14:m>
                <a:r>
                  <a:rPr lang="zh-CN" altLang="en-US" sz="2800" b="1" dirty="0" smtClean="0">
                    <a:solidFill>
                      <a:srgbClr val="002060"/>
                    </a:solidFill>
                  </a:rPr>
                  <a:t>的置信区间为</a:t>
                </a:r>
                <a:endParaRPr lang="zh-CN" altLang="en-US" sz="2800" b="1" dirty="0">
                  <a:solidFill>
                    <a:srgbClr val="002060"/>
                  </a:solidFill>
                </a:endParaRPr>
              </a:p>
            </p:txBody>
          </p:sp>
        </mc:Choice>
        <mc:Fallback>
          <p:sp>
            <p:nvSpPr>
              <p:cNvPr id="11" name="文本框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26020" y="2535327"/>
                <a:ext cx="4935967" cy="523220"/>
              </a:xfrm>
              <a:prstGeom prst="rect">
                <a:avLst/>
              </a:prstGeom>
              <a:blipFill rotWithShape="1">
                <a:blip r:embed="rId7"/>
                <a:stretch>
                  <a:fillRect l="-2" t="-78" r="-5219" b="7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文本框 11"/>
          <p:cNvSpPr txBox="1"/>
          <p:nvPr/>
        </p:nvSpPr>
        <p:spPr>
          <a:xfrm>
            <a:off x="844779" y="2458977"/>
            <a:ext cx="697627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4000" b="1" dirty="0" smtClean="0">
                <a:solidFill>
                  <a:srgbClr val="002060"/>
                </a:solidFill>
              </a:rPr>
              <a:t>解</a:t>
            </a:r>
            <a:endParaRPr lang="zh-CN" altLang="en-US" sz="4000" b="1" dirty="0">
              <a:solidFill>
                <a:srgbClr val="002060"/>
              </a:solidFill>
            </a:endParaRPr>
          </a:p>
        </p:txBody>
      </p:sp>
      <p:sp>
        <p:nvSpPr>
          <p:cNvPr id="13" name="圆角矩形 12"/>
          <p:cNvSpPr/>
          <p:nvPr/>
        </p:nvSpPr>
        <p:spPr>
          <a:xfrm>
            <a:off x="2148694" y="3071282"/>
            <a:ext cx="5979464" cy="1058986"/>
          </a:xfrm>
          <a:prstGeom prst="round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Rectangle 58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17" name="对象 16"/>
          <p:cNvGraphicFramePr>
            <a:graphicFrameLocks noChangeAspect="1"/>
          </p:cNvGraphicFramePr>
          <p:nvPr/>
        </p:nvGraphicFramePr>
        <p:xfrm>
          <a:off x="2646416" y="303623"/>
          <a:ext cx="8611329" cy="52322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762" name="" r:id="rId8" imgW="3759200" imgH="228600" progId="Equation.3">
                  <p:embed/>
                </p:oleObj>
              </mc:Choice>
              <mc:Fallback>
                <p:oleObj name="" r:id="rId8" imgW="3759200" imgH="228600" progId="Equation.3">
                  <p:embed/>
                  <p:pic>
                    <p:nvPicPr>
                      <p:cNvPr id="0" name="对象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46416" y="303623"/>
                        <a:ext cx="8611329" cy="523220"/>
                      </a:xfrm>
                      <a:prstGeom prst="rect">
                        <a:avLst/>
                      </a:prstGeom>
                      <a:noFill/>
                      <a:ln>
                        <a:solidFill>
                          <a:schemeClr val="accent1"/>
                        </a:solidFill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" name="圆角矩形 17"/>
          <p:cNvSpPr/>
          <p:nvPr/>
        </p:nvSpPr>
        <p:spPr>
          <a:xfrm>
            <a:off x="2656847" y="394698"/>
            <a:ext cx="8530652" cy="346533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3" grpId="0"/>
      <p:bldP spid="8" grpId="0"/>
      <p:bldP spid="9" grpId="0"/>
      <p:bldP spid="10" grpId="0"/>
      <p:bldP spid="11" grpId="0"/>
      <p:bldP spid="12" grpId="0"/>
      <p:bldP spid="13" grpId="0" animBg="1"/>
      <p:bldP spid="18" grpId="0" animBg="1"/>
    </p:bldLst>
  </p:timing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sp>
        <p:nvSpPr>
          <p:cNvPr id="4" name="Rectangle 8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8" name="Rectangle 11"/>
              <p:cNvSpPr>
                <a:spLocks noChangeArrowheads="1"/>
              </p:cNvSpPr>
              <p:nvPr/>
            </p:nvSpPr>
            <p:spPr bwMode="auto">
              <a:xfrm>
                <a:off x="622916" y="500776"/>
                <a:ext cx="10946167" cy="1754326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vert="horz" wrap="square" lIns="91440" tIns="45720" rIns="91440" bIns="45720" numCol="1" anchor="ctr" anchorCtr="0" compatLnSpc="1">
                <a:spAutoFit/>
              </a:bodyPr>
              <a:lstStyle/>
              <a:p>
                <a:pPr lvl="0" indent="177800"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r>
                  <a:rPr kumimoji="0" lang="en-US" altLang="zh-CN" sz="3600" b="0" i="0" u="none" strike="noStrike" cap="none" normalizeH="0" baseline="0" dirty="0" smtClean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宋体" panose="02010600030101010101" pitchFamily="2" charset="-122"/>
                    <a:ea typeface="宋体" panose="02010600030101010101" pitchFamily="2" charset="-122"/>
                    <a:cs typeface="Times New Roman" panose="02020603050405020304" pitchFamily="18" charset="0"/>
                  </a:rPr>
                  <a:t>3</a:t>
                </a:r>
                <a:r>
                  <a:rPr kumimoji="0" lang="zh-CN" altLang="en-US" sz="3600" b="0" i="0" u="none" strike="noStrike" cap="none" normalizeH="0" baseline="0" dirty="0" smtClean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宋体" panose="02010600030101010101" pitchFamily="2" charset="-122"/>
                    <a:ea typeface="宋体" panose="02010600030101010101" pitchFamily="2" charset="-122"/>
                    <a:cs typeface="Times New Roman" panose="02020603050405020304" pitchFamily="18" charset="0"/>
                  </a:rPr>
                  <a:t>、</a:t>
                </a:r>
                <a:r>
                  <a:rPr kumimoji="0" lang="en-US" altLang="zh-CN" sz="3600" b="0" i="0" u="none" strike="noStrike" cap="none" normalizeH="0" baseline="0" dirty="0" smtClean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宋体" panose="02010600030101010101" pitchFamily="2" charset="-122"/>
                    <a:ea typeface="宋体" panose="02010600030101010101" pitchFamily="2" charset="-122"/>
                    <a:cs typeface="Times New Roman" panose="02020603050405020304" pitchFamily="18" charset="0"/>
                  </a:rPr>
                  <a:t>(7</a:t>
                </a:r>
                <a:r>
                  <a:rPr kumimoji="0" lang="zh-CN" altLang="en-US" sz="3600" b="0" i="0" u="none" strike="noStrike" cap="none" normalizeH="0" baseline="0" dirty="0" smtClean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宋体" panose="02010600030101010101" pitchFamily="2" charset="-122"/>
                    <a:ea typeface="宋体" panose="02010600030101010101" pitchFamily="2" charset="-122"/>
                    <a:cs typeface="Times New Roman" panose="02020603050405020304" pitchFamily="18" charset="0"/>
                  </a:rPr>
                  <a:t>分</a:t>
                </a:r>
                <a:r>
                  <a:rPr kumimoji="0" lang="en-US" altLang="zh-CN" sz="3600" b="0" i="0" u="none" strike="noStrike" cap="none" normalizeH="0" baseline="0" dirty="0" smtClean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宋体" panose="02010600030101010101" pitchFamily="2" charset="-122"/>
                    <a:ea typeface="宋体" panose="02010600030101010101" pitchFamily="2" charset="-122"/>
                    <a:cs typeface="Times New Roman" panose="02020603050405020304" pitchFamily="18" charset="0"/>
                  </a:rPr>
                  <a:t>) </a:t>
                </a:r>
                <a:r>
                  <a:rPr kumimoji="0" lang="zh-CN" altLang="en-US" sz="3600" b="0" i="0" u="none" strike="noStrike" cap="none" normalizeH="0" baseline="0" dirty="0" smtClean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宋体" panose="02010600030101010101" pitchFamily="2" charset="-122"/>
                    <a:ea typeface="宋体" panose="02010600030101010101" pitchFamily="2" charset="-122"/>
                    <a:cs typeface="Times New Roman" panose="02020603050405020304" pitchFamily="18" charset="0"/>
                  </a:rPr>
                  <a:t>已知一批零件的长度</a:t>
                </a:r>
                <a:r>
                  <a:rPr kumimoji="0" lang="en-US" altLang="zh-CN" sz="3600" b="0" i="1" u="none" strike="noStrike" cap="none" normalizeH="0" baseline="0" dirty="0" smtClean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宋体" panose="02010600030101010101" pitchFamily="2" charset="-122"/>
                    <a:ea typeface="宋体" panose="02010600030101010101" pitchFamily="2" charset="-122"/>
                    <a:cs typeface="Times New Roman" panose="02020603050405020304" pitchFamily="18" charset="0"/>
                  </a:rPr>
                  <a:t>X</a:t>
                </a:r>
                <a:r>
                  <a:rPr kumimoji="0" lang="en-US" altLang="zh-CN" sz="3600" b="0" i="0" u="none" strike="noStrike" cap="none" normalizeH="0" baseline="0" dirty="0" smtClean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宋体" panose="02010600030101010101" pitchFamily="2" charset="-122"/>
                    <a:ea typeface="宋体" panose="02010600030101010101" pitchFamily="2" charset="-122"/>
                    <a:cs typeface="Times New Roman" panose="02020603050405020304" pitchFamily="18" charset="0"/>
                  </a:rPr>
                  <a:t>(</a:t>
                </a:r>
                <a:r>
                  <a:rPr kumimoji="0" lang="zh-CN" altLang="en-US" sz="3600" b="0" i="0" u="none" strike="noStrike" cap="none" normalizeH="0" baseline="0" dirty="0" smtClean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宋体" panose="02010600030101010101" pitchFamily="2" charset="-122"/>
                    <a:ea typeface="宋体" panose="02010600030101010101" pitchFamily="2" charset="-122"/>
                    <a:cs typeface="Times New Roman" panose="02020603050405020304" pitchFamily="18" charset="0"/>
                  </a:rPr>
                  <a:t>单位</a:t>
                </a:r>
                <a:r>
                  <a:rPr kumimoji="0" lang="en-US" altLang="zh-CN" sz="3600" b="0" i="0" u="none" strike="noStrike" cap="none" normalizeH="0" baseline="0" dirty="0" smtClean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宋体" panose="02010600030101010101" pitchFamily="2" charset="-122"/>
                    <a:ea typeface="宋体" panose="02010600030101010101" pitchFamily="2" charset="-122"/>
                    <a:cs typeface="Times New Roman" panose="02020603050405020304" pitchFamily="18" charset="0"/>
                  </a:rPr>
                  <a:t>cm)</a:t>
                </a:r>
                <a:r>
                  <a:rPr kumimoji="0" lang="zh-CN" altLang="en-US" sz="3600" b="0" i="0" u="none" strike="noStrike" cap="none" normalizeH="0" baseline="0" dirty="0" smtClean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宋体" panose="02010600030101010101" pitchFamily="2" charset="-122"/>
                    <a:ea typeface="宋体" panose="02010600030101010101" pitchFamily="2" charset="-122"/>
                    <a:cs typeface="Times New Roman" panose="02020603050405020304" pitchFamily="18" charset="0"/>
                  </a:rPr>
                  <a:t>服从正态分布   </a:t>
                </a:r>
                <a14:m>
                  <m:oMath xmlns:m="http://schemas.openxmlformats.org/officeDocument/2006/math">
                    <m:r>
                      <a:rPr kumimoji="0" lang="en-US" altLang="zh-CN" sz="3600" b="0" i="1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𝑁</m:t>
                    </m:r>
                    <m:r>
                      <a:rPr kumimoji="0" lang="en-US" altLang="zh-CN" sz="3600" b="0" i="1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(</m:t>
                    </m:r>
                    <m:r>
                      <a:rPr kumimoji="0" lang="zh-CN" altLang="en-US" sz="3600" b="0" i="1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𝜇</m:t>
                    </m:r>
                    <m:r>
                      <a:rPr kumimoji="0" lang="en-US" altLang="zh-CN" sz="3600" b="0" i="1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,</m:t>
                    </m:r>
                    <m:r>
                      <a:rPr kumimoji="0" lang="en-US" altLang="zh-CN" sz="3600" b="0" i="1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1</m:t>
                    </m:r>
                    <m:r>
                      <a:rPr kumimoji="0" lang="en-US" altLang="zh-CN" sz="3600" b="0" i="1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)</m:t>
                    </m:r>
                  </m:oMath>
                </a14:m>
                <a:r>
                  <a:rPr kumimoji="0" lang="zh-CN" altLang="en-US" sz="3600" b="0" i="0" u="none" strike="noStrike" cap="none" normalizeH="0" baseline="0" dirty="0" smtClean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宋体" panose="02010600030101010101" pitchFamily="2" charset="-122"/>
                    <a:ea typeface="宋体" panose="02010600030101010101" pitchFamily="2" charset="-122"/>
                    <a:cs typeface="Times New Roman" panose="02020603050405020304" pitchFamily="18" charset="0"/>
                  </a:rPr>
                  <a:t> </a:t>
                </a:r>
                <a:r>
                  <a:rPr kumimoji="0" lang="en-US" altLang="zh-CN" sz="3600" b="0" i="0" u="none" strike="noStrike" cap="none" normalizeH="0" baseline="0" dirty="0" smtClean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宋体" panose="02010600030101010101" pitchFamily="2" charset="-122"/>
                    <a:ea typeface="宋体" panose="02010600030101010101" pitchFamily="2" charset="-122"/>
                    <a:cs typeface="Times New Roman" panose="02020603050405020304" pitchFamily="18" charset="0"/>
                  </a:rPr>
                  <a:t>,</a:t>
                </a:r>
                <a:r>
                  <a:rPr lang="zh-CN" altLang="zh-CN" sz="3600" dirty="0" smtClean="0">
                    <a:latin typeface="宋体" panose="02010600030101010101" pitchFamily="2" charset="-122"/>
                    <a:ea typeface="宋体" panose="02010600030101010101" pitchFamily="2" charset="-122"/>
                  </a:rPr>
                  <a:t>从中</a:t>
                </a:r>
                <a:r>
                  <a:rPr lang="zh-CN" altLang="zh-CN" sz="3600" dirty="0">
                    <a:latin typeface="宋体" panose="02010600030101010101" pitchFamily="2" charset="-122"/>
                    <a:ea typeface="宋体" panose="02010600030101010101" pitchFamily="2" charset="-122"/>
                  </a:rPr>
                  <a:t>随机抽取</a:t>
                </a:r>
                <a:r>
                  <a:rPr lang="en-US" altLang="zh-CN" sz="3600" dirty="0">
                    <a:latin typeface="宋体" panose="02010600030101010101" pitchFamily="2" charset="-122"/>
                    <a:ea typeface="宋体" panose="02010600030101010101" pitchFamily="2" charset="-122"/>
                  </a:rPr>
                  <a:t>16</a:t>
                </a:r>
                <a:r>
                  <a:rPr lang="zh-CN" altLang="zh-CN" sz="3600" dirty="0">
                    <a:latin typeface="宋体" panose="02010600030101010101" pitchFamily="2" charset="-122"/>
                    <a:ea typeface="宋体" panose="02010600030101010101" pitchFamily="2" charset="-122"/>
                  </a:rPr>
                  <a:t>个零件，得到长度的平均值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altLang="zh-CN" sz="3600" i="1"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</m:ctrlPr>
                      </m:accPr>
                      <m:e>
                        <m:r>
                          <a:rPr lang="en-US" altLang="zh-CN" sz="3600" i="1"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𝑥</m:t>
                        </m:r>
                      </m:e>
                    </m:acc>
                  </m:oMath>
                </a14:m>
                <a:r>
                  <a:rPr lang="zh-CN" altLang="zh-CN" sz="3600" dirty="0">
                    <a:latin typeface="宋体" panose="02010600030101010101" pitchFamily="2" charset="-122"/>
                    <a:ea typeface="宋体" panose="02010600030101010101" pitchFamily="2" charset="-122"/>
                  </a:rPr>
                  <a:t>为</a:t>
                </a:r>
                <a:r>
                  <a:rPr lang="en-US" altLang="zh-CN" sz="3600" dirty="0">
                    <a:latin typeface="宋体" panose="02010600030101010101" pitchFamily="2" charset="-122"/>
                    <a:ea typeface="宋体" panose="02010600030101010101" pitchFamily="2" charset="-122"/>
                  </a:rPr>
                  <a:t>40 cm</a:t>
                </a:r>
                <a:r>
                  <a:rPr lang="zh-CN" altLang="zh-CN" sz="3600" dirty="0">
                    <a:latin typeface="宋体" panose="02010600030101010101" pitchFamily="2" charset="-122"/>
                    <a:ea typeface="宋体" panose="02010600030101010101" pitchFamily="2" charset="-122"/>
                  </a:rPr>
                  <a:t>，求</a:t>
                </a:r>
                <a:r>
                  <a:rPr lang="en-US" altLang="zh-CN" sz="3600" i="1" dirty="0">
                    <a:latin typeface="宋体" panose="02010600030101010101" pitchFamily="2" charset="-122"/>
                    <a:ea typeface="宋体" panose="02010600030101010101" pitchFamily="2" charset="-122"/>
                  </a:rPr>
                  <a:t>μ</a:t>
                </a:r>
                <a:r>
                  <a:rPr lang="zh-CN" altLang="zh-CN" sz="3600" dirty="0">
                    <a:latin typeface="宋体" panose="02010600030101010101" pitchFamily="2" charset="-122"/>
                    <a:ea typeface="宋体" panose="02010600030101010101" pitchFamily="2" charset="-122"/>
                  </a:rPr>
                  <a:t>的置信度为</a:t>
                </a:r>
                <a:r>
                  <a:rPr lang="en-US" altLang="zh-CN" sz="3600" dirty="0">
                    <a:latin typeface="宋体" panose="02010600030101010101" pitchFamily="2" charset="-122"/>
                    <a:ea typeface="宋体" panose="02010600030101010101" pitchFamily="2" charset="-122"/>
                  </a:rPr>
                  <a:t>95</a:t>
                </a:r>
                <a:r>
                  <a:rPr lang="zh-CN" altLang="zh-CN" sz="3600" dirty="0">
                    <a:latin typeface="宋体" panose="02010600030101010101" pitchFamily="2" charset="-122"/>
                    <a:ea typeface="宋体" panose="02010600030101010101" pitchFamily="2" charset="-122"/>
                  </a:rPr>
                  <a:t>﹪的置信区间。 </a:t>
                </a:r>
                <a:endParaRPr kumimoji="0" lang="zh-CN" altLang="en-US" sz="3600" b="0" i="0" u="none" strike="noStrike" cap="none" normalizeH="0" baseline="0" dirty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宋体" panose="02010600030101010101" pitchFamily="2" charset="-122"/>
                  <a:ea typeface="宋体" panose="02010600030101010101" pitchFamily="2" charset="-122"/>
                </a:endParaRPr>
              </a:p>
            </p:txBody>
          </p:sp>
        </mc:Choice>
        <mc:Fallback>
          <p:sp>
            <p:nvSpPr>
              <p:cNvPr id="8" name="Rectangle 1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622916" y="500776"/>
                <a:ext cx="10946167" cy="1754326"/>
              </a:xfrm>
              <a:prstGeom prst="rect">
                <a:avLst/>
              </a:prstGeom>
              <a:blipFill rotWithShape="1">
                <a:blip r:embed="rId1"/>
                <a:stretch>
                  <a:fillRect l="-6" t="-23" b="12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文本框 19"/>
          <p:cNvSpPr txBox="1"/>
          <p:nvPr/>
        </p:nvSpPr>
        <p:spPr>
          <a:xfrm>
            <a:off x="892935" y="475379"/>
            <a:ext cx="1781168" cy="671509"/>
          </a:xfrm>
          <a:prstGeom prst="rect">
            <a:avLst/>
          </a:prstGeom>
          <a:solidFill>
            <a:srgbClr val="92D050"/>
          </a:solidFill>
        </p:spPr>
        <p:txBody>
          <a:bodyPr wrap="square" rtlCol="0">
            <a:spAutoFit/>
          </a:bodyPr>
          <a:lstStyle/>
          <a:p>
            <a:r>
              <a:rPr lang="zh-CN" altLang="en-US" sz="3600" dirty="0" smtClean="0">
                <a:solidFill>
                  <a:srgbClr val="FF0000"/>
                </a:solidFill>
              </a:rPr>
              <a:t>     例</a:t>
            </a:r>
            <a:endParaRPr lang="zh-CN" altLang="en-US" sz="3600" dirty="0">
              <a:solidFill>
                <a:srgbClr val="FF0000"/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文本框 5"/>
              <p:cNvSpPr txBox="1"/>
              <p:nvPr/>
            </p:nvSpPr>
            <p:spPr>
              <a:xfrm>
                <a:off x="2025002" y="2817244"/>
                <a:ext cx="3971600" cy="106048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zh-CN" sz="28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bar>
                            <m:barPr>
                              <m:pos m:val="top"/>
                              <m:ctrlPr>
                                <a:rPr lang="en-US" altLang="zh-CN" sz="2800" i="1" smtClean="0">
                                  <a:latin typeface="Cambria Math" panose="02040503050406030204" pitchFamily="18" charset="0"/>
                                </a:rPr>
                              </m:ctrlPr>
                            </m:barPr>
                            <m:e>
                              <m:r>
                                <a:rPr lang="en-US" altLang="zh-CN" sz="2800" b="0" i="1" smtClean="0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</m:bar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f>
                            <m:fPr>
                              <m:ctrlPr>
                                <a:rPr lang="en-US" altLang="zh-CN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zh-CN" altLang="en-US" sz="2800" b="0" i="1" smtClean="0">
                                  <a:latin typeface="Cambria Math" panose="02040503050406030204" pitchFamily="18" charset="0"/>
                                </a:rPr>
                                <m:t>𝜎</m:t>
                              </m:r>
                            </m:num>
                            <m:den>
                              <m:rad>
                                <m:radPr>
                                  <m:degHide m:val="on"/>
                                  <m:ctrlPr>
                                    <a:rPr lang="en-US" altLang="zh-CN" sz="28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radPr>
                                <m:deg/>
                                <m:e>
                                  <m:r>
                                    <a:rPr lang="en-US" altLang="zh-CN" sz="2800" b="0" i="1" smtClean="0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e>
                              </m:rad>
                            </m:den>
                          </m:f>
                          <m:sSub>
                            <m:sSubPr>
                              <m:ctrlPr>
                                <a:rPr lang="en-US" altLang="zh-CN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800" b="0" i="1" smtClean="0">
                                  <a:latin typeface="Cambria Math" panose="02040503050406030204" pitchFamily="18" charset="0"/>
                                </a:rPr>
                                <m:t>𝑢</m:t>
                              </m:r>
                            </m:e>
                            <m:sub>
                              <m:f>
                                <m:fPr>
                                  <m:ctrlPr>
                                    <a:rPr lang="en-US" altLang="zh-CN" sz="28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zh-CN" altLang="en-US" sz="2800" b="0" i="1" smtClean="0">
                                      <a:latin typeface="Cambria Math" panose="02040503050406030204" pitchFamily="18" charset="0"/>
                                    </a:rPr>
                                    <m:t>𝛼</m:t>
                                  </m:r>
                                </m:num>
                                <m:den>
                                  <m:r>
                                    <a:rPr lang="en-US" altLang="zh-CN" sz="2800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den>
                              </m:f>
                            </m:sub>
                          </m:sSub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bar>
                            <m:barPr>
                              <m:pos m:val="top"/>
                              <m:ctrlPr>
                                <a:rPr lang="en-US" altLang="zh-CN" sz="2800" i="1">
                                  <a:latin typeface="Cambria Math" panose="02040503050406030204" pitchFamily="18" charset="0"/>
                                </a:rPr>
                              </m:ctrlPr>
                            </m:barPr>
                            <m:e>
                              <m:r>
                                <a:rPr lang="en-US" altLang="zh-CN" sz="2800" i="1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</m:bar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f>
                            <m:fPr>
                              <m:ctrlPr>
                                <a:rPr lang="en-US" altLang="zh-CN" sz="280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zh-CN" altLang="en-US" sz="2800" i="1" smtClean="0">
                                  <a:latin typeface="Cambria Math" panose="02040503050406030204" pitchFamily="18" charset="0"/>
                                </a:rPr>
                                <m:t>𝜎</m:t>
                              </m:r>
                            </m:num>
                            <m:den>
                              <m:rad>
                                <m:radPr>
                                  <m:degHide m:val="on"/>
                                  <m:ctrlPr>
                                    <a:rPr lang="en-US" altLang="zh-CN" sz="2800" i="1">
                                      <a:latin typeface="Cambria Math" panose="02040503050406030204" pitchFamily="18" charset="0"/>
                                    </a:rPr>
                                  </m:ctrlPr>
                                </m:radPr>
                                <m:deg/>
                                <m:e>
                                  <m:r>
                                    <a:rPr lang="en-US" altLang="zh-CN" sz="2800" i="1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e>
                              </m:rad>
                            </m:den>
                          </m:f>
                          <m:sSub>
                            <m:sSubPr>
                              <m:ctrlPr>
                                <a:rPr lang="en-US" altLang="zh-CN" sz="28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800" i="1">
                                  <a:latin typeface="Cambria Math" panose="02040503050406030204" pitchFamily="18" charset="0"/>
                                </a:rPr>
                                <m:t>𝑢</m:t>
                              </m:r>
                            </m:e>
                            <m:sub>
                              <m:f>
                                <m:fPr>
                                  <m:ctrlPr>
                                    <a:rPr lang="en-US" altLang="zh-CN" sz="2800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zh-CN" altLang="en-US" sz="2800" i="1">
                                      <a:latin typeface="Cambria Math" panose="02040503050406030204" pitchFamily="18" charset="0"/>
                                    </a:rPr>
                                    <m:t>𝛼</m:t>
                                  </m:r>
                                </m:num>
                                <m:den>
                                  <m:r>
                                    <a:rPr lang="en-US" altLang="zh-CN" sz="2800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den>
                              </m:f>
                            </m:sub>
                          </m:sSub>
                        </m:e>
                      </m:d>
                    </m:oMath>
                  </m:oMathPara>
                </a14:m>
                <a:endParaRPr lang="zh-CN" altLang="en-US" sz="2800" dirty="0"/>
              </a:p>
            </p:txBody>
          </p:sp>
        </mc:Choice>
        <mc:Fallback>
          <p:sp>
            <p:nvSpPr>
              <p:cNvPr id="6" name="文本框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25002" y="2817244"/>
                <a:ext cx="3971600" cy="1060483"/>
              </a:xfrm>
              <a:prstGeom prst="rect">
                <a:avLst/>
              </a:prstGeom>
              <a:blipFill rotWithShape="1">
                <a:blip r:embed="rId2"/>
                <a:stretch>
                  <a:fillRect l="-16" t="-36" r="7" b="3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" name="文本框 6"/>
              <p:cNvSpPr txBox="1"/>
              <p:nvPr/>
            </p:nvSpPr>
            <p:spPr>
              <a:xfrm>
                <a:off x="1726020" y="3921255"/>
                <a:ext cx="5986062" cy="106048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altLang="zh-CN" sz="28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80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f>
                            <m:fPr>
                              <m:ctrlPr>
                                <a:rPr lang="en-US" altLang="zh-CN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zh-CN" sz="28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ad>
                                <m:radPr>
                                  <m:degHide m:val="on"/>
                                  <m:ctrlPr>
                                    <a:rPr lang="en-US" altLang="zh-CN" sz="28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radPr>
                                <m:deg/>
                                <m:e>
                                  <m:r>
                                    <a:rPr lang="en-US" altLang="zh-CN" sz="2800" b="0" i="1" smtClean="0">
                                      <a:latin typeface="Cambria Math" panose="02040503050406030204" pitchFamily="18" charset="0"/>
                                    </a:rPr>
                                    <m:t>16</m:t>
                                  </m:r>
                                </m:e>
                              </m:rad>
                            </m:den>
                          </m:f>
                          <m:sSub>
                            <m:sSubPr>
                              <m:ctrlPr>
                                <a:rPr lang="en-US" altLang="zh-CN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800" b="0" i="1" smtClean="0">
                                  <a:latin typeface="Cambria Math" panose="02040503050406030204" pitchFamily="18" charset="0"/>
                                </a:rPr>
                                <m:t>𝑢</m:t>
                              </m:r>
                            </m:e>
                            <m:sub>
                              <m:r>
                                <a:rPr lang="en-US" altLang="zh-CN" sz="2800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  <m:r>
                                <a:rPr lang="en-US" altLang="zh-CN" sz="2800" b="0" i="1" smtClean="0">
                                  <a:latin typeface="Cambria Math" panose="02040503050406030204" pitchFamily="18" charset="0"/>
                                </a:rPr>
                                <m:t>.</m:t>
                              </m:r>
                              <m:r>
                                <a:rPr lang="en-US" altLang="zh-CN" sz="2800" b="0" i="1" smtClean="0">
                                  <a:latin typeface="Cambria Math" panose="02040503050406030204" pitchFamily="18" charset="0"/>
                                </a:rPr>
                                <m:t>025</m:t>
                              </m:r>
                            </m:sub>
                          </m:sSub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</a:rPr>
                            <m:t>40</m:t>
                          </m:r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f>
                            <m:fPr>
                              <m:ctrlPr>
                                <a:rPr lang="en-US" altLang="zh-CN" sz="280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zh-CN" sz="28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ad>
                                <m:radPr>
                                  <m:degHide m:val="on"/>
                                  <m:ctrlPr>
                                    <a:rPr lang="en-US" altLang="zh-CN" sz="2800" i="1">
                                      <a:latin typeface="Cambria Math" panose="02040503050406030204" pitchFamily="18" charset="0"/>
                                    </a:rPr>
                                  </m:ctrlPr>
                                </m:radPr>
                                <m:deg/>
                                <m:e>
                                  <m:r>
                                    <a:rPr lang="en-US" altLang="zh-CN" sz="2800" i="1">
                                      <a:latin typeface="Cambria Math" panose="02040503050406030204" pitchFamily="18" charset="0"/>
                                    </a:rPr>
                                    <m:t>16</m:t>
                                  </m:r>
                                </m:e>
                              </m:rad>
                            </m:den>
                          </m:f>
                          <m:sSub>
                            <m:sSubPr>
                              <m:ctrlPr>
                                <a:rPr lang="en-US" altLang="zh-CN" sz="28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800" i="1">
                                  <a:latin typeface="Cambria Math" panose="02040503050406030204" pitchFamily="18" charset="0"/>
                                </a:rPr>
                                <m:t>𝑢</m:t>
                              </m:r>
                            </m:e>
                            <m:sub>
                              <m:r>
                                <a:rPr lang="en-US" altLang="zh-CN" sz="2800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  <m:r>
                                <a:rPr lang="en-US" altLang="zh-CN" sz="2800" i="1">
                                  <a:latin typeface="Cambria Math" panose="02040503050406030204" pitchFamily="18" charset="0"/>
                                </a:rPr>
                                <m:t>.</m:t>
                              </m:r>
                              <m:r>
                                <a:rPr lang="en-US" altLang="zh-CN" sz="2800" i="1">
                                  <a:latin typeface="Cambria Math" panose="02040503050406030204" pitchFamily="18" charset="0"/>
                                </a:rPr>
                                <m:t>025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zh-CN" altLang="en-US" sz="2800" dirty="0"/>
              </a:p>
            </p:txBody>
          </p:sp>
        </mc:Choice>
        <mc:Fallback>
          <p:sp>
            <p:nvSpPr>
              <p:cNvPr id="7" name="文本框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26020" y="3921255"/>
                <a:ext cx="5986062" cy="1060483"/>
              </a:xfrm>
              <a:prstGeom prst="rect">
                <a:avLst/>
              </a:prstGeom>
              <a:blipFill rotWithShape="1">
                <a:blip r:embed="rId3"/>
                <a:stretch>
                  <a:fillRect l="-2" t="-12" b="1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0" name="文本框 9"/>
              <p:cNvSpPr txBox="1"/>
              <p:nvPr/>
            </p:nvSpPr>
            <p:spPr>
              <a:xfrm>
                <a:off x="1799204" y="5191757"/>
                <a:ext cx="5796267" cy="106048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altLang="zh-CN" sz="28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80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f>
                            <m:fPr>
                              <m:ctrlPr>
                                <a:rPr lang="en-US" altLang="zh-CN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zh-CN" sz="28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altLang="zh-CN" sz="2800" b="0" i="1" smtClean="0"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den>
                          </m:f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×</m:t>
                          </m:r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.</m:t>
                          </m:r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96</m:t>
                          </m:r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</a:rPr>
                            <m:t>40</m:t>
                          </m:r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f>
                            <m:fPr>
                              <m:ctrlPr>
                                <a:rPr lang="en-US" altLang="zh-CN" sz="280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zh-CN" sz="2800" i="1">
                                  <a:latin typeface="Cambria Math" panose="02040503050406030204" pitchFamily="18" charset="0"/>
                                </a:rPr>
                                <m:t>101</m:t>
                              </m:r>
                            </m:num>
                            <m:den>
                              <m:rad>
                                <m:radPr>
                                  <m:degHide m:val="on"/>
                                  <m:ctrlPr>
                                    <a:rPr lang="en-US" altLang="zh-CN" sz="2800" i="1">
                                      <a:latin typeface="Cambria Math" panose="02040503050406030204" pitchFamily="18" charset="0"/>
                                    </a:rPr>
                                  </m:ctrlPr>
                                </m:radPr>
                                <m:deg/>
                                <m:e>
                                  <m:r>
                                    <a:rPr lang="en-US" altLang="zh-CN" sz="2800" i="1">
                                      <a:latin typeface="Cambria Math" panose="02040503050406030204" pitchFamily="18" charset="0"/>
                                    </a:rPr>
                                    <m:t>9</m:t>
                                  </m:r>
                                </m:e>
                              </m:rad>
                            </m:den>
                          </m:f>
                          <m:r>
                            <a:rPr lang="en-US" altLang="zh-CN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×</m:t>
                          </m:r>
                          <m:r>
                            <a:rPr lang="en-US" altLang="zh-CN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  <m:r>
                            <a:rPr lang="en-US" altLang="zh-CN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.</m:t>
                          </m:r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9</m:t>
                          </m:r>
                          <m:r>
                            <a:rPr lang="en-US" altLang="zh-CN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6</m:t>
                          </m:r>
                        </m:e>
                      </m:d>
                    </m:oMath>
                  </m:oMathPara>
                </a14:m>
                <a:endParaRPr lang="zh-CN" altLang="en-US" sz="2800" dirty="0"/>
              </a:p>
            </p:txBody>
          </p:sp>
        </mc:Choice>
        <mc:Fallback>
          <p:sp>
            <p:nvSpPr>
              <p:cNvPr id="10" name="文本框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99204" y="5191757"/>
                <a:ext cx="5796267" cy="1060483"/>
              </a:xfrm>
              <a:prstGeom prst="rect">
                <a:avLst/>
              </a:prstGeom>
              <a:blipFill rotWithShape="1">
                <a:blip r:embed="rId4"/>
                <a:stretch>
                  <a:fillRect l="-4" t="-60" r="4" b="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1" name="矩形 10"/>
              <p:cNvSpPr/>
              <p:nvPr/>
            </p:nvSpPr>
            <p:spPr>
              <a:xfrm>
                <a:off x="1894198" y="6358923"/>
                <a:ext cx="2803140" cy="52322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altLang="zh-CN" sz="28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</a:rPr>
                            <m:t>39</m:t>
                          </m:r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</a:rPr>
                            <m:t>.</m:t>
                          </m:r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</a:rPr>
                            <m:t>51</m:t>
                          </m:r>
                          <m:r>
                            <a:rPr lang="en-US" altLang="zh-CN" sz="2800" i="1"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</a:rPr>
                            <m:t>40</m:t>
                          </m:r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</a:rPr>
                            <m:t>.</m:t>
                          </m:r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</a:rPr>
                            <m:t>49</m:t>
                          </m:r>
                        </m:e>
                      </m:d>
                    </m:oMath>
                  </m:oMathPara>
                </a14:m>
                <a:endParaRPr lang="zh-CN" altLang="en-US" sz="2800" dirty="0"/>
              </a:p>
            </p:txBody>
          </p:sp>
        </mc:Choice>
        <mc:Fallback>
          <p:sp>
            <p:nvSpPr>
              <p:cNvPr id="11" name="矩形 1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94198" y="6358923"/>
                <a:ext cx="2803140" cy="523220"/>
              </a:xfrm>
              <a:prstGeom prst="rect">
                <a:avLst/>
              </a:prstGeom>
              <a:blipFill rotWithShape="1">
                <a:blip r:embed="rId5"/>
                <a:stretch>
                  <a:fillRect l="-22" t="-6" r="9" b="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2" name="文本框 11"/>
              <p:cNvSpPr txBox="1"/>
              <p:nvPr/>
            </p:nvSpPr>
            <p:spPr>
              <a:xfrm>
                <a:off x="1726020" y="2395983"/>
                <a:ext cx="4935967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zh-CN" altLang="en-US" sz="28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𝝁</m:t>
                    </m:r>
                  </m:oMath>
                </a14:m>
                <a:r>
                  <a:rPr lang="zh-CN" altLang="en-US" sz="2800" b="1" dirty="0" smtClean="0">
                    <a:solidFill>
                      <a:srgbClr val="002060"/>
                    </a:solidFill>
                  </a:rPr>
                  <a:t>的置信度为</a:t>
                </a:r>
                <a14:m>
                  <m:oMath xmlns:m="http://schemas.openxmlformats.org/officeDocument/2006/math">
                    <m:r>
                      <a:rPr lang="en-US" altLang="zh-CN" sz="2800" b="1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𝟏</m:t>
                    </m:r>
                    <m:r>
                      <a:rPr lang="en-US" altLang="zh-CN" sz="2800" b="1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zh-CN" altLang="en-US" sz="28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𝜶</m:t>
                    </m:r>
                  </m:oMath>
                </a14:m>
                <a:r>
                  <a:rPr lang="zh-CN" altLang="en-US" sz="2800" b="1" dirty="0" smtClean="0">
                    <a:solidFill>
                      <a:srgbClr val="002060"/>
                    </a:solidFill>
                  </a:rPr>
                  <a:t>的置信区间为</a:t>
                </a:r>
                <a:endParaRPr lang="zh-CN" altLang="en-US" sz="2800" b="1" dirty="0">
                  <a:solidFill>
                    <a:srgbClr val="002060"/>
                  </a:solidFill>
                </a:endParaRPr>
              </a:p>
            </p:txBody>
          </p:sp>
        </mc:Choice>
        <mc:Fallback>
          <p:sp>
            <p:nvSpPr>
              <p:cNvPr id="12" name="文本框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26020" y="2395983"/>
                <a:ext cx="4935967" cy="523220"/>
              </a:xfrm>
              <a:prstGeom prst="rect">
                <a:avLst/>
              </a:prstGeom>
              <a:blipFill rotWithShape="1">
                <a:blip r:embed="rId6"/>
                <a:stretch>
                  <a:fillRect l="-2" t="-24" r="-5219" b="2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文本框 12"/>
          <p:cNvSpPr txBox="1"/>
          <p:nvPr/>
        </p:nvSpPr>
        <p:spPr>
          <a:xfrm>
            <a:off x="844779" y="2319633"/>
            <a:ext cx="697627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4000" b="1" dirty="0" smtClean="0">
                <a:solidFill>
                  <a:srgbClr val="002060"/>
                </a:solidFill>
              </a:rPr>
              <a:t>解</a:t>
            </a:r>
            <a:endParaRPr lang="zh-CN" altLang="en-US" sz="4000" b="1" dirty="0">
              <a:solidFill>
                <a:srgbClr val="002060"/>
              </a:solidFill>
            </a:endParaRPr>
          </a:p>
        </p:txBody>
      </p:sp>
      <p:sp>
        <p:nvSpPr>
          <p:cNvPr id="14" name="圆角矩形 13"/>
          <p:cNvSpPr/>
          <p:nvPr/>
        </p:nvSpPr>
        <p:spPr>
          <a:xfrm>
            <a:off x="2025002" y="2843371"/>
            <a:ext cx="3905535" cy="1104011"/>
          </a:xfrm>
          <a:prstGeom prst="round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Rectangle 2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pic>
        <p:nvPicPr>
          <p:cNvPr id="15" name="图片 14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210932" y="2714907"/>
            <a:ext cx="2409524" cy="1200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9" grpId="0" animBg="1"/>
      <p:bldP spid="6" grpId="0"/>
      <p:bldP spid="7" grpId="0"/>
      <p:bldP spid="10" grpId="0"/>
      <p:bldP spid="11" grpId="0"/>
      <p:bldP spid="12" grpId="0"/>
      <p:bldP spid="13" grpId="0"/>
      <p:bldP spid="14" grpId="0" animBg="1"/>
    </p:bldLst>
  </p:timing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3" name="对象 12"/>
          <p:cNvGraphicFramePr>
            <a:graphicFrameLocks noChangeAspect="1"/>
          </p:cNvGraphicFramePr>
          <p:nvPr/>
        </p:nvGraphicFramePr>
        <p:xfrm>
          <a:off x="915996" y="632287"/>
          <a:ext cx="11221191" cy="175115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007" name="" r:id="rId1" imgW="4673600" imgH="723900" progId="Equation.3">
                  <p:embed/>
                </p:oleObj>
              </mc:Choice>
              <mc:Fallback>
                <p:oleObj name="" r:id="rId1" imgW="4673600" imgH="723900" progId="Equation.3">
                  <p:embed/>
                  <p:pic>
                    <p:nvPicPr>
                      <p:cNvPr id="0" name="对象 3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15996" y="632287"/>
                        <a:ext cx="11221191" cy="1751151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2"/>
          <p:cNvSpPr>
            <a:spLocks noChangeArrowheads="1"/>
          </p:cNvSpPr>
          <p:nvPr/>
        </p:nvSpPr>
        <p:spPr bwMode="auto">
          <a:xfrm>
            <a:off x="0" y="-373251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sp>
        <p:nvSpPr>
          <p:cNvPr id="4" name="Rectangle 8"/>
          <p:cNvSpPr>
            <a:spLocks noChangeArrowheads="1"/>
          </p:cNvSpPr>
          <p:nvPr/>
        </p:nvSpPr>
        <p:spPr bwMode="auto">
          <a:xfrm>
            <a:off x="0" y="-373251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sp>
        <p:nvSpPr>
          <p:cNvPr id="10" name="文本框 19"/>
          <p:cNvSpPr txBox="1"/>
          <p:nvPr/>
        </p:nvSpPr>
        <p:spPr>
          <a:xfrm>
            <a:off x="1079292" y="632287"/>
            <a:ext cx="1663908" cy="646331"/>
          </a:xfrm>
          <a:prstGeom prst="rect">
            <a:avLst/>
          </a:prstGeom>
          <a:solidFill>
            <a:srgbClr val="92D050"/>
          </a:solidFill>
        </p:spPr>
        <p:txBody>
          <a:bodyPr wrap="square" rtlCol="0">
            <a:spAutoFit/>
          </a:bodyPr>
          <a:lstStyle/>
          <a:p>
            <a:r>
              <a:rPr lang="zh-CN" altLang="en-US" sz="3600" dirty="0" smtClean="0">
                <a:solidFill>
                  <a:srgbClr val="FF0000"/>
                </a:solidFill>
              </a:rPr>
              <a:t>  例</a:t>
            </a:r>
            <a:endParaRPr lang="zh-CN" altLang="en-US" sz="3600" dirty="0">
              <a:solidFill>
                <a:srgbClr val="FF0000"/>
              </a:solidFill>
            </a:endParaRPr>
          </a:p>
        </p:txBody>
      </p:sp>
      <p:sp>
        <p:nvSpPr>
          <p:cNvPr id="3" name="Rectangle 2"/>
          <p:cNvSpPr>
            <a:spLocks noChangeArrowheads="1"/>
          </p:cNvSpPr>
          <p:nvPr/>
        </p:nvSpPr>
        <p:spPr bwMode="auto">
          <a:xfrm>
            <a:off x="0" y="-17988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sp>
        <p:nvSpPr>
          <p:cNvPr id="12" name="Rectangle 4"/>
          <p:cNvSpPr>
            <a:spLocks noChangeArrowheads="1"/>
          </p:cNvSpPr>
          <p:nvPr/>
        </p:nvSpPr>
        <p:spPr bwMode="auto">
          <a:xfrm>
            <a:off x="0" y="-17988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pic>
        <p:nvPicPr>
          <p:cNvPr id="40966" name="Picture 6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47060" y="2909992"/>
            <a:ext cx="4887160" cy="1325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40967" name="Picture 7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34580" y="4310274"/>
            <a:ext cx="5019692" cy="12093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40968" name="Picture 8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8125" y="5519639"/>
            <a:ext cx="5814892" cy="10933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4" name="矩形 13"/>
          <p:cNvSpPr/>
          <p:nvPr/>
        </p:nvSpPr>
        <p:spPr>
          <a:xfrm>
            <a:off x="1212015" y="2423187"/>
            <a:ext cx="699230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4000" b="1" dirty="0">
                <a:solidFill>
                  <a:srgbClr val="0070C0"/>
                </a:solidFill>
              </a:rPr>
              <a:t>解</a:t>
            </a:r>
            <a:endParaRPr lang="zh-CN" altLang="en-US" sz="4000" dirty="0"/>
          </a:p>
        </p:txBody>
      </p:sp>
      <p:pic>
        <p:nvPicPr>
          <p:cNvPr id="40965" name="Picture 5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11244" y="2423187"/>
            <a:ext cx="8250189" cy="66266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9" name="圆角矩形 18"/>
          <p:cNvSpPr/>
          <p:nvPr/>
        </p:nvSpPr>
        <p:spPr>
          <a:xfrm>
            <a:off x="1234579" y="2984942"/>
            <a:ext cx="5234186" cy="1325333"/>
          </a:xfrm>
          <a:prstGeom prst="round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045543" y="3888207"/>
            <a:ext cx="457067" cy="398301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592095" y="3858689"/>
            <a:ext cx="408062" cy="422134"/>
          </a:xfrm>
          <a:prstGeom prst="rect">
            <a:avLst/>
          </a:prstGeom>
        </p:spPr>
      </p:pic>
      <p:sp>
        <p:nvSpPr>
          <p:cNvPr id="5" name="Rectangle 40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8" name="对象 7"/>
          <p:cNvGraphicFramePr>
            <a:graphicFrameLocks noChangeAspect="1"/>
          </p:cNvGraphicFramePr>
          <p:nvPr/>
        </p:nvGraphicFramePr>
        <p:xfrm>
          <a:off x="5663953" y="4445246"/>
          <a:ext cx="6365711" cy="77482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008" name="" r:id="rId9" imgW="3985895" imgH="482600" progId="Equation.3">
                  <p:embed/>
                </p:oleObj>
              </mc:Choice>
              <mc:Fallback>
                <p:oleObj name="" r:id="rId9" imgW="3985895" imgH="482600" progId="Equation.3">
                  <p:embed/>
                  <p:pic>
                    <p:nvPicPr>
                      <p:cNvPr id="0" name="对象 2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663953" y="4445246"/>
                        <a:ext cx="6365711" cy="774824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4" grpId="0"/>
      <p:bldP spid="19" grpId="0" animBg="1"/>
    </p:bldLst>
  </p:timing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6822" y="18872"/>
            <a:ext cx="11273499" cy="3238132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14705" y="2541151"/>
            <a:ext cx="7458728" cy="715853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27991" y="3100250"/>
            <a:ext cx="5641883" cy="1184366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42964" y="4250917"/>
            <a:ext cx="7453863" cy="1080923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438460" y="5418975"/>
            <a:ext cx="8467223" cy="720615"/>
          </a:xfrm>
          <a:prstGeom prst="rect">
            <a:avLst/>
          </a:prstGeom>
        </p:spPr>
      </p:pic>
      <p:sp>
        <p:nvSpPr>
          <p:cNvPr id="9" name="文本框 8"/>
          <p:cNvSpPr txBox="1"/>
          <p:nvPr>
            <p:custDataLst>
              <p:tags r:id="rId6"/>
            </p:custDataLst>
          </p:nvPr>
        </p:nvSpPr>
        <p:spPr>
          <a:xfrm>
            <a:off x="858520" y="458470"/>
            <a:ext cx="4064000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3200" b="1">
                <a:gradFill>
                  <a:gsLst>
                    <a:gs pos="0">
                      <a:srgbClr val="007BD3"/>
                    </a:gs>
                    <a:gs pos="100000">
                      <a:srgbClr val="034373"/>
                    </a:gs>
                  </a:gsLst>
                  <a:lin scaled="0"/>
                </a:gradFill>
              </a:rPr>
              <a:t>练习</a:t>
            </a:r>
            <a:endParaRPr lang="zh-CN" altLang="en-US" sz="3200" b="1">
              <a:gradFill>
                <a:gsLst>
                  <a:gs pos="0">
                    <a:srgbClr val="007BD3"/>
                  </a:gs>
                  <a:gs pos="100000">
                    <a:srgbClr val="034373"/>
                  </a:gs>
                </a:gsLst>
                <a:lin scaled="0"/>
              </a:gra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1767839" y="965202"/>
            <a:ext cx="6531429" cy="304698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zh-CN" altLang="zh-CN" sz="3200" b="1" kern="100" dirty="0">
                <a:latin typeface="等线" panose="02010600030101010101" pitchFamily="2" charset="-122"/>
                <a:cs typeface="Times New Roman" panose="02020603050405020304" pitchFamily="18" charset="0"/>
              </a:rPr>
              <a:t>第</a:t>
            </a:r>
            <a:r>
              <a:rPr lang="en-US" altLang="zh-CN" sz="3200" b="1" kern="100" dirty="0">
                <a:latin typeface="等线" panose="02010600030101010101" pitchFamily="2" charset="-122"/>
                <a:cs typeface="Times New Roman" panose="02020603050405020304" pitchFamily="18" charset="0"/>
              </a:rPr>
              <a:t>9</a:t>
            </a:r>
            <a:r>
              <a:rPr lang="zh-CN" altLang="zh-CN" sz="3200" b="1" kern="100" dirty="0">
                <a:latin typeface="等线" panose="02010600030101010101" pitchFamily="2" charset="-122"/>
                <a:cs typeface="Times New Roman" panose="02020603050405020304" pitchFamily="18" charset="0"/>
              </a:rPr>
              <a:t>章  假设检验</a:t>
            </a:r>
            <a:endParaRPr lang="zh-CN" altLang="zh-CN" sz="3200" kern="100" dirty="0">
              <a:latin typeface="等线" panose="02010600030101010101" pitchFamily="2" charset="-122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sz="3200" kern="100" dirty="0">
                <a:latin typeface="等线" panose="02010600030101010101" pitchFamily="2" charset="-122"/>
                <a:cs typeface="Times New Roman" panose="02020603050405020304" pitchFamily="18" charset="0"/>
              </a:rPr>
              <a:t>9.1</a:t>
            </a:r>
            <a:r>
              <a:rPr lang="zh-CN" altLang="zh-CN" sz="3200" kern="100" dirty="0">
                <a:latin typeface="等线" panose="02010600030101010101" pitchFamily="2" charset="-122"/>
                <a:cs typeface="Times New Roman" panose="02020603050405020304" pitchFamily="18" charset="0"/>
              </a:rPr>
              <a:t>假设检验的基本概念</a:t>
            </a:r>
            <a:endParaRPr lang="zh-CN" altLang="zh-CN" sz="3200" kern="100" dirty="0">
              <a:latin typeface="等线" panose="02010600030101010101" pitchFamily="2" charset="-122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sz="3200" kern="100" dirty="0">
                <a:latin typeface="等线" panose="02010600030101010101" pitchFamily="2" charset="-122"/>
                <a:cs typeface="Times New Roman" panose="02020603050405020304" pitchFamily="18" charset="0"/>
              </a:rPr>
              <a:t>9.2</a:t>
            </a:r>
            <a:r>
              <a:rPr lang="zh-CN" altLang="zh-CN" sz="3200" kern="100" dirty="0">
                <a:latin typeface="等线" panose="02010600030101010101" pitchFamily="2" charset="-122"/>
                <a:cs typeface="Times New Roman" panose="02020603050405020304" pitchFamily="18" charset="0"/>
              </a:rPr>
              <a:t>单个正态总体参数的假设检验</a:t>
            </a:r>
            <a:endParaRPr lang="zh-CN" altLang="zh-CN" sz="3200" kern="100" dirty="0">
              <a:latin typeface="等线" panose="02010600030101010101" pitchFamily="2" charset="-122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sz="3200" kern="100" dirty="0">
                <a:latin typeface="等线" panose="02010600030101010101" pitchFamily="2" charset="-122"/>
                <a:cs typeface="Times New Roman" panose="02020603050405020304" pitchFamily="18" charset="0"/>
              </a:rPr>
              <a:t>9.3</a:t>
            </a:r>
            <a:r>
              <a:rPr lang="zh-CN" altLang="zh-CN" sz="3200" kern="100" dirty="0">
                <a:latin typeface="等线" panose="02010600030101010101" pitchFamily="2" charset="-122"/>
                <a:cs typeface="Times New Roman" panose="02020603050405020304" pitchFamily="18" charset="0"/>
              </a:rPr>
              <a:t>两个正态总体中参数的假设检验</a:t>
            </a:r>
            <a:endParaRPr lang="zh-CN" altLang="zh-CN" sz="3200" kern="100" dirty="0">
              <a:latin typeface="等线" panose="02010600030101010101" pitchFamily="2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84813" y="914399"/>
            <a:ext cx="9212056" cy="2316481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3" name="文本框 2"/>
              <p:cNvSpPr txBox="1"/>
              <p:nvPr/>
            </p:nvSpPr>
            <p:spPr>
              <a:xfrm>
                <a:off x="2616926" y="3992880"/>
                <a:ext cx="1215076" cy="49244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zh-CN" altLang="en-US" sz="32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𝜶</m:t>
                    </m:r>
                  </m:oMath>
                </a14:m>
                <a:r>
                  <a:rPr lang="en-US" altLang="zh-CN" sz="3200" b="1" dirty="0" smtClean="0">
                    <a:solidFill>
                      <a:srgbClr val="002060"/>
                    </a:solidFill>
                  </a:rPr>
                  <a:t>=0.01</a:t>
                </a:r>
                <a:endParaRPr lang="zh-CN" altLang="en-US" sz="3200" b="1" dirty="0">
                  <a:solidFill>
                    <a:srgbClr val="002060"/>
                  </a:solidFill>
                </a:endParaRPr>
              </a:p>
            </p:txBody>
          </p:sp>
        </mc:Choice>
        <mc:Fallback>
          <p:sp>
            <p:nvSpPr>
              <p:cNvPr id="3" name="文本框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16926" y="3992880"/>
                <a:ext cx="1215076" cy="492443"/>
              </a:xfrm>
              <a:prstGeom prst="rect">
                <a:avLst/>
              </a:prstGeom>
              <a:blipFill rotWithShape="1">
                <a:blip r:embed="rId2"/>
                <a:stretch>
                  <a:fillRect l="-7" t="-903" r="-7073" b="6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" name="矩形 3"/>
              <p:cNvSpPr/>
              <p:nvPr/>
            </p:nvSpPr>
            <p:spPr>
              <a:xfrm>
                <a:off x="2498143" y="4671256"/>
                <a:ext cx="1399742" cy="58477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zh-CN" altLang="en-US" sz="32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𝜶</m:t>
                    </m:r>
                  </m:oMath>
                </a14:m>
                <a:r>
                  <a:rPr lang="en-US" altLang="zh-CN" sz="3200" b="1" dirty="0">
                    <a:solidFill>
                      <a:srgbClr val="002060"/>
                    </a:solidFill>
                  </a:rPr>
                  <a:t>=</a:t>
                </a:r>
                <a:r>
                  <a:rPr lang="en-US" altLang="zh-CN" sz="3200" b="1" dirty="0" smtClean="0">
                    <a:solidFill>
                      <a:srgbClr val="002060"/>
                    </a:solidFill>
                  </a:rPr>
                  <a:t>0.05</a:t>
                </a:r>
                <a:endParaRPr lang="zh-CN" altLang="en-US" sz="3200" b="1" dirty="0">
                  <a:solidFill>
                    <a:srgbClr val="002060"/>
                  </a:solidFill>
                </a:endParaRPr>
              </a:p>
            </p:txBody>
          </p:sp>
        </mc:Choice>
        <mc:Fallback>
          <p:sp>
            <p:nvSpPr>
              <p:cNvPr id="4" name="矩形 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98143" y="4671256"/>
                <a:ext cx="1399742" cy="584775"/>
              </a:xfrm>
              <a:prstGeom prst="rect">
                <a:avLst/>
              </a:prstGeom>
              <a:blipFill rotWithShape="1">
                <a:blip r:embed="rId3"/>
                <a:stretch>
                  <a:fillRect l="-4" t="-34" r="18" b="2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" name="矩形 4"/>
              <p:cNvSpPr/>
              <p:nvPr/>
            </p:nvSpPr>
            <p:spPr>
              <a:xfrm>
                <a:off x="4125367" y="3968914"/>
                <a:ext cx="510076" cy="58477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3200" b="1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𝑺</m:t>
                      </m:r>
                    </m:oMath>
                  </m:oMathPara>
                </a14:m>
                <a:endParaRPr lang="zh-CN" altLang="en-US" sz="3200" b="1" dirty="0">
                  <a:solidFill>
                    <a:srgbClr val="002060"/>
                  </a:solidFill>
                </a:endParaRPr>
              </a:p>
            </p:txBody>
          </p:sp>
        </mc:Choice>
        <mc:Fallback>
          <p:sp>
            <p:nvSpPr>
              <p:cNvPr id="5" name="矩形 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25367" y="3968914"/>
                <a:ext cx="510076" cy="584775"/>
              </a:xfrm>
              <a:prstGeom prst="rect">
                <a:avLst/>
              </a:prstGeom>
              <a:blipFill rotWithShape="1">
                <a:blip r:embed="rId4"/>
                <a:stretch>
                  <a:fillRect l="-80" t="-28" r="113" b="1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" name="矩形 5"/>
              <p:cNvSpPr/>
              <p:nvPr/>
            </p:nvSpPr>
            <p:spPr>
              <a:xfrm>
                <a:off x="4849684" y="3894217"/>
                <a:ext cx="510076" cy="642868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bar>
                        <m:barPr>
                          <m:pos m:val="top"/>
                          <m:ctrlPr>
                            <a:rPr lang="en-US" altLang="zh-CN" sz="3200" b="1" i="1" dirty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barPr>
                        <m:e>
                          <m:r>
                            <a:rPr lang="en-US" altLang="zh-CN" sz="3200" b="1" i="1" dirty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𝑺</m:t>
                          </m:r>
                        </m:e>
                      </m:bar>
                    </m:oMath>
                  </m:oMathPara>
                </a14:m>
                <a:endParaRPr lang="zh-CN" altLang="en-US" sz="3200" b="1" dirty="0">
                  <a:solidFill>
                    <a:srgbClr val="002060"/>
                  </a:solidFill>
                </a:endParaRPr>
              </a:p>
            </p:txBody>
          </p:sp>
        </mc:Choice>
        <mc:Fallback>
          <p:sp>
            <p:nvSpPr>
              <p:cNvPr id="6" name="矩形 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49684" y="3894217"/>
                <a:ext cx="510076" cy="642868"/>
              </a:xfrm>
              <a:prstGeom prst="rect">
                <a:avLst/>
              </a:prstGeom>
              <a:blipFill rotWithShape="1">
                <a:blip r:embed="rId5"/>
                <a:stretch>
                  <a:fillRect l="-37" t="-62" r="71" b="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" name="矩形 6"/>
              <p:cNvSpPr/>
              <p:nvPr/>
            </p:nvSpPr>
            <p:spPr>
              <a:xfrm>
                <a:off x="4082298" y="4730020"/>
                <a:ext cx="510076" cy="58477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3200" b="1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𝑺</m:t>
                      </m:r>
                    </m:oMath>
                  </m:oMathPara>
                </a14:m>
                <a:endParaRPr lang="zh-CN" altLang="en-US" sz="3200" b="1" dirty="0">
                  <a:solidFill>
                    <a:srgbClr val="002060"/>
                  </a:solidFill>
                </a:endParaRPr>
              </a:p>
            </p:txBody>
          </p:sp>
        </mc:Choice>
        <mc:Fallback>
          <p:sp>
            <p:nvSpPr>
              <p:cNvPr id="7" name="矩形 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82298" y="4730020"/>
                <a:ext cx="510076" cy="584775"/>
              </a:xfrm>
              <a:prstGeom prst="rect">
                <a:avLst/>
              </a:prstGeom>
              <a:blipFill rotWithShape="1">
                <a:blip r:embed="rId4"/>
                <a:stretch>
                  <a:fillRect l="-102" t="-92" r="11" b="8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8" name="矩形 7"/>
              <p:cNvSpPr/>
              <p:nvPr/>
            </p:nvSpPr>
            <p:spPr>
              <a:xfrm>
                <a:off x="4391590" y="4730020"/>
                <a:ext cx="344966" cy="58477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3200" b="1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↑</m:t>
                      </m:r>
                    </m:oMath>
                  </m:oMathPara>
                </a14:m>
                <a:endParaRPr lang="zh-CN" altLang="en-US" sz="3200" b="1" dirty="0">
                  <a:solidFill>
                    <a:srgbClr val="002060"/>
                  </a:solidFill>
                </a:endParaRPr>
              </a:p>
            </p:txBody>
          </p:sp>
        </mc:Choice>
        <mc:Fallback>
          <p:sp>
            <p:nvSpPr>
              <p:cNvPr id="8" name="矩形 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91590" y="4730020"/>
                <a:ext cx="344966" cy="584775"/>
              </a:xfrm>
              <a:prstGeom prst="rect">
                <a:avLst/>
              </a:prstGeom>
              <a:blipFill rotWithShape="1">
                <a:blip r:embed="rId6"/>
                <a:stretch>
                  <a:fillRect l="-164" t="-92" r="26" b="8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9" name="矩形 8"/>
              <p:cNvSpPr/>
              <p:nvPr/>
            </p:nvSpPr>
            <p:spPr>
              <a:xfrm>
                <a:off x="4845065" y="4671256"/>
                <a:ext cx="510076" cy="642868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bar>
                        <m:barPr>
                          <m:pos m:val="top"/>
                          <m:ctrlPr>
                            <a:rPr lang="en-US" altLang="zh-CN" sz="3200" b="1" i="1" dirty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barPr>
                        <m:e>
                          <m:r>
                            <a:rPr lang="en-US" altLang="zh-CN" sz="3200" b="1" i="1" dirty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𝑺</m:t>
                          </m:r>
                        </m:e>
                      </m:bar>
                    </m:oMath>
                  </m:oMathPara>
                </a14:m>
                <a:endParaRPr lang="zh-CN" altLang="en-US" sz="3200" b="1" dirty="0">
                  <a:solidFill>
                    <a:srgbClr val="002060"/>
                  </a:solidFill>
                </a:endParaRPr>
              </a:p>
            </p:txBody>
          </p:sp>
        </mc:Choice>
        <mc:Fallback>
          <p:sp>
            <p:nvSpPr>
              <p:cNvPr id="9" name="矩形 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45065" y="4671256"/>
                <a:ext cx="510076" cy="642868"/>
              </a:xfrm>
              <a:prstGeom prst="rect">
                <a:avLst/>
              </a:prstGeom>
              <a:blipFill rotWithShape="1">
                <a:blip r:embed="rId5"/>
                <a:stretch>
                  <a:fillRect l="-3" t="-30" r="36" b="6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0" name="矩形 9"/>
              <p:cNvSpPr/>
              <p:nvPr/>
            </p:nvSpPr>
            <p:spPr>
              <a:xfrm>
                <a:off x="5179116" y="4723510"/>
                <a:ext cx="268663" cy="58477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altLang="zh-CN" sz="3200" b="1" i="1" dirty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↓</m:t>
                    </m:r>
                  </m:oMath>
                </a14:m>
                <a:r>
                  <a:rPr lang="en-US" altLang="zh-CN" sz="3200" b="1" dirty="0">
                    <a:solidFill>
                      <a:srgbClr val="002060"/>
                    </a:solidFill>
                  </a:rPr>
                  <a:t> </a:t>
                </a:r>
                <a:endParaRPr lang="zh-CN" altLang="en-US" sz="3200" b="1" dirty="0">
                  <a:solidFill>
                    <a:srgbClr val="002060"/>
                  </a:solidFill>
                </a:endParaRPr>
              </a:p>
            </p:txBody>
          </p:sp>
        </mc:Choice>
        <mc:Fallback>
          <p:sp>
            <p:nvSpPr>
              <p:cNvPr id="10" name="矩形 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79116" y="4723510"/>
                <a:ext cx="268663" cy="584775"/>
              </a:xfrm>
              <a:prstGeom prst="rect">
                <a:avLst/>
              </a:prstGeom>
              <a:blipFill rotWithShape="1">
                <a:blip r:embed="rId7"/>
                <a:stretch>
                  <a:fillRect l="-21" t="-65" r="-4921" b="5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文本框 19"/>
          <p:cNvSpPr txBox="1"/>
          <p:nvPr/>
        </p:nvSpPr>
        <p:spPr>
          <a:xfrm>
            <a:off x="1079863" y="745498"/>
            <a:ext cx="809897" cy="646331"/>
          </a:xfrm>
          <a:prstGeom prst="rect">
            <a:avLst/>
          </a:prstGeom>
          <a:solidFill>
            <a:srgbClr val="92D050"/>
          </a:solidFill>
        </p:spPr>
        <p:txBody>
          <a:bodyPr wrap="square" rtlCol="0">
            <a:spAutoFit/>
          </a:bodyPr>
          <a:lstStyle/>
          <a:p>
            <a:r>
              <a:rPr lang="zh-CN" altLang="en-US" sz="3600" dirty="0" smtClean="0">
                <a:solidFill>
                  <a:srgbClr val="FF0000"/>
                </a:solidFill>
              </a:rPr>
              <a:t> </a:t>
            </a:r>
            <a:r>
              <a:rPr lang="zh-CN" altLang="en-US" sz="3600" dirty="0" smtClean="0">
                <a:solidFill>
                  <a:srgbClr val="FF0000"/>
                </a:solidFill>
              </a:rPr>
              <a:t>例</a:t>
            </a:r>
            <a:endParaRPr lang="zh-CN" altLang="en-US" sz="3600" dirty="0">
              <a:solidFill>
                <a:srgbClr val="FF0000"/>
              </a:solidFill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9710058" y="2686820"/>
            <a:ext cx="4571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200" b="1" dirty="0" smtClean="0">
                <a:solidFill>
                  <a:srgbClr val="002060"/>
                </a:solidFill>
              </a:rPr>
              <a:t>A</a:t>
            </a:r>
            <a:endParaRPr lang="zh-CN" altLang="en-US" sz="3200" b="1" dirty="0">
              <a:solidFill>
                <a:srgbClr val="00206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  <p:bldP spid="5" grpId="0"/>
      <p:bldP spid="6" grpId="0"/>
      <p:bldP spid="7" grpId="0"/>
      <p:bldP spid="8" grpId="0"/>
      <p:bldP spid="9" grpId="0"/>
      <p:bldP spid="10" grpId="0"/>
      <p:bldP spid="11" grpId="0" animBg="1"/>
      <p:bldP spid="12" grpId="0"/>
    </p:bldLst>
  </p:timing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9712" y="1018396"/>
            <a:ext cx="10110069" cy="2627026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5" name="文本框 4"/>
              <p:cNvSpPr txBox="1"/>
              <p:nvPr/>
            </p:nvSpPr>
            <p:spPr>
              <a:xfrm>
                <a:off x="2418222" y="4214789"/>
                <a:ext cx="2220480" cy="64633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CN" altLang="en-US" sz="3600" b="1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𝜶</m:t>
                      </m:r>
                      <m:r>
                        <a:rPr lang="en-US" altLang="zh-CN" sz="3600" b="1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sz="3600" b="1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𝟎</m:t>
                      </m:r>
                      <m:r>
                        <a:rPr lang="en-US" altLang="zh-CN" sz="3600" b="1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US" altLang="zh-CN" sz="3600" b="1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𝟎𝟏</m:t>
                      </m:r>
                    </m:oMath>
                  </m:oMathPara>
                </a14:m>
                <a:endParaRPr lang="zh-CN" altLang="en-US" sz="3600" b="1" dirty="0">
                  <a:solidFill>
                    <a:srgbClr val="002060"/>
                  </a:solidFill>
                </a:endParaRPr>
              </a:p>
            </p:txBody>
          </p:sp>
        </mc:Choice>
        <mc:Fallback>
          <p:sp>
            <p:nvSpPr>
              <p:cNvPr id="5" name="文本框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18222" y="4214789"/>
                <a:ext cx="2220480" cy="646331"/>
              </a:xfrm>
              <a:prstGeom prst="rect">
                <a:avLst/>
              </a:prstGeom>
              <a:blipFill rotWithShape="1">
                <a:blip r:embed="rId2"/>
                <a:stretch>
                  <a:fillRect l="-6" t="-45" r="1" b="3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" name="文本框 5"/>
              <p:cNvSpPr txBox="1"/>
              <p:nvPr/>
            </p:nvSpPr>
            <p:spPr>
              <a:xfrm>
                <a:off x="4914630" y="4228662"/>
                <a:ext cx="572593" cy="64633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3600" b="1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𝑺</m:t>
                      </m:r>
                    </m:oMath>
                  </m:oMathPara>
                </a14:m>
                <a:endParaRPr lang="zh-CN" altLang="en-US" sz="3600" b="1" dirty="0">
                  <a:solidFill>
                    <a:srgbClr val="002060"/>
                  </a:solidFill>
                </a:endParaRPr>
              </a:p>
            </p:txBody>
          </p:sp>
        </mc:Choice>
        <mc:Fallback>
          <p:sp>
            <p:nvSpPr>
              <p:cNvPr id="6" name="文本框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14630" y="4228662"/>
                <a:ext cx="572593" cy="646331"/>
              </a:xfrm>
              <a:prstGeom prst="rect">
                <a:avLst/>
              </a:prstGeom>
              <a:blipFill rotWithShape="1">
                <a:blip r:embed="rId3"/>
                <a:stretch>
                  <a:fillRect l="-64" t="-30" r="33" b="1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" name="矩形 6"/>
              <p:cNvSpPr/>
              <p:nvPr/>
            </p:nvSpPr>
            <p:spPr>
              <a:xfrm>
                <a:off x="5748771" y="4254788"/>
                <a:ext cx="572593" cy="647613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̅"/>
                          <m:ctrlPr>
                            <a:rPr lang="en-US" altLang="zh-CN" sz="3600" b="1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altLang="zh-CN" sz="3600" b="1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𝑺</m:t>
                          </m:r>
                        </m:e>
                      </m:acc>
                    </m:oMath>
                  </m:oMathPara>
                </a14:m>
                <a:endParaRPr lang="zh-CN" altLang="en-US" sz="3600" b="1" dirty="0">
                  <a:solidFill>
                    <a:srgbClr val="002060"/>
                  </a:solidFill>
                </a:endParaRPr>
              </a:p>
            </p:txBody>
          </p:sp>
        </mc:Choice>
        <mc:Fallback>
          <p:sp>
            <p:nvSpPr>
              <p:cNvPr id="7" name="矩形 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48771" y="4254788"/>
                <a:ext cx="572593" cy="647613"/>
              </a:xfrm>
              <a:prstGeom prst="rect">
                <a:avLst/>
              </a:prstGeom>
              <a:blipFill rotWithShape="1">
                <a:blip r:embed="rId4"/>
                <a:stretch>
                  <a:fillRect l="-20" t="-44" r="100" b="3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8" name="矩形 7"/>
              <p:cNvSpPr/>
              <p:nvPr/>
            </p:nvSpPr>
            <p:spPr>
              <a:xfrm>
                <a:off x="2476763" y="4968822"/>
                <a:ext cx="2220480" cy="64633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CN" altLang="en-US" sz="3600" b="1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𝜶</m:t>
                      </m:r>
                      <m:r>
                        <a:rPr lang="en-US" altLang="zh-CN" sz="3600" b="1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sz="3600" b="1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𝟎</m:t>
                      </m:r>
                      <m:r>
                        <a:rPr lang="en-US" altLang="zh-CN" sz="3600" b="1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US" altLang="zh-CN" sz="3600" b="1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𝟎𝟓</m:t>
                      </m:r>
                    </m:oMath>
                  </m:oMathPara>
                </a14:m>
                <a:endParaRPr lang="zh-CN" altLang="en-US" sz="3600" b="1" dirty="0">
                  <a:solidFill>
                    <a:srgbClr val="002060"/>
                  </a:solidFill>
                </a:endParaRPr>
              </a:p>
            </p:txBody>
          </p:sp>
        </mc:Choice>
        <mc:Fallback>
          <p:sp>
            <p:nvSpPr>
              <p:cNvPr id="8" name="矩形 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76763" y="4968822"/>
                <a:ext cx="2220480" cy="646331"/>
              </a:xfrm>
              <a:prstGeom prst="rect">
                <a:avLst/>
              </a:prstGeom>
              <a:blipFill rotWithShape="1">
                <a:blip r:embed="rId5"/>
                <a:stretch>
                  <a:fillRect l="-12" t="-90" r="7" b="7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9" name="矩形 8"/>
              <p:cNvSpPr/>
              <p:nvPr/>
            </p:nvSpPr>
            <p:spPr>
              <a:xfrm>
                <a:off x="4940754" y="4890620"/>
                <a:ext cx="572593" cy="64633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3600" b="1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𝑺</m:t>
                      </m:r>
                    </m:oMath>
                  </m:oMathPara>
                </a14:m>
                <a:endParaRPr lang="zh-CN" altLang="en-US" sz="3600" b="1" dirty="0">
                  <a:solidFill>
                    <a:srgbClr val="002060"/>
                  </a:solidFill>
                </a:endParaRPr>
              </a:p>
            </p:txBody>
          </p:sp>
        </mc:Choice>
        <mc:Fallback>
          <p:sp>
            <p:nvSpPr>
              <p:cNvPr id="9" name="矩形 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40754" y="4890620"/>
                <a:ext cx="572593" cy="646331"/>
              </a:xfrm>
              <a:prstGeom prst="rect">
                <a:avLst/>
              </a:prstGeom>
              <a:blipFill rotWithShape="1">
                <a:blip r:embed="rId3"/>
                <a:stretch>
                  <a:fillRect l="-79" t="-75" r="48" b="6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0" name="矩形 9"/>
              <p:cNvSpPr/>
              <p:nvPr/>
            </p:nvSpPr>
            <p:spPr>
              <a:xfrm>
                <a:off x="5795264" y="4890043"/>
                <a:ext cx="572593" cy="647613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̅"/>
                          <m:ctrlPr>
                            <a:rPr lang="en-US" altLang="zh-CN" sz="3600" b="1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altLang="zh-CN" sz="3600" b="1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𝑺</m:t>
                          </m:r>
                        </m:e>
                      </m:acc>
                    </m:oMath>
                  </m:oMathPara>
                </a14:m>
                <a:endParaRPr lang="zh-CN" altLang="en-US" sz="3600" b="1" dirty="0">
                  <a:solidFill>
                    <a:srgbClr val="002060"/>
                  </a:solidFill>
                </a:endParaRPr>
              </a:p>
            </p:txBody>
          </p:sp>
        </mc:Choice>
        <mc:Fallback>
          <p:sp>
            <p:nvSpPr>
              <p:cNvPr id="10" name="矩形 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95264" y="4890043"/>
                <a:ext cx="572593" cy="647613"/>
              </a:xfrm>
              <a:prstGeom prst="rect">
                <a:avLst/>
              </a:prstGeom>
              <a:blipFill rotWithShape="1">
                <a:blip r:embed="rId4"/>
                <a:stretch>
                  <a:fillRect l="-44" t="-84" r="13" b="7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1" name="文本框 10"/>
              <p:cNvSpPr txBox="1"/>
              <p:nvPr/>
            </p:nvSpPr>
            <p:spPr>
              <a:xfrm>
                <a:off x="5299881" y="4936209"/>
                <a:ext cx="343043" cy="55399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CN" altLang="en-US" sz="3600" b="1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↑</m:t>
                      </m:r>
                    </m:oMath>
                  </m:oMathPara>
                </a14:m>
                <a:endParaRPr lang="zh-CN" altLang="en-US" sz="3600" b="1" dirty="0">
                  <a:solidFill>
                    <a:srgbClr val="002060"/>
                  </a:solidFill>
                </a:endParaRPr>
              </a:p>
            </p:txBody>
          </p:sp>
        </mc:Choice>
        <mc:Fallback>
          <p:sp>
            <p:nvSpPr>
              <p:cNvPr id="11" name="文本框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99881" y="4936209"/>
                <a:ext cx="343043" cy="553998"/>
              </a:xfrm>
              <a:prstGeom prst="rect">
                <a:avLst/>
              </a:prstGeom>
              <a:blipFill rotWithShape="1">
                <a:blip r:embed="rId6"/>
                <a:stretch>
                  <a:fillRect l="-50" t="-64" r="-13792" b="11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2" name="矩形 11"/>
              <p:cNvSpPr/>
              <p:nvPr/>
            </p:nvSpPr>
            <p:spPr>
              <a:xfrm>
                <a:off x="6027909" y="4890042"/>
                <a:ext cx="527709" cy="64633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CN" altLang="en-US" sz="360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↓</m:t>
                      </m:r>
                    </m:oMath>
                  </m:oMathPara>
                </a14:m>
                <a:endParaRPr lang="zh-CN" altLang="en-US" sz="3600" dirty="0">
                  <a:solidFill>
                    <a:srgbClr val="002060"/>
                  </a:solidFill>
                </a:endParaRPr>
              </a:p>
            </p:txBody>
          </p:sp>
        </mc:Choice>
        <mc:Fallback>
          <p:sp>
            <p:nvSpPr>
              <p:cNvPr id="12" name="矩形 1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27909" y="4890042"/>
                <a:ext cx="527709" cy="646331"/>
              </a:xfrm>
              <a:prstGeom prst="rect">
                <a:avLst/>
              </a:prstGeom>
              <a:blipFill rotWithShape="1">
                <a:blip r:embed="rId7"/>
                <a:stretch>
                  <a:fillRect l="-93" t="-84" r="97" b="6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文本框 12"/>
          <p:cNvSpPr txBox="1"/>
          <p:nvPr/>
        </p:nvSpPr>
        <p:spPr>
          <a:xfrm>
            <a:off x="9617256" y="3059880"/>
            <a:ext cx="46038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3200" b="1" dirty="0" smtClean="0">
                <a:solidFill>
                  <a:srgbClr val="002060"/>
                </a:solidFill>
              </a:rPr>
              <a:t>A</a:t>
            </a:r>
            <a:endParaRPr lang="zh-CN" altLang="en-US" sz="3200" b="1" dirty="0">
              <a:solidFill>
                <a:srgbClr val="002060"/>
              </a:solidFill>
            </a:endParaRPr>
          </a:p>
        </p:txBody>
      </p:sp>
      <p:sp>
        <p:nvSpPr>
          <p:cNvPr id="2" name="文本框 1"/>
          <p:cNvSpPr txBox="1"/>
          <p:nvPr>
            <p:custDataLst>
              <p:tags r:id="rId8"/>
            </p:custDataLst>
          </p:nvPr>
        </p:nvSpPr>
        <p:spPr>
          <a:xfrm>
            <a:off x="701675" y="434975"/>
            <a:ext cx="4064000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3200" b="1">
                <a:gradFill>
                  <a:gsLst>
                    <a:gs pos="0">
                      <a:srgbClr val="007BD3"/>
                    </a:gs>
                    <a:gs pos="100000">
                      <a:srgbClr val="034373"/>
                    </a:gs>
                  </a:gsLst>
                  <a:lin scaled="0"/>
                </a:gradFill>
              </a:rPr>
              <a:t>练习</a:t>
            </a:r>
            <a:endParaRPr lang="zh-CN" altLang="en-US" sz="3200" b="1">
              <a:gradFill>
                <a:gsLst>
                  <a:gs pos="0">
                    <a:srgbClr val="007BD3"/>
                  </a:gs>
                  <a:gs pos="100000">
                    <a:srgbClr val="034373"/>
                  </a:gs>
                </a:gsLst>
                <a:lin scaled="0"/>
              </a:gra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</p:bldLst>
  </p:timing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81847" y="1463040"/>
            <a:ext cx="10705934" cy="33528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ags/tag1.xml><?xml version="1.0" encoding="utf-8"?>
<p:tagLst xmlns:p="http://schemas.openxmlformats.org/presentationml/2006/main">
  <p:tag name="KSO_WM_BEAUTIFY_FLAG" val=""/>
</p:tagLst>
</file>

<file path=ppt/tags/tag2.xml><?xml version="1.0" encoding="utf-8"?>
<p:tagLst xmlns:p="http://schemas.openxmlformats.org/presentationml/2006/main">
  <p:tag name="KSO_WM_BEAUTIFY_FLAG" val=""/>
</p:tagLst>
</file>

<file path=ppt/tags/tag3.xml><?xml version="1.0" encoding="utf-8"?>
<p:tagLst xmlns:p="http://schemas.openxmlformats.org/presentationml/2006/main">
  <p:tag name="KSO_WM_BEAUTIFY_FLAG" val=""/>
</p:tagLst>
</file>

<file path=ppt/tags/tag4.xml><?xml version="1.0" encoding="utf-8"?>
<p:tagLst xmlns:p="http://schemas.openxmlformats.org/presentationml/2006/main">
  <p:tag name="KSO_WM_BEAUTIFY_FLAG" val=""/>
</p:tagLst>
</file>

<file path=ppt/tags/tag5.xml><?xml version="1.0" encoding="utf-8"?>
<p:tagLst xmlns:p="http://schemas.openxmlformats.org/presentationml/2006/main">
  <p:tag name="KSO_WM_BEAUTIFY_FLAG" val=""/>
</p:tagLst>
</file>

<file path=ppt/tags/tag6.xml><?xml version="1.0" encoding="utf-8"?>
<p:tagLst xmlns:p="http://schemas.openxmlformats.org/presentationml/2006/main">
  <p:tag name="KSO_WM_BEAUTIFY_FLAG" val=""/>
</p:tagLst>
</file>

<file path=ppt/tags/tag7.xml><?xml version="1.0" encoding="utf-8"?>
<p:tagLst xmlns:p="http://schemas.openxmlformats.org/presentationml/2006/main">
  <p:tag name="KSO_WM_BEAUTIFY_FLAG" val=""/>
</p:tagLst>
</file>

<file path=ppt/tags/tag8.xml><?xml version="1.0" encoding="utf-8"?>
<p:tagLst xmlns:p="http://schemas.openxmlformats.org/presentationml/2006/main">
  <p:tag name="KSO_WM_BEAUTIFY_FLAG" val=""/>
</p:tagLst>
</file>

<file path=ppt/tags/tag9.xml><?xml version="1.0" encoding="utf-8"?>
<p:tagLst xmlns:p="http://schemas.openxmlformats.org/presentationml/2006/main">
  <p:tag name="KSO_WM_BEAUTIFY_FLAG" val=""/>
</p:tagLst>
</file>

<file path=ppt/tags/tag10.xml><?xml version="1.0" encoding="utf-8"?>
<p:tagLst xmlns:p="http://schemas.openxmlformats.org/presentationml/2006/main">
  <p:tag name="KSO_WM_BEAUTIFY_FLAG" val=""/>
</p:tagLst>
</file>

<file path=ppt/tags/tag11.xml><?xml version="1.0" encoding="utf-8"?>
<p:tagLst xmlns:p="http://schemas.openxmlformats.org/presentationml/2006/main">
  <p:tag name="KSO_WM_BEAUTIFY_FLAG" val=""/>
</p:tagLst>
</file>

<file path=ppt/tags/tag12.xml><?xml version="1.0" encoding="utf-8"?>
<p:tagLst xmlns:p="http://schemas.openxmlformats.org/presentationml/2006/main">
  <p:tag name="KSO_WM_BEAUTIFY_FLAG" val=""/>
</p:tagLst>
</file>

<file path=ppt/tags/tag13.xml><?xml version="1.0" encoding="utf-8"?>
<p:tagLst xmlns:p="http://schemas.openxmlformats.org/presentationml/2006/main">
  <p:tag name="KSO_WM_BEAUTIFY_FLAG" val=""/>
</p:tagLst>
</file>

<file path=ppt/tags/tag14.xml><?xml version="1.0" encoding="utf-8"?>
<p:tagLst xmlns:p="http://schemas.openxmlformats.org/presentationml/2006/main">
  <p:tag name="KSO_WM_BEAUTIFY_FLAG" val=""/>
</p:tagLst>
</file>

<file path=ppt/tags/tag15.xml><?xml version="1.0" encoding="utf-8"?>
<p:tagLst xmlns:p="http://schemas.openxmlformats.org/presentationml/2006/main">
  <p:tag name="KSO_WM_BEAUTIFY_FLAG" val=""/>
</p:tagLst>
</file>

<file path=ppt/tags/tag16.xml><?xml version="1.0" encoding="utf-8"?>
<p:tagLst xmlns:p="http://schemas.openxmlformats.org/presentationml/2006/main">
  <p:tag name="KSO_WM_BEAUTIFY_FLAG" val=""/>
</p:tagLst>
</file>

<file path=ppt/tags/tag17.xml><?xml version="1.0" encoding="utf-8"?>
<p:tagLst xmlns:p="http://schemas.openxmlformats.org/presentationml/2006/main">
  <p:tag name="KSO_WM_BEAUTIFY_FLAG" val=""/>
</p:tagLst>
</file>

<file path=ppt/tags/tag18.xml><?xml version="1.0" encoding="utf-8"?>
<p:tagLst xmlns:p="http://schemas.openxmlformats.org/presentationml/2006/main">
  <p:tag name="KSO_WM_BEAUTIFY_FLAG" val=""/>
</p:tagLst>
</file>

<file path=ppt/tags/tag19.xml><?xml version="1.0" encoding="utf-8"?>
<p:tagLst xmlns:p="http://schemas.openxmlformats.org/presentationml/2006/main">
  <p:tag name="KSO_WM_BEAUTIFY_FLAG" val=""/>
</p:tagLst>
</file>

<file path=ppt/tags/tag20.xml><?xml version="1.0" encoding="utf-8"?>
<p:tagLst xmlns:p="http://schemas.openxmlformats.org/presentationml/2006/main">
  <p:tag name="KSO_WM_BEAUTIFY_FLAG" val=""/>
</p:tagLst>
</file>

<file path=ppt/tags/tag21.xml><?xml version="1.0" encoding="utf-8"?>
<p:tagLst xmlns:p="http://schemas.openxmlformats.org/presentationml/2006/main">
  <p:tag name="KSO_WM_BEAUTIFY_FLAG" val=""/>
</p:tagLst>
</file>

<file path=ppt/tags/tag22.xml><?xml version="1.0" encoding="utf-8"?>
<p:tagLst xmlns:p="http://schemas.openxmlformats.org/presentationml/2006/main">
  <p:tag name="KSO_WM_BEAUTIFY_FLAG" val=""/>
</p:tagLst>
</file>

<file path=ppt/tags/tag23.xml><?xml version="1.0" encoding="utf-8"?>
<p:tagLst xmlns:p="http://schemas.openxmlformats.org/presentationml/2006/main">
  <p:tag name="KSO_WM_BEAUTIFY_FLAG" val=""/>
</p:tagLst>
</file>

<file path=ppt/tags/tag24.xml><?xml version="1.0" encoding="utf-8"?>
<p:tagLst xmlns:p="http://schemas.openxmlformats.org/presentationml/2006/main">
  <p:tag name="KSO_WM_BEAUTIFY_FLAG" val=""/>
</p:tagLst>
</file>

<file path=ppt/tags/tag25.xml><?xml version="1.0" encoding="utf-8"?>
<p:tagLst xmlns:p="http://schemas.openxmlformats.org/presentationml/2006/main">
  <p:tag name="KSO_WM_BEAUTIFY_FLAG" val=""/>
</p:tagLst>
</file>

<file path=ppt/tags/tag26.xml><?xml version="1.0" encoding="utf-8"?>
<p:tagLst xmlns:p="http://schemas.openxmlformats.org/presentationml/2006/main">
  <p:tag name="KSO_WM_BEAUTIFY_FLAG" val=""/>
</p:tagLst>
</file>

<file path=ppt/tags/tag27.xml><?xml version="1.0" encoding="utf-8"?>
<p:tagLst xmlns:p="http://schemas.openxmlformats.org/presentationml/2006/main">
  <p:tag name="KSO_WM_BEAUTIFY_FLAG" val=""/>
</p:tagLst>
</file>

<file path=ppt/tags/tag28.xml><?xml version="1.0" encoding="utf-8"?>
<p:tagLst xmlns:p="http://schemas.openxmlformats.org/presentationml/2006/main">
  <p:tag name="KSO_WM_BEAUTIFY_FLAG" val=""/>
</p:tagLst>
</file>

<file path=ppt/tags/tag29.xml><?xml version="1.0" encoding="utf-8"?>
<p:tagLst xmlns:p="http://schemas.openxmlformats.org/presentationml/2006/main">
  <p:tag name="KSO_WM_BEAUTIFY_FLAG" val=""/>
</p:tagLst>
</file>

<file path=ppt/tags/tag30.xml><?xml version="1.0" encoding="utf-8"?>
<p:tagLst xmlns:p="http://schemas.openxmlformats.org/presentationml/2006/main">
  <p:tag name="KSO_WM_BEAUTIFY_FLAG" val=""/>
</p:tagLst>
</file>

<file path=ppt/tags/tag31.xml><?xml version="1.0" encoding="utf-8"?>
<p:tagLst xmlns:p="http://schemas.openxmlformats.org/presentationml/2006/main">
  <p:tag name="KSO_WM_BEAUTIFY_FLAG" val=""/>
</p:tagLst>
</file>

<file path=ppt/tags/tag32.xml><?xml version="1.0" encoding="utf-8"?>
<p:tagLst xmlns:p="http://schemas.openxmlformats.org/presentationml/2006/main">
  <p:tag name="KSO_WM_BEAUTIFY_FLAG" val=""/>
</p:tagLst>
</file>

<file path=ppt/tags/tag33.xml><?xml version="1.0" encoding="utf-8"?>
<p:tagLst xmlns:p="http://schemas.openxmlformats.org/presentationml/2006/main">
  <p:tag name="KSO_WM_BEAUTIFY_FLAG" val=""/>
</p:tagLst>
</file>

<file path=ppt/tags/tag34.xml><?xml version="1.0" encoding="utf-8"?>
<p:tagLst xmlns:p="http://schemas.openxmlformats.org/presentationml/2006/main">
  <p:tag name="KSO_WM_BEAUTIFY_FLAG" val=""/>
</p:tagLst>
</file>

<file path=ppt/tags/tag35.xml><?xml version="1.0" encoding="utf-8"?>
<p:tagLst xmlns:p="http://schemas.openxmlformats.org/presentationml/2006/main">
  <p:tag name="KSO_WM_BEAUTIFY_FLAG" val=""/>
</p:tagLst>
</file>

<file path=ppt/tags/tag36.xml><?xml version="1.0" encoding="utf-8"?>
<p:tagLst xmlns:p="http://schemas.openxmlformats.org/presentationml/2006/main">
  <p:tag name="KSO_WM_BEAUTIFY_FLAG" val=""/>
</p:tagLst>
</file>

<file path=ppt/tags/tag37.xml><?xml version="1.0" encoding="utf-8"?>
<p:tagLst xmlns:p="http://schemas.openxmlformats.org/presentationml/2006/main">
  <p:tag name="KSO_WM_BEAUTIFY_FLAG" val=""/>
</p:tagLst>
</file>

<file path=ppt/tags/tag38.xml><?xml version="1.0" encoding="utf-8"?>
<p:tagLst xmlns:p="http://schemas.openxmlformats.org/presentationml/2006/main">
  <p:tag name="KSO_WM_BEAUTIFY_FLAG" val=""/>
</p:tagLst>
</file>

<file path=ppt/tags/tag39.xml><?xml version="1.0" encoding="utf-8"?>
<p:tagLst xmlns:p="http://schemas.openxmlformats.org/presentationml/2006/main">
  <p:tag name="KSO_WM_BEAUTIFY_FLAG" val=""/>
</p:tagLst>
</file>

<file path=ppt/tags/tag40.xml><?xml version="1.0" encoding="utf-8"?>
<p:tagLst xmlns:p="http://schemas.openxmlformats.org/presentationml/2006/main">
  <p:tag name="KSO_WM_BEAUTIFY_FLAG" val=""/>
</p:tagLst>
</file>

<file path=ppt/tags/tag41.xml><?xml version="1.0" encoding="utf-8"?>
<p:tagLst xmlns:p="http://schemas.openxmlformats.org/presentationml/2006/main">
  <p:tag name="KSO_WM_BEAUTIFY_FLAG" val=""/>
</p:tagLst>
</file>

<file path=ppt/tags/tag42.xml><?xml version="1.0" encoding="utf-8"?>
<p:tagLst xmlns:p="http://schemas.openxmlformats.org/presentationml/2006/main">
  <p:tag name="KSO_WM_BEAUTIFY_FLAG" val=""/>
</p:tagLst>
</file>

<file path=ppt/tags/tag43.xml><?xml version="1.0" encoding="utf-8"?>
<p:tagLst xmlns:p="http://schemas.openxmlformats.org/presentationml/2006/main">
  <p:tag name="KSO_WM_BEAUTIFY_FLAG" val=""/>
</p:tagLst>
</file>

<file path=ppt/tags/tag44.xml><?xml version="1.0" encoding="utf-8"?>
<p:tagLst xmlns:p="http://schemas.openxmlformats.org/presentationml/2006/main">
  <p:tag name="KSO_WM_BEAUTIFY_FLAG" val=""/>
</p:tagLst>
</file>

<file path=ppt/tags/tag45.xml><?xml version="1.0" encoding="utf-8"?>
<p:tagLst xmlns:p="http://schemas.openxmlformats.org/presentationml/2006/main">
  <p:tag name="KSO_WM_BEAUTIFY_FLAG" val=""/>
</p:tagLst>
</file>

<file path=ppt/tags/tag46.xml><?xml version="1.0" encoding="utf-8"?>
<p:tagLst xmlns:p="http://schemas.openxmlformats.org/presentationml/2006/main">
  <p:tag name="KSO_WM_BEAUTIFY_FLAG" val=""/>
</p:tagLst>
</file>

<file path=ppt/tags/tag47.xml><?xml version="1.0" encoding="utf-8"?>
<p:tagLst xmlns:p="http://schemas.openxmlformats.org/presentationml/2006/main">
  <p:tag name="KSO_WM_BEAUTIFY_FLAG" val=""/>
</p:tagLst>
</file>

<file path=ppt/tags/tag48.xml><?xml version="1.0" encoding="utf-8"?>
<p:tagLst xmlns:p="http://schemas.openxmlformats.org/presentationml/2006/main">
  <p:tag name="KSO_WM_BEAUTIFY_FLAG" val=""/>
</p:tagLst>
</file>

<file path=ppt/tags/tag49.xml><?xml version="1.0" encoding="utf-8"?>
<p:tagLst xmlns:p="http://schemas.openxmlformats.org/presentationml/2006/main">
  <p:tag name="KSO_WM_BEAUTIFY_FLAG" val=""/>
</p:tagLst>
</file>

<file path=ppt/tags/tag50.xml><?xml version="1.0" encoding="utf-8"?>
<p:tagLst xmlns:p="http://schemas.openxmlformats.org/presentationml/2006/main">
  <p:tag name="KSO_WM_BEAUTIFY_FLAG" val=""/>
</p:tagLst>
</file>

<file path=ppt/tags/tag51.xml><?xml version="1.0" encoding="utf-8"?>
<p:tagLst xmlns:p="http://schemas.openxmlformats.org/presentationml/2006/main">
  <p:tag name="KSO_WM_BEAUTIFY_FLAG" val=""/>
</p:tagLst>
</file>

<file path=ppt/tags/tag52.xml><?xml version="1.0" encoding="utf-8"?>
<p:tagLst xmlns:p="http://schemas.openxmlformats.org/presentationml/2006/main">
  <p:tag name="KSO_WM_BEAUTIFY_FLAG" val=""/>
</p:tagLst>
</file>

<file path=ppt/tags/tag53.xml><?xml version="1.0" encoding="utf-8"?>
<p:tagLst xmlns:p="http://schemas.openxmlformats.org/presentationml/2006/main">
  <p:tag name="KSO_WM_BEAUTIFY_FLAG" val=""/>
</p:tagLst>
</file>

<file path=ppt/tags/tag54.xml><?xml version="1.0" encoding="utf-8"?>
<p:tagLst xmlns:p="http://schemas.openxmlformats.org/presentationml/2006/main">
  <p:tag name="KSO_WM_BEAUTIFY_FLAG" val=""/>
</p:tagLst>
</file>

<file path=ppt/tags/tag55.xml><?xml version="1.0" encoding="utf-8"?>
<p:tagLst xmlns:p="http://schemas.openxmlformats.org/presentationml/2006/main">
  <p:tag name="KSO_WM_BEAUTIFY_FLAG" val=""/>
</p:tagLst>
</file>

<file path=ppt/tags/tag56.xml><?xml version="1.0" encoding="utf-8"?>
<p:tagLst xmlns:p="http://schemas.openxmlformats.org/presentationml/2006/main">
  <p:tag name="KSO_WM_BEAUTIFY_FLAG" val=""/>
</p:tagLst>
</file>

<file path=ppt/tags/tag57.xml><?xml version="1.0" encoding="utf-8"?>
<p:tagLst xmlns:p="http://schemas.openxmlformats.org/presentationml/2006/main">
  <p:tag name="KSO_WM_BEAUTIFY_FLAG" val=""/>
</p:tagLst>
</file>

<file path=ppt/tags/tag58.xml><?xml version="1.0" encoding="utf-8"?>
<p:tagLst xmlns:p="http://schemas.openxmlformats.org/presentationml/2006/main">
  <p:tag name="KSO_WM_BEAUTIFY_FLAG" val=""/>
</p:tagLst>
</file>

<file path=ppt/tags/tag59.xml><?xml version="1.0" encoding="utf-8"?>
<p:tagLst xmlns:p="http://schemas.openxmlformats.org/presentationml/2006/main">
  <p:tag name="KSO_WM_BEAUTIFY_FLAG" val=""/>
</p:tagLst>
</file>

<file path=ppt/tags/tag60.xml><?xml version="1.0" encoding="utf-8"?>
<p:tagLst xmlns:p="http://schemas.openxmlformats.org/presentationml/2006/main">
  <p:tag name="KSO_WM_BEAUTIFY_FLAG" val=""/>
</p:tagLst>
</file>

<file path=ppt/tags/tag61.xml><?xml version="1.0" encoding="utf-8"?>
<p:tagLst xmlns:p="http://schemas.openxmlformats.org/presentationml/2006/main">
  <p:tag name="KSO_WM_BEAUTIFY_FLAG" val=""/>
</p:tagLst>
</file>

<file path=ppt/tags/tag62.xml><?xml version="1.0" encoding="utf-8"?>
<p:tagLst xmlns:p="http://schemas.openxmlformats.org/presentationml/2006/main">
  <p:tag name="KSO_WM_BEAUTIFY_FLAG" val=""/>
</p:tagLst>
</file>

<file path=ppt/tags/tag63.xml><?xml version="1.0" encoding="utf-8"?>
<p:tagLst xmlns:p="http://schemas.openxmlformats.org/presentationml/2006/main">
  <p:tag name="KSO_WM_BEAUTIFY_FLAG" val=""/>
</p:tagLst>
</file>

<file path=ppt/tags/tag64.xml><?xml version="1.0" encoding="utf-8"?>
<p:tagLst xmlns:p="http://schemas.openxmlformats.org/presentationml/2006/main">
  <p:tag name="KSO_WM_BEAUTIFY_FLAG" val=""/>
</p:tagLst>
</file>

<file path=ppt/tags/tag65.xml><?xml version="1.0" encoding="utf-8"?>
<p:tagLst xmlns:p="http://schemas.openxmlformats.org/presentationml/2006/main">
  <p:tag name="KSO_WM_BEAUTIFY_FLAG" val=""/>
</p:tagLst>
</file>

<file path=ppt/tags/tag66.xml><?xml version="1.0" encoding="utf-8"?>
<p:tagLst xmlns:p="http://schemas.openxmlformats.org/presentationml/2006/main">
  <p:tag name="KSO_WM_BEAUTIFY_FLAG" val=""/>
</p:tagLst>
</file>

<file path=ppt/tags/tag67.xml><?xml version="1.0" encoding="utf-8"?>
<p:tagLst xmlns:p="http://schemas.openxmlformats.org/presentationml/2006/main">
  <p:tag name="KSO_WM_BEAUTIFY_FLAG" val=""/>
</p:tagLst>
</file>

<file path=ppt/tags/tag68.xml><?xml version="1.0" encoding="utf-8"?>
<p:tagLst xmlns:p="http://schemas.openxmlformats.org/presentationml/2006/main">
  <p:tag name="KSO_WM_BEAUTIFY_FLAG" val=""/>
</p:tagLst>
</file>

<file path=ppt/tags/tag69.xml><?xml version="1.0" encoding="utf-8"?>
<p:tagLst xmlns:p="http://schemas.openxmlformats.org/presentationml/2006/main">
  <p:tag name="KSO_WM_BEAUTIFY_FLAG" val=""/>
</p:tagLst>
</file>

<file path=ppt/tags/tag70.xml><?xml version="1.0" encoding="utf-8"?>
<p:tagLst xmlns:p="http://schemas.openxmlformats.org/presentationml/2006/main">
  <p:tag name="KSO_WM_BEAUTIFY_FLAG" val=""/>
</p:tagLst>
</file>

<file path=ppt/tags/tag71.xml><?xml version="1.0" encoding="utf-8"?>
<p:tagLst xmlns:p="http://schemas.openxmlformats.org/presentationml/2006/main">
  <p:tag name="KSO_WM_BEAUTIFY_FLAG" val=""/>
</p:tagLst>
</file>

<file path=ppt/tags/tag72.xml><?xml version="1.0" encoding="utf-8"?>
<p:tagLst xmlns:p="http://schemas.openxmlformats.org/presentationml/2006/main">
  <p:tag name="KSO_WM_BEAUTIFY_FLAG" val=""/>
</p:tagLst>
</file>

<file path=ppt/tags/tag73.xml><?xml version="1.0" encoding="utf-8"?>
<p:tagLst xmlns:p="http://schemas.openxmlformats.org/presentationml/2006/main">
  <p:tag name="KSO_WM_BEAUTIFY_FLAG" val=""/>
</p:tagLst>
</file>

<file path=ppt/tags/tag74.xml><?xml version="1.0" encoding="utf-8"?>
<p:tagLst xmlns:p="http://schemas.openxmlformats.org/presentationml/2006/main">
  <p:tag name="KSO_WM_BEAUTIFY_FLAG" val=""/>
</p:tagLst>
</file>

<file path=ppt/tags/tag75.xml><?xml version="1.0" encoding="utf-8"?>
<p:tagLst xmlns:p="http://schemas.openxmlformats.org/presentationml/2006/main">
  <p:tag name="KSO_WM_BEAUTIFY_FLAG" val=""/>
</p:tagLst>
</file>

<file path=ppt/tags/tag76.xml><?xml version="1.0" encoding="utf-8"?>
<p:tagLst xmlns:p="http://schemas.openxmlformats.org/presentationml/2006/main">
  <p:tag name="KSO_WM_BEAUTIFY_FLAG" val=""/>
</p:tagLst>
</file>

<file path=ppt/tags/tag77.xml><?xml version="1.0" encoding="utf-8"?>
<p:tagLst xmlns:p="http://schemas.openxmlformats.org/presentationml/2006/main">
  <p:tag name="KSO_WM_BEAUTIFY_FLAG" val=""/>
</p:tagLst>
</file>

<file path=ppt/tags/tag78.xml><?xml version="1.0" encoding="utf-8"?>
<p:tagLst xmlns:p="http://schemas.openxmlformats.org/presentationml/2006/main">
  <p:tag name="KSO_WM_BEAUTIFY_FLAG" val=""/>
</p:tagLst>
</file>

<file path=ppt/tags/tag79.xml><?xml version="1.0" encoding="utf-8"?>
<p:tagLst xmlns:p="http://schemas.openxmlformats.org/presentationml/2006/main">
  <p:tag name="KSO_WM_UNIT_PLACING_PICTURE_USER_VIEWPORT" val="{&quot;height&quot;:5388.355905511811,&quot;width&quot;:11443.113385826771}"/>
</p:tagLst>
</file>

<file path=ppt/tags/tag80.xml><?xml version="1.0" encoding="utf-8"?>
<p:tagLst xmlns:p="http://schemas.openxmlformats.org/presentationml/2006/main">
  <p:tag name="KSO_WM_BEAUTIFY_FLAG" val=""/>
</p:tagLst>
</file>

<file path=ppt/tags/tag81.xml><?xml version="1.0" encoding="utf-8"?>
<p:tagLst xmlns:p="http://schemas.openxmlformats.org/presentationml/2006/main">
  <p:tag name="KSO_WM_BEAUTIFY_FLAG" val=""/>
</p:tagLst>
</file>

<file path=ppt/tags/tag82.xml><?xml version="1.0" encoding="utf-8"?>
<p:tagLst xmlns:p="http://schemas.openxmlformats.org/presentationml/2006/main">
  <p:tag name="KSO_WM_BEAUTIFY_FLAG" val=""/>
</p:tagLst>
</file>

<file path=ppt/tags/tag83.xml><?xml version="1.0" encoding="utf-8"?>
<p:tagLst xmlns:p="http://schemas.openxmlformats.org/presentationml/2006/main">
  <p:tag name="KSO_WM_BEAUTIFY_FLAG" val=""/>
</p:tagLst>
</file>

<file path=ppt/tags/tag84.xml><?xml version="1.0" encoding="utf-8"?>
<p:tagLst xmlns:p="http://schemas.openxmlformats.org/presentationml/2006/main">
  <p:tag name="KSO_WM_BEAUTIFY_FLAG" val=""/>
</p:tagLst>
</file>

<file path=ppt/tags/tag85.xml><?xml version="1.0" encoding="utf-8"?>
<p:tagLst xmlns:p="http://schemas.openxmlformats.org/presentationml/2006/main">
  <p:tag name="KSO_WM_BEAUTIFY_FLAG" val=""/>
</p:tagLst>
</file>

<file path=ppt/tags/tag86.xml><?xml version="1.0" encoding="utf-8"?>
<p:tagLst xmlns:p="http://schemas.openxmlformats.org/presentationml/2006/main">
  <p:tag name="KSO_WM_BEAUTIFY_FLAG" val=""/>
</p:tagLst>
</file>

<file path=ppt/tags/tag87.xml><?xml version="1.0" encoding="utf-8"?>
<p:tagLst xmlns:p="http://schemas.openxmlformats.org/presentationml/2006/main">
  <p:tag name="KSO_WM_BEAUTIFY_FLAG" val=""/>
</p:tagLst>
</file>

<file path=ppt/tags/tag88.xml><?xml version="1.0" encoding="utf-8"?>
<p:tagLst xmlns:p="http://schemas.openxmlformats.org/presentationml/2006/main">
  <p:tag name="KSO_WM_BEAUTIFY_FLAG" val=""/>
</p:tagLst>
</file>

<file path=ppt/tags/tag89.xml><?xml version="1.0" encoding="utf-8"?>
<p:tagLst xmlns:p="http://schemas.openxmlformats.org/presentationml/2006/main">
  <p:tag name="KSO_WM_BEAUTIFY_FLAG" val=""/>
</p:tagLst>
</file>

<file path=ppt/tags/tag90.xml><?xml version="1.0" encoding="utf-8"?>
<p:tagLst xmlns:p="http://schemas.openxmlformats.org/presentationml/2006/main">
  <p:tag name="KSO_WM_BEAUTIFY_FLAG" val=""/>
</p:tagLst>
</file>

<file path=ppt/tags/tag91.xml><?xml version="1.0" encoding="utf-8"?>
<p:tagLst xmlns:p="http://schemas.openxmlformats.org/presentationml/2006/main">
  <p:tag name="KSO_WM_BEAUTIFY_FLAG" val=""/>
</p:tagLst>
</file>

<file path=ppt/tags/tag92.xml><?xml version="1.0" encoding="utf-8"?>
<p:tagLst xmlns:p="http://schemas.openxmlformats.org/presentationml/2006/main">
  <p:tag name="KSO_WM_BEAUTIFY_FLAG" val=""/>
</p:tagLst>
</file>

<file path=ppt/tags/tag93.xml><?xml version="1.0" encoding="utf-8"?>
<p:tagLst xmlns:p="http://schemas.openxmlformats.org/presentationml/2006/main">
  <p:tag name="KSO_WM_BEAUTIFY_FLAG" val=""/>
</p:tagLst>
</file>

<file path=ppt/tags/tag94.xml><?xml version="1.0" encoding="utf-8"?>
<p:tagLst xmlns:p="http://schemas.openxmlformats.org/presentationml/2006/main">
  <p:tag name="KSO_WM_BEAUTIFY_FLAG" val=""/>
</p:tagLst>
</file>

<file path=ppt/tags/tag95.xml><?xml version="1.0" encoding="utf-8"?>
<p:tagLst xmlns:p="http://schemas.openxmlformats.org/presentationml/2006/main">
  <p:tag name="KSO_WM_BEAUTIFY_FLAG" val=""/>
</p:tagLst>
</file>

<file path=ppt/tags/tag96.xml><?xml version="1.0" encoding="utf-8"?>
<p:tagLst xmlns:p="http://schemas.openxmlformats.org/presentationml/2006/main">
  <p:tag name="KSO_WM_BEAUTIFY_FLAG" val=""/>
</p:tagLst>
</file>

<file path=ppt/tags/tag97.xml><?xml version="1.0" encoding="utf-8"?>
<p:tagLst xmlns:p="http://schemas.openxmlformats.org/presentationml/2006/main">
  <p:tag name="KSO_WM_BEAUTIFY_FLAG" val=""/>
</p:tagLst>
</file>

<file path=ppt/tags/tag98.xml><?xml version="1.0" encoding="utf-8"?>
<p:tagLst xmlns:p="http://schemas.openxmlformats.org/presentationml/2006/main">
  <p:tag name="KSO_WM_BEAUTIFY_FLAG" val=""/>
</p:tagLst>
</file>

<file path=ppt/tags/tag99.xml><?xml version="1.0" encoding="utf-8"?>
<p:tagLst xmlns:p="http://schemas.openxmlformats.org/presentationml/2006/main">
  <p:tag name="KSO_WM_BEAUTIFY_FLAG" val=""/>
</p:tagLst>
</file>

<file path=ppt/tags/tag100.xml><?xml version="1.0" encoding="utf-8"?>
<p:tagLst xmlns:p="http://schemas.openxmlformats.org/presentationml/2006/main">
  <p:tag name="KSO_WM_BEAUTIFY_FLAG" val=""/>
</p:tagLst>
</file>

<file path=ppt/tags/tag101.xml><?xml version="1.0" encoding="utf-8"?>
<p:tagLst xmlns:p="http://schemas.openxmlformats.org/presentationml/2006/main">
  <p:tag name="KSO_WM_BEAUTIFY_FLAG" val=""/>
</p:tagLst>
</file>

<file path=ppt/tags/tag102.xml><?xml version="1.0" encoding="utf-8"?>
<p:tagLst xmlns:p="http://schemas.openxmlformats.org/presentationml/2006/main">
  <p:tag name="KSO_WM_BEAUTIFY_FLAG" val=""/>
</p:tagLst>
</file>

<file path=ppt/tags/tag103.xml><?xml version="1.0" encoding="utf-8"?>
<p:tagLst xmlns:p="http://schemas.openxmlformats.org/presentationml/2006/main">
  <p:tag name="KSO_WM_BEAUTIFY_FLAG" val=""/>
</p:tagLst>
</file>

<file path=ppt/tags/tag104.xml><?xml version="1.0" encoding="utf-8"?>
<p:tagLst xmlns:p="http://schemas.openxmlformats.org/presentationml/2006/main">
  <p:tag name="KSO_WM_BEAUTIFY_FLAG" val=""/>
</p:tagLst>
</file>

<file path=ppt/tags/tag105.xml><?xml version="1.0" encoding="utf-8"?>
<p:tagLst xmlns:p="http://schemas.openxmlformats.org/presentationml/2006/main">
  <p:tag name="KSO_WM_BEAUTIFY_FLAG" val=""/>
</p:tagLst>
</file>

<file path=ppt/tags/tag106.xml><?xml version="1.0" encoding="utf-8"?>
<p:tagLst xmlns:p="http://schemas.openxmlformats.org/presentationml/2006/main">
  <p:tag name="KSO_WM_BEAUTIFY_FLAG" val=""/>
</p:tagLst>
</file>

<file path=ppt/tags/tag107.xml><?xml version="1.0" encoding="utf-8"?>
<p:tagLst xmlns:p="http://schemas.openxmlformats.org/presentationml/2006/main">
  <p:tag name="KSO_WM_BEAUTIFY_FLAG" val=""/>
</p:tagLst>
</file>

<file path=ppt/tags/tag108.xml><?xml version="1.0" encoding="utf-8"?>
<p:tagLst xmlns:p="http://schemas.openxmlformats.org/presentationml/2006/main">
  <p:tag name="KSO_WM_BEAUTIFY_FLAG" val=""/>
</p:tagLst>
</file>

<file path=ppt/tags/tag109.xml><?xml version="1.0" encoding="utf-8"?>
<p:tagLst xmlns:p="http://schemas.openxmlformats.org/presentationml/2006/main">
  <p:tag name="KSO_WM_BEAUTIFY_FLAG" val=""/>
</p:tagLst>
</file>

<file path=ppt/tags/tag110.xml><?xml version="1.0" encoding="utf-8"?>
<p:tagLst xmlns:p="http://schemas.openxmlformats.org/presentationml/2006/main">
  <p:tag name="KSO_WM_BEAUTIFY_FLAG" val=""/>
</p:tagLst>
</file>

<file path=ppt/tags/tag111.xml><?xml version="1.0" encoding="utf-8"?>
<p:tagLst xmlns:p="http://schemas.openxmlformats.org/presentationml/2006/main">
  <p:tag name="KSO_WM_BEAUTIFY_FLAG" val=""/>
</p:tagLst>
</file>

<file path=ppt/tags/tag112.xml><?xml version="1.0" encoding="utf-8"?>
<p:tagLst xmlns:p="http://schemas.openxmlformats.org/presentationml/2006/main">
  <p:tag name="KSO_WM_BEAUTIFY_FLAG" val=""/>
</p:tagLst>
</file>

<file path=ppt/tags/tag113.xml><?xml version="1.0" encoding="utf-8"?>
<p:tagLst xmlns:p="http://schemas.openxmlformats.org/presentationml/2006/main">
  <p:tag name="KSO_WM_BEAUTIFY_FLAG" val=""/>
</p:tagLst>
</file>

<file path=ppt/tags/tag114.xml><?xml version="1.0" encoding="utf-8"?>
<p:tagLst xmlns:p="http://schemas.openxmlformats.org/presentationml/2006/main">
  <p:tag name="KSO_WM_BEAUTIFY_FLAG" val=""/>
</p:tagLst>
</file>

<file path=ppt/tags/tag115.xml><?xml version="1.0" encoding="utf-8"?>
<p:tagLst xmlns:p="http://schemas.openxmlformats.org/presentationml/2006/main">
  <p:tag name="KSO_WM_BEAUTIFY_FLAG" val=""/>
</p:tagLst>
</file>

<file path=ppt/tags/tag116.xml><?xml version="1.0" encoding="utf-8"?>
<p:tagLst xmlns:p="http://schemas.openxmlformats.org/presentationml/2006/main">
  <p:tag name="KSO_WM_BEAUTIFY_FLAG" val=""/>
</p:tagLst>
</file>

<file path=ppt/tags/tag117.xml><?xml version="1.0" encoding="utf-8"?>
<p:tagLst xmlns:p="http://schemas.openxmlformats.org/presentationml/2006/main">
  <p:tag name="KSO_WM_BEAUTIFY_FLAG" val=""/>
</p:tagLst>
</file>

<file path=ppt/tags/tag118.xml><?xml version="1.0" encoding="utf-8"?>
<p:tagLst xmlns:p="http://schemas.openxmlformats.org/presentationml/2006/main">
  <p:tag name="KSO_WM_BEAUTIFY_FLAG" val=""/>
</p:tagLst>
</file>

<file path=ppt/tags/tag119.xml><?xml version="1.0" encoding="utf-8"?>
<p:tagLst xmlns:p="http://schemas.openxmlformats.org/presentationml/2006/main">
  <p:tag name="KSO_WM_BEAUTIFY_FLAG" val=""/>
</p:tagLst>
</file>

<file path=ppt/tags/tag120.xml><?xml version="1.0" encoding="utf-8"?>
<p:tagLst xmlns:p="http://schemas.openxmlformats.org/presentationml/2006/main">
  <p:tag name="KSO_WM_BEAUTIFY_FLAG" val=""/>
</p:tagLst>
</file>

<file path=ppt/tags/tag121.xml><?xml version="1.0" encoding="utf-8"?>
<p:tagLst xmlns:p="http://schemas.openxmlformats.org/presentationml/2006/main">
  <p:tag name="KSO_WM_BEAUTIFY_FLAG" val=""/>
</p:tagLst>
</file>

<file path=ppt/tags/tag122.xml><?xml version="1.0" encoding="utf-8"?>
<p:tagLst xmlns:p="http://schemas.openxmlformats.org/presentationml/2006/main">
  <p:tag name="KSO_WM_BEAUTIFY_FLAG" val=""/>
</p:tagLst>
</file>

<file path=ppt/tags/tag123.xml><?xml version="1.0" encoding="utf-8"?>
<p:tagLst xmlns:p="http://schemas.openxmlformats.org/presentationml/2006/main">
  <p:tag name="KSO_WM_BEAUTIFY_FLAG" val=""/>
</p:tagLst>
</file>

<file path=ppt/tags/tag124.xml><?xml version="1.0" encoding="utf-8"?>
<p:tagLst xmlns:p="http://schemas.openxmlformats.org/presentationml/2006/main">
  <p:tag name="KSO_WM_BEAUTIFY_FLAG" val=""/>
</p:tagLst>
</file>

<file path=ppt/tags/tag125.xml><?xml version="1.0" encoding="utf-8"?>
<p:tagLst xmlns:p="http://schemas.openxmlformats.org/presentationml/2006/main">
  <p:tag name="KSO_WM_BEAUTIFY_FLAG" val=""/>
</p:tagLst>
</file>

<file path=ppt/tags/tag126.xml><?xml version="1.0" encoding="utf-8"?>
<p:tagLst xmlns:p="http://schemas.openxmlformats.org/presentationml/2006/main">
  <p:tag name="KSO_WM_BEAUTIFY_FLAG" val=""/>
</p:tagLst>
</file>

<file path=ppt/tags/tag127.xml><?xml version="1.0" encoding="utf-8"?>
<p:tagLst xmlns:p="http://schemas.openxmlformats.org/presentationml/2006/main">
  <p:tag name="KSO_WM_BEAUTIFY_FLAG" val=""/>
</p:tagLst>
</file>

<file path=ppt/tags/tag128.xml><?xml version="1.0" encoding="utf-8"?>
<p:tagLst xmlns:p="http://schemas.openxmlformats.org/presentationml/2006/main">
  <p:tag name="KSO_WM_BEAUTIFY_FLAG" val=""/>
</p:tagLst>
</file>

<file path=ppt/tags/tag129.xml><?xml version="1.0" encoding="utf-8"?>
<p:tagLst xmlns:p="http://schemas.openxmlformats.org/presentationml/2006/main">
  <p:tag name="KSO_WM_BEAUTIFY_FLAG" val=""/>
</p:tagLst>
</file>

<file path=ppt/tags/tag130.xml><?xml version="1.0" encoding="utf-8"?>
<p:tagLst xmlns:p="http://schemas.openxmlformats.org/presentationml/2006/main">
  <p:tag name="KSO_WM_BEAUTIFY_FLAG" val=""/>
</p:tagLst>
</file>

<file path=ppt/tags/tag131.xml><?xml version="1.0" encoding="utf-8"?>
<p:tagLst xmlns:p="http://schemas.openxmlformats.org/presentationml/2006/main">
  <p:tag name="KSO_WM_BEAUTIFY_FLAG" val=""/>
</p:tagLst>
</file>

<file path=ppt/tags/tag132.xml><?xml version="1.0" encoding="utf-8"?>
<p:tagLst xmlns:p="http://schemas.openxmlformats.org/presentationml/2006/main">
  <p:tag name="KSO_WM_BEAUTIFY_FLAG" val=""/>
</p:tagLst>
</file>

<file path=ppt/tags/tag133.xml><?xml version="1.0" encoding="utf-8"?>
<p:tagLst xmlns:p="http://schemas.openxmlformats.org/presentationml/2006/main">
  <p:tag name="KSO_WPP_MARK_KEY" val="929315de-a711-46b1-a241-6c3ef16b4a5f"/>
  <p:tag name="COMMONDATA" val="eyJoZGlkIjoiMWNlNThjZWFhZjdhZGQ4MTk1OWU5MjAwMjhlYmYyZDMifQ=="/>
</p:tagLst>
</file>

<file path=ppt/theme/theme1.xml><?xml version="1.0" encoding="utf-8"?>
<a:theme xmlns:a="http://schemas.openxmlformats.org/drawingml/2006/main" name="Office Theme">
  <a:themeElements>
    <a:clrScheme name="Office 主题​​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主题​​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大都市</Template>
  <TotalTime>0</TotalTime>
  <Words>8547</Words>
  <Application>WPS 演示</Application>
  <PresentationFormat>宽屏</PresentationFormat>
  <Paragraphs>1130</Paragraphs>
  <Slides>84</Slides>
  <Notes>0</Notes>
  <HiddenSlides>0</HiddenSlides>
  <MMClips>0</MMClips>
  <ScaleCrop>false</ScaleCrop>
  <HeadingPairs>
    <vt:vector size="8" baseType="variant">
      <vt:variant>
        <vt:lpstr>已用的字体</vt:lpstr>
      </vt:variant>
      <vt:variant>
        <vt:i4>18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55</vt:i4>
      </vt:variant>
      <vt:variant>
        <vt:lpstr>幻灯片标题</vt:lpstr>
      </vt:variant>
      <vt:variant>
        <vt:i4>84</vt:i4>
      </vt:variant>
    </vt:vector>
  </HeadingPairs>
  <TitlesOfParts>
    <vt:vector size="158" baseType="lpstr">
      <vt:lpstr>Arial</vt:lpstr>
      <vt:lpstr>宋体</vt:lpstr>
      <vt:lpstr>Wingdings</vt:lpstr>
      <vt:lpstr>等线</vt:lpstr>
      <vt:lpstr>Times New Roman</vt:lpstr>
      <vt:lpstr>Cambria Math</vt:lpstr>
      <vt:lpstr>微软雅黑</vt:lpstr>
      <vt:lpstr>Arial Unicode MS</vt:lpstr>
      <vt:lpstr>等线 Light</vt:lpstr>
      <vt:lpstr>Calibri Light</vt:lpstr>
      <vt:lpstr>Calibri</vt:lpstr>
      <vt:lpstr>MS Mincho</vt:lpstr>
      <vt:lpstr>Cambria Math</vt:lpstr>
      <vt:lpstr>楷体_GB2312</vt:lpstr>
      <vt:lpstr>新宋体</vt:lpstr>
      <vt:lpstr>Verdana</vt:lpstr>
      <vt:lpstr>Tahoma</vt:lpstr>
      <vt:lpstr>Segoe Print</vt:lpstr>
      <vt:lpstr>Office Theme</vt:lpstr>
      <vt:lpstr>Equation.DSMT4</vt:lpstr>
      <vt:lpstr>Equation.DSMT4</vt:lpstr>
      <vt:lpstr>Equation.DSMT4</vt:lpstr>
      <vt:lpstr>Equation.DSMT4</vt:lpstr>
      <vt:lpstr>Equation.DSMT4</vt:lpstr>
      <vt:lpstr>Equation.3</vt:lpstr>
      <vt:lpstr>Equation.3</vt:lpstr>
      <vt:lpstr>Equation.3</vt:lpstr>
      <vt:lpstr>Equation.3</vt:lpstr>
      <vt:lpstr>Equation.DSMT4</vt:lpstr>
      <vt:lpstr>Equation.DSMT4</vt:lpstr>
      <vt:lpstr>Equation.DSMT4</vt:lpstr>
      <vt:lpstr>Equation.KSEE3</vt:lpstr>
      <vt:lpstr>Equation.DSMT4</vt:lpstr>
      <vt:lpstr>Equation.DSMT4</vt:lpstr>
      <vt:lpstr>Equation.3</vt:lpstr>
      <vt:lpstr>Equation.DSMT4</vt:lpstr>
      <vt:lpstr>Equation.DSMT4</vt:lpstr>
      <vt:lpstr>Equation.3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Equation.3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Equation.3</vt:lpstr>
      <vt:lpstr>Equation.3</vt:lpstr>
      <vt:lpstr>Equation.3</vt:lpstr>
      <vt:lpstr>Equation.KSEE3</vt:lpstr>
      <vt:lpstr>Equation.KSEE3</vt:lpstr>
      <vt:lpstr>Equation.KSEE3</vt:lpstr>
      <vt:lpstr>Equation.3</vt:lpstr>
      <vt:lpstr>Equation.3</vt:lpstr>
      <vt:lpstr>Equation.3</vt:lpstr>
      <vt:lpstr>Equation.DSMT4</vt:lpstr>
      <vt:lpstr>Equation.3</vt:lpstr>
      <vt:lpstr>Equation.3</vt:lpstr>
      <vt:lpstr>Equation.3</vt:lpstr>
      <vt:lpstr>Equation.3</vt:lpstr>
      <vt:lpstr>Equation.3</vt:lpstr>
      <vt:lpstr>Equation.3</vt:lpstr>
      <vt:lpstr>Equation.DSMT4</vt:lpstr>
      <vt:lpstr>Equation.DSMT4</vt:lpstr>
      <vt:lpstr>Equation.DSMT4</vt:lpstr>
      <vt:lpstr>Equation.DSMT4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Lenovo</dc:creator>
  <cp:lastModifiedBy>aegean</cp:lastModifiedBy>
  <cp:revision>132</cp:revision>
  <cp:lastPrinted>2021-12-17T12:38:00Z</cp:lastPrinted>
  <dcterms:created xsi:type="dcterms:W3CDTF">2021-12-12T02:30:00Z</dcterms:created>
  <dcterms:modified xsi:type="dcterms:W3CDTF">2023-07-31T08:13:36Z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462A2BDEAE054AB6969B83D0058CB561_13</vt:lpwstr>
  </property>
  <property fmtid="{D5CDD505-2E9C-101B-9397-08002B2CF9AE}" pid="3" name="KSOProductBuildVer">
    <vt:lpwstr>2052-11.1.0.14309</vt:lpwstr>
  </property>
</Properties>
</file>