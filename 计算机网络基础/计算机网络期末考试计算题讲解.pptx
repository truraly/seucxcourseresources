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7" r:id="rId3"/>
    <p:sldId id="1086" r:id="rId4"/>
    <p:sldId id="1087" r:id="rId5"/>
    <p:sldId id="1096" r:id="rId6"/>
    <p:sldId id="1094" r:id="rId7"/>
    <p:sldId id="1097" r:id="rId8"/>
    <p:sldId id="1088" r:id="rId9"/>
    <p:sldId id="1098" r:id="rId10"/>
    <p:sldId id="1101" r:id="rId11"/>
    <p:sldId id="1089" r:id="rId12"/>
    <p:sldId id="1099" r:id="rId13"/>
    <p:sldId id="1090" r:id="rId14"/>
    <p:sldId id="1100" r:id="rId15"/>
    <p:sldId id="1091" r:id="rId16"/>
    <p:sldId id="1102" r:id="rId17"/>
    <p:sldId id="1092" r:id="rId18"/>
    <p:sldId id="1103" r:id="rId19"/>
    <p:sldId id="1095" r:id="rId20"/>
    <p:sldId id="1104" r:id="rId21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" userDrawn="1">
          <p15:clr>
            <a:srgbClr val="A4A3A4"/>
          </p15:clr>
        </p15:guide>
        <p15:guide id="2" pos="29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FFFF00"/>
    <a:srgbClr val="00FF99"/>
    <a:srgbClr val="0000CC"/>
    <a:srgbClr val="FFFF99"/>
    <a:srgbClr val="A50021"/>
    <a:srgbClr val="CC6600"/>
    <a:srgbClr val="FF66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73893" autoAdjust="0"/>
  </p:normalViewPr>
  <p:slideViewPr>
    <p:cSldViewPr snapToGrid="0" showGuides="1">
      <p:cViewPr varScale="1">
        <p:scale>
          <a:sx n="87" d="100"/>
          <a:sy n="87" d="100"/>
        </p:scale>
        <p:origin x="-1110" y="-78"/>
      </p:cViewPr>
      <p:guideLst>
        <p:guide orient="horz" pos="1612"/>
        <p:guide pos="29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22.xml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GIF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ine 3"/>
          <p:cNvSpPr>
            <a:spLocks noChangeShapeType="1"/>
          </p:cNvSpPr>
          <p:nvPr userDrawn="1"/>
        </p:nvSpPr>
        <p:spPr bwMode="auto">
          <a:xfrm>
            <a:off x="1266568" y="4803998"/>
            <a:ext cx="6942395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9"/>
          <p:cNvSpPr>
            <a:spLocks noChangeArrowheads="1"/>
          </p:cNvSpPr>
          <p:nvPr userDrawn="1"/>
        </p:nvSpPr>
        <p:spPr bwMode="auto">
          <a:xfrm>
            <a:off x="8208962" y="4394656"/>
            <a:ext cx="609917" cy="60991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endParaRPr lang="fr-FR">
              <a:cs typeface="Arial" panose="02080604020202020204" pitchFamily="34" charset="0"/>
            </a:endParaRPr>
          </a:p>
        </p:txBody>
      </p:sp>
      <p:sp>
        <p:nvSpPr>
          <p:cNvPr id="20" name="Line 3"/>
          <p:cNvSpPr>
            <a:spLocks noChangeShapeType="1"/>
          </p:cNvSpPr>
          <p:nvPr userDrawn="1"/>
        </p:nvSpPr>
        <p:spPr bwMode="auto">
          <a:xfrm>
            <a:off x="0" y="428092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4262908" y="123478"/>
            <a:ext cx="598868" cy="465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Line 3"/>
          <p:cNvSpPr>
            <a:spLocks noChangeShapeType="1"/>
          </p:cNvSpPr>
          <p:nvPr userDrawn="1"/>
        </p:nvSpPr>
        <p:spPr bwMode="auto">
          <a:xfrm>
            <a:off x="0" y="301530"/>
            <a:ext cx="2835464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2793115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6" name="Line 3"/>
          <p:cNvSpPr>
            <a:spLocks noChangeShapeType="1"/>
          </p:cNvSpPr>
          <p:nvPr userDrawn="1"/>
        </p:nvSpPr>
        <p:spPr bwMode="auto">
          <a:xfrm>
            <a:off x="5713428" y="301530"/>
            <a:ext cx="3430572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7" name="椭圆 26"/>
          <p:cNvSpPr/>
          <p:nvPr userDrawn="1"/>
        </p:nvSpPr>
        <p:spPr>
          <a:xfrm>
            <a:off x="5710547" y="259181"/>
            <a:ext cx="84698" cy="84698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</a:ln>
        </p:spPr>
        <p:txBody>
          <a:bodyPr/>
          <a:lstStyle/>
          <a:p>
            <a:pPr lvl="0"/>
            <a:endParaRPr lang="zh-CN" altLang="en-US">
              <a:solidFill>
                <a:schemeClr val="tx1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827" y="149234"/>
            <a:ext cx="358346" cy="4586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655443" y="1180997"/>
            <a:ext cx="6469380" cy="17837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计算机网络期末复习</a:t>
            </a:r>
            <a:endParaRPr lang="zh-CN" altLang="en-US" sz="5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计算题讲解</a:t>
            </a:r>
            <a:endParaRPr lang="zh-CN" altLang="en-US" sz="5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2236788"/>
            <a:ext cx="2749685" cy="3175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3240718" y="-155"/>
            <a:ext cx="8053711" cy="45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计算题</a:t>
            </a:r>
            <a:endParaRPr 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227643" y="552930"/>
            <a:ext cx="8053711" cy="3322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在CDMA通信中，已知4个站的码片序列如下：</a:t>
            </a:r>
            <a:endParaRPr 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endParaRPr 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A：（+1+1+1-1-1+1-1-1） </a:t>
            </a:r>
            <a:endParaRPr 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B：（+1+1-1+1-1-1-1+1）</a:t>
            </a:r>
            <a:endParaRPr 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C：（+1-1+1-1-1-1+1+1） </a:t>
            </a:r>
            <a:endParaRPr 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D：（+1-1+1+1+1+1-1+1）</a:t>
            </a:r>
            <a:endParaRPr 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endParaRPr 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若接收端的叠加信号是： -2  -2  0  +2  +4  +2  0  0   ，请将A、B、C、D的发送情况按次序写入填空中。</a:t>
            </a:r>
            <a:endParaRPr 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2885" y="511810"/>
            <a:ext cx="6563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解：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接收端叠加信号：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-2  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-2  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  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+2  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+4  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+2 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0  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200" y="1022985"/>
            <a:ext cx="70250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A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站码片序列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endParaRPr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3520" y="1534160"/>
            <a:ext cx="89211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叠加信号与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站内积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-2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-2     0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   0    0  =-1  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7835" y="1902460"/>
            <a:ext cx="69742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B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站码片序列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endParaRPr 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4950" y="2270760"/>
            <a:ext cx="89090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叠加信号与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站内积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-2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-2     0    +2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   -2    0    0  =-1  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44005" y="1022985"/>
            <a:ext cx="18675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站发了二进制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59880" y="1902460"/>
            <a:ext cx="18516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站发了二进制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7835" y="2639060"/>
            <a:ext cx="69742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C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站码片序列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endParaRPr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2885" y="3007360"/>
            <a:ext cx="89211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叠加信号与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站内积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-2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+2     0    -2 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   -2     0    0  =-1  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7835" y="3375660"/>
            <a:ext cx="70243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D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站码片序列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</a:t>
            </a:r>
            <a:endParaRPr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3520" y="3827780"/>
            <a:ext cx="89128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叠加信号与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站内积</a:t>
            </a:r>
            <a:r>
              <a:rPr 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-2</a:t>
            </a:r>
            <a:r>
              <a:rPr 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+2     0    +2    +4   +2   0   0  =1  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786880" y="2639060"/>
            <a:ext cx="18491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站发了二进制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86880" y="3375660"/>
            <a:ext cx="187642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站发了二进制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3240718" y="-155"/>
            <a:ext cx="8053711" cy="45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计算题</a:t>
            </a:r>
            <a:endParaRPr 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227643" y="503400"/>
            <a:ext cx="8053711" cy="2605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练习题：已知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个站进行码分多址通信。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个站的码片序列为</a:t>
            </a:r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：（－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：（－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：（－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：（－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发送了二进制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发送了二进制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请将接收端的叠加信号写入填空中。</a:t>
            </a:r>
            <a:endParaRPr 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8288" y="3315056"/>
            <a:ext cx="5450668" cy="418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Clr>
                <a:srgbClr val="0070C0"/>
              </a:buClr>
            </a:pP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-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0    2     4     2     0     0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8135" y="494665"/>
            <a:ext cx="866838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要发送的数据为</a:t>
            </a:r>
            <a:r>
              <a:rPr lang="en-US" altLang="zh-CN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101001</a:t>
            </a:r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CRC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的生成多项式是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P(X)=</a:t>
            </a:r>
            <a:r>
              <a:rPr lang="en-US" altLang="zh-CN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en-US" altLang="zh-CN" b="1" baseline="30000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en-US" altLang="zh-CN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+X</a:t>
            </a:r>
            <a:r>
              <a:rPr lang="en-US" altLang="zh-CN" b="1" baseline="30000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。试求应添加在数据后面的余数</a:t>
            </a:r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79508" y="1214857"/>
            <a:ext cx="466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解：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476655" y="1357037"/>
            <a:ext cx="6171053" cy="3644454"/>
            <a:chOff x="669696" y="1204869"/>
            <a:chExt cx="8778542" cy="5056277"/>
          </a:xfrm>
        </p:grpSpPr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669696" y="1645619"/>
              <a:ext cx="1160847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5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除数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5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2351435" y="1644427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1101</a:t>
              </a:r>
              <a:endPara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Rectangle 6"/>
            <p:cNvSpPr>
              <a:spLocks noChangeArrowheads="1"/>
            </p:cNvSpPr>
            <p:nvPr/>
          </p:nvSpPr>
          <p:spPr bwMode="auto">
            <a:xfrm>
              <a:off x="4067523" y="1206277"/>
              <a:ext cx="1421987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110100</a:t>
              </a:r>
              <a:endPara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3483322" y="1641251"/>
              <a:ext cx="2386013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101001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</a:t>
              </a:r>
              <a:endParaRPr lang="en-US" altLang="zh-CN" sz="15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5993010" y="1664374"/>
              <a:ext cx="2316906" cy="37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5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1500" b="1" i="1" baseline="30000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</a:t>
              </a:r>
              <a:r>
                <a:rPr lang="en-US" altLang="zh-CN" sz="15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被除数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5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3483322" y="1993677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1101</a:t>
              </a:r>
              <a:endParaRPr lang="en-US" altLang="zh-CN" sz="15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3691285" y="2395314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1110</a:t>
              </a:r>
              <a:endPara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3688109" y="2706463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1101</a:t>
              </a:r>
              <a:endParaRPr lang="en-US" altLang="zh-CN" sz="15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3892897" y="3096989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0111</a:t>
              </a:r>
              <a:endPara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Rectangle 13"/>
            <p:cNvSpPr>
              <a:spLocks noChangeArrowheads="1"/>
            </p:cNvSpPr>
            <p:nvPr/>
          </p:nvSpPr>
          <p:spPr bwMode="auto">
            <a:xfrm>
              <a:off x="3892897" y="3401788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0000</a:t>
              </a:r>
              <a:endPara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4086571" y="3787551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1110</a:t>
              </a:r>
              <a:endPara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Rectangle 15"/>
            <p:cNvSpPr>
              <a:spLocks noChangeArrowheads="1"/>
            </p:cNvSpPr>
            <p:nvPr/>
          </p:nvSpPr>
          <p:spPr bwMode="auto">
            <a:xfrm>
              <a:off x="4083397" y="4116166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1101</a:t>
              </a:r>
              <a:endParaRPr lang="en-US" altLang="zh-CN" sz="15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ctangle 16"/>
            <p:cNvSpPr>
              <a:spLocks noChangeArrowheads="1"/>
            </p:cNvSpPr>
            <p:nvPr/>
          </p:nvSpPr>
          <p:spPr bwMode="auto">
            <a:xfrm>
              <a:off x="4285011" y="4463826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0110</a:t>
              </a:r>
              <a:endPara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Rectangle 17"/>
            <p:cNvSpPr>
              <a:spLocks noChangeArrowheads="1"/>
            </p:cNvSpPr>
            <p:nvPr/>
          </p:nvSpPr>
          <p:spPr bwMode="auto">
            <a:xfrm>
              <a:off x="4285011" y="4787677"/>
              <a:ext cx="767422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0000</a:t>
              </a:r>
              <a:endPara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18"/>
            <p:cNvSpPr>
              <a:spLocks noChangeArrowheads="1"/>
            </p:cNvSpPr>
            <p:nvPr/>
          </p:nvSpPr>
          <p:spPr bwMode="auto">
            <a:xfrm>
              <a:off x="4451021" y="5140103"/>
              <a:ext cx="767423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1100</a:t>
              </a:r>
              <a:endPara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19"/>
            <p:cNvSpPr>
              <a:spLocks noChangeArrowheads="1"/>
            </p:cNvSpPr>
            <p:nvPr/>
          </p:nvSpPr>
          <p:spPr bwMode="auto">
            <a:xfrm>
              <a:off x="4448079" y="5467128"/>
              <a:ext cx="767423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1101</a:t>
              </a:r>
              <a:endPara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Rectangle 20"/>
            <p:cNvSpPr>
              <a:spLocks noChangeArrowheads="1"/>
            </p:cNvSpPr>
            <p:nvPr/>
          </p:nvSpPr>
          <p:spPr bwMode="auto">
            <a:xfrm>
              <a:off x="4689410" y="5876703"/>
              <a:ext cx="575567" cy="384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001</a:t>
              </a:r>
              <a:endParaRPr lang="en-US" altLang="zh-CN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6071115" y="5846473"/>
              <a:ext cx="3377123" cy="373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5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5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余数</a:t>
              </a:r>
              <a:r>
                <a:rPr lang="en-US" altLang="zh-CN" sz="15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5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，作为 </a:t>
              </a:r>
              <a:r>
                <a:rPr lang="en-US" altLang="zh-CN" sz="1500" b="1" dirty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FCS</a:t>
              </a:r>
              <a:endParaRPr lang="en-US" altLang="zh-CN" sz="15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22"/>
            <p:cNvSpPr/>
            <p:nvPr/>
          </p:nvSpPr>
          <p:spPr bwMode="auto">
            <a:xfrm>
              <a:off x="3199160" y="1626964"/>
              <a:ext cx="2600325" cy="454025"/>
            </a:xfrm>
            <a:custGeom>
              <a:avLst/>
              <a:gdLst>
                <a:gd name="T0" fmla="*/ 0 w 944"/>
                <a:gd name="T1" fmla="*/ 2147483647 h 134"/>
                <a:gd name="T2" fmla="*/ 2147483647 w 944"/>
                <a:gd name="T3" fmla="*/ 2147483647 h 134"/>
                <a:gd name="T4" fmla="*/ 2147483647 w 944"/>
                <a:gd name="T5" fmla="*/ 2147483647 h 134"/>
                <a:gd name="T6" fmla="*/ 2147483647 w 944"/>
                <a:gd name="T7" fmla="*/ 2147483647 h 134"/>
                <a:gd name="T8" fmla="*/ 2147483647 w 944"/>
                <a:gd name="T9" fmla="*/ 2147483647 h 134"/>
                <a:gd name="T10" fmla="*/ 2147483647 w 944"/>
                <a:gd name="T11" fmla="*/ 2147483647 h 134"/>
                <a:gd name="T12" fmla="*/ 2147483647 w 944"/>
                <a:gd name="T13" fmla="*/ 2147483647 h 134"/>
                <a:gd name="T14" fmla="*/ 2147483647 w 944"/>
                <a:gd name="T15" fmla="*/ 2147483647 h 134"/>
                <a:gd name="T16" fmla="*/ 2147483647 w 944"/>
                <a:gd name="T17" fmla="*/ 2147483647 h 134"/>
                <a:gd name="T18" fmla="*/ 2147483647 w 944"/>
                <a:gd name="T19" fmla="*/ 2147483647 h 134"/>
                <a:gd name="T20" fmla="*/ 2147483647 w 944"/>
                <a:gd name="T21" fmla="*/ 2147483647 h 134"/>
                <a:gd name="T22" fmla="*/ 2147483647 w 944"/>
                <a:gd name="T23" fmla="*/ 2147483647 h 134"/>
                <a:gd name="T24" fmla="*/ 2147483647 w 944"/>
                <a:gd name="T25" fmla="*/ 2147483647 h 134"/>
                <a:gd name="T26" fmla="*/ 2147483647 w 944"/>
                <a:gd name="T27" fmla="*/ 2147483647 h 134"/>
                <a:gd name="T28" fmla="*/ 2147483647 w 944"/>
                <a:gd name="T29" fmla="*/ 2147483647 h 134"/>
                <a:gd name="T30" fmla="*/ 2147483647 w 944"/>
                <a:gd name="T31" fmla="*/ 2147483647 h 134"/>
                <a:gd name="T32" fmla="*/ 2147483647 w 944"/>
                <a:gd name="T33" fmla="*/ 2147483647 h 134"/>
                <a:gd name="T34" fmla="*/ 2147483647 w 944"/>
                <a:gd name="T35" fmla="*/ 2147483647 h 134"/>
                <a:gd name="T36" fmla="*/ 2147483647 w 944"/>
                <a:gd name="T37" fmla="*/ 0 h 134"/>
                <a:gd name="T38" fmla="*/ 2147483647 w 944"/>
                <a:gd name="T39" fmla="*/ 0 h 134"/>
                <a:gd name="T40" fmla="*/ 2147483647 w 944"/>
                <a:gd name="T41" fmla="*/ 0 h 134"/>
                <a:gd name="T42" fmla="*/ 2147483647 w 944"/>
                <a:gd name="T43" fmla="*/ 0 h 1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944" h="134">
                  <a:moveTo>
                    <a:pt x="0" y="134"/>
                  </a:moveTo>
                  <a:lnTo>
                    <a:pt x="4" y="134"/>
                  </a:lnTo>
                  <a:lnTo>
                    <a:pt x="4" y="129"/>
                  </a:lnTo>
                  <a:lnTo>
                    <a:pt x="13" y="129"/>
                  </a:lnTo>
                  <a:lnTo>
                    <a:pt x="18" y="125"/>
                  </a:lnTo>
                  <a:lnTo>
                    <a:pt x="22" y="120"/>
                  </a:lnTo>
                  <a:lnTo>
                    <a:pt x="31" y="111"/>
                  </a:lnTo>
                  <a:lnTo>
                    <a:pt x="36" y="103"/>
                  </a:lnTo>
                  <a:lnTo>
                    <a:pt x="40" y="94"/>
                  </a:lnTo>
                  <a:lnTo>
                    <a:pt x="45" y="80"/>
                  </a:lnTo>
                  <a:lnTo>
                    <a:pt x="45" y="67"/>
                  </a:lnTo>
                  <a:lnTo>
                    <a:pt x="45" y="54"/>
                  </a:lnTo>
                  <a:lnTo>
                    <a:pt x="40" y="45"/>
                  </a:lnTo>
                  <a:lnTo>
                    <a:pt x="36" y="31"/>
                  </a:lnTo>
                  <a:lnTo>
                    <a:pt x="31" y="22"/>
                  </a:lnTo>
                  <a:lnTo>
                    <a:pt x="27" y="18"/>
                  </a:lnTo>
                  <a:lnTo>
                    <a:pt x="18" y="9"/>
                  </a:lnTo>
                  <a:lnTo>
                    <a:pt x="13" y="5"/>
                  </a:lnTo>
                  <a:lnTo>
                    <a:pt x="9" y="0"/>
                  </a:lnTo>
                  <a:lnTo>
                    <a:pt x="944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>
              <a:off x="1937097" y="1836514"/>
              <a:ext cx="34448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24"/>
            <p:cNvSpPr>
              <a:spLocks noChangeShapeType="1"/>
            </p:cNvSpPr>
            <p:nvPr/>
          </p:nvSpPr>
          <p:spPr bwMode="auto">
            <a:xfrm>
              <a:off x="4333979" y="1991047"/>
              <a:ext cx="19050" cy="43814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25"/>
            <p:cNvSpPr>
              <a:spLocks noChangeShapeType="1"/>
            </p:cNvSpPr>
            <p:nvPr/>
          </p:nvSpPr>
          <p:spPr bwMode="auto">
            <a:xfrm>
              <a:off x="4518128" y="1978347"/>
              <a:ext cx="15876" cy="11414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26"/>
            <p:cNvSpPr>
              <a:spLocks noChangeShapeType="1"/>
            </p:cNvSpPr>
            <p:nvPr/>
          </p:nvSpPr>
          <p:spPr bwMode="auto">
            <a:xfrm>
              <a:off x="4675650" y="1991047"/>
              <a:ext cx="25400" cy="176530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27"/>
            <p:cNvSpPr>
              <a:spLocks noChangeShapeType="1"/>
            </p:cNvSpPr>
            <p:nvPr/>
          </p:nvSpPr>
          <p:spPr bwMode="auto">
            <a:xfrm>
              <a:off x="4861388" y="1991047"/>
              <a:ext cx="33337" cy="24399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28"/>
            <p:cNvSpPr>
              <a:spLocks noChangeShapeType="1"/>
            </p:cNvSpPr>
            <p:nvPr/>
          </p:nvSpPr>
          <p:spPr bwMode="auto">
            <a:xfrm>
              <a:off x="3492039" y="2379622"/>
              <a:ext cx="757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29"/>
            <p:cNvSpPr>
              <a:spLocks noChangeShapeType="1"/>
            </p:cNvSpPr>
            <p:nvPr/>
          </p:nvSpPr>
          <p:spPr bwMode="auto">
            <a:xfrm>
              <a:off x="3686881" y="3092410"/>
              <a:ext cx="7572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30"/>
            <p:cNvSpPr>
              <a:spLocks noChangeShapeType="1"/>
            </p:cNvSpPr>
            <p:nvPr/>
          </p:nvSpPr>
          <p:spPr bwMode="auto">
            <a:xfrm>
              <a:off x="3859530" y="3779798"/>
              <a:ext cx="7588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31"/>
            <p:cNvSpPr>
              <a:spLocks noChangeShapeType="1"/>
            </p:cNvSpPr>
            <p:nvPr/>
          </p:nvSpPr>
          <p:spPr bwMode="auto">
            <a:xfrm>
              <a:off x="4107210" y="4467185"/>
              <a:ext cx="757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32"/>
            <p:cNvSpPr>
              <a:spLocks noChangeShapeType="1"/>
            </p:cNvSpPr>
            <p:nvPr/>
          </p:nvSpPr>
          <p:spPr bwMode="auto">
            <a:xfrm>
              <a:off x="4244483" y="5141873"/>
              <a:ext cx="7588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33"/>
            <p:cNvSpPr>
              <a:spLocks noChangeShapeType="1"/>
            </p:cNvSpPr>
            <p:nvPr/>
          </p:nvSpPr>
          <p:spPr bwMode="auto">
            <a:xfrm>
              <a:off x="4519547" y="5860827"/>
              <a:ext cx="7572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35"/>
            <p:cNvSpPr>
              <a:spLocks noChangeShapeType="1"/>
            </p:cNvSpPr>
            <p:nvPr/>
          </p:nvSpPr>
          <p:spPr bwMode="auto">
            <a:xfrm>
              <a:off x="5047606" y="1992635"/>
              <a:ext cx="39687" cy="31829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38"/>
            <p:cNvSpPr>
              <a:spLocks noChangeShapeType="1"/>
            </p:cNvSpPr>
            <p:nvPr/>
          </p:nvSpPr>
          <p:spPr bwMode="auto">
            <a:xfrm flipH="1">
              <a:off x="5386636" y="1849214"/>
              <a:ext cx="5048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39"/>
            <p:cNvSpPr>
              <a:spLocks noChangeShapeType="1"/>
            </p:cNvSpPr>
            <p:nvPr/>
          </p:nvSpPr>
          <p:spPr bwMode="auto">
            <a:xfrm flipH="1">
              <a:off x="5489510" y="6037039"/>
              <a:ext cx="504825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Rectangle 40"/>
            <p:cNvSpPr>
              <a:spLocks noChangeArrowheads="1"/>
            </p:cNvSpPr>
            <p:nvPr/>
          </p:nvSpPr>
          <p:spPr bwMode="auto">
            <a:xfrm>
              <a:off x="5978721" y="1204869"/>
              <a:ext cx="900993" cy="384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500" b="1" i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5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</a:t>
              </a:r>
              <a:r>
                <a:rPr lang="en-US" altLang="zh-CN" sz="15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500" b="1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41"/>
            <p:cNvSpPr>
              <a:spLocks noChangeShapeType="1"/>
            </p:cNvSpPr>
            <p:nvPr/>
          </p:nvSpPr>
          <p:spPr bwMode="auto">
            <a:xfrm flipH="1">
              <a:off x="5385048" y="1399952"/>
              <a:ext cx="5048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8135" y="494665"/>
            <a:ext cx="866838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练习题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、原始报文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1010001110010101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，生成多项式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G(X)=X^4+X^3+1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，求余数？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8135" y="1214857"/>
            <a:ext cx="466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解：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6171" y="93785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 </a:t>
            </a:r>
            <a:endParaRPr lang="zh-CN" altLang="en-US" dirty="0"/>
          </a:p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1101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8135" y="494665"/>
            <a:ext cx="86683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要发送的数据为100101，如果采用海明码校验，假设只有一个bit跳变，接收端收到的bit序列为：1000101111，请问是否有bit跳变，如有跳变是第几位？（方向从bit串从右向左）将答案写入填空中，第一空填有或无，第二空填数字或无。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37180" y="3054350"/>
            <a:ext cx="12795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3=1+2</a:t>
            </a:r>
            <a:endParaRPr lang="en-US" altLang="zh-CN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5=1+4</a:t>
            </a:r>
            <a:endParaRPr lang="en-US" altLang="zh-CN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6=2+4</a:t>
            </a:r>
            <a:endParaRPr lang="en-US" altLang="zh-CN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7=1+2+4</a:t>
            </a:r>
            <a:endParaRPr lang="en-US" altLang="zh-CN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9=1+8</a:t>
            </a:r>
            <a:endParaRPr lang="en-US" altLang="zh-CN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10=2+8</a:t>
            </a:r>
            <a:endParaRPr lang="en-US" altLang="zh-CN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28625" y="3010535"/>
            <a:ext cx="3073400" cy="1703070"/>
            <a:chOff x="675" y="4050"/>
            <a:chExt cx="4840" cy="2682"/>
          </a:xfrm>
        </p:grpSpPr>
        <p:sp>
          <p:nvSpPr>
            <p:cNvPr id="5" name="文本框 4"/>
            <p:cNvSpPr txBox="1"/>
            <p:nvPr>
              <p:custDataLst>
                <p:tags r:id="rId1"/>
              </p:custDataLst>
            </p:nvPr>
          </p:nvSpPr>
          <p:spPr>
            <a:xfrm>
              <a:off x="715" y="4050"/>
              <a:ext cx="48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P1=3⊕5</a:t>
              </a:r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⊕7⊕9=1</a:t>
              </a:r>
              <a:endPara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2"/>
              </p:custDataLst>
            </p:nvPr>
          </p:nvSpPr>
          <p:spPr>
            <a:xfrm>
              <a:off x="675" y="4735"/>
              <a:ext cx="48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P2=3⊕6</a:t>
              </a:r>
              <a:r>
                <a:rPr lang="en-US" altLang="zh-CN" sz="1600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⊕7⊕10=1</a:t>
              </a:r>
              <a:endParaRPr lang="en-US" altLang="zh-CN" sz="1600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3"/>
              </p:custDataLst>
            </p:nvPr>
          </p:nvSpPr>
          <p:spPr>
            <a:xfrm>
              <a:off x="675" y="5420"/>
              <a:ext cx="48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P3=5</a:t>
              </a:r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⊕6⊕7=1</a:t>
              </a:r>
              <a:endPara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4"/>
              </p:custDataLst>
            </p:nvPr>
          </p:nvSpPr>
          <p:spPr>
            <a:xfrm>
              <a:off x="675" y="6201"/>
              <a:ext cx="48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P4=9</a:t>
              </a:r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⊕10=1</a:t>
              </a:r>
              <a:endPara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058920" y="3096895"/>
            <a:ext cx="4825091" cy="1120775"/>
            <a:chOff x="675" y="4186"/>
            <a:chExt cx="5072" cy="1765"/>
          </a:xfrm>
        </p:grpSpPr>
        <p:sp>
          <p:nvSpPr>
            <p:cNvPr id="11" name="文本框 10"/>
            <p:cNvSpPr txBox="1"/>
            <p:nvPr>
              <p:custDataLst>
                <p:tags r:id="rId5"/>
              </p:custDataLst>
            </p:nvPr>
          </p:nvSpPr>
          <p:spPr>
            <a:xfrm>
              <a:off x="848" y="4186"/>
              <a:ext cx="489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S1=P1</a:t>
              </a:r>
              <a:r>
                <a:rPr lang="zh-CN" altLang="en-US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⊕</a:t>
              </a:r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P1</a:t>
              </a:r>
              <a:r>
                <a:rPr lang="zh-CN" altLang="en-US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’</a:t>
              </a:r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=1</a:t>
              </a:r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⊕1</a:t>
              </a:r>
              <a:r>
                <a:rPr lang="en-US" altLang="zh-CN" sz="160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=0</a:t>
              </a:r>
              <a:endPara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6"/>
              </p:custDataLst>
            </p:nvPr>
          </p:nvSpPr>
          <p:spPr>
            <a:xfrm>
              <a:off x="675" y="4735"/>
              <a:ext cx="48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7"/>
              </p:custDataLst>
            </p:nvPr>
          </p:nvSpPr>
          <p:spPr>
            <a:xfrm>
              <a:off x="675" y="5420"/>
              <a:ext cx="48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223973" y="3445510"/>
            <a:ext cx="46605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S2=P2</a:t>
            </a:r>
            <a:r>
              <a:rPr lang="zh-CN" altLang="en-US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⊕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P2</a:t>
            </a:r>
            <a:r>
              <a:rPr lang="zh-CN" altLang="en-US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’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=1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⊕1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=0</a:t>
            </a:r>
            <a:endParaRPr lang="en-US" altLang="zh-CN" sz="160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23973" y="3827780"/>
            <a:ext cx="46605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S3=P3</a:t>
            </a:r>
            <a:r>
              <a:rPr lang="zh-CN" altLang="en-US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⊕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P3</a:t>
            </a:r>
            <a:r>
              <a:rPr lang="zh-CN" altLang="en-US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’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1⊕1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=0</a:t>
            </a:r>
            <a:endParaRPr lang="en-US" altLang="zh-CN" sz="160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223973" y="4210050"/>
            <a:ext cx="46605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S4=P4</a:t>
            </a:r>
            <a:r>
              <a:rPr lang="zh-CN" altLang="en-US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⊕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P4</a:t>
            </a:r>
            <a:r>
              <a:rPr lang="zh-CN" altLang="en-US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’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=0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⊕1</a:t>
            </a:r>
            <a:r>
              <a:rPr lang="en-US" altLang="zh-CN" sz="160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=1</a:t>
            </a:r>
            <a:endParaRPr lang="en-US" altLang="zh-CN" sz="160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78528" y="3653155"/>
            <a:ext cx="46605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S4S3S2S1=(1000)</a:t>
            </a:r>
            <a:r>
              <a:rPr lang="en-US" altLang="zh-CN" sz="1600" baseline="-25000">
                <a:solidFill>
                  <a:srgbClr val="00206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=(8)</a:t>
            </a:r>
            <a:r>
              <a:rPr lang="en-US" altLang="zh-CN" sz="1600" baseline="-25000">
                <a:solidFill>
                  <a:srgbClr val="00206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 baseline="-25000">
              <a:solidFill>
                <a:srgbClr val="00206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8"/>
            </p:custDataLst>
          </p:nvPr>
        </p:nvGraphicFramePr>
        <p:xfrm>
          <a:off x="428625" y="1344930"/>
          <a:ext cx="8486775" cy="153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25"/>
                <a:gridCol w="771525"/>
                <a:gridCol w="771525"/>
                <a:gridCol w="771525"/>
                <a:gridCol w="771525"/>
                <a:gridCol w="771525"/>
                <a:gridCol w="771525"/>
                <a:gridCol w="771525"/>
                <a:gridCol w="771525"/>
                <a:gridCol w="771525"/>
                <a:gridCol w="771525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二进制编号位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数据位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P4=1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P3=1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P2=1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P1=1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校验位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题目给定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bit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串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-47" y="1344930"/>
            <a:ext cx="46605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endParaRPr lang="zh-CN" altLang="en-US" sz="1600" baseline="-25000">
              <a:solidFill>
                <a:srgbClr val="00206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2548" y="1219522"/>
            <a:ext cx="866838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练习题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、已知接收端收到的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序列是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01010011001100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，假设传输过程中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个数据位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跳变，采用海明码进行校验，请判断该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串是第几位跳变？（方向从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串从右向左）将答案写入填空中</a:t>
            </a:r>
            <a:r>
              <a:rPr lang="zh-CN" altLang="en-US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3286" y="2417307"/>
            <a:ext cx="46605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endParaRPr lang="zh-CN" altLang="en-US" sz="1600" baseline="-25000" dirty="0">
              <a:solidFill>
                <a:srgbClr val="00206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7999" y="785073"/>
          <a:ext cx="888449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915"/>
                <a:gridCol w="576915"/>
                <a:gridCol w="576915"/>
                <a:gridCol w="576915"/>
                <a:gridCol w="576915"/>
                <a:gridCol w="576915"/>
                <a:gridCol w="576915"/>
                <a:gridCol w="576915"/>
                <a:gridCol w="576915"/>
                <a:gridCol w="576915"/>
                <a:gridCol w="576915"/>
                <a:gridCol w="576915"/>
                <a:gridCol w="576915"/>
                <a:gridCol w="576915"/>
                <a:gridCol w="807681"/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二进制编号位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846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数据位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1846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校验位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题目给定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bit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串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76578" y="2751137"/>
            <a:ext cx="3073400" cy="1703070"/>
            <a:chOff x="675" y="4050"/>
            <a:chExt cx="4840" cy="2682"/>
          </a:xfrm>
        </p:grpSpPr>
        <p:sp>
          <p:nvSpPr>
            <p:cNvPr id="4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715" y="4050"/>
              <a:ext cx="48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P1</a:t>
              </a:r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=⊕</a:t>
              </a:r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⊕⊕=</a:t>
              </a:r>
              <a:endPara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675" y="4735"/>
              <a:ext cx="48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P2</a:t>
              </a:r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=⊕</a:t>
              </a:r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⊕⊕=</a:t>
              </a:r>
              <a:endPara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" name="文本框 6"/>
            <p:cNvSpPr txBox="1"/>
            <p:nvPr>
              <p:custDataLst>
                <p:tags r:id="rId4"/>
              </p:custDataLst>
            </p:nvPr>
          </p:nvSpPr>
          <p:spPr>
            <a:xfrm>
              <a:off x="675" y="5420"/>
              <a:ext cx="48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P3=</a:t>
              </a:r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⊕⊕=</a:t>
              </a:r>
              <a:endPara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7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675" y="6201"/>
              <a:ext cx="48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P4</a:t>
              </a:r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⊕=</a:t>
              </a:r>
              <a:endPara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8" name="文本框 3"/>
          <p:cNvSpPr txBox="1"/>
          <p:nvPr/>
        </p:nvSpPr>
        <p:spPr>
          <a:xfrm>
            <a:off x="2684814" y="2358518"/>
            <a:ext cx="1574119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3=1+2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5=1+4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6=2+4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7=1+2+4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9=1+8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10=2+8</a:t>
            </a:r>
            <a:endParaRPr lang="en-US" altLang="zh-CN" b="1" dirty="0" smtClean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11=1+2+8</a:t>
            </a:r>
            <a:endParaRPr lang="en-US" altLang="zh-CN" b="1" dirty="0" smtClean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12=4+8</a:t>
            </a:r>
            <a:endParaRPr lang="en-US" altLang="zh-CN" b="1" dirty="0" smtClean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13=1+2+8</a:t>
            </a:r>
            <a:endParaRPr lang="en-US" altLang="zh-CN" b="1" dirty="0" smtClean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14=2+4+8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338837" y="2782251"/>
            <a:ext cx="4748074" cy="1450340"/>
            <a:chOff x="1404098" y="2928302"/>
            <a:chExt cx="4748074" cy="1450340"/>
          </a:xfrm>
        </p:grpSpPr>
        <p:sp>
          <p:nvSpPr>
            <p:cNvPr id="10" name="文本框 19"/>
            <p:cNvSpPr txBox="1"/>
            <p:nvPr/>
          </p:nvSpPr>
          <p:spPr>
            <a:xfrm>
              <a:off x="1491659" y="3704272"/>
              <a:ext cx="4660513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S3=P3</a:t>
              </a:r>
              <a:r>
                <a:rPr lang="zh-CN" altLang="en-US" sz="16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⊕</a:t>
              </a:r>
              <a:r>
                <a:rPr lang="en-US" altLang="zh-CN" sz="16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P3</a:t>
              </a:r>
              <a:r>
                <a:rPr lang="zh-CN" altLang="en-US" sz="16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’</a:t>
              </a:r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=</a:t>
              </a:r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⊕</a:t>
              </a:r>
              <a:r>
                <a:rPr lang="en-US" altLang="zh-CN" sz="1600" b="1" dirty="0" smtClean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=</a:t>
              </a:r>
              <a:endPara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404098" y="2928302"/>
              <a:ext cx="4660988" cy="1450340"/>
              <a:chOff x="1404098" y="2928302"/>
              <a:chExt cx="4660988" cy="1450340"/>
            </a:xfrm>
          </p:grpSpPr>
          <p:sp>
            <p:nvSpPr>
              <p:cNvPr id="12" name="文本框 18"/>
              <p:cNvSpPr txBox="1"/>
              <p:nvPr/>
            </p:nvSpPr>
            <p:spPr>
              <a:xfrm>
                <a:off x="1404573" y="3315970"/>
                <a:ext cx="4660513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S2=P2</a:t>
                </a:r>
                <a:r>
                  <a:rPr lang="zh-CN" altLang="en-US" sz="16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⊕</a:t>
                </a:r>
                <a:r>
                  <a:rPr lang="en-US" altLang="zh-CN" sz="16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P2</a:t>
                </a:r>
                <a:r>
                  <a:rPr lang="zh-CN" altLang="en-US" sz="16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’</a:t>
                </a:r>
                <a:r>
                  <a:rPr lang="en-US" altLang="zh-CN" sz="1600" b="1" dirty="0" smtClean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=</a:t>
                </a:r>
                <a:r>
                  <a:rPr lang="en-US" altLang="zh-CN" sz="1600" b="1" dirty="0" smtClean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⊕</a:t>
                </a:r>
                <a:r>
                  <a:rPr lang="en-US" altLang="zh-CN" sz="1600" b="1" dirty="0" smtClean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=</a:t>
                </a:r>
                <a:endParaRPr lang="en-US" altLang="zh-CN" sz="16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1404098" y="2928302"/>
                <a:ext cx="4660988" cy="1450340"/>
                <a:chOff x="4223498" y="3096895"/>
                <a:chExt cx="4660988" cy="1450340"/>
              </a:xfrm>
            </p:grpSpPr>
            <p:sp>
              <p:nvSpPr>
                <p:cNvPr id="16" name="文本框 10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4223498" y="3096895"/>
                  <a:ext cx="4660513" cy="3371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 dirty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S1=P1</a:t>
                  </a:r>
                  <a:r>
                    <a:rPr lang="zh-CN" altLang="en-US" sz="1600" b="1" dirty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⊕</a:t>
                  </a:r>
                  <a:r>
                    <a:rPr lang="en-US" altLang="zh-CN" sz="1600" b="1" dirty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P1</a:t>
                  </a:r>
                  <a:r>
                    <a:rPr lang="zh-CN" altLang="en-US" sz="1600" b="1" dirty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’</a:t>
                  </a:r>
                  <a:r>
                    <a:rPr lang="en-US" altLang="zh-CN" sz="1600" b="1" dirty="0" smtClean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=</a:t>
                  </a:r>
                  <a:r>
                    <a:rPr lang="en-US" altLang="zh-CN" sz="1600" b="1" dirty="0" smtClean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⊕</a:t>
                  </a:r>
                  <a:r>
                    <a:rPr lang="en-US" altLang="zh-CN" sz="1600" b="1" dirty="0" smtClean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=</a:t>
                  </a:r>
                  <a:endParaRPr lang="en-US" altLang="zh-CN" sz="16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  <p:sp>
              <p:nvSpPr>
                <p:cNvPr id="15" name="文本框 20"/>
                <p:cNvSpPr txBox="1"/>
                <p:nvPr/>
              </p:nvSpPr>
              <p:spPr>
                <a:xfrm>
                  <a:off x="4223973" y="4210050"/>
                  <a:ext cx="4660513" cy="3371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 dirty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S4=P4</a:t>
                  </a:r>
                  <a:r>
                    <a:rPr lang="zh-CN" altLang="en-US" sz="1600" b="1" dirty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⊕</a:t>
                  </a:r>
                  <a:r>
                    <a:rPr lang="en-US" altLang="zh-CN" sz="1600" b="1" dirty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P4</a:t>
                  </a:r>
                  <a:r>
                    <a:rPr lang="zh-CN" altLang="en-US" sz="1600" b="1" dirty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’</a:t>
                  </a:r>
                  <a:r>
                    <a:rPr lang="en-US" altLang="zh-CN" sz="1600" b="1" dirty="0" smtClean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=</a:t>
                  </a:r>
                  <a:r>
                    <a:rPr lang="en-US" altLang="zh-CN" sz="1600" b="1" dirty="0" smtClean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⊕</a:t>
                  </a:r>
                  <a:r>
                    <a:rPr lang="en-US" altLang="zh-CN" sz="1600" b="1" dirty="0" smtClean="0">
                      <a:solidFill>
                        <a:srgbClr val="3366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=</a:t>
                  </a:r>
                  <a:endParaRPr lang="en-US" altLang="zh-CN" sz="16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</p:grpSp>
      <p:sp>
        <p:nvSpPr>
          <p:cNvPr id="19" name="文本框 21"/>
          <p:cNvSpPr txBox="1"/>
          <p:nvPr/>
        </p:nvSpPr>
        <p:spPr>
          <a:xfrm>
            <a:off x="4483486" y="4415435"/>
            <a:ext cx="46605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S4S3S2S1</a:t>
            </a:r>
            <a:r>
              <a:rPr lang="en-US" altLang="zh-CN" sz="16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=()</a:t>
            </a:r>
            <a:r>
              <a:rPr lang="en-US" altLang="zh-CN" sz="1600" b="1" baseline="-25000" dirty="0" smtClean="0">
                <a:solidFill>
                  <a:srgbClr val="00206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=()</a:t>
            </a:r>
            <a:r>
              <a:rPr lang="en-US" altLang="zh-CN" sz="1600" b="1" baseline="-25000" dirty="0" smtClean="0">
                <a:solidFill>
                  <a:srgbClr val="00206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 b="1" baseline="-25000" dirty="0">
              <a:solidFill>
                <a:srgbClr val="00206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415741"/>
            <a:ext cx="7806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已知接收端收到的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序列是</a:t>
            </a:r>
            <a:r>
              <a:rPr lang="en-US" altLang="zh-CN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01010011001100</a:t>
            </a:r>
            <a:endParaRPr lang="zh-CN" altLang="en-US" dirty="0"/>
          </a:p>
        </p:txBody>
      </p:sp>
      <p:sp>
        <p:nvSpPr>
          <p:cNvPr id="21" name="文本框 21"/>
          <p:cNvSpPr txBox="1"/>
          <p:nvPr/>
        </p:nvSpPr>
        <p:spPr>
          <a:xfrm>
            <a:off x="7101863" y="2799508"/>
            <a:ext cx="4660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</a:t>
            </a:r>
            <a:endParaRPr lang="en-US" altLang="zh-CN" sz="1600" b="1" baseline="-25000" dirty="0">
              <a:solidFill>
                <a:srgbClr val="00206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9" grpId="0"/>
      <p:bldP spid="19" grpId="1"/>
      <p:bldP spid="21" grpId="0"/>
      <p:bldP spid="2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6075" y="405130"/>
            <a:ext cx="835215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自治系统有5个局域网，LAN1至LAN5上的主机数分别为：3，98，179，3和16。该自治系统分配到的IP地址块为172.28.0/23。试按照LAN2、LAN4、LAN3、LAN1、LAN5的先后顺序分配完整的IP地址以及对应的CIDR数。（分配原则：以数值小的空闲地址先分配，并且分配的地址空间大小合理，不可无故浪费）请按照LAN2、LAN4、LAN3、LAN1、LAN5的先后顺序写地址段，每一个地址段的范围用该网络的起始IP和广播IP地址写入两个填空中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31190" y="2765425"/>
          <a:ext cx="786574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935"/>
                <a:gridCol w="1651000"/>
                <a:gridCol w="4829810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分配次序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IP</a:t>
                      </a:r>
                      <a:r>
                        <a:rPr lang="zh-CN" altLang="en-US"/>
                        <a:t>地址完整数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网络起始地址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网络广播地址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LAN2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128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172.28.0.0-172.28.0.127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LAN4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8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172.28.0.128-172.28.0.135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LAN3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256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172.28.1.0-172.28.1.255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LAN1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8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172.28.0.136-172.28.0.143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LAN5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32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172.28.0.160-172.28.0.191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645795" y="1946910"/>
          <a:ext cx="761365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305"/>
                <a:gridCol w="944880"/>
                <a:gridCol w="996950"/>
                <a:gridCol w="927735"/>
                <a:gridCol w="906780"/>
              </a:tblGrid>
              <a:tr h="381000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   CIDR</a:t>
                      </a:r>
                      <a:r>
                        <a:rPr lang="zh-CN" altLang="en-US"/>
                        <a:t>块分配方案是确定的，但各网络分配次序是任意的。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                        0-127    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128-159</a:t>
                      </a:r>
                      <a:endParaRPr lang="en-US" altLang="zh-CN" sz="1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160-191</a:t>
                      </a:r>
                      <a:endParaRPr lang="en-US" altLang="zh-CN" sz="1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192-223</a:t>
                      </a:r>
                      <a:endParaRPr lang="en-US" altLang="zh-CN" sz="1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224-255</a:t>
                      </a:r>
                      <a:endParaRPr lang="en-US" altLang="zh-CN" sz="17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214583" y="1946910"/>
            <a:ext cx="46605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endParaRPr lang="zh-CN" altLang="en-US" sz="1600" baseline="-25000">
              <a:solidFill>
                <a:srgbClr val="00206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6075" y="405130"/>
            <a:ext cx="835215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练习题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一个自治系统有5个局域网，LAN1至LAN5上的主机数分别为：3，98，179，3和16。该自治系统分配到的IP地址块为172.28.0/23。试按照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LAN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LAN4、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LAN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LAN1、LAN5的先后顺序分配完整的IP地址以及对应的CIDR数。（分配原则：以数值小的空闲地址先分配，并且分配的地址空间大小合理，不可无故浪费）请按照LAN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、LAN4、LAN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、LAN1、LAN5的先后顺序写地址段，每一个地址段的范围用该网络的起始IP和广播IP地址写入两个填空中</a:t>
            </a:r>
            <a:r>
              <a:rPr lang="zh-CN" altLang="en-US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31190" y="2765425"/>
          <a:ext cx="786574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935"/>
                <a:gridCol w="1651000"/>
                <a:gridCol w="4829810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ym typeface="+mn-ea"/>
                        </a:rPr>
                        <a:t>分配次序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IP</a:t>
                      </a:r>
                      <a:r>
                        <a:rPr lang="zh-CN" altLang="en-US"/>
                        <a:t>地址完整数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网络起始地址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网络广播地址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 smtClean="0">
                          <a:solidFill>
                            <a:srgbClr val="3366FF"/>
                          </a:solidFill>
                        </a:rPr>
                        <a:t>LAN3</a:t>
                      </a: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LAN4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 smtClean="0">
                          <a:solidFill>
                            <a:srgbClr val="3366FF"/>
                          </a:solidFill>
                        </a:rPr>
                        <a:t>LAN2</a:t>
                      </a: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LAN1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3366FF"/>
                          </a:solidFill>
                        </a:rPr>
                        <a:t>LAN5</a:t>
                      </a:r>
                      <a:endParaRPr lang="en-US" altLang="zh-CN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solidFill>
                          <a:srgbClr val="3366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645795" y="1946910"/>
          <a:ext cx="761365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305"/>
                <a:gridCol w="944880"/>
                <a:gridCol w="996950"/>
                <a:gridCol w="927735"/>
                <a:gridCol w="906780"/>
              </a:tblGrid>
              <a:tr h="381000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   CIDR</a:t>
                      </a:r>
                      <a:r>
                        <a:rPr lang="zh-CN" altLang="en-US"/>
                        <a:t>块分配方案是确定的，但各网络分配次序是任意的。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                        0-127    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128-159</a:t>
                      </a:r>
                      <a:endParaRPr lang="en-US" altLang="zh-CN" sz="1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160-191</a:t>
                      </a:r>
                      <a:endParaRPr lang="en-US" altLang="zh-CN" sz="1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192-223</a:t>
                      </a:r>
                      <a:endParaRPr lang="en-US" altLang="zh-CN" sz="1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224-255</a:t>
                      </a:r>
                      <a:endParaRPr lang="en-US" altLang="zh-CN" sz="17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214583" y="1946910"/>
            <a:ext cx="46605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endParaRPr lang="zh-CN" altLang="en-US" sz="1600" baseline="-25000">
              <a:solidFill>
                <a:srgbClr val="00206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7815" y="374015"/>
            <a:ext cx="4572000" cy="4769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假定网络中的路由器B的路由表有如下的项目（这三列分别表示“目的网络”、“距离”和“下一跳路由器”）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N2        7        C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N3        9        E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N6        3        A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N8        6        D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N9        4        F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现在B收到从C发来的路由信息（这两列分别表示“目的网络”“距离”）：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N2        4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N3        6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N6        4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N8        9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N9        10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试求出路由器B更新后的路由表，请先将到达目的网络的距离依次写入填空中，然后再将下一跳地址依次写入后续的填空中；（距离只写数字，下一跳只写大写的字母）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34585" y="919480"/>
            <a:ext cx="382397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解：</a:t>
            </a:r>
            <a:endParaRPr lang="zh-CN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路由器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更新后的路由表：                  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endParaRPr lang="en-US" altLang="zh-CN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N2        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C</a:t>
            </a:r>
            <a:endParaRPr lang="zh-CN" altLang="en-US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N3        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N6        3        A</a:t>
            </a:r>
            <a:endParaRPr lang="zh-CN" altLang="en-US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N8        6        D</a:t>
            </a:r>
            <a:endParaRPr lang="zh-CN" altLang="en-US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N9        4        F</a:t>
            </a:r>
            <a:endParaRPr lang="zh-CN" altLang="en-US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endParaRPr lang="zh-CN" altLang="en-US" sz="1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0629" y="126742"/>
            <a:ext cx="4803956" cy="50167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练习题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、假定网络中的路由器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的路由表有如下的项目（这三列分别表示“目的网络”、“距离”和“下一跳路由器”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N1        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N2        2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N6        6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N8        4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N9        3        F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现在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收到从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发来的路由信息（这两列分别表示“目的网络”“距离”）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N1        5        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N2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N6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N8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N9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试求出路由器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更新后的路由表，请先将到达目的网络的距离依次写入填空中，然后再将下一跳地址依次写入后续的填空中；（距离只写数字，下一跳只写大写的字母）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34585" y="919480"/>
            <a:ext cx="3823970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解：</a:t>
            </a:r>
            <a:endParaRPr lang="zh-CN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路由器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更新后的路由表：                  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endParaRPr lang="en-US" altLang="zh-CN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N1</a:t>
            </a:r>
            <a:endParaRPr lang="en-US" altLang="zh-CN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                               </a:t>
            </a:r>
            <a:endParaRPr lang="zh-CN" altLang="en-US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               </a:t>
            </a:r>
            <a:endParaRPr lang="zh-CN" altLang="en-US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                </a:t>
            </a:r>
            <a:endParaRPr lang="zh-CN" altLang="en-US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6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                </a:t>
            </a:r>
            <a:endParaRPr lang="zh-CN" altLang="en-US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endParaRPr lang="zh-CN" altLang="en-US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0230" y="381000"/>
            <a:ext cx="64554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设某路由器建立了如下路由表：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目的网络          子网掩码         下一跳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128.96.39.0       255.255.255.240     接口m0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128.96.39.128   255.255.255.128     接口m1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128.96.40.0       255.255.255.248      R2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192.4.153.0       255.255.255.192      R3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0.0.0.0                          0.0.0.0             R4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现共收到5个分组，其目的地址分别为：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（1）128.96.39.16     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（2）128.96.39.15     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（3）128.96.39.130    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（4）128.96.40.8      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（5）192.4.153.63     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请将这5个分组转发的下一跳地址按照(1)至（5）的顺序写入下列填空中。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每一空只填m0、m1、R2、R3、R4中任意一个。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0185" y="279463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R4</a:t>
            </a:r>
            <a:endParaRPr 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2750185" y="299974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m0</a:t>
            </a:r>
            <a:endParaRPr 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2750185" y="323913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m1</a:t>
            </a:r>
            <a:endParaRPr lang="en-US" sz="1600"/>
          </a:p>
        </p:txBody>
      </p:sp>
      <p:sp>
        <p:nvSpPr>
          <p:cNvPr id="9" name="文本框 8"/>
          <p:cNvSpPr txBox="1"/>
          <p:nvPr/>
        </p:nvSpPr>
        <p:spPr>
          <a:xfrm>
            <a:off x="2750185" y="348678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R4</a:t>
            </a:r>
            <a:endParaRPr 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2750185" y="374650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R3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0230" y="381000"/>
            <a:ext cx="6163945" cy="4276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练习题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、设某路由器建立了如下路由表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 b="1" dirty="0" smtClean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目的网络                子网掩码              下一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172.28.4.32          255.255.255.192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R2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172.28.4.128        255.255.255.128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R1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192.168.168.16    255.255.255.224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R3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192.168.168.48    255.255.255.240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R0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0.0.0.0                         0.0.0.0                 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R4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现共收到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个分组，其目的地址分别为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b="1" dirty="0" smtClean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192.168.168.60     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172.28.4.95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192.168.168.64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192.168.168.47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172.28.4.255</a:t>
            </a:r>
            <a:endParaRPr lang="en-US" altLang="zh-CN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请将这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个分组转发的下一跳地址按照（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）至（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）的顺序写入下列填空中</a:t>
            </a:r>
            <a:r>
              <a:rPr lang="zh-CN" altLang="en-US" sz="1600" b="1" dirty="0" smtClean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每一空只填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R0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R1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R2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R3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R4</a:t>
            </a:r>
            <a:r>
              <a:rPr lang="zh-CN" altLang="en-US" sz="16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中任意一个。。</a:t>
            </a:r>
            <a:endParaRPr lang="zh-CN" altLang="en-US" sz="16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4100" y="2542842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 dirty="0" smtClean="0"/>
              <a:t>R0</a:t>
            </a:r>
            <a:endParaRPr lang="en-US" sz="1600" dirty="0"/>
          </a:p>
        </p:txBody>
      </p:sp>
      <p:sp>
        <p:nvSpPr>
          <p:cNvPr id="4" name="文本框 3"/>
          <p:cNvSpPr txBox="1"/>
          <p:nvPr/>
        </p:nvSpPr>
        <p:spPr>
          <a:xfrm>
            <a:off x="3044100" y="2711434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 dirty="0" smtClean="0"/>
              <a:t>R</a:t>
            </a:r>
            <a:r>
              <a:rPr lang="en-US" sz="1600" dirty="0"/>
              <a:t>2</a:t>
            </a:r>
            <a:endParaRPr lang="en-US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3044100" y="3017504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 dirty="0" smtClean="0"/>
              <a:t>R</a:t>
            </a:r>
            <a:r>
              <a:rPr lang="en-US" sz="1600" dirty="0"/>
              <a:t>4</a:t>
            </a:r>
            <a:endParaRPr lang="en-US" sz="1600" dirty="0"/>
          </a:p>
        </p:txBody>
      </p:sp>
      <p:sp>
        <p:nvSpPr>
          <p:cNvPr id="9" name="文本框 8"/>
          <p:cNvSpPr txBox="1"/>
          <p:nvPr/>
        </p:nvSpPr>
        <p:spPr>
          <a:xfrm>
            <a:off x="3044100" y="3198388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 dirty="0" smtClean="0"/>
              <a:t>R3</a:t>
            </a:r>
            <a:endParaRPr lang="en-US" sz="1600" dirty="0"/>
          </a:p>
        </p:txBody>
      </p:sp>
      <p:sp>
        <p:nvSpPr>
          <p:cNvPr id="10" name="文本框 9"/>
          <p:cNvSpPr txBox="1"/>
          <p:nvPr/>
        </p:nvSpPr>
        <p:spPr>
          <a:xfrm>
            <a:off x="3044100" y="3522403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 dirty="0" smtClean="0"/>
              <a:t>R1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2305" y="676910"/>
            <a:ext cx="62865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</a:rPr>
              <a:t>7</a:t>
            </a:r>
            <a:r>
              <a:rPr lang="zh-CN" altLang="en-US" b="1" dirty="0" smtClean="0">
                <a:solidFill>
                  <a:srgbClr val="3366FF"/>
                </a:solidFill>
              </a:rPr>
              <a:t>、</a:t>
            </a:r>
            <a:r>
              <a:rPr lang="zh-CN" altLang="en-US" b="1" dirty="0">
                <a:solidFill>
                  <a:srgbClr val="3366FF"/>
                </a:solidFill>
              </a:rPr>
              <a:t>TCP的拥塞窗口cwnd大小与传输轮次n的关系如下所示：</a:t>
            </a:r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r>
              <a:rPr lang="zh-CN" altLang="en-US" b="1" dirty="0">
                <a:solidFill>
                  <a:srgbClr val="3366FF"/>
                </a:solidFill>
              </a:rPr>
              <a:t>请将表格中标识为A、B、C、D、E拥塞窗口的值写到填空中；</a:t>
            </a:r>
            <a:endParaRPr lang="zh-CN" altLang="en-US" b="1" dirty="0">
              <a:solidFill>
                <a:srgbClr val="3366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2305" y="1126490"/>
            <a:ext cx="7819390" cy="12268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2305" y="280797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A=17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62305" y="316357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B=14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62305" y="35750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C=18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62305" y="389953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D=9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62305" y="426783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E=10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42265" y="25577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解：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2265" y="506679"/>
            <a:ext cx="7589066" cy="2031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3366FF"/>
                </a:solidFill>
              </a:rPr>
              <a:t>练习题</a:t>
            </a:r>
            <a:r>
              <a:rPr lang="zh-CN" altLang="en-US" b="1" dirty="0">
                <a:solidFill>
                  <a:srgbClr val="3366FF"/>
                </a:solidFill>
              </a:rPr>
              <a:t>、以下是</a:t>
            </a:r>
            <a:r>
              <a:rPr lang="en-US" altLang="zh-CN" b="1" dirty="0">
                <a:solidFill>
                  <a:srgbClr val="3366FF"/>
                </a:solidFill>
              </a:rPr>
              <a:t>TCP</a:t>
            </a:r>
            <a:r>
              <a:rPr lang="zh-CN" altLang="en-US" b="1" dirty="0">
                <a:solidFill>
                  <a:srgbClr val="3366FF"/>
                </a:solidFill>
              </a:rPr>
              <a:t>拥塞控制的实例图，此图分成</a:t>
            </a:r>
            <a:r>
              <a:rPr lang="en-US" altLang="zh-CN" b="1" dirty="0">
                <a:solidFill>
                  <a:srgbClr val="3366FF"/>
                </a:solidFill>
              </a:rPr>
              <a:t>5</a:t>
            </a:r>
            <a:r>
              <a:rPr lang="zh-CN" altLang="en-US" b="1" dirty="0">
                <a:solidFill>
                  <a:srgbClr val="3366FF"/>
                </a:solidFill>
              </a:rPr>
              <a:t>部分，请将每一部分采用的算法写入下列填空中。</a:t>
            </a:r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61762" y="33909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  ❶=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866265" y="37592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❷</a:t>
            </a:r>
            <a:r>
              <a:rPr lang="en-US" altLang="zh-CN" dirty="0" smtClean="0"/>
              <a:t>=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1866265" y="4212863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❸</a:t>
            </a:r>
            <a:r>
              <a:rPr lang="en-US" altLang="zh-CN" dirty="0" smtClean="0"/>
              <a:t>=</a:t>
            </a: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4171723" y="3404507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❹</a:t>
            </a:r>
            <a:r>
              <a:rPr lang="en-US" altLang="zh-CN" dirty="0" smtClean="0"/>
              <a:t>=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4202339" y="3850278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❺</a:t>
            </a:r>
            <a:r>
              <a:rPr lang="en-US" altLang="zh-CN" dirty="0" smtClean="0"/>
              <a:t>=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567418" y="2535464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366FF"/>
                </a:solidFill>
              </a:rPr>
              <a:t>解：</a:t>
            </a:r>
            <a:endParaRPr lang="zh-CN" altLang="en-US" b="1" dirty="0">
              <a:solidFill>
                <a:srgbClr val="3366FF"/>
              </a:solidFill>
            </a:endParaRPr>
          </a:p>
        </p:txBody>
      </p:sp>
      <p:pic>
        <p:nvPicPr>
          <p:cNvPr id="1026" name="Picture 2" descr="3b684ab8f858ef3cefbf21e89bbbefc9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73" y="1139627"/>
            <a:ext cx="6165850" cy="2208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57" y="1983359"/>
            <a:ext cx="4044168" cy="3160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87089"/>
            <a:ext cx="8621020" cy="1096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272144" y="51775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</a:rPr>
              <a:t>8</a:t>
            </a:r>
            <a:r>
              <a:rPr lang="zh-CN" altLang="en-US" b="1" dirty="0">
                <a:solidFill>
                  <a:srgbClr val="3366FF"/>
                </a:solidFill>
              </a:rPr>
              <a:t>、</a:t>
            </a:r>
            <a:r>
              <a:rPr lang="zh-CN" altLang="en-US" b="1" dirty="0" smtClean="0">
                <a:solidFill>
                  <a:srgbClr val="3366FF"/>
                </a:solidFill>
              </a:rPr>
              <a:t>TCP连接管理</a:t>
            </a:r>
            <a:endParaRPr lang="zh-CN" altLang="en-US" b="1" dirty="0">
              <a:solidFill>
                <a:srgbClr val="3366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61220" y="125055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D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2144" y="81049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 smtClean="0">
                <a:solidFill>
                  <a:srgbClr val="3366FF"/>
                </a:solidFill>
              </a:rPr>
              <a:t>练习题、TCP连接管理</a:t>
            </a:r>
            <a:endParaRPr lang="en-US" altLang="zh-CN" b="1" dirty="0" smtClean="0">
              <a:solidFill>
                <a:srgbClr val="3366FF"/>
              </a:solidFill>
            </a:endParaRPr>
          </a:p>
          <a:p>
            <a:endParaRPr lang="en-US" altLang="zh-CN" b="1" dirty="0">
              <a:solidFill>
                <a:srgbClr val="3366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2143" y="1164088"/>
            <a:ext cx="7086599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3366FF"/>
                </a:solidFill>
              </a:rPr>
              <a:t>主机</a:t>
            </a:r>
            <a:r>
              <a:rPr lang="en-US" altLang="zh-CN" b="1" dirty="0">
                <a:solidFill>
                  <a:srgbClr val="3366FF"/>
                </a:solidFill>
              </a:rPr>
              <a:t>A</a:t>
            </a:r>
            <a:r>
              <a:rPr lang="zh-CN" altLang="en-US" b="1" dirty="0">
                <a:solidFill>
                  <a:srgbClr val="3366FF"/>
                </a:solidFill>
              </a:rPr>
              <a:t>向主机</a:t>
            </a:r>
            <a:r>
              <a:rPr lang="en-US" altLang="zh-CN" b="1" dirty="0">
                <a:solidFill>
                  <a:srgbClr val="3366FF"/>
                </a:solidFill>
              </a:rPr>
              <a:t>B</a:t>
            </a:r>
            <a:r>
              <a:rPr lang="zh-CN" altLang="en-US" b="1" dirty="0">
                <a:solidFill>
                  <a:srgbClr val="3366FF"/>
                </a:solidFill>
              </a:rPr>
              <a:t>发送一个</a:t>
            </a:r>
            <a:r>
              <a:rPr lang="en-US" altLang="zh-CN" b="1" dirty="0">
                <a:solidFill>
                  <a:srgbClr val="3366FF"/>
                </a:solidFill>
              </a:rPr>
              <a:t>(SYN=1,seq=3050)</a:t>
            </a:r>
            <a:r>
              <a:rPr lang="zh-CN" altLang="en-US" b="1" dirty="0">
                <a:solidFill>
                  <a:srgbClr val="3366FF"/>
                </a:solidFill>
              </a:rPr>
              <a:t>的</a:t>
            </a:r>
            <a:r>
              <a:rPr lang="en-US" altLang="zh-CN" b="1" dirty="0">
                <a:solidFill>
                  <a:srgbClr val="3366FF"/>
                </a:solidFill>
              </a:rPr>
              <a:t>TCP</a:t>
            </a:r>
            <a:r>
              <a:rPr lang="zh-CN" altLang="en-US" b="1" dirty="0">
                <a:solidFill>
                  <a:srgbClr val="3366FF"/>
                </a:solidFill>
              </a:rPr>
              <a:t>段，期望与主机</a:t>
            </a:r>
            <a:r>
              <a:rPr lang="en-US" altLang="zh-CN" b="1" dirty="0">
                <a:solidFill>
                  <a:srgbClr val="3366FF"/>
                </a:solidFill>
              </a:rPr>
              <a:t>B</a:t>
            </a:r>
            <a:r>
              <a:rPr lang="zh-CN" altLang="en-US" b="1" dirty="0">
                <a:solidFill>
                  <a:srgbClr val="3366FF"/>
                </a:solidFill>
              </a:rPr>
              <a:t>建立</a:t>
            </a:r>
            <a:r>
              <a:rPr lang="en-US" altLang="zh-CN" b="1" dirty="0">
                <a:solidFill>
                  <a:srgbClr val="3366FF"/>
                </a:solidFill>
              </a:rPr>
              <a:t>TCP</a:t>
            </a:r>
            <a:r>
              <a:rPr lang="zh-CN" altLang="en-US" b="1" dirty="0">
                <a:solidFill>
                  <a:srgbClr val="3366FF"/>
                </a:solidFill>
              </a:rPr>
              <a:t>连接</a:t>
            </a:r>
            <a:r>
              <a:rPr lang="zh-CN" altLang="en-US" b="1" dirty="0">
                <a:solidFill>
                  <a:srgbClr val="3366FF"/>
                </a:solidFill>
              </a:rPr>
              <a:t>，若</a:t>
            </a:r>
            <a:r>
              <a:rPr lang="zh-CN" altLang="en-US" b="1" dirty="0">
                <a:solidFill>
                  <a:srgbClr val="3366FF"/>
                </a:solidFill>
              </a:rPr>
              <a:t>主机</a:t>
            </a:r>
            <a:r>
              <a:rPr lang="en-US" altLang="zh-CN" b="1" dirty="0">
                <a:solidFill>
                  <a:srgbClr val="3366FF"/>
                </a:solidFill>
              </a:rPr>
              <a:t>B</a:t>
            </a:r>
            <a:r>
              <a:rPr lang="zh-CN" altLang="en-US" b="1" dirty="0">
                <a:solidFill>
                  <a:srgbClr val="3366FF"/>
                </a:solidFill>
              </a:rPr>
              <a:t>接受该连接请求，则主机</a:t>
            </a:r>
            <a:r>
              <a:rPr lang="en-US" altLang="zh-CN" b="1" dirty="0">
                <a:solidFill>
                  <a:srgbClr val="3366FF"/>
                </a:solidFill>
              </a:rPr>
              <a:t>B</a:t>
            </a:r>
            <a:r>
              <a:rPr lang="zh-CN" altLang="en-US" b="1" dirty="0">
                <a:solidFill>
                  <a:srgbClr val="3366FF"/>
                </a:solidFill>
              </a:rPr>
              <a:t>向主机</a:t>
            </a:r>
            <a:r>
              <a:rPr lang="en-US" altLang="zh-CN" b="1" dirty="0">
                <a:solidFill>
                  <a:srgbClr val="3366FF"/>
                </a:solidFill>
              </a:rPr>
              <a:t>A</a:t>
            </a:r>
            <a:r>
              <a:rPr lang="zh-CN" altLang="en-US" b="1" dirty="0">
                <a:solidFill>
                  <a:srgbClr val="3366FF"/>
                </a:solidFill>
              </a:rPr>
              <a:t>发送的正确</a:t>
            </a:r>
            <a:r>
              <a:rPr lang="en-US" altLang="zh-CN" b="1" dirty="0">
                <a:solidFill>
                  <a:srgbClr val="3366FF"/>
                </a:solidFill>
              </a:rPr>
              <a:t>TCP</a:t>
            </a:r>
            <a:r>
              <a:rPr lang="zh-CN" altLang="en-US" b="1" dirty="0">
                <a:solidFill>
                  <a:srgbClr val="3366FF"/>
                </a:solidFill>
              </a:rPr>
              <a:t>段的</a:t>
            </a:r>
            <a:r>
              <a:rPr lang="en-US" altLang="zh-CN" b="1" dirty="0">
                <a:solidFill>
                  <a:srgbClr val="3366FF"/>
                </a:solidFill>
              </a:rPr>
              <a:t>ACK</a:t>
            </a:r>
            <a:r>
              <a:rPr lang="zh-CN" altLang="en-US" b="1" dirty="0">
                <a:solidFill>
                  <a:srgbClr val="3366FF"/>
                </a:solidFill>
              </a:rPr>
              <a:t>是（ ）</a:t>
            </a:r>
            <a:r>
              <a:rPr lang="en-US" altLang="zh-CN" b="1" dirty="0">
                <a:solidFill>
                  <a:srgbClr val="3366FF"/>
                </a:solidFill>
              </a:rPr>
              <a:t>,</a:t>
            </a:r>
            <a:r>
              <a:rPr lang="en-US" altLang="zh-CN" b="1" dirty="0" err="1">
                <a:solidFill>
                  <a:srgbClr val="3366FF"/>
                </a:solidFill>
              </a:rPr>
              <a:t>ack</a:t>
            </a:r>
            <a:r>
              <a:rPr lang="zh-CN" altLang="en-US" b="1" dirty="0">
                <a:solidFill>
                  <a:srgbClr val="3366FF"/>
                </a:solidFill>
              </a:rPr>
              <a:t>是（）？</a:t>
            </a:r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endParaRPr lang="zh-CN" altLang="en-US" b="1" dirty="0">
              <a:solidFill>
                <a:srgbClr val="3366FF"/>
              </a:solidFill>
            </a:endParaRPr>
          </a:p>
          <a:p>
            <a:r>
              <a:rPr lang="zh-CN" altLang="en-US" b="1" dirty="0">
                <a:solidFill>
                  <a:srgbClr val="3366FF"/>
                </a:solidFill>
              </a:rPr>
              <a:t>正确答案</a:t>
            </a:r>
            <a:r>
              <a:rPr lang="zh-CN" altLang="en-US" b="1" dirty="0" smtClean="0">
                <a:solidFill>
                  <a:srgbClr val="3366FF"/>
                </a:solidFill>
              </a:rPr>
              <a:t>：</a:t>
            </a:r>
            <a:r>
              <a:rPr lang="en-US" altLang="zh-CN" b="1" dirty="0" smtClean="0">
                <a:solidFill>
                  <a:srgbClr val="3366FF"/>
                </a:solidFill>
              </a:rPr>
              <a:t>ACK=      ack=</a:t>
            </a:r>
            <a:endParaRPr lang="en-US" altLang="zh-CN" b="1" dirty="0" smtClean="0">
              <a:solidFill>
                <a:srgbClr val="3366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ABLE_ENDDRAG_ORIGIN_RECT" val="668*116"/>
  <p:tag name="TABLE_ENDDRAG_RECT" val="33*105*668*116"/>
</p:tagLst>
</file>

<file path=ppt/tags/tag9.xml><?xml version="1.0" encoding="utf-8"?>
<p:tagLst xmlns:p="http://schemas.openxmlformats.org/presentationml/2006/main">
  <p:tag name="TABLE_ENDDRAG_ORIGIN_RECT" val="668*116"/>
  <p:tag name="TABLE_ENDDRAG_RECT" val="33*105*668*116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TABLE_ENDDRAG_ORIGIN_RECT" val="532*200"/>
  <p:tag name="TABLE_ENDDRAG_RECT" val="52*178*532*200"/>
</p:tagLst>
</file>

<file path=ppt/tags/tag16.xml><?xml version="1.0" encoding="utf-8"?>
<p:tagLst xmlns:p="http://schemas.openxmlformats.org/presentationml/2006/main">
  <p:tag name="TABLE_ENDDRAG_ORIGIN_RECT" val="599*48"/>
  <p:tag name="TABLE_ENDDRAG_RECT" val="50*150*599*48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TABLE_ENDDRAG_ORIGIN_RECT" val="532*200"/>
  <p:tag name="TABLE_ENDDRAG_RECT" val="52*178*532*200"/>
</p:tagLst>
</file>

<file path=ppt/tags/tag19.xml><?xml version="1.0" encoding="utf-8"?>
<p:tagLst xmlns:p="http://schemas.openxmlformats.org/presentationml/2006/main">
  <p:tag name="TABLE_ENDDRAG_ORIGIN_RECT" val="599*48"/>
  <p:tag name="TABLE_ENDDRAG_RECT" val="50*150*599*48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PP_MARK_KEY" val="759422ac-4bd1-4f30-81a3-5886fd918adb"/>
  <p:tag name="COMMONDATA" val="eyJoZGlkIjoiNGRiMmYxODExYzkwNjE3NTFjOTFiODdmMGUzYzQ5MGEifQ=="/>
  <p:tag name="commondata" val="eyJoZGlkIjoiMTA5MTUyNWZmYTM2MzA5NzE1NTc3ZDc2ODkzM2E3Yjk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5530</Words>
  <Application>WPS 演示</Application>
  <PresentationFormat>全屏显示(16:9)</PresentationFormat>
  <Paragraphs>528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DejaVu Sans</vt:lpstr>
      <vt:lpstr>微软雅黑</vt:lpstr>
      <vt:lpstr>Droid Sans Fallback</vt:lpstr>
      <vt:lpstr>OpenSymbol</vt:lpstr>
      <vt:lpstr>Calibri</vt:lpstr>
      <vt:lpstr>宋体</vt:lpstr>
      <vt:lpstr>Arial Unicode MS</vt:lpstr>
      <vt:lpstr>苹方-港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truraly</cp:lastModifiedBy>
  <cp:revision>673</cp:revision>
  <dcterms:created xsi:type="dcterms:W3CDTF">2024-12-27T01:28:38Z</dcterms:created>
  <dcterms:modified xsi:type="dcterms:W3CDTF">2024-12-27T01:28:38Z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AF416F18DFC4457BAE5975CC35E57C42</vt:lpwstr>
  </property>
  <property fmtid="{D5CDD505-2E9C-101B-9397-08002B2CF9AE}" pid="3" name="KSOProductBuildVer">
    <vt:lpwstr>2052-12.1.0.17900</vt:lpwstr>
  </property>
</Properties>
</file>